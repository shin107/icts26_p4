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the destination in one line: machine learning fits a parameterized map from inputs to useful predictions. The inherited field-to-catalog visual is intentionally retained so this short prelude feels like the same lecture, but the argument begins with ordinary supervised learning.</a:t>
            </a:r>
          </a:p>
          <a:p>
            <a:endParaRPr/>
          </a:p>
          <a:p>
            <a:r>
              <a:t>[Sources]</a:t>
            </a:r>
          </a:p>
          <a:p>
            <a:r>
              <a:t>- Goodfellow, Bengio, and Courville, Deep Learning (2016), https://www.deeplearningbook.org/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distinction between specification and learning explicit. The instructor chooses what is measured, the target, the model family, the loss, and how to validate. The optimizer selects parameter values from examples. A good predictive fit within the sampled distribution does not by itself identify a physical law.</a:t>
            </a:r>
          </a:p>
          <a:p>
            <a:endParaRPr/>
          </a:p>
          <a:p>
            <a:r>
              <a:t>[Sources]</a:t>
            </a:r>
          </a:p>
          <a:p>
            <a:r>
              <a:t>- Goodfellow, Bengio, and Courville, Deep Learning (2016), https://www.deeplearningbook.org/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faded curves represent different parameter choices within one model family. Training selects a member of that family. Architecture, input representation, regularization, and scientific constraints remain modelling decisions. Use the gold points only as schematic examples; this slide does not show a measured dataset.</a:t>
            </a:r>
          </a:p>
          <a:p>
            <a:endParaRPr/>
          </a:p>
          <a:p>
            <a:r>
              <a:t>[Sources]</a:t>
            </a:r>
          </a:p>
          <a:p>
            <a:r>
              <a:t>- Goodfellow, Bengio, and Courville, Deep Learning (2016), https://www.deeplearningbook.org/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layer first forms an affine combination Wx+b and then applies a nonlinear activation. Without the activation, composing many affine layers is still an affine map. The animation is conceptual: it shows feature expansion, nonlinear transformation, and compression, not actual neuron activations from the notebook.</a:t>
            </a:r>
          </a:p>
          <a:p>
            <a:endParaRPr/>
          </a:p>
          <a:p>
            <a:r>
              <a:t>[Sources]</a:t>
            </a:r>
          </a:p>
          <a:p>
            <a:r>
              <a:t>- Goodfellow, Bengio, and Courville, Deep Learning (2016), https://www.deeplearningbook.org/</a:t>
            </a:r>
          </a:p>
          <a:p>
            <a:r>
              <a:t>- Original animation storyboard generated with OpenAI image generation on 2026-07-29; local asset work/day3_transformers_rebuild/assets/mlp.gif.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Name the jobs precisely. The forward pass produces logits; the loss compares them with targets; backpropagation computes parameter gradients; the optimizer uses those gradients to update the parameter values. A falling training loss shows optimization progress, not generalization.</a:t>
            </a:r>
          </a:p>
          <a:p>
            <a:endParaRPr/>
          </a:p>
          <a:p>
            <a:r>
              <a:t>[Sources]</a:t>
            </a:r>
          </a:p>
          <a:p>
            <a:r>
              <a:t>- PyTorch autograd tutorial, https://docs.pytorch.org/tutorials/beginner/basics/autogradqs_tutorial.html</a:t>
            </a:r>
          </a:p>
          <a:p>
            <a:r>
              <a:t>- PyTorch CrossEntropyLoss documentation, https://docs.pytorch.org/docs/stable/generated/torch.nn.CrossEntropyLoss.html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 validation, and test have distinct roles. Estimate preprocessing statistics on the training set only. In physical datasets, random row splits can leak nearly duplicated measurements, nearby time samples, or objects from the same simulation into multiple subsets. Prefer splits at the level of the independent system or simulation whenever that is the scientific unit.</a:t>
            </a:r>
          </a:p>
          <a:p>
            <a:endParaRPr/>
          </a:p>
          <a:p>
            <a:r>
              <a:t>[Sources]</a:t>
            </a:r>
          </a:p>
          <a:p>
            <a:r>
              <a:t>- Goodfellow, Bengio, and Courville, Deep Learning (2016), https://www.deeplearningbook.org/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Regression and classification differ mainly in the output and loss. A typical regression head emits one or more continuous values. A classifier emits logits, which cross-entropy compares directly with class indices. Softmax is useful for interpreting logits as model probabilities, but they are not automatically calibrated uncertainty estimates. PyTorch CrossEntropyLoss expects the raw logits.</a:t>
            </a:r>
          </a:p>
          <a:p>
            <a:endParaRPr/>
          </a:p>
          <a:p>
            <a:r>
              <a:t>[Sources]</a:t>
            </a:r>
          </a:p>
          <a:p>
            <a:r>
              <a:t>- PyTorch CrossEntropyLoss documentation, https://docs.pytorch.org/docs/stable/generated/torch.nn.CrossEntropyLoss.html</a:t>
            </a:r>
          </a:p>
          <a:p>
            <a:r>
              <a:t>- Goodfellow, Bengio, and Courville, Deep Learning (2016), https://www.deeplearningbook.org/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Resolve the bridge explicitly. The transformer changes the representation and architecture inside the model box. It still maps examples to logits, uses a loss to compare predictions with targets, obtains gradients by backpropagation, updates parameters with an optimizer, and must generalize beyond its training data. The following lecture now opens the transformer box.</a:t>
            </a:r>
          </a:p>
          <a:p>
            <a:endParaRPr/>
          </a:p>
          <a:p>
            <a:r>
              <a:t>[Sources]</a:t>
            </a:r>
          </a:p>
          <a:p>
            <a:r>
              <a:t>- Vaswani et al. (2017), https://arxiv.org/abs/1706.03762</a:t>
            </a:r>
          </a:p>
          <a:p>
            <a:r>
              <a:t>- PyTorch autograd tutorial, https://docs.pytorch.org/tutorials/beginner/basics/autogradqs_tutorial.html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6DAF1937-2FA3-4448-B637-A45EBF9639C9}"/>
              </a:ext>
            </a:extLst>
          </p:cNvPr>
          <p:cNvSpPr>
            <a:spLocks noGrp="1"/>
          </p:cNvSpPr>
          <p:nvPr/>
        </p:nvSpPr>
        <p:spPr>
          <a:xfrm>
            <a:off x="609600" y="552450"/>
            <a:ext cx="3429000" cy="266700"/>
          </a:xfrm>
          <a:prstGeom prst="rect">
            <a:avLst/>
          </a:prstGeom>
          <a:noFill/>
          <a:ln w="0">
            <a:noFill/>
            <a:prstDash val="solid"/>
          </a:ln>
        </p:spPr>
        <p:txBody>
          <a:bodyPr wrap="square" lIns="0" tIns="0" rIns="0" bIns="0" anchor="ctr">
            <a:normAutofit/>
          </a:bodyPr>
          <a:lstStyle/>
          <a:p>
            <a:pPr algn="l">
              <a:buNone/>
              <a:defRPr sz="1350" b="1" i="0">
                <a:solidFill>
                  <a:srgbClr val="B95535"/>
                </a:solidFill>
                <a:latin typeface="Helvetica Neue"/>
                <a:ea typeface="Helvetica Neue"/>
                <a:cs typeface="Helvetica Neue"/>
              </a:defRPr>
            </a:pPr>
            <a:r>
              <a:rPr sz="1350" b="1" i="0">
                <a:solidFill>
                  <a:srgbClr val="B95535"/>
                </a:solidFill>
                <a:latin typeface="Helvetica Neue"/>
                <a:ea typeface="Helvetica Neue"/>
                <a:cs typeface="Helvetica Neue"/>
              </a:rPr>
              <a:t>ICTS 2026  •  BEFORE DAY 3</a:t>
            </a:r>
          </a:p>
        </p:txBody>
      </p:sp>
      <p:sp>
        <p:nvSpPr>
          <p:cNvPr id="2" name="Rectangle 1">
            <a:extLst>
              <a:ext uri="{FF2B5EF4-FFF2-40B4-BE49-F238E27FC236}">
                <a16:creationId xmlns:a16="http://schemas.microsoft.com/office/drawing/2014/main" id="{5F15E2BB-E3AD-48F8-A35F-1267D303DF39}"/>
              </a:ext>
            </a:extLst>
          </p:cNvPr>
          <p:cNvSpPr>
            <a:spLocks noGrp="1"/>
          </p:cNvSpPr>
          <p:nvPr/>
        </p:nvSpPr>
        <p:spPr>
          <a:xfrm>
            <a:off x="590550" y="1162050"/>
            <a:ext cx="5905500" cy="2305050"/>
          </a:xfrm>
          <a:prstGeom prst="rect">
            <a:avLst/>
          </a:prstGeom>
          <a:noFill/>
          <a:ln w="0">
            <a:noFill/>
            <a:prstDash val="solid"/>
          </a:ln>
        </p:spPr>
        <p:txBody>
          <a:bodyPr wrap="square" lIns="0" tIns="0" rIns="0" bIns="0" anchor="t">
            <a:normAutofit fontScale="98856"/>
          </a:bodyPr>
          <a:lstStyle/>
          <a:p>
            <a:pPr algn="l">
              <a:buNone/>
              <a:defRPr sz="5100" b="1" i="0">
                <a:solidFill>
                  <a:srgbClr val="202224"/>
                </a:solidFill>
                <a:latin typeface="Helvetica Neue"/>
                <a:ea typeface="Helvetica Neue"/>
                <a:cs typeface="Helvetica Neue"/>
              </a:defRPr>
            </a:pPr>
            <a:r>
              <a:rPr sz="5100" b="1" i="0">
                <a:solidFill>
                  <a:srgbClr val="202224"/>
                </a:solidFill>
                <a:latin typeface="Helvetica Neue"/>
                <a:ea typeface="Helvetica Neue"/>
                <a:cs typeface="Helvetica Neue"/>
              </a:rPr>
              <a:t>Machine learning</a:t>
            </a:r>
          </a:p>
          <a:p>
            <a:pPr algn="l">
              <a:buNone/>
              <a:defRPr sz="5100" b="1" i="0">
                <a:solidFill>
                  <a:srgbClr val="202224"/>
                </a:solidFill>
                <a:latin typeface="Helvetica Neue"/>
                <a:ea typeface="Helvetica Neue"/>
                <a:cs typeface="Helvetica Neue"/>
              </a:defRPr>
            </a:pPr>
            <a:r>
              <a:rPr sz="5100" b="1" i="0">
                <a:solidFill>
                  <a:srgbClr val="202224"/>
                </a:solidFill>
                <a:latin typeface="Helvetica Neue"/>
                <a:ea typeface="Helvetica Neue"/>
                <a:cs typeface="Helvetica Neue"/>
              </a:rPr>
              <a:t>before transformers</a:t>
            </a:r>
          </a:p>
        </p:txBody>
      </p:sp>
      <p:sp>
        <p:nvSpPr>
          <p:cNvPr id="3" name="Rectangle 2">
            <a:extLst>
              <a:ext uri="{FF2B5EF4-FFF2-40B4-BE49-F238E27FC236}">
                <a16:creationId xmlns:a16="http://schemas.microsoft.com/office/drawing/2014/main" id="{B27FB26A-411B-4EAB-8423-8F8975ECDE1A}"/>
              </a:ext>
            </a:extLst>
          </p:cNvPr>
          <p:cNvSpPr>
            <a:spLocks noGrp="1"/>
          </p:cNvSpPr>
          <p:nvPr/>
        </p:nvSpPr>
        <p:spPr>
          <a:xfrm>
            <a:off x="609600" y="4048125"/>
            <a:ext cx="1257300" cy="47625"/>
          </a:xfrm>
          <a:prstGeom prst="rect">
            <a:avLst/>
          </a:prstGeom>
          <a:solidFill>
            <a:srgbClr val="B95535"/>
          </a:solidFill>
          <a:ln w="0">
            <a:noFill/>
            <a:prstDash val="solid"/>
          </a:ln>
        </p:spPr>
        <p:txBody>
          <a:bodyPr/>
          <a:lstStyle/>
          <a:p>
            <a:endParaRPr/>
          </a:p>
        </p:txBody>
      </p:sp>
      <p:sp>
        <p:nvSpPr>
          <p:cNvPr id="4" name="Rectangle 3">
            <a:extLst>
              <a:ext uri="{FF2B5EF4-FFF2-40B4-BE49-F238E27FC236}">
                <a16:creationId xmlns:a16="http://schemas.microsoft.com/office/drawing/2014/main" id="{CFA388FE-50D5-4073-A672-E076B0690A8C}"/>
              </a:ext>
            </a:extLst>
          </p:cNvPr>
          <p:cNvSpPr>
            <a:spLocks noGrp="1"/>
          </p:cNvSpPr>
          <p:nvPr/>
        </p:nvSpPr>
        <p:spPr>
          <a:xfrm>
            <a:off x="609600" y="4267200"/>
            <a:ext cx="5810250" cy="952500"/>
          </a:xfrm>
          <a:prstGeom prst="rect">
            <a:avLst/>
          </a:prstGeom>
          <a:noFill/>
          <a:ln w="0">
            <a:noFill/>
            <a:prstDash val="solid"/>
          </a:ln>
        </p:spPr>
        <p:txBody>
          <a:bodyPr wrap="square" lIns="0" tIns="0" rIns="0" bIns="0" anchor="t">
            <a:normAutofit/>
          </a:bodyPr>
          <a:lstStyle/>
          <a:p>
            <a:pPr algn="l">
              <a:buNone/>
              <a:defRPr sz="2400" b="0" i="0">
                <a:solidFill>
                  <a:srgbClr val="18324A"/>
                </a:solidFill>
                <a:latin typeface="Helvetica Neue"/>
                <a:ea typeface="Helvetica Neue"/>
                <a:cs typeface="Helvetica Neue"/>
              </a:defRPr>
            </a:pPr>
            <a:r>
              <a:rPr sz="2400" b="0" i="0">
                <a:solidFill>
                  <a:srgbClr val="18324A"/>
                </a:solidFill>
                <a:latin typeface="Helvetica Neue"/>
                <a:ea typeface="Helvetica Neue"/>
                <a:cs typeface="Helvetica Neue"/>
              </a:rPr>
              <a:t>A simple route from examples and loss to a trainable neural network</a:t>
            </a:r>
          </a:p>
        </p:txBody>
      </p:sp>
      <p:sp>
        <p:nvSpPr>
          <p:cNvPr id="5" name="Straight Connector 4">
            <a:extLst>
              <a:ext uri="{FF2B5EF4-FFF2-40B4-BE49-F238E27FC236}">
                <a16:creationId xmlns:a16="http://schemas.microsoft.com/office/drawing/2014/main" id="{2D981345-F04E-416A-8F07-03B8F98CACE9}"/>
              </a:ext>
            </a:extLst>
          </p:cNvPr>
          <p:cNvSpPr>
            <a:spLocks noGrp="1"/>
          </p:cNvSpPr>
          <p:nvPr/>
        </p:nvSpPr>
        <p:spPr>
          <a:xfrm>
            <a:off x="9048750" y="4857750"/>
            <a:ext cx="9525" cy="438150"/>
          </a:xfrm>
          <a:prstGeom prst="line">
            <a:avLst/>
          </a:prstGeom>
          <a:noFill/>
          <a:ln w="38100">
            <a:solidFill>
              <a:srgbClr val="B95535"/>
            </a:solidFill>
            <a:prstDash val="solid"/>
          </a:ln>
        </p:spPr>
        <p:txBody>
          <a:bodyPr/>
          <a:lstStyle/>
          <a:p>
            <a:endParaRPr/>
          </a:p>
        </p:txBody>
      </p:sp>
      <p:sp>
        <p:nvSpPr>
          <p:cNvPr id="6" name="Triangle 5">
            <a:extLst>
              <a:ext uri="{FF2B5EF4-FFF2-40B4-BE49-F238E27FC236}">
                <a16:creationId xmlns:a16="http://schemas.microsoft.com/office/drawing/2014/main" id="{11313F44-350A-42F5-A046-AAF09F457DCC}"/>
              </a:ext>
            </a:extLst>
          </p:cNvPr>
          <p:cNvSpPr>
            <a:spLocks noGrp="1"/>
          </p:cNvSpPr>
          <p:nvPr/>
        </p:nvSpPr>
        <p:spPr>
          <a:xfrm rot="10800000">
            <a:off x="8953500" y="5334000"/>
            <a:ext cx="190500" cy="190500"/>
          </a:xfrm>
          <a:prstGeom prst="triangle">
            <a:avLst/>
          </a:prstGeom>
          <a:solidFill>
            <a:srgbClr val="B95535"/>
          </a:solidFill>
          <a:ln w="0">
            <a:noFill/>
            <a:prstDash val="solid"/>
          </a:ln>
        </p:spPr>
        <p:txBody>
          <a:bodyPr/>
          <a:lstStyle/>
          <a:p>
            <a:endParaRPr/>
          </a:p>
        </p:txBody>
      </p:sp>
      <p:sp>
        <p:nvSpPr>
          <p:cNvPr id="7" name="Rectangle 6">
            <a:extLst>
              <a:ext uri="{FF2B5EF4-FFF2-40B4-BE49-F238E27FC236}">
                <a16:creationId xmlns:a16="http://schemas.microsoft.com/office/drawing/2014/main" id="{AED1FF01-0C56-415D-BD52-D4450E1B4B73}"/>
              </a:ext>
            </a:extLst>
          </p:cNvPr>
          <p:cNvSpPr>
            <a:spLocks noGrp="1"/>
          </p:cNvSpPr>
          <p:nvPr/>
        </p:nvSpPr>
        <p:spPr>
          <a:xfrm>
            <a:off x="7239000" y="1123950"/>
            <a:ext cx="457200" cy="457200"/>
          </a:xfrm>
          <a:prstGeom prst="rect">
            <a:avLst/>
          </a:prstGeom>
          <a:solidFill>
            <a:srgbClr val="CBD3D9"/>
          </a:solidFill>
          <a:ln w="3810">
            <a:solidFill>
              <a:srgbClr val="F4F0E8"/>
            </a:solidFill>
            <a:prstDash val="solid"/>
          </a:ln>
        </p:spPr>
        <p:txBody>
          <a:bodyPr/>
          <a:lstStyle/>
          <a:p>
            <a:endParaRPr/>
          </a:p>
        </p:txBody>
      </p:sp>
      <p:sp>
        <p:nvSpPr>
          <p:cNvPr id="8" name="Rectangle 7">
            <a:extLst>
              <a:ext uri="{FF2B5EF4-FFF2-40B4-BE49-F238E27FC236}">
                <a16:creationId xmlns:a16="http://schemas.microsoft.com/office/drawing/2014/main" id="{97C1AAC9-9084-49AC-8C23-74247C50E193}"/>
              </a:ext>
            </a:extLst>
          </p:cNvPr>
          <p:cNvSpPr>
            <a:spLocks noGrp="1"/>
          </p:cNvSpPr>
          <p:nvPr/>
        </p:nvSpPr>
        <p:spPr>
          <a:xfrm>
            <a:off x="7691438" y="1123950"/>
            <a:ext cx="457200" cy="457200"/>
          </a:xfrm>
          <a:prstGeom prst="rect">
            <a:avLst/>
          </a:prstGeom>
          <a:solidFill>
            <a:srgbClr val="C6CFD5"/>
          </a:solidFill>
          <a:ln w="3810">
            <a:solidFill>
              <a:srgbClr val="F4F0E8"/>
            </a:solidFill>
            <a:prstDash val="solid"/>
          </a:ln>
        </p:spPr>
        <p:txBody>
          <a:bodyPr/>
          <a:lstStyle/>
          <a:p>
            <a:endParaRPr/>
          </a:p>
        </p:txBody>
      </p:sp>
      <p:sp>
        <p:nvSpPr>
          <p:cNvPr id="9" name="Rectangle 8">
            <a:extLst>
              <a:ext uri="{FF2B5EF4-FFF2-40B4-BE49-F238E27FC236}">
                <a16:creationId xmlns:a16="http://schemas.microsoft.com/office/drawing/2014/main" id="{9735291A-5E78-4B01-9684-12148BBFD35C}"/>
              </a:ext>
            </a:extLst>
          </p:cNvPr>
          <p:cNvSpPr>
            <a:spLocks noGrp="1"/>
          </p:cNvSpPr>
          <p:nvPr/>
        </p:nvSpPr>
        <p:spPr>
          <a:xfrm>
            <a:off x="8143875" y="1123950"/>
            <a:ext cx="457200" cy="457200"/>
          </a:xfrm>
          <a:prstGeom prst="rect">
            <a:avLst/>
          </a:prstGeom>
          <a:solidFill>
            <a:srgbClr val="CED6DC"/>
          </a:solidFill>
          <a:ln w="3810">
            <a:solidFill>
              <a:srgbClr val="F4F0E8"/>
            </a:solidFill>
            <a:prstDash val="solid"/>
          </a:ln>
        </p:spPr>
        <p:txBody>
          <a:bodyPr/>
          <a:lstStyle/>
          <a:p>
            <a:endParaRPr/>
          </a:p>
        </p:txBody>
      </p:sp>
      <p:sp>
        <p:nvSpPr>
          <p:cNvPr id="10" name="Rectangle 9">
            <a:extLst>
              <a:ext uri="{FF2B5EF4-FFF2-40B4-BE49-F238E27FC236}">
                <a16:creationId xmlns:a16="http://schemas.microsoft.com/office/drawing/2014/main" id="{6A52A167-46CD-4381-A1DB-FC1988D42BA2}"/>
              </a:ext>
            </a:extLst>
          </p:cNvPr>
          <p:cNvSpPr>
            <a:spLocks noGrp="1"/>
          </p:cNvSpPr>
          <p:nvPr/>
        </p:nvSpPr>
        <p:spPr>
          <a:xfrm>
            <a:off x="8596313" y="1123950"/>
            <a:ext cx="457200" cy="457200"/>
          </a:xfrm>
          <a:prstGeom prst="rect">
            <a:avLst/>
          </a:prstGeom>
          <a:solidFill>
            <a:srgbClr val="DBE2E6"/>
          </a:solidFill>
          <a:ln w="3810">
            <a:solidFill>
              <a:srgbClr val="F4F0E8"/>
            </a:solidFill>
            <a:prstDash val="solid"/>
          </a:ln>
        </p:spPr>
        <p:txBody>
          <a:bodyPr/>
          <a:lstStyle/>
          <a:p>
            <a:endParaRPr/>
          </a:p>
        </p:txBody>
      </p:sp>
      <p:sp>
        <p:nvSpPr>
          <p:cNvPr id="11" name="Rectangle 10">
            <a:extLst>
              <a:ext uri="{FF2B5EF4-FFF2-40B4-BE49-F238E27FC236}">
                <a16:creationId xmlns:a16="http://schemas.microsoft.com/office/drawing/2014/main" id="{6E0500F7-61B3-4052-AF22-B9110C315E6E}"/>
              </a:ext>
            </a:extLst>
          </p:cNvPr>
          <p:cNvSpPr>
            <a:spLocks noGrp="1"/>
          </p:cNvSpPr>
          <p:nvPr/>
        </p:nvSpPr>
        <p:spPr>
          <a:xfrm>
            <a:off x="9048750" y="1123950"/>
            <a:ext cx="457200" cy="457200"/>
          </a:xfrm>
          <a:prstGeom prst="rect">
            <a:avLst/>
          </a:prstGeom>
          <a:solidFill>
            <a:srgbClr val="E0E7EA"/>
          </a:solidFill>
          <a:ln w="3810">
            <a:solidFill>
              <a:srgbClr val="F4F0E8"/>
            </a:solidFill>
            <a:prstDash val="solid"/>
          </a:ln>
        </p:spPr>
        <p:txBody>
          <a:bodyPr/>
          <a:lstStyle/>
          <a:p>
            <a:endParaRPr/>
          </a:p>
        </p:txBody>
      </p:sp>
      <p:sp>
        <p:nvSpPr>
          <p:cNvPr id="12" name="Rectangle 11">
            <a:extLst>
              <a:ext uri="{FF2B5EF4-FFF2-40B4-BE49-F238E27FC236}">
                <a16:creationId xmlns:a16="http://schemas.microsoft.com/office/drawing/2014/main" id="{BC0F4372-FFFB-4394-BE8B-7F859311FCAA}"/>
              </a:ext>
            </a:extLst>
          </p:cNvPr>
          <p:cNvSpPr>
            <a:spLocks noGrp="1"/>
          </p:cNvSpPr>
          <p:nvPr/>
        </p:nvSpPr>
        <p:spPr>
          <a:xfrm>
            <a:off x="9501188" y="1123950"/>
            <a:ext cx="457200" cy="457200"/>
          </a:xfrm>
          <a:prstGeom prst="rect">
            <a:avLst/>
          </a:prstGeom>
          <a:solidFill>
            <a:srgbClr val="D3DBE0"/>
          </a:solidFill>
          <a:ln w="3810">
            <a:solidFill>
              <a:srgbClr val="F4F0E8"/>
            </a:solidFill>
            <a:prstDash val="solid"/>
          </a:ln>
        </p:spPr>
        <p:txBody>
          <a:bodyPr/>
          <a:lstStyle/>
          <a:p>
            <a:endParaRPr/>
          </a:p>
        </p:txBody>
      </p:sp>
      <p:sp>
        <p:nvSpPr>
          <p:cNvPr id="13" name="Rectangle 12">
            <a:extLst>
              <a:ext uri="{FF2B5EF4-FFF2-40B4-BE49-F238E27FC236}">
                <a16:creationId xmlns:a16="http://schemas.microsoft.com/office/drawing/2014/main" id="{0EC1456B-D9A5-4D44-A538-E71BE7FBC9F3}"/>
              </a:ext>
            </a:extLst>
          </p:cNvPr>
          <p:cNvSpPr>
            <a:spLocks noGrp="1"/>
          </p:cNvSpPr>
          <p:nvPr/>
        </p:nvSpPr>
        <p:spPr>
          <a:xfrm>
            <a:off x="9953625" y="1123950"/>
            <a:ext cx="457200" cy="457200"/>
          </a:xfrm>
          <a:prstGeom prst="rect">
            <a:avLst/>
          </a:prstGeom>
          <a:solidFill>
            <a:srgbClr val="C7D0D6"/>
          </a:solidFill>
          <a:ln w="3810">
            <a:solidFill>
              <a:srgbClr val="F4F0E8"/>
            </a:solidFill>
            <a:prstDash val="solid"/>
          </a:ln>
        </p:spPr>
        <p:txBody>
          <a:bodyPr/>
          <a:lstStyle/>
          <a:p>
            <a:endParaRPr/>
          </a:p>
        </p:txBody>
      </p:sp>
      <p:sp>
        <p:nvSpPr>
          <p:cNvPr id="14" name="Rectangle 13">
            <a:extLst>
              <a:ext uri="{FF2B5EF4-FFF2-40B4-BE49-F238E27FC236}">
                <a16:creationId xmlns:a16="http://schemas.microsoft.com/office/drawing/2014/main" id="{A4ADDA0E-17D2-4C1A-9491-F92D4B2713DF}"/>
              </a:ext>
            </a:extLst>
          </p:cNvPr>
          <p:cNvSpPr>
            <a:spLocks noGrp="1"/>
          </p:cNvSpPr>
          <p:nvPr/>
        </p:nvSpPr>
        <p:spPr>
          <a:xfrm>
            <a:off x="10406063" y="1123950"/>
            <a:ext cx="457200" cy="457200"/>
          </a:xfrm>
          <a:prstGeom prst="rect">
            <a:avLst/>
          </a:prstGeom>
          <a:solidFill>
            <a:srgbClr val="D5DDE2"/>
          </a:solidFill>
          <a:ln w="3810">
            <a:solidFill>
              <a:srgbClr val="F4F0E8"/>
            </a:solidFill>
            <a:prstDash val="solid"/>
          </a:ln>
        </p:spPr>
        <p:txBody>
          <a:bodyPr/>
          <a:lstStyle/>
          <a:p>
            <a:endParaRPr/>
          </a:p>
        </p:txBody>
      </p:sp>
      <p:sp>
        <p:nvSpPr>
          <p:cNvPr id="15" name="Rectangle 14">
            <a:extLst>
              <a:ext uri="{FF2B5EF4-FFF2-40B4-BE49-F238E27FC236}">
                <a16:creationId xmlns:a16="http://schemas.microsoft.com/office/drawing/2014/main" id="{819C2A4F-9B3E-43A4-9CB3-E7394C54C57C}"/>
              </a:ext>
            </a:extLst>
          </p:cNvPr>
          <p:cNvSpPr>
            <a:spLocks noGrp="1"/>
          </p:cNvSpPr>
          <p:nvPr/>
        </p:nvSpPr>
        <p:spPr>
          <a:xfrm>
            <a:off x="7239000" y="1576388"/>
            <a:ext cx="457200" cy="457200"/>
          </a:xfrm>
          <a:prstGeom prst="rect">
            <a:avLst/>
          </a:prstGeom>
          <a:solidFill>
            <a:srgbClr val="D6DDE2"/>
          </a:solidFill>
          <a:ln w="3810">
            <a:solidFill>
              <a:srgbClr val="F4F0E8"/>
            </a:solidFill>
            <a:prstDash val="solid"/>
          </a:ln>
        </p:spPr>
        <p:txBody>
          <a:bodyPr/>
          <a:lstStyle/>
          <a:p>
            <a:endParaRPr/>
          </a:p>
        </p:txBody>
      </p:sp>
      <p:sp>
        <p:nvSpPr>
          <p:cNvPr id="16" name="Rectangle 15">
            <a:extLst>
              <a:ext uri="{FF2B5EF4-FFF2-40B4-BE49-F238E27FC236}">
                <a16:creationId xmlns:a16="http://schemas.microsoft.com/office/drawing/2014/main" id="{40A6CD17-91DF-498E-99FC-043C8127AE99}"/>
              </a:ext>
            </a:extLst>
          </p:cNvPr>
          <p:cNvSpPr>
            <a:spLocks noGrp="1"/>
          </p:cNvSpPr>
          <p:nvPr/>
        </p:nvSpPr>
        <p:spPr>
          <a:xfrm>
            <a:off x="7691438" y="1576388"/>
            <a:ext cx="457200" cy="457200"/>
          </a:xfrm>
          <a:prstGeom prst="rect">
            <a:avLst/>
          </a:prstGeom>
          <a:solidFill>
            <a:srgbClr val="C5CED5"/>
          </a:solidFill>
          <a:ln w="3810">
            <a:solidFill>
              <a:srgbClr val="F4F0E8"/>
            </a:solidFill>
            <a:prstDash val="solid"/>
          </a:ln>
        </p:spPr>
        <p:txBody>
          <a:bodyPr/>
          <a:lstStyle/>
          <a:p>
            <a:endParaRPr/>
          </a:p>
        </p:txBody>
      </p:sp>
      <p:sp>
        <p:nvSpPr>
          <p:cNvPr id="17" name="Rectangle 16">
            <a:extLst>
              <a:ext uri="{FF2B5EF4-FFF2-40B4-BE49-F238E27FC236}">
                <a16:creationId xmlns:a16="http://schemas.microsoft.com/office/drawing/2014/main" id="{C87C3BDA-AE14-40BA-9CB8-11AB868C7252}"/>
              </a:ext>
            </a:extLst>
          </p:cNvPr>
          <p:cNvSpPr>
            <a:spLocks noGrp="1"/>
          </p:cNvSpPr>
          <p:nvPr/>
        </p:nvSpPr>
        <p:spPr>
          <a:xfrm>
            <a:off x="8143875" y="1576388"/>
            <a:ext cx="457200" cy="457200"/>
          </a:xfrm>
          <a:prstGeom prst="rect">
            <a:avLst/>
          </a:prstGeom>
          <a:solidFill>
            <a:srgbClr val="BDC7CE"/>
          </a:solidFill>
          <a:ln w="3810">
            <a:solidFill>
              <a:srgbClr val="F4F0E8"/>
            </a:solidFill>
            <a:prstDash val="solid"/>
          </a:ln>
        </p:spPr>
        <p:txBody>
          <a:bodyPr/>
          <a:lstStyle/>
          <a:p>
            <a:endParaRPr/>
          </a:p>
        </p:txBody>
      </p:sp>
      <p:sp>
        <p:nvSpPr>
          <p:cNvPr id="18" name="Rectangle 17">
            <a:extLst>
              <a:ext uri="{FF2B5EF4-FFF2-40B4-BE49-F238E27FC236}">
                <a16:creationId xmlns:a16="http://schemas.microsoft.com/office/drawing/2014/main" id="{99A79A8D-2DED-420D-BD77-B7A69A8A7373}"/>
              </a:ext>
            </a:extLst>
          </p:cNvPr>
          <p:cNvSpPr>
            <a:spLocks noGrp="1"/>
          </p:cNvSpPr>
          <p:nvPr/>
        </p:nvSpPr>
        <p:spPr>
          <a:xfrm>
            <a:off x="8596313" y="1576388"/>
            <a:ext cx="457200" cy="457200"/>
          </a:xfrm>
          <a:prstGeom prst="rect">
            <a:avLst/>
          </a:prstGeom>
          <a:solidFill>
            <a:srgbClr val="C4CDD4"/>
          </a:solidFill>
          <a:ln w="3810">
            <a:solidFill>
              <a:srgbClr val="F4F0E8"/>
            </a:solidFill>
            <a:prstDash val="solid"/>
          </a:ln>
        </p:spPr>
        <p:txBody>
          <a:bodyPr/>
          <a:lstStyle/>
          <a:p>
            <a:endParaRPr/>
          </a:p>
        </p:txBody>
      </p:sp>
      <p:sp>
        <p:nvSpPr>
          <p:cNvPr id="19" name="Rectangle 18">
            <a:extLst>
              <a:ext uri="{FF2B5EF4-FFF2-40B4-BE49-F238E27FC236}">
                <a16:creationId xmlns:a16="http://schemas.microsoft.com/office/drawing/2014/main" id="{811F0E7C-AD70-424B-AFBB-16BB5806D812}"/>
              </a:ext>
            </a:extLst>
          </p:cNvPr>
          <p:cNvSpPr>
            <a:spLocks noGrp="1"/>
          </p:cNvSpPr>
          <p:nvPr/>
        </p:nvSpPr>
        <p:spPr>
          <a:xfrm>
            <a:off x="9048750" y="1576388"/>
            <a:ext cx="457200" cy="457200"/>
          </a:xfrm>
          <a:prstGeom prst="rect">
            <a:avLst/>
          </a:prstGeom>
          <a:solidFill>
            <a:srgbClr val="C5CFD5"/>
          </a:solidFill>
          <a:ln w="3810">
            <a:solidFill>
              <a:srgbClr val="F4F0E8"/>
            </a:solidFill>
            <a:prstDash val="solid"/>
          </a:ln>
        </p:spPr>
        <p:txBody>
          <a:bodyPr/>
          <a:lstStyle/>
          <a:p>
            <a:endParaRPr/>
          </a:p>
        </p:txBody>
      </p:sp>
      <p:sp>
        <p:nvSpPr>
          <p:cNvPr id="20" name="Rectangle 19">
            <a:extLst>
              <a:ext uri="{FF2B5EF4-FFF2-40B4-BE49-F238E27FC236}">
                <a16:creationId xmlns:a16="http://schemas.microsoft.com/office/drawing/2014/main" id="{D8080825-CA88-4812-A0FF-1D94B3EAEAB4}"/>
              </a:ext>
            </a:extLst>
          </p:cNvPr>
          <p:cNvSpPr>
            <a:spLocks noGrp="1"/>
          </p:cNvSpPr>
          <p:nvPr/>
        </p:nvSpPr>
        <p:spPr>
          <a:xfrm>
            <a:off x="9501188" y="1576388"/>
            <a:ext cx="457200" cy="457200"/>
          </a:xfrm>
          <a:prstGeom prst="rect">
            <a:avLst/>
          </a:prstGeom>
          <a:solidFill>
            <a:srgbClr val="9FACB6"/>
          </a:solidFill>
          <a:ln w="3810">
            <a:solidFill>
              <a:srgbClr val="F4F0E8"/>
            </a:solidFill>
            <a:prstDash val="solid"/>
          </a:ln>
        </p:spPr>
        <p:txBody>
          <a:bodyPr/>
          <a:lstStyle/>
          <a:p>
            <a:endParaRPr/>
          </a:p>
        </p:txBody>
      </p:sp>
      <p:sp>
        <p:nvSpPr>
          <p:cNvPr id="21" name="Rectangle 20">
            <a:extLst>
              <a:ext uri="{FF2B5EF4-FFF2-40B4-BE49-F238E27FC236}">
                <a16:creationId xmlns:a16="http://schemas.microsoft.com/office/drawing/2014/main" id="{18EC4905-B655-487E-8AFD-E521CC971B48}"/>
              </a:ext>
            </a:extLst>
          </p:cNvPr>
          <p:cNvSpPr>
            <a:spLocks noGrp="1"/>
          </p:cNvSpPr>
          <p:nvPr/>
        </p:nvSpPr>
        <p:spPr>
          <a:xfrm>
            <a:off x="9953625" y="1576388"/>
            <a:ext cx="457200" cy="457200"/>
          </a:xfrm>
          <a:prstGeom prst="rect">
            <a:avLst/>
          </a:prstGeom>
          <a:solidFill>
            <a:srgbClr val="7C8C9A"/>
          </a:solidFill>
          <a:ln w="3810">
            <a:solidFill>
              <a:srgbClr val="F4F0E8"/>
            </a:solidFill>
            <a:prstDash val="solid"/>
          </a:ln>
        </p:spPr>
        <p:txBody>
          <a:bodyPr/>
          <a:lstStyle/>
          <a:p>
            <a:endParaRPr/>
          </a:p>
        </p:txBody>
      </p:sp>
      <p:sp>
        <p:nvSpPr>
          <p:cNvPr id="22" name="Rectangle 21">
            <a:extLst>
              <a:ext uri="{FF2B5EF4-FFF2-40B4-BE49-F238E27FC236}">
                <a16:creationId xmlns:a16="http://schemas.microsoft.com/office/drawing/2014/main" id="{29ACED18-8A17-4DC9-A9BD-1E1844F73227}"/>
              </a:ext>
            </a:extLst>
          </p:cNvPr>
          <p:cNvSpPr>
            <a:spLocks noGrp="1"/>
          </p:cNvSpPr>
          <p:nvPr/>
        </p:nvSpPr>
        <p:spPr>
          <a:xfrm>
            <a:off x="10406063" y="1576388"/>
            <a:ext cx="457200" cy="457200"/>
          </a:xfrm>
          <a:prstGeom prst="rect">
            <a:avLst/>
          </a:prstGeom>
          <a:solidFill>
            <a:srgbClr val="A6B2BC"/>
          </a:solidFill>
          <a:ln w="3810">
            <a:solidFill>
              <a:srgbClr val="F4F0E8"/>
            </a:solidFill>
            <a:prstDash val="solid"/>
          </a:ln>
        </p:spPr>
        <p:txBody>
          <a:bodyPr/>
          <a:lstStyle/>
          <a:p>
            <a:endParaRPr/>
          </a:p>
        </p:txBody>
      </p:sp>
      <p:sp>
        <p:nvSpPr>
          <p:cNvPr id="23" name="Rectangle 22">
            <a:extLst>
              <a:ext uri="{FF2B5EF4-FFF2-40B4-BE49-F238E27FC236}">
                <a16:creationId xmlns:a16="http://schemas.microsoft.com/office/drawing/2014/main" id="{FF854127-6075-4A20-835E-8BB8A91989C5}"/>
              </a:ext>
            </a:extLst>
          </p:cNvPr>
          <p:cNvSpPr>
            <a:spLocks noGrp="1"/>
          </p:cNvSpPr>
          <p:nvPr/>
        </p:nvSpPr>
        <p:spPr>
          <a:xfrm>
            <a:off x="7239000" y="2028825"/>
            <a:ext cx="457200" cy="457200"/>
          </a:xfrm>
          <a:prstGeom prst="rect">
            <a:avLst/>
          </a:prstGeom>
          <a:solidFill>
            <a:srgbClr val="DBE2E6"/>
          </a:solidFill>
          <a:ln w="3810">
            <a:solidFill>
              <a:srgbClr val="F4F0E8"/>
            </a:solidFill>
            <a:prstDash val="solid"/>
          </a:ln>
        </p:spPr>
        <p:txBody>
          <a:bodyPr/>
          <a:lstStyle/>
          <a:p>
            <a:endParaRPr/>
          </a:p>
        </p:txBody>
      </p:sp>
      <p:sp>
        <p:nvSpPr>
          <p:cNvPr id="24" name="Rectangle 23">
            <a:extLst>
              <a:ext uri="{FF2B5EF4-FFF2-40B4-BE49-F238E27FC236}">
                <a16:creationId xmlns:a16="http://schemas.microsoft.com/office/drawing/2014/main" id="{98FAA1C8-0A11-4767-89F1-F8408104C1F5}"/>
              </a:ext>
            </a:extLst>
          </p:cNvPr>
          <p:cNvSpPr>
            <a:spLocks noGrp="1"/>
          </p:cNvSpPr>
          <p:nvPr/>
        </p:nvSpPr>
        <p:spPr>
          <a:xfrm>
            <a:off x="7691438" y="2028825"/>
            <a:ext cx="457200" cy="457200"/>
          </a:xfrm>
          <a:prstGeom prst="rect">
            <a:avLst/>
          </a:prstGeom>
          <a:solidFill>
            <a:srgbClr val="BEC8CF"/>
          </a:solidFill>
          <a:ln w="3810">
            <a:solidFill>
              <a:srgbClr val="F4F0E8"/>
            </a:solidFill>
            <a:prstDash val="solid"/>
          </a:ln>
        </p:spPr>
        <p:txBody>
          <a:bodyPr/>
          <a:lstStyle/>
          <a:p>
            <a:endParaRPr/>
          </a:p>
        </p:txBody>
      </p:sp>
      <p:sp>
        <p:nvSpPr>
          <p:cNvPr id="25" name="Rectangle 24">
            <a:extLst>
              <a:ext uri="{FF2B5EF4-FFF2-40B4-BE49-F238E27FC236}">
                <a16:creationId xmlns:a16="http://schemas.microsoft.com/office/drawing/2014/main" id="{BE3DCF03-483E-4DB6-BF5E-83671075116E}"/>
              </a:ext>
            </a:extLst>
          </p:cNvPr>
          <p:cNvSpPr>
            <a:spLocks noGrp="1"/>
          </p:cNvSpPr>
          <p:nvPr/>
        </p:nvSpPr>
        <p:spPr>
          <a:xfrm>
            <a:off x="8143875" y="2028825"/>
            <a:ext cx="457200" cy="457200"/>
          </a:xfrm>
          <a:prstGeom prst="rect">
            <a:avLst/>
          </a:prstGeom>
          <a:solidFill>
            <a:srgbClr val="9FACB6"/>
          </a:solidFill>
          <a:ln w="3810">
            <a:solidFill>
              <a:srgbClr val="F4F0E8"/>
            </a:solidFill>
            <a:prstDash val="solid"/>
          </a:ln>
        </p:spPr>
        <p:txBody>
          <a:bodyPr/>
          <a:lstStyle/>
          <a:p>
            <a:endParaRPr/>
          </a:p>
        </p:txBody>
      </p:sp>
      <p:sp>
        <p:nvSpPr>
          <p:cNvPr id="26" name="Rectangle 25">
            <a:extLst>
              <a:ext uri="{FF2B5EF4-FFF2-40B4-BE49-F238E27FC236}">
                <a16:creationId xmlns:a16="http://schemas.microsoft.com/office/drawing/2014/main" id="{32471ECA-DCC6-4DF8-ACA7-AB64BC03E626}"/>
              </a:ext>
            </a:extLst>
          </p:cNvPr>
          <p:cNvSpPr>
            <a:spLocks noGrp="1"/>
          </p:cNvSpPr>
          <p:nvPr/>
        </p:nvSpPr>
        <p:spPr>
          <a:xfrm>
            <a:off x="8596313" y="2028825"/>
            <a:ext cx="457200" cy="457200"/>
          </a:xfrm>
          <a:prstGeom prst="rect">
            <a:avLst/>
          </a:prstGeom>
          <a:solidFill>
            <a:srgbClr val="99A6B1"/>
          </a:solidFill>
          <a:ln w="3810">
            <a:solidFill>
              <a:srgbClr val="F4F0E8"/>
            </a:solidFill>
            <a:prstDash val="solid"/>
          </a:ln>
        </p:spPr>
        <p:txBody>
          <a:bodyPr/>
          <a:lstStyle/>
          <a:p>
            <a:endParaRPr/>
          </a:p>
        </p:txBody>
      </p:sp>
      <p:sp>
        <p:nvSpPr>
          <p:cNvPr id="27" name="Rectangle 26">
            <a:extLst>
              <a:ext uri="{FF2B5EF4-FFF2-40B4-BE49-F238E27FC236}">
                <a16:creationId xmlns:a16="http://schemas.microsoft.com/office/drawing/2014/main" id="{4B484DF2-402E-48C7-90B1-AE4EEE46F1CB}"/>
              </a:ext>
            </a:extLst>
          </p:cNvPr>
          <p:cNvSpPr>
            <a:spLocks noGrp="1"/>
          </p:cNvSpPr>
          <p:nvPr/>
        </p:nvSpPr>
        <p:spPr>
          <a:xfrm>
            <a:off x="9048750" y="2028825"/>
            <a:ext cx="457200" cy="457200"/>
          </a:xfrm>
          <a:prstGeom prst="rect">
            <a:avLst/>
          </a:prstGeom>
          <a:solidFill>
            <a:srgbClr val="A0ADB7"/>
          </a:solidFill>
          <a:ln w="3810">
            <a:solidFill>
              <a:srgbClr val="F4F0E8"/>
            </a:solidFill>
            <a:prstDash val="solid"/>
          </a:ln>
        </p:spPr>
        <p:txBody>
          <a:bodyPr/>
          <a:lstStyle/>
          <a:p>
            <a:endParaRPr/>
          </a:p>
        </p:txBody>
      </p:sp>
      <p:sp>
        <p:nvSpPr>
          <p:cNvPr id="28" name="Rectangle 27">
            <a:extLst>
              <a:ext uri="{FF2B5EF4-FFF2-40B4-BE49-F238E27FC236}">
                <a16:creationId xmlns:a16="http://schemas.microsoft.com/office/drawing/2014/main" id="{59273ECC-FD92-40AA-A94A-A9699F435213}"/>
              </a:ext>
            </a:extLst>
          </p:cNvPr>
          <p:cNvSpPr>
            <a:spLocks noGrp="1"/>
          </p:cNvSpPr>
          <p:nvPr/>
        </p:nvSpPr>
        <p:spPr>
          <a:xfrm>
            <a:off x="9501188" y="2028825"/>
            <a:ext cx="457200" cy="457200"/>
          </a:xfrm>
          <a:prstGeom prst="rect">
            <a:avLst/>
          </a:prstGeom>
          <a:solidFill>
            <a:srgbClr val="808F9D"/>
          </a:solidFill>
          <a:ln w="3810">
            <a:solidFill>
              <a:srgbClr val="F4F0E8"/>
            </a:solidFill>
            <a:prstDash val="solid"/>
          </a:ln>
        </p:spPr>
        <p:txBody>
          <a:bodyPr/>
          <a:lstStyle/>
          <a:p>
            <a:endParaRPr/>
          </a:p>
        </p:txBody>
      </p:sp>
      <p:sp>
        <p:nvSpPr>
          <p:cNvPr id="29" name="Rectangle 28">
            <a:extLst>
              <a:ext uri="{FF2B5EF4-FFF2-40B4-BE49-F238E27FC236}">
                <a16:creationId xmlns:a16="http://schemas.microsoft.com/office/drawing/2014/main" id="{B94F2424-E5B6-45E5-B559-6848480E8893}"/>
              </a:ext>
            </a:extLst>
          </p:cNvPr>
          <p:cNvSpPr>
            <a:spLocks noGrp="1"/>
          </p:cNvSpPr>
          <p:nvPr/>
        </p:nvSpPr>
        <p:spPr>
          <a:xfrm>
            <a:off x="9953625" y="2028825"/>
            <a:ext cx="457200" cy="457200"/>
          </a:xfrm>
          <a:prstGeom prst="rect">
            <a:avLst/>
          </a:prstGeom>
          <a:solidFill>
            <a:srgbClr val="607384"/>
          </a:solidFill>
          <a:ln w="3810">
            <a:solidFill>
              <a:srgbClr val="F4F0E8"/>
            </a:solidFill>
            <a:prstDash val="solid"/>
          </a:ln>
        </p:spPr>
        <p:txBody>
          <a:bodyPr/>
          <a:lstStyle/>
          <a:p>
            <a:endParaRPr/>
          </a:p>
        </p:txBody>
      </p:sp>
      <p:sp>
        <p:nvSpPr>
          <p:cNvPr id="30" name="Rectangle 29">
            <a:extLst>
              <a:ext uri="{FF2B5EF4-FFF2-40B4-BE49-F238E27FC236}">
                <a16:creationId xmlns:a16="http://schemas.microsoft.com/office/drawing/2014/main" id="{E38B5B9F-9206-4025-8B43-96B761F15C6E}"/>
              </a:ext>
            </a:extLst>
          </p:cNvPr>
          <p:cNvSpPr>
            <a:spLocks noGrp="1"/>
          </p:cNvSpPr>
          <p:nvPr/>
        </p:nvSpPr>
        <p:spPr>
          <a:xfrm>
            <a:off x="10406063" y="2028825"/>
            <a:ext cx="457200" cy="457200"/>
          </a:xfrm>
          <a:prstGeom prst="rect">
            <a:avLst/>
          </a:prstGeom>
          <a:solidFill>
            <a:srgbClr val="97A4AF"/>
          </a:solidFill>
          <a:ln w="3810">
            <a:solidFill>
              <a:srgbClr val="F4F0E8"/>
            </a:solidFill>
            <a:prstDash val="solid"/>
          </a:ln>
        </p:spPr>
        <p:txBody>
          <a:bodyPr/>
          <a:lstStyle/>
          <a:p>
            <a:endParaRPr/>
          </a:p>
        </p:txBody>
      </p:sp>
      <p:sp>
        <p:nvSpPr>
          <p:cNvPr id="31" name="Rectangle 30">
            <a:extLst>
              <a:ext uri="{FF2B5EF4-FFF2-40B4-BE49-F238E27FC236}">
                <a16:creationId xmlns:a16="http://schemas.microsoft.com/office/drawing/2014/main" id="{BE5221E7-9FC3-45A3-A381-C6193FD372B2}"/>
              </a:ext>
            </a:extLst>
          </p:cNvPr>
          <p:cNvSpPr>
            <a:spLocks noGrp="1"/>
          </p:cNvSpPr>
          <p:nvPr/>
        </p:nvSpPr>
        <p:spPr>
          <a:xfrm>
            <a:off x="7239000" y="2481263"/>
            <a:ext cx="457200" cy="457200"/>
          </a:xfrm>
          <a:prstGeom prst="rect">
            <a:avLst/>
          </a:prstGeom>
          <a:solidFill>
            <a:srgbClr val="D2DADF"/>
          </a:solidFill>
          <a:ln w="3810">
            <a:solidFill>
              <a:srgbClr val="F4F0E8"/>
            </a:solidFill>
            <a:prstDash val="solid"/>
          </a:ln>
        </p:spPr>
        <p:txBody>
          <a:bodyPr/>
          <a:lstStyle/>
          <a:p>
            <a:endParaRPr/>
          </a:p>
        </p:txBody>
      </p:sp>
      <p:sp>
        <p:nvSpPr>
          <p:cNvPr id="32" name="Rectangle 31">
            <a:extLst>
              <a:ext uri="{FF2B5EF4-FFF2-40B4-BE49-F238E27FC236}">
                <a16:creationId xmlns:a16="http://schemas.microsoft.com/office/drawing/2014/main" id="{D466F961-5E91-4363-B190-112FA72A370C}"/>
              </a:ext>
            </a:extLst>
          </p:cNvPr>
          <p:cNvSpPr>
            <a:spLocks noGrp="1"/>
          </p:cNvSpPr>
          <p:nvPr/>
        </p:nvSpPr>
        <p:spPr>
          <a:xfrm>
            <a:off x="7691438" y="2481263"/>
            <a:ext cx="457200" cy="457200"/>
          </a:xfrm>
          <a:prstGeom prst="rect">
            <a:avLst/>
          </a:prstGeom>
          <a:solidFill>
            <a:srgbClr val="9DAAB5"/>
          </a:solidFill>
          <a:ln w="3810">
            <a:solidFill>
              <a:srgbClr val="F4F0E8"/>
            </a:solidFill>
            <a:prstDash val="solid"/>
          </a:ln>
        </p:spPr>
        <p:txBody>
          <a:bodyPr/>
          <a:lstStyle/>
          <a:p>
            <a:endParaRPr/>
          </a:p>
        </p:txBody>
      </p:sp>
      <p:sp>
        <p:nvSpPr>
          <p:cNvPr id="33" name="Rectangle 32">
            <a:extLst>
              <a:ext uri="{FF2B5EF4-FFF2-40B4-BE49-F238E27FC236}">
                <a16:creationId xmlns:a16="http://schemas.microsoft.com/office/drawing/2014/main" id="{B66E1E2E-9403-4737-8B4C-9F2E449E56B4}"/>
              </a:ext>
            </a:extLst>
          </p:cNvPr>
          <p:cNvSpPr>
            <a:spLocks noGrp="1"/>
          </p:cNvSpPr>
          <p:nvPr/>
        </p:nvSpPr>
        <p:spPr>
          <a:xfrm>
            <a:off x="8143875" y="2481263"/>
            <a:ext cx="457200" cy="457200"/>
          </a:xfrm>
          <a:prstGeom prst="rect">
            <a:avLst/>
          </a:prstGeom>
          <a:solidFill>
            <a:srgbClr val="607384"/>
          </a:solidFill>
          <a:ln w="3810">
            <a:solidFill>
              <a:srgbClr val="F4F0E8"/>
            </a:solidFill>
            <a:prstDash val="solid"/>
          </a:ln>
        </p:spPr>
        <p:txBody>
          <a:bodyPr/>
          <a:lstStyle/>
          <a:p>
            <a:endParaRPr/>
          </a:p>
        </p:txBody>
      </p:sp>
      <p:sp>
        <p:nvSpPr>
          <p:cNvPr id="34" name="Rectangle 33">
            <a:extLst>
              <a:ext uri="{FF2B5EF4-FFF2-40B4-BE49-F238E27FC236}">
                <a16:creationId xmlns:a16="http://schemas.microsoft.com/office/drawing/2014/main" id="{B7199FEF-6F9B-4E4A-BFBB-15171595CDE0}"/>
              </a:ext>
            </a:extLst>
          </p:cNvPr>
          <p:cNvSpPr>
            <a:spLocks noGrp="1"/>
          </p:cNvSpPr>
          <p:nvPr/>
        </p:nvSpPr>
        <p:spPr>
          <a:xfrm>
            <a:off x="8596313" y="2481263"/>
            <a:ext cx="457200" cy="457200"/>
          </a:xfrm>
          <a:prstGeom prst="rect">
            <a:avLst/>
          </a:prstGeom>
          <a:solidFill>
            <a:srgbClr val="526779"/>
          </a:solidFill>
          <a:ln w="3810">
            <a:solidFill>
              <a:srgbClr val="F4F0E8"/>
            </a:solidFill>
            <a:prstDash val="solid"/>
          </a:ln>
        </p:spPr>
        <p:txBody>
          <a:bodyPr/>
          <a:lstStyle/>
          <a:p>
            <a:endParaRPr/>
          </a:p>
        </p:txBody>
      </p:sp>
      <p:sp>
        <p:nvSpPr>
          <p:cNvPr id="35" name="Rectangle 34">
            <a:extLst>
              <a:ext uri="{FF2B5EF4-FFF2-40B4-BE49-F238E27FC236}">
                <a16:creationId xmlns:a16="http://schemas.microsoft.com/office/drawing/2014/main" id="{EA1D40D3-024A-4B7D-BA3D-B03A778124D7}"/>
              </a:ext>
            </a:extLst>
          </p:cNvPr>
          <p:cNvSpPr>
            <a:spLocks noGrp="1"/>
          </p:cNvSpPr>
          <p:nvPr/>
        </p:nvSpPr>
        <p:spPr>
          <a:xfrm>
            <a:off x="9048750" y="2481263"/>
            <a:ext cx="457200" cy="457200"/>
          </a:xfrm>
          <a:prstGeom prst="rect">
            <a:avLst/>
          </a:prstGeom>
          <a:solidFill>
            <a:srgbClr val="768795"/>
          </a:solidFill>
          <a:ln w="3810">
            <a:solidFill>
              <a:srgbClr val="F4F0E8"/>
            </a:solidFill>
            <a:prstDash val="solid"/>
          </a:ln>
        </p:spPr>
        <p:txBody>
          <a:bodyPr/>
          <a:lstStyle/>
          <a:p>
            <a:endParaRPr/>
          </a:p>
        </p:txBody>
      </p:sp>
      <p:sp>
        <p:nvSpPr>
          <p:cNvPr id="36" name="Rectangle 35">
            <a:extLst>
              <a:ext uri="{FF2B5EF4-FFF2-40B4-BE49-F238E27FC236}">
                <a16:creationId xmlns:a16="http://schemas.microsoft.com/office/drawing/2014/main" id="{E2850446-B095-42B3-8C75-1C38E0CCA475}"/>
              </a:ext>
            </a:extLst>
          </p:cNvPr>
          <p:cNvSpPr>
            <a:spLocks noGrp="1"/>
          </p:cNvSpPr>
          <p:nvPr/>
        </p:nvSpPr>
        <p:spPr>
          <a:xfrm>
            <a:off x="9501188" y="2481263"/>
            <a:ext cx="457200" cy="457200"/>
          </a:xfrm>
          <a:prstGeom prst="rect">
            <a:avLst/>
          </a:prstGeom>
          <a:solidFill>
            <a:srgbClr val="8E9DA9"/>
          </a:solidFill>
          <a:ln w="3810">
            <a:solidFill>
              <a:srgbClr val="F4F0E8"/>
            </a:solidFill>
            <a:prstDash val="solid"/>
          </a:ln>
        </p:spPr>
        <p:txBody>
          <a:bodyPr/>
          <a:lstStyle/>
          <a:p>
            <a:endParaRPr/>
          </a:p>
        </p:txBody>
      </p:sp>
      <p:sp>
        <p:nvSpPr>
          <p:cNvPr id="37" name="Rectangle 36">
            <a:extLst>
              <a:ext uri="{FF2B5EF4-FFF2-40B4-BE49-F238E27FC236}">
                <a16:creationId xmlns:a16="http://schemas.microsoft.com/office/drawing/2014/main" id="{0719A716-33CD-411E-A565-7BAAF4A35B96}"/>
              </a:ext>
            </a:extLst>
          </p:cNvPr>
          <p:cNvSpPr>
            <a:spLocks noGrp="1"/>
          </p:cNvSpPr>
          <p:nvPr/>
        </p:nvSpPr>
        <p:spPr>
          <a:xfrm>
            <a:off x="9953625" y="2481263"/>
            <a:ext cx="457200" cy="457200"/>
          </a:xfrm>
          <a:prstGeom prst="rect">
            <a:avLst/>
          </a:prstGeom>
          <a:solidFill>
            <a:srgbClr val="98A5B0"/>
          </a:solidFill>
          <a:ln w="3810">
            <a:solidFill>
              <a:srgbClr val="F4F0E8"/>
            </a:solidFill>
            <a:prstDash val="solid"/>
          </a:ln>
        </p:spPr>
        <p:txBody>
          <a:bodyPr/>
          <a:lstStyle/>
          <a:p>
            <a:endParaRPr/>
          </a:p>
        </p:txBody>
      </p:sp>
      <p:sp>
        <p:nvSpPr>
          <p:cNvPr id="38" name="Rectangle 37">
            <a:extLst>
              <a:ext uri="{FF2B5EF4-FFF2-40B4-BE49-F238E27FC236}">
                <a16:creationId xmlns:a16="http://schemas.microsoft.com/office/drawing/2014/main" id="{8144F31F-C170-4A49-B897-82F4C9D11919}"/>
              </a:ext>
            </a:extLst>
          </p:cNvPr>
          <p:cNvSpPr>
            <a:spLocks noGrp="1"/>
          </p:cNvSpPr>
          <p:nvPr/>
        </p:nvSpPr>
        <p:spPr>
          <a:xfrm>
            <a:off x="10406063" y="2481263"/>
            <a:ext cx="457200" cy="457200"/>
          </a:xfrm>
          <a:prstGeom prst="rect">
            <a:avLst/>
          </a:prstGeom>
          <a:solidFill>
            <a:srgbClr val="BEC7CF"/>
          </a:solidFill>
          <a:ln w="3810">
            <a:solidFill>
              <a:srgbClr val="F4F0E8"/>
            </a:solidFill>
            <a:prstDash val="solid"/>
          </a:ln>
        </p:spPr>
        <p:txBody>
          <a:bodyPr/>
          <a:lstStyle/>
          <a:p>
            <a:endParaRPr/>
          </a:p>
        </p:txBody>
      </p:sp>
      <p:sp>
        <p:nvSpPr>
          <p:cNvPr id="39" name="Rectangle 38">
            <a:extLst>
              <a:ext uri="{FF2B5EF4-FFF2-40B4-BE49-F238E27FC236}">
                <a16:creationId xmlns:a16="http://schemas.microsoft.com/office/drawing/2014/main" id="{535DCF1D-D098-4E6A-B955-AD1D73F9D520}"/>
              </a:ext>
            </a:extLst>
          </p:cNvPr>
          <p:cNvSpPr>
            <a:spLocks noGrp="1"/>
          </p:cNvSpPr>
          <p:nvPr/>
        </p:nvSpPr>
        <p:spPr>
          <a:xfrm>
            <a:off x="7239000" y="2933700"/>
            <a:ext cx="457200" cy="457200"/>
          </a:xfrm>
          <a:prstGeom prst="rect">
            <a:avLst/>
          </a:prstGeom>
          <a:solidFill>
            <a:srgbClr val="C5CED4"/>
          </a:solidFill>
          <a:ln w="3810">
            <a:solidFill>
              <a:srgbClr val="F4F0E8"/>
            </a:solidFill>
            <a:prstDash val="solid"/>
          </a:ln>
        </p:spPr>
        <p:txBody>
          <a:bodyPr/>
          <a:lstStyle/>
          <a:p>
            <a:endParaRPr/>
          </a:p>
        </p:txBody>
      </p:sp>
      <p:sp>
        <p:nvSpPr>
          <p:cNvPr id="40" name="Rectangle 39">
            <a:extLst>
              <a:ext uri="{FF2B5EF4-FFF2-40B4-BE49-F238E27FC236}">
                <a16:creationId xmlns:a16="http://schemas.microsoft.com/office/drawing/2014/main" id="{2875F57A-F896-4703-953C-1FB489228A7C}"/>
              </a:ext>
            </a:extLst>
          </p:cNvPr>
          <p:cNvSpPr>
            <a:spLocks noGrp="1"/>
          </p:cNvSpPr>
          <p:nvPr/>
        </p:nvSpPr>
        <p:spPr>
          <a:xfrm>
            <a:off x="7691438" y="2933700"/>
            <a:ext cx="457200" cy="457200"/>
          </a:xfrm>
          <a:prstGeom prst="rect">
            <a:avLst/>
          </a:prstGeom>
          <a:solidFill>
            <a:srgbClr val="798A98"/>
          </a:solidFill>
          <a:ln w="3810">
            <a:solidFill>
              <a:srgbClr val="F4F0E8"/>
            </a:solidFill>
            <a:prstDash val="solid"/>
          </a:ln>
        </p:spPr>
        <p:txBody>
          <a:bodyPr/>
          <a:lstStyle/>
          <a:p>
            <a:endParaRPr/>
          </a:p>
        </p:txBody>
      </p:sp>
      <p:sp>
        <p:nvSpPr>
          <p:cNvPr id="41" name="Rectangle 40">
            <a:extLst>
              <a:ext uri="{FF2B5EF4-FFF2-40B4-BE49-F238E27FC236}">
                <a16:creationId xmlns:a16="http://schemas.microsoft.com/office/drawing/2014/main" id="{0392C2B5-1955-4944-82F1-88D829E9F64C}"/>
              </a:ext>
            </a:extLst>
          </p:cNvPr>
          <p:cNvSpPr>
            <a:spLocks noGrp="1"/>
          </p:cNvSpPr>
          <p:nvPr/>
        </p:nvSpPr>
        <p:spPr>
          <a:xfrm>
            <a:off x="8143875" y="2933700"/>
            <a:ext cx="457200" cy="457200"/>
          </a:xfrm>
          <a:prstGeom prst="rect">
            <a:avLst/>
          </a:prstGeom>
          <a:solidFill>
            <a:srgbClr val="243D54"/>
          </a:solidFill>
          <a:ln w="3810">
            <a:solidFill>
              <a:srgbClr val="F4F0E8"/>
            </a:solidFill>
            <a:prstDash val="solid"/>
          </a:ln>
        </p:spPr>
        <p:txBody>
          <a:bodyPr/>
          <a:lstStyle/>
          <a:p>
            <a:endParaRPr/>
          </a:p>
        </p:txBody>
      </p:sp>
      <p:sp>
        <p:nvSpPr>
          <p:cNvPr id="42" name="Rectangle 41">
            <a:extLst>
              <a:ext uri="{FF2B5EF4-FFF2-40B4-BE49-F238E27FC236}">
                <a16:creationId xmlns:a16="http://schemas.microsoft.com/office/drawing/2014/main" id="{7AEE338C-AF62-4507-B7C8-5C9CCEF83741}"/>
              </a:ext>
            </a:extLst>
          </p:cNvPr>
          <p:cNvSpPr>
            <a:spLocks noGrp="1"/>
          </p:cNvSpPr>
          <p:nvPr/>
        </p:nvSpPr>
        <p:spPr>
          <a:xfrm>
            <a:off x="8596313" y="2933700"/>
            <a:ext cx="457200" cy="457200"/>
          </a:xfrm>
          <a:prstGeom prst="rect">
            <a:avLst/>
          </a:prstGeom>
          <a:solidFill>
            <a:srgbClr val="18324A"/>
          </a:solidFill>
          <a:ln w="3810">
            <a:solidFill>
              <a:srgbClr val="F4F0E8"/>
            </a:solidFill>
            <a:prstDash val="solid"/>
          </a:ln>
        </p:spPr>
        <p:txBody>
          <a:bodyPr/>
          <a:lstStyle/>
          <a:p>
            <a:endParaRPr/>
          </a:p>
        </p:txBody>
      </p:sp>
      <p:sp>
        <p:nvSpPr>
          <p:cNvPr id="43" name="Rectangle 42">
            <a:extLst>
              <a:ext uri="{FF2B5EF4-FFF2-40B4-BE49-F238E27FC236}">
                <a16:creationId xmlns:a16="http://schemas.microsoft.com/office/drawing/2014/main" id="{534CE17D-D832-4315-9C43-CBA58B5624C3}"/>
              </a:ext>
            </a:extLst>
          </p:cNvPr>
          <p:cNvSpPr>
            <a:spLocks noGrp="1"/>
          </p:cNvSpPr>
          <p:nvPr/>
        </p:nvSpPr>
        <p:spPr>
          <a:xfrm>
            <a:off x="9048750" y="2933700"/>
            <a:ext cx="457200" cy="457200"/>
          </a:xfrm>
          <a:prstGeom prst="rect">
            <a:avLst/>
          </a:prstGeom>
          <a:solidFill>
            <a:srgbClr val="586B7D"/>
          </a:solidFill>
          <a:ln w="3810">
            <a:solidFill>
              <a:srgbClr val="F4F0E8"/>
            </a:solidFill>
            <a:prstDash val="solid"/>
          </a:ln>
        </p:spPr>
        <p:txBody>
          <a:bodyPr/>
          <a:lstStyle/>
          <a:p>
            <a:endParaRPr/>
          </a:p>
        </p:txBody>
      </p:sp>
      <p:sp>
        <p:nvSpPr>
          <p:cNvPr id="44" name="Rectangle 43">
            <a:extLst>
              <a:ext uri="{FF2B5EF4-FFF2-40B4-BE49-F238E27FC236}">
                <a16:creationId xmlns:a16="http://schemas.microsoft.com/office/drawing/2014/main" id="{D4018F26-A9D3-48AB-A2C7-894117D792B8}"/>
              </a:ext>
            </a:extLst>
          </p:cNvPr>
          <p:cNvSpPr>
            <a:spLocks noGrp="1"/>
          </p:cNvSpPr>
          <p:nvPr/>
        </p:nvSpPr>
        <p:spPr>
          <a:xfrm>
            <a:off x="9501188" y="2933700"/>
            <a:ext cx="457200" cy="457200"/>
          </a:xfrm>
          <a:prstGeom prst="rect">
            <a:avLst/>
          </a:prstGeom>
          <a:solidFill>
            <a:srgbClr val="97A5B0"/>
          </a:solidFill>
          <a:ln w="3810">
            <a:solidFill>
              <a:srgbClr val="F4F0E8"/>
            </a:solidFill>
            <a:prstDash val="solid"/>
          </a:ln>
        </p:spPr>
        <p:txBody>
          <a:bodyPr/>
          <a:lstStyle/>
          <a:p>
            <a:endParaRPr/>
          </a:p>
        </p:txBody>
      </p:sp>
      <p:sp>
        <p:nvSpPr>
          <p:cNvPr id="45" name="Rectangle 44">
            <a:extLst>
              <a:ext uri="{FF2B5EF4-FFF2-40B4-BE49-F238E27FC236}">
                <a16:creationId xmlns:a16="http://schemas.microsoft.com/office/drawing/2014/main" id="{BB1D47CF-17FF-4A70-B29B-A727F0A706A7}"/>
              </a:ext>
            </a:extLst>
          </p:cNvPr>
          <p:cNvSpPr>
            <a:spLocks noGrp="1"/>
          </p:cNvSpPr>
          <p:nvPr/>
        </p:nvSpPr>
        <p:spPr>
          <a:xfrm>
            <a:off x="9953625" y="2933700"/>
            <a:ext cx="457200" cy="457200"/>
          </a:xfrm>
          <a:prstGeom prst="rect">
            <a:avLst/>
          </a:prstGeom>
          <a:solidFill>
            <a:srgbClr val="BBC5CC"/>
          </a:solidFill>
          <a:ln w="3810">
            <a:solidFill>
              <a:srgbClr val="F4F0E8"/>
            </a:solidFill>
            <a:prstDash val="solid"/>
          </a:ln>
        </p:spPr>
        <p:txBody>
          <a:bodyPr/>
          <a:lstStyle/>
          <a:p>
            <a:endParaRPr/>
          </a:p>
        </p:txBody>
      </p:sp>
      <p:sp>
        <p:nvSpPr>
          <p:cNvPr id="46" name="Rectangle 45">
            <a:extLst>
              <a:ext uri="{FF2B5EF4-FFF2-40B4-BE49-F238E27FC236}">
                <a16:creationId xmlns:a16="http://schemas.microsoft.com/office/drawing/2014/main" id="{3C2B2209-18B2-4E46-95B7-F85F3CBE3523}"/>
              </a:ext>
            </a:extLst>
          </p:cNvPr>
          <p:cNvSpPr>
            <a:spLocks noGrp="1"/>
          </p:cNvSpPr>
          <p:nvPr/>
        </p:nvSpPr>
        <p:spPr>
          <a:xfrm>
            <a:off x="10406063" y="2933700"/>
            <a:ext cx="457200" cy="457200"/>
          </a:xfrm>
          <a:prstGeom prst="rect">
            <a:avLst/>
          </a:prstGeom>
          <a:solidFill>
            <a:srgbClr val="D4DCE1"/>
          </a:solidFill>
          <a:ln w="3810">
            <a:solidFill>
              <a:srgbClr val="F4F0E8"/>
            </a:solidFill>
            <a:prstDash val="solid"/>
          </a:ln>
        </p:spPr>
        <p:txBody>
          <a:bodyPr/>
          <a:lstStyle/>
          <a:p>
            <a:endParaRPr/>
          </a:p>
        </p:txBody>
      </p:sp>
      <p:sp>
        <p:nvSpPr>
          <p:cNvPr id="47" name="Rectangle 46">
            <a:extLst>
              <a:ext uri="{FF2B5EF4-FFF2-40B4-BE49-F238E27FC236}">
                <a16:creationId xmlns:a16="http://schemas.microsoft.com/office/drawing/2014/main" id="{9B83D888-8D8A-4B0E-9192-89DC01BC4E64}"/>
              </a:ext>
            </a:extLst>
          </p:cNvPr>
          <p:cNvSpPr>
            <a:spLocks noGrp="1"/>
          </p:cNvSpPr>
          <p:nvPr/>
        </p:nvSpPr>
        <p:spPr>
          <a:xfrm>
            <a:off x="7239000" y="3386138"/>
            <a:ext cx="457200" cy="457200"/>
          </a:xfrm>
          <a:prstGeom prst="rect">
            <a:avLst/>
          </a:prstGeom>
          <a:solidFill>
            <a:srgbClr val="C7D0D7"/>
          </a:solidFill>
          <a:ln w="3810">
            <a:solidFill>
              <a:srgbClr val="F4F0E8"/>
            </a:solidFill>
            <a:prstDash val="solid"/>
          </a:ln>
        </p:spPr>
        <p:txBody>
          <a:bodyPr/>
          <a:lstStyle/>
          <a:p>
            <a:endParaRPr/>
          </a:p>
        </p:txBody>
      </p:sp>
      <p:sp>
        <p:nvSpPr>
          <p:cNvPr id="48" name="Rectangle 47">
            <a:extLst>
              <a:ext uri="{FF2B5EF4-FFF2-40B4-BE49-F238E27FC236}">
                <a16:creationId xmlns:a16="http://schemas.microsoft.com/office/drawing/2014/main" id="{50D06CEC-682F-4C51-8085-49E606CFA4EB}"/>
              </a:ext>
            </a:extLst>
          </p:cNvPr>
          <p:cNvSpPr>
            <a:spLocks noGrp="1"/>
          </p:cNvSpPr>
          <p:nvPr/>
        </p:nvSpPr>
        <p:spPr>
          <a:xfrm>
            <a:off x="7691438" y="3386138"/>
            <a:ext cx="457200" cy="457200"/>
          </a:xfrm>
          <a:prstGeom prst="rect">
            <a:avLst/>
          </a:prstGeom>
          <a:solidFill>
            <a:srgbClr val="81919E"/>
          </a:solidFill>
          <a:ln w="3810">
            <a:solidFill>
              <a:srgbClr val="F4F0E8"/>
            </a:solidFill>
            <a:prstDash val="solid"/>
          </a:ln>
        </p:spPr>
        <p:txBody>
          <a:bodyPr/>
          <a:lstStyle/>
          <a:p>
            <a:endParaRPr/>
          </a:p>
        </p:txBody>
      </p:sp>
      <p:sp>
        <p:nvSpPr>
          <p:cNvPr id="49" name="Rectangle 48">
            <a:extLst>
              <a:ext uri="{FF2B5EF4-FFF2-40B4-BE49-F238E27FC236}">
                <a16:creationId xmlns:a16="http://schemas.microsoft.com/office/drawing/2014/main" id="{4B2AEC65-076B-47EA-981F-F46761C29F92}"/>
              </a:ext>
            </a:extLst>
          </p:cNvPr>
          <p:cNvSpPr>
            <a:spLocks noGrp="1"/>
          </p:cNvSpPr>
          <p:nvPr/>
        </p:nvSpPr>
        <p:spPr>
          <a:xfrm>
            <a:off x="8143875" y="3386138"/>
            <a:ext cx="457200" cy="457200"/>
          </a:xfrm>
          <a:prstGeom prst="rect">
            <a:avLst/>
          </a:prstGeom>
          <a:solidFill>
            <a:srgbClr val="354C61"/>
          </a:solidFill>
          <a:ln w="3810">
            <a:solidFill>
              <a:srgbClr val="F4F0E8"/>
            </a:solidFill>
            <a:prstDash val="solid"/>
          </a:ln>
        </p:spPr>
        <p:txBody>
          <a:bodyPr/>
          <a:lstStyle/>
          <a:p>
            <a:endParaRPr/>
          </a:p>
        </p:txBody>
      </p:sp>
      <p:sp>
        <p:nvSpPr>
          <p:cNvPr id="50" name="Rectangle 49">
            <a:extLst>
              <a:ext uri="{FF2B5EF4-FFF2-40B4-BE49-F238E27FC236}">
                <a16:creationId xmlns:a16="http://schemas.microsoft.com/office/drawing/2014/main" id="{729C93D2-4F9D-4EAD-A5D3-3E60C7603BDD}"/>
              </a:ext>
            </a:extLst>
          </p:cNvPr>
          <p:cNvSpPr>
            <a:spLocks noGrp="1"/>
          </p:cNvSpPr>
          <p:nvPr/>
        </p:nvSpPr>
        <p:spPr>
          <a:xfrm>
            <a:off x="8596313" y="3386138"/>
            <a:ext cx="457200" cy="457200"/>
          </a:xfrm>
          <a:prstGeom prst="rect">
            <a:avLst/>
          </a:prstGeom>
          <a:solidFill>
            <a:srgbClr val="2E465C"/>
          </a:solidFill>
          <a:ln w="3810">
            <a:solidFill>
              <a:srgbClr val="F4F0E8"/>
            </a:solidFill>
            <a:prstDash val="solid"/>
          </a:ln>
        </p:spPr>
        <p:txBody>
          <a:bodyPr/>
          <a:lstStyle/>
          <a:p>
            <a:endParaRPr/>
          </a:p>
        </p:txBody>
      </p:sp>
      <p:sp>
        <p:nvSpPr>
          <p:cNvPr id="51" name="Rectangle 50">
            <a:extLst>
              <a:ext uri="{FF2B5EF4-FFF2-40B4-BE49-F238E27FC236}">
                <a16:creationId xmlns:a16="http://schemas.microsoft.com/office/drawing/2014/main" id="{57683244-1FF8-446C-A236-8989B62B9DFE}"/>
              </a:ext>
            </a:extLst>
          </p:cNvPr>
          <p:cNvSpPr>
            <a:spLocks noGrp="1"/>
          </p:cNvSpPr>
          <p:nvPr/>
        </p:nvSpPr>
        <p:spPr>
          <a:xfrm>
            <a:off x="9048750" y="3386138"/>
            <a:ext cx="457200" cy="457200"/>
          </a:xfrm>
          <a:prstGeom prst="rect">
            <a:avLst/>
          </a:prstGeom>
          <a:solidFill>
            <a:srgbClr val="6C7E8D"/>
          </a:solidFill>
          <a:ln w="3810">
            <a:solidFill>
              <a:srgbClr val="F4F0E8"/>
            </a:solidFill>
            <a:prstDash val="solid"/>
          </a:ln>
        </p:spPr>
        <p:txBody>
          <a:bodyPr/>
          <a:lstStyle/>
          <a:p>
            <a:endParaRPr/>
          </a:p>
        </p:txBody>
      </p:sp>
      <p:sp>
        <p:nvSpPr>
          <p:cNvPr id="52" name="Rectangle 51">
            <a:extLst>
              <a:ext uri="{FF2B5EF4-FFF2-40B4-BE49-F238E27FC236}">
                <a16:creationId xmlns:a16="http://schemas.microsoft.com/office/drawing/2014/main" id="{6B105AB4-C99E-4603-9854-A498F1649B7C}"/>
              </a:ext>
            </a:extLst>
          </p:cNvPr>
          <p:cNvSpPr>
            <a:spLocks noGrp="1"/>
          </p:cNvSpPr>
          <p:nvPr/>
        </p:nvSpPr>
        <p:spPr>
          <a:xfrm>
            <a:off x="9501188" y="3386138"/>
            <a:ext cx="457200" cy="457200"/>
          </a:xfrm>
          <a:prstGeom prst="rect">
            <a:avLst/>
          </a:prstGeom>
          <a:solidFill>
            <a:srgbClr val="A5B1BB"/>
          </a:solidFill>
          <a:ln w="3810">
            <a:solidFill>
              <a:srgbClr val="F4F0E8"/>
            </a:solidFill>
            <a:prstDash val="solid"/>
          </a:ln>
        </p:spPr>
        <p:txBody>
          <a:bodyPr/>
          <a:lstStyle/>
          <a:p>
            <a:endParaRPr/>
          </a:p>
        </p:txBody>
      </p:sp>
      <p:sp>
        <p:nvSpPr>
          <p:cNvPr id="53" name="Rectangle 52">
            <a:extLst>
              <a:ext uri="{FF2B5EF4-FFF2-40B4-BE49-F238E27FC236}">
                <a16:creationId xmlns:a16="http://schemas.microsoft.com/office/drawing/2014/main" id="{E8D6E2D9-EEA9-48A7-B6FB-F09DE04F8E69}"/>
              </a:ext>
            </a:extLst>
          </p:cNvPr>
          <p:cNvSpPr>
            <a:spLocks noGrp="1"/>
          </p:cNvSpPr>
          <p:nvPr/>
        </p:nvSpPr>
        <p:spPr>
          <a:xfrm>
            <a:off x="9953625" y="3386138"/>
            <a:ext cx="457200" cy="457200"/>
          </a:xfrm>
          <a:prstGeom prst="rect">
            <a:avLst/>
          </a:prstGeom>
          <a:solidFill>
            <a:srgbClr val="BEC8CF"/>
          </a:solidFill>
          <a:ln w="3810">
            <a:solidFill>
              <a:srgbClr val="F4F0E8"/>
            </a:solidFill>
            <a:prstDash val="solid"/>
          </a:ln>
        </p:spPr>
        <p:txBody>
          <a:bodyPr/>
          <a:lstStyle/>
          <a:p>
            <a:endParaRPr/>
          </a:p>
        </p:txBody>
      </p:sp>
      <p:sp>
        <p:nvSpPr>
          <p:cNvPr id="54" name="Rectangle 53">
            <a:extLst>
              <a:ext uri="{FF2B5EF4-FFF2-40B4-BE49-F238E27FC236}">
                <a16:creationId xmlns:a16="http://schemas.microsoft.com/office/drawing/2014/main" id="{ABDFF7FC-5D21-41ED-AE66-84D9CFD84A41}"/>
              </a:ext>
            </a:extLst>
          </p:cNvPr>
          <p:cNvSpPr>
            <a:spLocks noGrp="1"/>
          </p:cNvSpPr>
          <p:nvPr/>
        </p:nvSpPr>
        <p:spPr>
          <a:xfrm>
            <a:off x="10406063" y="3386138"/>
            <a:ext cx="457200" cy="457200"/>
          </a:xfrm>
          <a:prstGeom prst="rect">
            <a:avLst/>
          </a:prstGeom>
          <a:solidFill>
            <a:srgbClr val="CED6DC"/>
          </a:solidFill>
          <a:ln w="3810">
            <a:solidFill>
              <a:srgbClr val="F4F0E8"/>
            </a:solidFill>
            <a:prstDash val="solid"/>
          </a:ln>
        </p:spPr>
        <p:txBody>
          <a:bodyPr/>
          <a:lstStyle/>
          <a:p>
            <a:endParaRPr/>
          </a:p>
        </p:txBody>
      </p:sp>
      <p:sp>
        <p:nvSpPr>
          <p:cNvPr id="55" name="Rectangle 54">
            <a:extLst>
              <a:ext uri="{FF2B5EF4-FFF2-40B4-BE49-F238E27FC236}">
                <a16:creationId xmlns:a16="http://schemas.microsoft.com/office/drawing/2014/main" id="{FAE07894-05B9-4225-AE88-6D0B365ED570}"/>
              </a:ext>
            </a:extLst>
          </p:cNvPr>
          <p:cNvSpPr>
            <a:spLocks noGrp="1"/>
          </p:cNvSpPr>
          <p:nvPr/>
        </p:nvSpPr>
        <p:spPr>
          <a:xfrm>
            <a:off x="7239000" y="3838575"/>
            <a:ext cx="457200" cy="457200"/>
          </a:xfrm>
          <a:prstGeom prst="rect">
            <a:avLst/>
          </a:prstGeom>
          <a:solidFill>
            <a:srgbClr val="D8DFE4"/>
          </a:solidFill>
          <a:ln w="3810">
            <a:solidFill>
              <a:srgbClr val="F4F0E8"/>
            </a:solidFill>
            <a:prstDash val="solid"/>
          </a:ln>
        </p:spPr>
        <p:txBody>
          <a:bodyPr/>
          <a:lstStyle/>
          <a:p>
            <a:endParaRPr/>
          </a:p>
        </p:txBody>
      </p:sp>
      <p:sp>
        <p:nvSpPr>
          <p:cNvPr id="56" name="Rectangle 55">
            <a:extLst>
              <a:ext uri="{FF2B5EF4-FFF2-40B4-BE49-F238E27FC236}">
                <a16:creationId xmlns:a16="http://schemas.microsoft.com/office/drawing/2014/main" id="{EA71DCA9-7643-4CCD-B8A8-052B8980DB53}"/>
              </a:ext>
            </a:extLst>
          </p:cNvPr>
          <p:cNvSpPr>
            <a:spLocks noGrp="1"/>
          </p:cNvSpPr>
          <p:nvPr/>
        </p:nvSpPr>
        <p:spPr>
          <a:xfrm>
            <a:off x="7691438" y="3838575"/>
            <a:ext cx="457200" cy="457200"/>
          </a:xfrm>
          <a:prstGeom prst="rect">
            <a:avLst/>
          </a:prstGeom>
          <a:solidFill>
            <a:srgbClr val="B1BCC4"/>
          </a:solidFill>
          <a:ln w="3810">
            <a:solidFill>
              <a:srgbClr val="F4F0E8"/>
            </a:solidFill>
            <a:prstDash val="solid"/>
          </a:ln>
        </p:spPr>
        <p:txBody>
          <a:bodyPr/>
          <a:lstStyle/>
          <a:p>
            <a:endParaRPr/>
          </a:p>
        </p:txBody>
      </p:sp>
      <p:sp>
        <p:nvSpPr>
          <p:cNvPr id="57" name="Rectangle 56">
            <a:extLst>
              <a:ext uri="{FF2B5EF4-FFF2-40B4-BE49-F238E27FC236}">
                <a16:creationId xmlns:a16="http://schemas.microsoft.com/office/drawing/2014/main" id="{7CE5E1F4-80F0-49D1-927A-65081DA0071E}"/>
              </a:ext>
            </a:extLst>
          </p:cNvPr>
          <p:cNvSpPr>
            <a:spLocks noGrp="1"/>
          </p:cNvSpPr>
          <p:nvPr/>
        </p:nvSpPr>
        <p:spPr>
          <a:xfrm>
            <a:off x="8143875" y="3838575"/>
            <a:ext cx="457200" cy="457200"/>
          </a:xfrm>
          <a:prstGeom prst="rect">
            <a:avLst/>
          </a:prstGeom>
          <a:solidFill>
            <a:srgbClr val="8796A3"/>
          </a:solidFill>
          <a:ln w="3810">
            <a:solidFill>
              <a:srgbClr val="F4F0E8"/>
            </a:solidFill>
            <a:prstDash val="solid"/>
          </a:ln>
        </p:spPr>
        <p:txBody>
          <a:bodyPr/>
          <a:lstStyle/>
          <a:p>
            <a:endParaRPr/>
          </a:p>
        </p:txBody>
      </p:sp>
      <p:sp>
        <p:nvSpPr>
          <p:cNvPr id="58" name="Rectangle 57">
            <a:extLst>
              <a:ext uri="{FF2B5EF4-FFF2-40B4-BE49-F238E27FC236}">
                <a16:creationId xmlns:a16="http://schemas.microsoft.com/office/drawing/2014/main" id="{A2492D02-38F4-4592-94ED-366A3D5FFF94}"/>
              </a:ext>
            </a:extLst>
          </p:cNvPr>
          <p:cNvSpPr>
            <a:spLocks noGrp="1"/>
          </p:cNvSpPr>
          <p:nvPr/>
        </p:nvSpPr>
        <p:spPr>
          <a:xfrm>
            <a:off x="8596313" y="3838575"/>
            <a:ext cx="457200" cy="457200"/>
          </a:xfrm>
          <a:prstGeom prst="rect">
            <a:avLst/>
          </a:prstGeom>
          <a:solidFill>
            <a:srgbClr val="8494A1"/>
          </a:solidFill>
          <a:ln w="3810">
            <a:solidFill>
              <a:srgbClr val="F4F0E8"/>
            </a:solidFill>
            <a:prstDash val="solid"/>
          </a:ln>
        </p:spPr>
        <p:txBody>
          <a:bodyPr/>
          <a:lstStyle/>
          <a:p>
            <a:endParaRPr/>
          </a:p>
        </p:txBody>
      </p:sp>
      <p:sp>
        <p:nvSpPr>
          <p:cNvPr id="59" name="Rectangle 58">
            <a:extLst>
              <a:ext uri="{FF2B5EF4-FFF2-40B4-BE49-F238E27FC236}">
                <a16:creationId xmlns:a16="http://schemas.microsoft.com/office/drawing/2014/main" id="{3F4B88CF-ACC8-4D14-8D60-D6919A85B3A4}"/>
              </a:ext>
            </a:extLst>
          </p:cNvPr>
          <p:cNvSpPr>
            <a:spLocks noGrp="1"/>
          </p:cNvSpPr>
          <p:nvPr/>
        </p:nvSpPr>
        <p:spPr>
          <a:xfrm>
            <a:off x="9048750" y="3838575"/>
            <a:ext cx="457200" cy="457200"/>
          </a:xfrm>
          <a:prstGeom prst="rect">
            <a:avLst/>
          </a:prstGeom>
          <a:solidFill>
            <a:srgbClr val="A8B4BD"/>
          </a:solidFill>
          <a:ln w="3810">
            <a:solidFill>
              <a:srgbClr val="F4F0E8"/>
            </a:solidFill>
            <a:prstDash val="solid"/>
          </a:ln>
        </p:spPr>
        <p:txBody>
          <a:bodyPr/>
          <a:lstStyle/>
          <a:p>
            <a:endParaRPr/>
          </a:p>
        </p:txBody>
      </p:sp>
      <p:sp>
        <p:nvSpPr>
          <p:cNvPr id="60" name="Rectangle 59">
            <a:extLst>
              <a:ext uri="{FF2B5EF4-FFF2-40B4-BE49-F238E27FC236}">
                <a16:creationId xmlns:a16="http://schemas.microsoft.com/office/drawing/2014/main" id="{085784CB-0DCD-49B7-99A0-98F3BA5E624E}"/>
              </a:ext>
            </a:extLst>
          </p:cNvPr>
          <p:cNvSpPr>
            <a:spLocks noGrp="1"/>
          </p:cNvSpPr>
          <p:nvPr/>
        </p:nvSpPr>
        <p:spPr>
          <a:xfrm>
            <a:off x="9501188" y="3838575"/>
            <a:ext cx="457200" cy="457200"/>
          </a:xfrm>
          <a:prstGeom prst="rect">
            <a:avLst/>
          </a:prstGeom>
          <a:solidFill>
            <a:srgbClr val="C3CCD3"/>
          </a:solidFill>
          <a:ln w="3810">
            <a:solidFill>
              <a:srgbClr val="F4F0E8"/>
            </a:solidFill>
            <a:prstDash val="solid"/>
          </a:ln>
        </p:spPr>
        <p:txBody>
          <a:bodyPr/>
          <a:lstStyle/>
          <a:p>
            <a:endParaRPr/>
          </a:p>
        </p:txBody>
      </p:sp>
      <p:sp>
        <p:nvSpPr>
          <p:cNvPr id="61" name="Rectangle 60">
            <a:extLst>
              <a:ext uri="{FF2B5EF4-FFF2-40B4-BE49-F238E27FC236}">
                <a16:creationId xmlns:a16="http://schemas.microsoft.com/office/drawing/2014/main" id="{5DC6D9D3-5A00-439E-9487-598484FA6730}"/>
              </a:ext>
            </a:extLst>
          </p:cNvPr>
          <p:cNvSpPr>
            <a:spLocks noGrp="1"/>
          </p:cNvSpPr>
          <p:nvPr/>
        </p:nvSpPr>
        <p:spPr>
          <a:xfrm>
            <a:off x="9953625" y="3838575"/>
            <a:ext cx="457200" cy="457200"/>
          </a:xfrm>
          <a:prstGeom prst="rect">
            <a:avLst/>
          </a:prstGeom>
          <a:solidFill>
            <a:srgbClr val="C6CFD6"/>
          </a:solidFill>
          <a:ln w="3810">
            <a:solidFill>
              <a:srgbClr val="F4F0E8"/>
            </a:solidFill>
            <a:prstDash val="solid"/>
          </a:ln>
        </p:spPr>
        <p:txBody>
          <a:bodyPr/>
          <a:lstStyle/>
          <a:p>
            <a:endParaRPr/>
          </a:p>
        </p:txBody>
      </p:sp>
      <p:sp>
        <p:nvSpPr>
          <p:cNvPr id="62" name="Rectangle 61">
            <a:extLst>
              <a:ext uri="{FF2B5EF4-FFF2-40B4-BE49-F238E27FC236}">
                <a16:creationId xmlns:a16="http://schemas.microsoft.com/office/drawing/2014/main" id="{4B00C484-2AAE-4A71-A9E6-98876F071827}"/>
              </a:ext>
            </a:extLst>
          </p:cNvPr>
          <p:cNvSpPr>
            <a:spLocks noGrp="1"/>
          </p:cNvSpPr>
          <p:nvPr/>
        </p:nvSpPr>
        <p:spPr>
          <a:xfrm>
            <a:off x="10406063" y="3838575"/>
            <a:ext cx="457200" cy="457200"/>
          </a:xfrm>
          <a:prstGeom prst="rect">
            <a:avLst/>
          </a:prstGeom>
          <a:solidFill>
            <a:srgbClr val="C6CFD6"/>
          </a:solidFill>
          <a:ln w="3810">
            <a:solidFill>
              <a:srgbClr val="F4F0E8"/>
            </a:solidFill>
            <a:prstDash val="solid"/>
          </a:ln>
        </p:spPr>
        <p:txBody>
          <a:bodyPr/>
          <a:lstStyle/>
          <a:p>
            <a:endParaRPr/>
          </a:p>
        </p:txBody>
      </p:sp>
      <p:sp>
        <p:nvSpPr>
          <p:cNvPr id="63" name="Rectangle 62">
            <a:extLst>
              <a:ext uri="{FF2B5EF4-FFF2-40B4-BE49-F238E27FC236}">
                <a16:creationId xmlns:a16="http://schemas.microsoft.com/office/drawing/2014/main" id="{3E0DBC40-20FB-419E-B29F-776E765A2AF9}"/>
              </a:ext>
            </a:extLst>
          </p:cNvPr>
          <p:cNvSpPr>
            <a:spLocks noGrp="1"/>
          </p:cNvSpPr>
          <p:nvPr/>
        </p:nvSpPr>
        <p:spPr>
          <a:xfrm>
            <a:off x="7239000" y="4291013"/>
            <a:ext cx="457200" cy="457200"/>
          </a:xfrm>
          <a:prstGeom prst="rect">
            <a:avLst/>
          </a:prstGeom>
          <a:solidFill>
            <a:srgbClr val="E6ECEF"/>
          </a:solidFill>
          <a:ln w="3810">
            <a:solidFill>
              <a:srgbClr val="F4F0E8"/>
            </a:solidFill>
            <a:prstDash val="solid"/>
          </a:ln>
        </p:spPr>
        <p:txBody>
          <a:bodyPr/>
          <a:lstStyle/>
          <a:p>
            <a:endParaRPr/>
          </a:p>
        </p:txBody>
      </p:sp>
      <p:sp>
        <p:nvSpPr>
          <p:cNvPr id="64" name="Rectangle 63">
            <a:extLst>
              <a:ext uri="{FF2B5EF4-FFF2-40B4-BE49-F238E27FC236}">
                <a16:creationId xmlns:a16="http://schemas.microsoft.com/office/drawing/2014/main" id="{CE1F5C6D-EC0A-4427-BFCF-5649F5BB41CC}"/>
              </a:ext>
            </a:extLst>
          </p:cNvPr>
          <p:cNvSpPr>
            <a:spLocks noGrp="1"/>
          </p:cNvSpPr>
          <p:nvPr/>
        </p:nvSpPr>
        <p:spPr>
          <a:xfrm>
            <a:off x="7691438" y="4291013"/>
            <a:ext cx="457200" cy="457200"/>
          </a:xfrm>
          <a:prstGeom prst="rect">
            <a:avLst/>
          </a:prstGeom>
          <a:solidFill>
            <a:srgbClr val="D9E0E5"/>
          </a:solidFill>
          <a:ln w="3810">
            <a:solidFill>
              <a:srgbClr val="F4F0E8"/>
            </a:solidFill>
            <a:prstDash val="solid"/>
          </a:ln>
        </p:spPr>
        <p:txBody>
          <a:bodyPr/>
          <a:lstStyle/>
          <a:p>
            <a:endParaRPr/>
          </a:p>
        </p:txBody>
      </p:sp>
      <p:sp>
        <p:nvSpPr>
          <p:cNvPr id="65" name="Rectangle 64">
            <a:extLst>
              <a:ext uri="{FF2B5EF4-FFF2-40B4-BE49-F238E27FC236}">
                <a16:creationId xmlns:a16="http://schemas.microsoft.com/office/drawing/2014/main" id="{8D3B8B7C-53FA-46A6-A2FE-6954BF8ED587}"/>
              </a:ext>
            </a:extLst>
          </p:cNvPr>
          <p:cNvSpPr>
            <a:spLocks noGrp="1"/>
          </p:cNvSpPr>
          <p:nvPr/>
        </p:nvSpPr>
        <p:spPr>
          <a:xfrm>
            <a:off x="8143875" y="4291013"/>
            <a:ext cx="457200" cy="457200"/>
          </a:xfrm>
          <a:prstGeom prst="rect">
            <a:avLst/>
          </a:prstGeom>
          <a:solidFill>
            <a:srgbClr val="CBD4DA"/>
          </a:solidFill>
          <a:ln w="3810">
            <a:solidFill>
              <a:srgbClr val="F4F0E8"/>
            </a:solidFill>
            <a:prstDash val="solid"/>
          </a:ln>
        </p:spPr>
        <p:txBody>
          <a:bodyPr/>
          <a:lstStyle/>
          <a:p>
            <a:endParaRPr/>
          </a:p>
        </p:txBody>
      </p:sp>
      <p:sp>
        <p:nvSpPr>
          <p:cNvPr id="66" name="Rectangle 65">
            <a:extLst>
              <a:ext uri="{FF2B5EF4-FFF2-40B4-BE49-F238E27FC236}">
                <a16:creationId xmlns:a16="http://schemas.microsoft.com/office/drawing/2014/main" id="{2CE630D4-6291-4307-9219-2F8657531921}"/>
              </a:ext>
            </a:extLst>
          </p:cNvPr>
          <p:cNvSpPr>
            <a:spLocks noGrp="1"/>
          </p:cNvSpPr>
          <p:nvPr/>
        </p:nvSpPr>
        <p:spPr>
          <a:xfrm>
            <a:off x="8596313" y="4291013"/>
            <a:ext cx="457200" cy="457200"/>
          </a:xfrm>
          <a:prstGeom prst="rect">
            <a:avLst/>
          </a:prstGeom>
          <a:solidFill>
            <a:srgbClr val="CBD3D9"/>
          </a:solidFill>
          <a:ln w="3810">
            <a:solidFill>
              <a:srgbClr val="F4F0E8"/>
            </a:solidFill>
            <a:prstDash val="solid"/>
          </a:ln>
        </p:spPr>
        <p:txBody>
          <a:bodyPr/>
          <a:lstStyle/>
          <a:p>
            <a:endParaRPr/>
          </a:p>
        </p:txBody>
      </p:sp>
      <p:sp>
        <p:nvSpPr>
          <p:cNvPr id="67" name="Rectangle 66">
            <a:extLst>
              <a:ext uri="{FF2B5EF4-FFF2-40B4-BE49-F238E27FC236}">
                <a16:creationId xmlns:a16="http://schemas.microsoft.com/office/drawing/2014/main" id="{06048C16-B28D-4FD7-B32D-126F8A53E777}"/>
              </a:ext>
            </a:extLst>
          </p:cNvPr>
          <p:cNvSpPr>
            <a:spLocks noGrp="1"/>
          </p:cNvSpPr>
          <p:nvPr/>
        </p:nvSpPr>
        <p:spPr>
          <a:xfrm>
            <a:off x="9048750" y="4291013"/>
            <a:ext cx="457200" cy="457200"/>
          </a:xfrm>
          <a:prstGeom prst="rect">
            <a:avLst/>
          </a:prstGeom>
          <a:solidFill>
            <a:srgbClr val="D6DEE2"/>
          </a:solidFill>
          <a:ln w="3810">
            <a:solidFill>
              <a:srgbClr val="F4F0E8"/>
            </a:solidFill>
            <a:prstDash val="solid"/>
          </a:ln>
        </p:spPr>
        <p:txBody>
          <a:bodyPr/>
          <a:lstStyle/>
          <a:p>
            <a:endParaRPr/>
          </a:p>
        </p:txBody>
      </p:sp>
      <p:sp>
        <p:nvSpPr>
          <p:cNvPr id="68" name="Rectangle 67">
            <a:extLst>
              <a:ext uri="{FF2B5EF4-FFF2-40B4-BE49-F238E27FC236}">
                <a16:creationId xmlns:a16="http://schemas.microsoft.com/office/drawing/2014/main" id="{60ACD8AD-BA85-407B-B7FE-F073B6B4A90B}"/>
              </a:ext>
            </a:extLst>
          </p:cNvPr>
          <p:cNvSpPr>
            <a:spLocks noGrp="1"/>
          </p:cNvSpPr>
          <p:nvPr/>
        </p:nvSpPr>
        <p:spPr>
          <a:xfrm>
            <a:off x="9501188" y="4291013"/>
            <a:ext cx="457200" cy="457200"/>
          </a:xfrm>
          <a:prstGeom prst="rect">
            <a:avLst/>
          </a:prstGeom>
          <a:solidFill>
            <a:srgbClr val="DDE4E8"/>
          </a:solidFill>
          <a:ln w="3810">
            <a:solidFill>
              <a:srgbClr val="F4F0E8"/>
            </a:solidFill>
            <a:prstDash val="solid"/>
          </a:ln>
        </p:spPr>
        <p:txBody>
          <a:bodyPr/>
          <a:lstStyle/>
          <a:p>
            <a:endParaRPr/>
          </a:p>
        </p:txBody>
      </p:sp>
      <p:sp>
        <p:nvSpPr>
          <p:cNvPr id="69" name="Rectangle 68">
            <a:extLst>
              <a:ext uri="{FF2B5EF4-FFF2-40B4-BE49-F238E27FC236}">
                <a16:creationId xmlns:a16="http://schemas.microsoft.com/office/drawing/2014/main" id="{D64A594F-1780-4534-A832-C679A039413F}"/>
              </a:ext>
            </a:extLst>
          </p:cNvPr>
          <p:cNvSpPr>
            <a:spLocks noGrp="1"/>
          </p:cNvSpPr>
          <p:nvPr/>
        </p:nvSpPr>
        <p:spPr>
          <a:xfrm>
            <a:off x="9953625" y="4291013"/>
            <a:ext cx="457200" cy="457200"/>
          </a:xfrm>
          <a:prstGeom prst="rect">
            <a:avLst/>
          </a:prstGeom>
          <a:solidFill>
            <a:srgbClr val="D6DEE2"/>
          </a:solidFill>
          <a:ln w="3810">
            <a:solidFill>
              <a:srgbClr val="F4F0E8"/>
            </a:solidFill>
            <a:prstDash val="solid"/>
          </a:ln>
        </p:spPr>
        <p:txBody>
          <a:bodyPr/>
          <a:lstStyle/>
          <a:p>
            <a:endParaRPr/>
          </a:p>
        </p:txBody>
      </p:sp>
      <p:sp>
        <p:nvSpPr>
          <p:cNvPr id="70" name="Rectangle 69">
            <a:extLst>
              <a:ext uri="{FF2B5EF4-FFF2-40B4-BE49-F238E27FC236}">
                <a16:creationId xmlns:a16="http://schemas.microsoft.com/office/drawing/2014/main" id="{B855948B-E7C5-4A99-B9BA-A67D0F3777DE}"/>
              </a:ext>
            </a:extLst>
          </p:cNvPr>
          <p:cNvSpPr>
            <a:spLocks noGrp="1"/>
          </p:cNvSpPr>
          <p:nvPr/>
        </p:nvSpPr>
        <p:spPr>
          <a:xfrm>
            <a:off x="10406063" y="4291013"/>
            <a:ext cx="457200" cy="457200"/>
          </a:xfrm>
          <a:prstGeom prst="rect">
            <a:avLst/>
          </a:prstGeom>
          <a:solidFill>
            <a:srgbClr val="CBD3D9"/>
          </a:solidFill>
          <a:ln w="3810">
            <a:solidFill>
              <a:srgbClr val="F4F0E8"/>
            </a:solidFill>
            <a:prstDash val="solid"/>
          </a:ln>
        </p:spPr>
        <p:txBody>
          <a:bodyPr/>
          <a:lstStyle/>
          <a:p>
            <a:endParaRPr/>
          </a:p>
        </p:txBody>
      </p:sp>
      <p:sp>
        <p:nvSpPr>
          <p:cNvPr id="71" name="Rectangle 70">
            <a:extLst>
              <a:ext uri="{FF2B5EF4-FFF2-40B4-BE49-F238E27FC236}">
                <a16:creationId xmlns:a16="http://schemas.microsoft.com/office/drawing/2014/main" id="{5B6FF860-BE7E-4DC8-A555-BA02E62810CA}"/>
              </a:ext>
            </a:extLst>
          </p:cNvPr>
          <p:cNvSpPr>
            <a:spLocks noGrp="1"/>
          </p:cNvSpPr>
          <p:nvPr/>
        </p:nvSpPr>
        <p:spPr>
          <a:xfrm>
            <a:off x="7229475" y="1114425"/>
            <a:ext cx="3638550" cy="3638550"/>
          </a:xfrm>
          <a:prstGeom prst="rect">
            <a:avLst/>
          </a:prstGeom>
          <a:noFill/>
          <a:ln w="14288">
            <a:solidFill>
              <a:srgbClr val="D4CEC2"/>
            </a:solidFill>
            <a:prstDash val="solid"/>
          </a:ln>
        </p:spPr>
        <p:txBody>
          <a:bodyPr/>
          <a:lstStyle/>
          <a:p>
            <a:endParaRPr/>
          </a:p>
        </p:txBody>
      </p:sp>
      <p:sp>
        <p:nvSpPr>
          <p:cNvPr id="72" name="Oval 71">
            <a:extLst>
              <a:ext uri="{FF2B5EF4-FFF2-40B4-BE49-F238E27FC236}">
                <a16:creationId xmlns:a16="http://schemas.microsoft.com/office/drawing/2014/main" id="{F7A1ED66-EE8C-4015-BF27-0D841BBD3B3D}"/>
              </a:ext>
            </a:extLst>
          </p:cNvPr>
          <p:cNvSpPr>
            <a:spLocks noGrp="1"/>
          </p:cNvSpPr>
          <p:nvPr/>
        </p:nvSpPr>
        <p:spPr>
          <a:xfrm>
            <a:off x="8388668" y="3250882"/>
            <a:ext cx="161925" cy="161925"/>
          </a:xfrm>
          <a:prstGeom prst="ellipse">
            <a:avLst/>
          </a:prstGeom>
          <a:solidFill>
            <a:srgbClr val="B95535"/>
          </a:solidFill>
          <a:ln w="19050">
            <a:solidFill>
              <a:srgbClr val="FFFFFF"/>
            </a:solidFill>
            <a:prstDash val="solid"/>
          </a:ln>
        </p:spPr>
        <p:txBody>
          <a:bodyPr/>
          <a:lstStyle/>
          <a:p>
            <a:endParaRPr/>
          </a:p>
        </p:txBody>
      </p:sp>
      <p:sp>
        <p:nvSpPr>
          <p:cNvPr id="73" name="Oval 72">
            <a:extLst>
              <a:ext uri="{FF2B5EF4-FFF2-40B4-BE49-F238E27FC236}">
                <a16:creationId xmlns:a16="http://schemas.microsoft.com/office/drawing/2014/main" id="{3FDBBEB9-99D3-4E24-81C1-9E27A22A98FB}"/>
              </a:ext>
            </a:extLst>
          </p:cNvPr>
          <p:cNvSpPr>
            <a:spLocks noGrp="1"/>
          </p:cNvSpPr>
          <p:nvPr/>
        </p:nvSpPr>
        <p:spPr>
          <a:xfrm>
            <a:off x="9932670" y="1935480"/>
            <a:ext cx="114300" cy="114300"/>
          </a:xfrm>
          <a:prstGeom prst="ellipse">
            <a:avLst/>
          </a:prstGeom>
          <a:solidFill>
            <a:srgbClr val="B58A35"/>
          </a:solidFill>
          <a:ln w="19050">
            <a:solidFill>
              <a:srgbClr val="FFFFFF"/>
            </a:solidFill>
            <a:prstDash val="solid"/>
          </a:ln>
        </p:spPr>
        <p:txBody>
          <a:bodyPr/>
          <a:lstStyle/>
          <a:p>
            <a:endParaRPr/>
          </a:p>
        </p:txBody>
      </p:sp>
      <p:sp>
        <p:nvSpPr>
          <p:cNvPr id="74" name="Oval 73">
            <a:extLst>
              <a:ext uri="{FF2B5EF4-FFF2-40B4-BE49-F238E27FC236}">
                <a16:creationId xmlns:a16="http://schemas.microsoft.com/office/drawing/2014/main" id="{41552906-130B-4917-AA02-536B09F1ED5D}"/>
              </a:ext>
            </a:extLst>
          </p:cNvPr>
          <p:cNvSpPr>
            <a:spLocks noGrp="1"/>
          </p:cNvSpPr>
          <p:nvPr/>
        </p:nvSpPr>
        <p:spPr>
          <a:xfrm>
            <a:off x="9435465" y="3609975"/>
            <a:ext cx="95250" cy="95250"/>
          </a:xfrm>
          <a:prstGeom prst="ellipse">
            <a:avLst/>
          </a:prstGeom>
          <a:solidFill>
            <a:srgbClr val="B58A35"/>
          </a:solidFill>
          <a:ln w="19050">
            <a:solidFill>
              <a:srgbClr val="FFFFFF"/>
            </a:solidFill>
            <a:prstDash val="solid"/>
          </a:ln>
        </p:spPr>
        <p:txBody>
          <a:bodyPr/>
          <a:lstStyle/>
          <a:p>
            <a:endParaRPr/>
          </a:p>
        </p:txBody>
      </p:sp>
      <p:sp>
        <p:nvSpPr>
          <p:cNvPr id="75" name="Rectangle 74">
            <a:extLst>
              <a:ext uri="{FF2B5EF4-FFF2-40B4-BE49-F238E27FC236}">
                <a16:creationId xmlns:a16="http://schemas.microsoft.com/office/drawing/2014/main" id="{ABC84961-95B5-4E5A-8BFE-02E6565523C7}"/>
              </a:ext>
            </a:extLst>
          </p:cNvPr>
          <p:cNvSpPr>
            <a:spLocks noGrp="1"/>
          </p:cNvSpPr>
          <p:nvPr/>
        </p:nvSpPr>
        <p:spPr>
          <a:xfrm>
            <a:off x="7410450" y="5467350"/>
            <a:ext cx="3286125" cy="476250"/>
          </a:xfrm>
          <a:prstGeom prst="rect">
            <a:avLst/>
          </a:prstGeom>
          <a:noFill/>
          <a:ln w="0">
            <a:noFill/>
            <a:prstDash val="solid"/>
          </a:ln>
        </p:spPr>
        <p:txBody>
          <a:bodyPr wrap="square" lIns="0" tIns="0" rIns="0" bIns="0" anchor="ctr">
            <a:normAutofit/>
          </a:bodyPr>
          <a:lstStyle/>
          <a:p>
            <a:pPr algn="ctr">
              <a:buNone/>
              <a:defRPr sz="2925" b="0" i="0">
                <a:solidFill>
                  <a:srgbClr val="B95535"/>
                </a:solidFill>
                <a:latin typeface="Cambria Math"/>
                <a:ea typeface="Cambria Math"/>
                <a:cs typeface="Cambria Math"/>
              </a:defRPr>
            </a:pPr>
            <a:r>
              <a:rPr sz="2925" b="0" i="0">
                <a:solidFill>
                  <a:srgbClr val="B95535"/>
                </a:solidFill>
                <a:latin typeface="Cambria Math"/>
                <a:ea typeface="Cambria Math"/>
                <a:cs typeface="Cambria Math"/>
              </a:rPr>
              <a:t>ŷ = f(x; θ)</a:t>
            </a:r>
          </a:p>
        </p:txBody>
      </p:sp>
      <p:sp>
        <p:nvSpPr>
          <p:cNvPr id="76" name="Rectangle 75">
            <a:extLst>
              <a:ext uri="{FF2B5EF4-FFF2-40B4-BE49-F238E27FC236}">
                <a16:creationId xmlns:a16="http://schemas.microsoft.com/office/drawing/2014/main" id="{4D34A6B2-D2FB-4237-8993-454612AA8C98}"/>
              </a:ext>
            </a:extLst>
          </p:cNvPr>
          <p:cNvSpPr>
            <a:spLocks noGrp="1"/>
          </p:cNvSpPr>
          <p:nvPr/>
        </p:nvSpPr>
        <p:spPr>
          <a:xfrm>
            <a:off x="7639050" y="6019800"/>
            <a:ext cx="2857500" cy="266700"/>
          </a:xfrm>
          <a:prstGeom prst="rect">
            <a:avLst/>
          </a:prstGeom>
          <a:noFill/>
          <a:ln w="0">
            <a:noFill/>
            <a:prstDash val="solid"/>
          </a:ln>
        </p:spPr>
        <p:txBody>
          <a:bodyPr wrap="square" lIns="0" tIns="0" rIns="0" bIns="0" anchor="ctr">
            <a:normAutofit/>
          </a:bodyPr>
          <a:lstStyle/>
          <a:p>
            <a:pPr algn="ctr">
              <a:buNone/>
              <a:defRPr sz="1575" b="0" i="1">
                <a:solidFill>
                  <a:srgbClr val="66645F"/>
                </a:solidFill>
                <a:latin typeface="Helvetica Neue"/>
                <a:ea typeface="Helvetica Neue"/>
                <a:cs typeface="Helvetica Neue"/>
              </a:defRPr>
            </a:pPr>
            <a:r>
              <a:rPr sz="1575" b="0" i="1">
                <a:solidFill>
                  <a:srgbClr val="66645F"/>
                </a:solidFill>
                <a:latin typeface="Helvetica Neue"/>
                <a:ea typeface="Helvetica Neue"/>
                <a:cs typeface="Helvetica Neue"/>
              </a:rPr>
              <a:t>examples → learned prediction</a:t>
            </a:r>
          </a:p>
        </p:txBody>
      </p:sp>
      <p:sp>
        <p:nvSpPr>
          <p:cNvPr id="77" name="Rectangle 76">
            <a:extLst>
              <a:ext uri="{FF2B5EF4-FFF2-40B4-BE49-F238E27FC236}">
                <a16:creationId xmlns:a16="http://schemas.microsoft.com/office/drawing/2014/main" id="{DB144249-5255-4450-A709-804BCECC2786}"/>
              </a:ext>
            </a:extLst>
          </p:cNvPr>
          <p:cNvSpPr>
            <a:spLocks noGrp="1"/>
          </p:cNvSpPr>
          <p:nvPr/>
        </p:nvSpPr>
        <p:spPr>
          <a:xfrm>
            <a:off x="11115675" y="6334125"/>
            <a:ext cx="523875" cy="209550"/>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01</a:t>
            </a:r>
          </a:p>
        </p:txBody>
      </p:sp>
    </p:spTree>
    <p:extLst>
      <p:ext uri="{BB962C8B-B14F-4D97-AF65-F5344CB8AC3E}">
        <p14:creationId xmlns:p14="http://schemas.microsoft.com/office/powerpoint/2010/main" val="618803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0C800E9-CAB8-4025-AE22-95A0782C9CB9}"/>
              </a:ext>
            </a:extLst>
          </p:cNvPr>
          <p:cNvSpPr>
            <a:spLocks noGrp="1"/>
          </p:cNvSpPr>
          <p:nvPr/>
        </p:nvSpPr>
        <p:spPr>
          <a:xfrm>
            <a:off x="552450" y="219075"/>
            <a:ext cx="6858000" cy="228600"/>
          </a:xfrm>
          <a:prstGeom prst="rect">
            <a:avLst/>
          </a:prstGeom>
          <a:noFill/>
          <a:ln w="0">
            <a:noFill/>
            <a:prstDash val="solid"/>
          </a:ln>
        </p:spPr>
        <p:txBody>
          <a:bodyPr wrap="square" lIns="0" tIns="0" rIns="0" bIns="0" anchor="ctr">
            <a:normAutofit/>
          </a:bodyPr>
          <a:lstStyle/>
          <a:p>
            <a:pPr algn="l">
              <a:buNone/>
              <a:defRPr sz="1125" b="1" i="0">
                <a:solidFill>
                  <a:srgbClr val="B95535"/>
                </a:solidFill>
                <a:latin typeface="Helvetica Neue"/>
                <a:ea typeface="Helvetica Neue"/>
                <a:cs typeface="Helvetica Neue"/>
              </a:defRPr>
            </a:pPr>
            <a:r>
              <a:rPr sz="1125" b="1" i="0">
                <a:solidFill>
                  <a:srgbClr val="B95535"/>
                </a:solidFill>
                <a:latin typeface="Helvetica Neue"/>
                <a:ea typeface="Helvetica Neue"/>
                <a:cs typeface="Helvetica Neue"/>
              </a:rPr>
              <a:t>MACHINE LEARNING  •  THE BASIC IDEA</a:t>
            </a:r>
          </a:p>
        </p:txBody>
      </p:sp>
      <p:sp>
        <p:nvSpPr>
          <p:cNvPr id="2" name="Rectangle 1">
            <a:extLst>
              <a:ext uri="{FF2B5EF4-FFF2-40B4-BE49-F238E27FC236}">
                <a16:creationId xmlns:a16="http://schemas.microsoft.com/office/drawing/2014/main" id="{54E6058F-BAD8-4E8A-A248-3EBDD8C24EE4}"/>
              </a:ext>
            </a:extLst>
          </p:cNvPr>
          <p:cNvSpPr>
            <a:spLocks noGrp="1"/>
          </p:cNvSpPr>
          <p:nvPr/>
        </p:nvSpPr>
        <p:spPr>
          <a:xfrm>
            <a:off x="533400" y="476250"/>
            <a:ext cx="11087100" cy="552450"/>
          </a:xfrm>
          <a:prstGeom prst="rect">
            <a:avLst/>
          </a:prstGeom>
          <a:noFill/>
          <a:ln w="0">
            <a:noFill/>
            <a:prstDash val="solid"/>
          </a:ln>
        </p:spPr>
        <p:txBody>
          <a:bodyPr wrap="square" lIns="0" tIns="0" rIns="0" bIns="0" anchor="t">
            <a:normAutofit/>
          </a:bodyPr>
          <a:lstStyle/>
          <a:p>
            <a:pPr algn="l">
              <a:buNone/>
              <a:defRPr sz="3525" b="1" i="0">
                <a:solidFill>
                  <a:srgbClr val="202224"/>
                </a:solidFill>
                <a:latin typeface="Helvetica Neue"/>
                <a:ea typeface="Helvetica Neue"/>
                <a:cs typeface="Helvetica Neue"/>
              </a:defRPr>
            </a:pPr>
            <a:r>
              <a:rPr sz="3525" b="1" i="0">
                <a:solidFill>
                  <a:srgbClr val="202224"/>
                </a:solidFill>
                <a:latin typeface="Helvetica Neue"/>
                <a:ea typeface="Helvetica Neue"/>
                <a:cs typeface="Helvetica Neue"/>
              </a:rPr>
              <a:t>Machine learning fits a useful map from examples</a:t>
            </a:r>
          </a:p>
        </p:txBody>
      </p:sp>
      <p:sp>
        <p:nvSpPr>
          <p:cNvPr id="3" name="Rectangle 2">
            <a:extLst>
              <a:ext uri="{FF2B5EF4-FFF2-40B4-BE49-F238E27FC236}">
                <a16:creationId xmlns:a16="http://schemas.microsoft.com/office/drawing/2014/main" id="{1259456D-A3BA-4143-948A-324639AE0DD5}"/>
              </a:ext>
            </a:extLst>
          </p:cNvPr>
          <p:cNvSpPr>
            <a:spLocks noGrp="1"/>
          </p:cNvSpPr>
          <p:nvPr/>
        </p:nvSpPr>
        <p:spPr>
          <a:xfrm>
            <a:off x="533400" y="1076325"/>
            <a:ext cx="11125200" cy="19050"/>
          </a:xfrm>
          <a:prstGeom prst="rect">
            <a:avLst/>
          </a:prstGeom>
          <a:solidFill>
            <a:srgbClr val="D4CEC2"/>
          </a:solidFill>
          <a:ln w="0">
            <a:noFill/>
            <a:prstDash val="solid"/>
          </a:ln>
        </p:spPr>
        <p:txBody>
          <a:bodyPr/>
          <a:lstStyle/>
          <a:p>
            <a:endParaRPr/>
          </a:p>
        </p:txBody>
      </p:sp>
      <p:sp>
        <p:nvSpPr>
          <p:cNvPr id="4" name="Rectangle 3">
            <a:extLst>
              <a:ext uri="{FF2B5EF4-FFF2-40B4-BE49-F238E27FC236}">
                <a16:creationId xmlns:a16="http://schemas.microsoft.com/office/drawing/2014/main" id="{8B74F91E-4CC3-47C3-863C-31D4741DE646}"/>
              </a:ext>
            </a:extLst>
          </p:cNvPr>
          <p:cNvSpPr>
            <a:spLocks noGrp="1"/>
          </p:cNvSpPr>
          <p:nvPr/>
        </p:nvSpPr>
        <p:spPr>
          <a:xfrm>
            <a:off x="11144250" y="228600"/>
            <a:ext cx="495300" cy="219075"/>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02</a:t>
            </a:r>
          </a:p>
        </p:txBody>
      </p:sp>
      <p:sp>
        <p:nvSpPr>
          <p:cNvPr id="5" name="Rectangle 4">
            <a:extLst>
              <a:ext uri="{FF2B5EF4-FFF2-40B4-BE49-F238E27FC236}">
                <a16:creationId xmlns:a16="http://schemas.microsoft.com/office/drawing/2014/main" id="{746447DB-4CF7-4889-BE0F-CE7B2F9A7A8E}"/>
              </a:ext>
            </a:extLst>
          </p:cNvPr>
          <p:cNvSpPr>
            <a:spLocks noGrp="1"/>
          </p:cNvSpPr>
          <p:nvPr/>
        </p:nvSpPr>
        <p:spPr>
          <a:xfrm>
            <a:off x="533400" y="6543675"/>
            <a:ext cx="5810250" cy="161925"/>
          </a:xfrm>
          <a:prstGeom prst="rect">
            <a:avLst/>
          </a:prstGeom>
          <a:noFill/>
          <a:ln w="0">
            <a:noFill/>
            <a:prstDash val="solid"/>
          </a:ln>
        </p:spPr>
        <p:txBody>
          <a:bodyPr wrap="square" lIns="0" tIns="0" rIns="0" bIns="0" anchor="ctr">
            <a:normAutofit/>
          </a:bodyPr>
          <a:lstStyle/>
          <a:p>
            <a:pPr algn="l">
              <a:buNone/>
              <a:defRPr sz="863" b="0" i="0">
                <a:solidFill>
                  <a:srgbClr val="66645F"/>
                </a:solidFill>
                <a:latin typeface="Helvetica Neue"/>
                <a:ea typeface="Helvetica Neue"/>
                <a:cs typeface="Helvetica Neue"/>
              </a:defRPr>
            </a:pPr>
            <a:r>
              <a:rPr sz="863" b="0" i="0">
                <a:solidFill>
                  <a:srgbClr val="66645F"/>
                </a:solidFill>
                <a:latin typeface="Helvetica Neue"/>
                <a:ea typeface="Helvetica Neue"/>
                <a:cs typeface="Helvetica Neue"/>
              </a:rPr>
              <a:t>ICTS 2026  •  Machine learning → transformers</a:t>
            </a:r>
          </a:p>
        </p:txBody>
      </p:sp>
      <p:sp>
        <p:nvSpPr>
          <p:cNvPr id="35" name="Rectangle 34">
            <a:extLst>
              <a:ext uri="{FF2B5EF4-FFF2-40B4-BE49-F238E27FC236}">
                <a16:creationId xmlns:a16="http://schemas.microsoft.com/office/drawing/2014/main" id="{811B76BD-23D8-44A6-A98D-7A819863BEBE}"/>
              </a:ext>
            </a:extLst>
          </p:cNvPr>
          <p:cNvSpPr>
            <a:spLocks noGrp="1"/>
          </p:cNvSpPr>
          <p:nvPr/>
        </p:nvSpPr>
        <p:spPr>
          <a:xfrm>
            <a:off x="666750" y="1381125"/>
            <a:ext cx="10572750" cy="704850"/>
          </a:xfrm>
          <a:prstGeom prst="rect">
            <a:avLst/>
          </a:prstGeom>
          <a:noFill/>
          <a:ln w="0">
            <a:noFill/>
            <a:prstDash val="solid"/>
          </a:ln>
        </p:spPr>
        <p:txBody>
          <a:bodyPr wrap="square" lIns="0" tIns="0" rIns="0" bIns="0" anchor="ctr">
            <a:normAutofit fontScale="99462"/>
          </a:bodyPr>
          <a:lstStyle/>
          <a:p>
            <a:pPr algn="l">
              <a:defRPr sz="2325" b="1" i="0">
                <a:solidFill>
                  <a:srgbClr val="18324A"/>
                </a:solidFill>
                <a:latin typeface="Helvetica Neue"/>
                <a:ea typeface="Helvetica Neue"/>
                <a:cs typeface="Helvetica Neue"/>
              </a:defRPr>
            </a:pPr>
            <a:r>
              <a:rPr sz="2325" b="1" i="0">
                <a:solidFill>
                  <a:srgbClr val="18324A"/>
                </a:solidFill>
                <a:latin typeface="Helvetica Neue"/>
                <a:ea typeface="Helvetica Neue"/>
                <a:cs typeface="Helvetica Neue"/>
              </a:rPr>
              <a:t>We show the model inputs and correct targets. Training adjusts its parameters so new inputs receive useful predictions.</a:t>
            </a:r>
          </a:p>
        </p:txBody>
      </p:sp>
      <p:sp>
        <p:nvSpPr>
          <p:cNvPr id="36" name="Straight Connector 35">
            <a:extLst>
              <a:ext uri="{FF2B5EF4-FFF2-40B4-BE49-F238E27FC236}">
                <a16:creationId xmlns:a16="http://schemas.microsoft.com/office/drawing/2014/main" id="{7EB8D819-ACF7-4F43-B54A-5CE0911DAE0B}"/>
              </a:ext>
            </a:extLst>
          </p:cNvPr>
          <p:cNvSpPr>
            <a:spLocks noGrp="1"/>
          </p:cNvSpPr>
          <p:nvPr/>
        </p:nvSpPr>
        <p:spPr>
          <a:xfrm>
            <a:off x="2714625" y="3381375"/>
            <a:ext cx="771525" cy="9525"/>
          </a:xfrm>
          <a:prstGeom prst="line">
            <a:avLst/>
          </a:prstGeom>
          <a:noFill/>
          <a:ln w="28575">
            <a:solidFill>
              <a:srgbClr val="2D617F"/>
            </a:solidFill>
            <a:prstDash val="solid"/>
          </a:ln>
        </p:spPr>
        <p:txBody>
          <a:bodyPr/>
          <a:lstStyle/>
          <a:p>
            <a:endParaRPr lang="en-US"/>
          </a:p>
        </p:txBody>
      </p:sp>
      <p:sp>
        <p:nvSpPr>
          <p:cNvPr id="37" name="Triangle 36">
            <a:extLst>
              <a:ext uri="{FF2B5EF4-FFF2-40B4-BE49-F238E27FC236}">
                <a16:creationId xmlns:a16="http://schemas.microsoft.com/office/drawing/2014/main" id="{C34F69BC-2F26-4766-B6CE-7D02C2634BC4}"/>
              </a:ext>
            </a:extLst>
          </p:cNvPr>
          <p:cNvSpPr>
            <a:spLocks noGrp="1"/>
          </p:cNvSpPr>
          <p:nvPr/>
        </p:nvSpPr>
        <p:spPr>
          <a:xfrm rot="5400000">
            <a:off x="3524250" y="3286125"/>
            <a:ext cx="190500" cy="190500"/>
          </a:xfrm>
          <a:prstGeom prst="triangle">
            <a:avLst/>
          </a:prstGeom>
          <a:solidFill>
            <a:srgbClr val="2D617F"/>
          </a:solidFill>
          <a:ln w="0">
            <a:noFill/>
            <a:prstDash val="solid"/>
          </a:ln>
        </p:spPr>
        <p:txBody>
          <a:bodyPr/>
          <a:lstStyle/>
          <a:p>
            <a:endParaRPr lang="en-US"/>
          </a:p>
        </p:txBody>
      </p:sp>
      <p:sp>
        <p:nvSpPr>
          <p:cNvPr id="38" name="Straight Connector 37">
            <a:extLst>
              <a:ext uri="{FF2B5EF4-FFF2-40B4-BE49-F238E27FC236}">
                <a16:creationId xmlns:a16="http://schemas.microsoft.com/office/drawing/2014/main" id="{816C9E42-E60F-4A57-8C06-EAD27375E628}"/>
              </a:ext>
            </a:extLst>
          </p:cNvPr>
          <p:cNvSpPr>
            <a:spLocks noGrp="1"/>
          </p:cNvSpPr>
          <p:nvPr/>
        </p:nvSpPr>
        <p:spPr>
          <a:xfrm>
            <a:off x="5715000" y="3381375"/>
            <a:ext cx="581025" cy="9525"/>
          </a:xfrm>
          <a:prstGeom prst="line">
            <a:avLst/>
          </a:prstGeom>
          <a:noFill/>
          <a:ln w="28575">
            <a:solidFill>
              <a:srgbClr val="B95535"/>
            </a:solidFill>
            <a:prstDash val="solid"/>
          </a:ln>
        </p:spPr>
        <p:txBody>
          <a:bodyPr/>
          <a:lstStyle/>
          <a:p>
            <a:endParaRPr lang="en-US"/>
          </a:p>
        </p:txBody>
      </p:sp>
      <p:sp>
        <p:nvSpPr>
          <p:cNvPr id="39" name="Triangle 38">
            <a:extLst>
              <a:ext uri="{FF2B5EF4-FFF2-40B4-BE49-F238E27FC236}">
                <a16:creationId xmlns:a16="http://schemas.microsoft.com/office/drawing/2014/main" id="{E9D540F2-46A6-474E-B040-1CE3120DFC70}"/>
              </a:ext>
            </a:extLst>
          </p:cNvPr>
          <p:cNvSpPr>
            <a:spLocks noGrp="1"/>
          </p:cNvSpPr>
          <p:nvPr/>
        </p:nvSpPr>
        <p:spPr>
          <a:xfrm rot="5400000">
            <a:off x="6334125" y="3286125"/>
            <a:ext cx="190500" cy="190500"/>
          </a:xfrm>
          <a:prstGeom prst="triangle">
            <a:avLst/>
          </a:prstGeom>
          <a:solidFill>
            <a:srgbClr val="B95535"/>
          </a:solidFill>
          <a:ln w="0">
            <a:noFill/>
            <a:prstDash val="solid"/>
          </a:ln>
        </p:spPr>
        <p:txBody>
          <a:bodyPr/>
          <a:lstStyle/>
          <a:p>
            <a:endParaRPr lang="en-US"/>
          </a:p>
        </p:txBody>
      </p:sp>
      <p:sp>
        <p:nvSpPr>
          <p:cNvPr id="40" name="Straight Connector 39">
            <a:extLst>
              <a:ext uri="{FF2B5EF4-FFF2-40B4-BE49-F238E27FC236}">
                <a16:creationId xmlns:a16="http://schemas.microsoft.com/office/drawing/2014/main" id="{98F31A76-D819-4C31-9353-4B2197386EEA}"/>
              </a:ext>
            </a:extLst>
          </p:cNvPr>
          <p:cNvSpPr>
            <a:spLocks noGrp="1"/>
          </p:cNvSpPr>
          <p:nvPr/>
        </p:nvSpPr>
        <p:spPr>
          <a:xfrm>
            <a:off x="8524875" y="3381375"/>
            <a:ext cx="581025" cy="9525"/>
          </a:xfrm>
          <a:prstGeom prst="line">
            <a:avLst/>
          </a:prstGeom>
          <a:noFill/>
          <a:ln w="28575">
            <a:solidFill>
              <a:srgbClr val="4E705D"/>
            </a:solidFill>
            <a:prstDash val="solid"/>
          </a:ln>
        </p:spPr>
        <p:txBody>
          <a:bodyPr/>
          <a:lstStyle/>
          <a:p>
            <a:endParaRPr lang="en-US"/>
          </a:p>
        </p:txBody>
      </p:sp>
      <p:sp>
        <p:nvSpPr>
          <p:cNvPr id="41" name="Triangle 40">
            <a:extLst>
              <a:ext uri="{FF2B5EF4-FFF2-40B4-BE49-F238E27FC236}">
                <a16:creationId xmlns:a16="http://schemas.microsoft.com/office/drawing/2014/main" id="{0F3E0312-8513-4053-8518-009265FC1A6C}"/>
              </a:ext>
            </a:extLst>
          </p:cNvPr>
          <p:cNvSpPr>
            <a:spLocks noGrp="1"/>
          </p:cNvSpPr>
          <p:nvPr/>
        </p:nvSpPr>
        <p:spPr>
          <a:xfrm rot="5400000">
            <a:off x="9144000" y="3286125"/>
            <a:ext cx="190500" cy="190500"/>
          </a:xfrm>
          <a:prstGeom prst="triangle">
            <a:avLst/>
          </a:prstGeom>
          <a:solidFill>
            <a:srgbClr val="4E705D"/>
          </a:solidFill>
          <a:ln w="0">
            <a:noFill/>
            <a:prstDash val="solid"/>
          </a:ln>
        </p:spPr>
        <p:txBody>
          <a:bodyPr/>
          <a:lstStyle/>
          <a:p>
            <a:endParaRPr lang="en-US"/>
          </a:p>
        </p:txBody>
      </p:sp>
      <p:sp>
        <p:nvSpPr>
          <p:cNvPr id="42" name="Rounded Rectangle 41">
            <a:extLst>
              <a:ext uri="{FF2B5EF4-FFF2-40B4-BE49-F238E27FC236}">
                <a16:creationId xmlns:a16="http://schemas.microsoft.com/office/drawing/2014/main" id="{AFF5E8D1-B06F-4DD5-AF95-7EAAF23186B2}"/>
              </a:ext>
            </a:extLst>
          </p:cNvPr>
          <p:cNvSpPr>
            <a:spLocks noGrp="1"/>
          </p:cNvSpPr>
          <p:nvPr/>
        </p:nvSpPr>
        <p:spPr>
          <a:xfrm>
            <a:off x="714375" y="2857500"/>
            <a:ext cx="2000250" cy="1047750"/>
          </a:xfrm>
          <a:prstGeom prst="roundRect">
            <a:avLst>
              <a:gd name="adj" fmla="val 10909"/>
            </a:avLst>
          </a:prstGeom>
          <a:solidFill>
            <a:srgbClr val="DCE6ED"/>
          </a:solidFill>
          <a:ln w="14288">
            <a:solidFill>
              <a:srgbClr val="2D617F"/>
            </a:solidFill>
            <a:prstDash val="solid"/>
          </a:ln>
        </p:spPr>
        <p:txBody>
          <a:bodyPr wrap="square" lIns="114300" tIns="95250" rIns="114300" bIns="95250" anchor="ctr">
            <a:normAutofit/>
          </a:bodyPr>
          <a:lstStyle/>
          <a:p>
            <a:pPr algn="ctr">
              <a:defRPr sz="2025" b="1">
                <a:solidFill>
                  <a:srgbClr val="2D617F"/>
                </a:solidFill>
                <a:latin typeface="Helvetica Neue"/>
                <a:ea typeface="Helvetica Neue"/>
                <a:cs typeface="Helvetica Neue"/>
              </a:defRPr>
            </a:pPr>
            <a:r>
              <a:rPr sz="2025" b="1">
                <a:solidFill>
                  <a:srgbClr val="2D617F"/>
                </a:solidFill>
                <a:latin typeface="Helvetica Neue"/>
                <a:ea typeface="Helvetica Neue"/>
                <a:cs typeface="Helvetica Neue"/>
              </a:rPr>
              <a:t>input features</a:t>
            </a:r>
          </a:p>
          <a:p>
            <a:pPr algn="ctr">
              <a:defRPr sz="2025" b="1">
                <a:solidFill>
                  <a:srgbClr val="2D617F"/>
                </a:solidFill>
                <a:latin typeface="Helvetica Neue"/>
                <a:ea typeface="Helvetica Neue"/>
                <a:cs typeface="Helvetica Neue"/>
              </a:defRPr>
            </a:pPr>
            <a:r>
              <a:rPr sz="2025" b="1">
                <a:solidFill>
                  <a:srgbClr val="2D617F"/>
                </a:solidFill>
                <a:latin typeface="Helvetica Neue"/>
                <a:ea typeface="Helvetica Neue"/>
                <a:cs typeface="Helvetica Neue"/>
              </a:rPr>
              <a:t>x</a:t>
            </a:r>
          </a:p>
        </p:txBody>
      </p:sp>
      <p:sp>
        <p:nvSpPr>
          <p:cNvPr id="43" name="Rounded Rectangle 42">
            <a:extLst>
              <a:ext uri="{FF2B5EF4-FFF2-40B4-BE49-F238E27FC236}">
                <a16:creationId xmlns:a16="http://schemas.microsoft.com/office/drawing/2014/main" id="{99CD54B5-746A-4009-8A5D-CCB37A092A4F}"/>
              </a:ext>
            </a:extLst>
          </p:cNvPr>
          <p:cNvSpPr>
            <a:spLocks noGrp="1"/>
          </p:cNvSpPr>
          <p:nvPr/>
        </p:nvSpPr>
        <p:spPr>
          <a:xfrm>
            <a:off x="3619500" y="2857500"/>
            <a:ext cx="2095500" cy="1047750"/>
          </a:xfrm>
          <a:prstGeom prst="roundRect">
            <a:avLst>
              <a:gd name="adj" fmla="val 10909"/>
            </a:avLst>
          </a:prstGeom>
          <a:solidFill>
            <a:srgbClr val="FFFFFF"/>
          </a:solidFill>
          <a:ln w="14288">
            <a:solidFill>
              <a:srgbClr val="D4CEC2"/>
            </a:solidFill>
            <a:prstDash val="solid"/>
          </a:ln>
        </p:spPr>
        <p:txBody>
          <a:bodyPr wrap="square" lIns="114300" tIns="95250" rIns="114300" bIns="95250" anchor="ctr">
            <a:normAutofit/>
          </a:bodyPr>
          <a:lstStyle/>
          <a:p>
            <a:pPr algn="ctr">
              <a:defRPr sz="2175" b="1">
                <a:solidFill>
                  <a:srgbClr val="18324A"/>
                </a:solidFill>
                <a:latin typeface="Cambria Math"/>
                <a:ea typeface="Cambria Math"/>
                <a:cs typeface="Cambria Math"/>
              </a:defRPr>
            </a:pPr>
            <a:r>
              <a:rPr sz="2175" b="1">
                <a:solidFill>
                  <a:srgbClr val="18324A"/>
                </a:solidFill>
                <a:latin typeface="Cambria Math"/>
                <a:ea typeface="Cambria Math"/>
                <a:cs typeface="Cambria Math"/>
              </a:rPr>
              <a:t>model</a:t>
            </a:r>
          </a:p>
          <a:p>
            <a:pPr algn="ctr">
              <a:defRPr sz="2175" b="1">
                <a:solidFill>
                  <a:srgbClr val="18324A"/>
                </a:solidFill>
                <a:latin typeface="Cambria Math"/>
                <a:ea typeface="Cambria Math"/>
                <a:cs typeface="Cambria Math"/>
              </a:defRPr>
            </a:pPr>
            <a:r>
              <a:rPr sz="2175" b="1">
                <a:solidFill>
                  <a:srgbClr val="18324A"/>
                </a:solidFill>
                <a:latin typeface="Cambria Math"/>
                <a:ea typeface="Cambria Math"/>
                <a:cs typeface="Cambria Math"/>
              </a:rPr>
              <a:t>f(x; θ)</a:t>
            </a:r>
          </a:p>
        </p:txBody>
      </p:sp>
      <p:sp>
        <p:nvSpPr>
          <p:cNvPr id="44" name="Rounded Rectangle 43">
            <a:extLst>
              <a:ext uri="{FF2B5EF4-FFF2-40B4-BE49-F238E27FC236}">
                <a16:creationId xmlns:a16="http://schemas.microsoft.com/office/drawing/2014/main" id="{8ECFF2AA-A6C8-4E69-8333-819082B5A2A2}"/>
              </a:ext>
            </a:extLst>
          </p:cNvPr>
          <p:cNvSpPr>
            <a:spLocks noGrp="1"/>
          </p:cNvSpPr>
          <p:nvPr/>
        </p:nvSpPr>
        <p:spPr>
          <a:xfrm>
            <a:off x="6429375" y="2857500"/>
            <a:ext cx="2095500" cy="1047750"/>
          </a:xfrm>
          <a:prstGeom prst="roundRect">
            <a:avLst>
              <a:gd name="adj" fmla="val 10909"/>
            </a:avLst>
          </a:prstGeom>
          <a:solidFill>
            <a:srgbClr val="EED8CE"/>
          </a:solidFill>
          <a:ln w="14288">
            <a:solidFill>
              <a:srgbClr val="B95535"/>
            </a:solidFill>
            <a:prstDash val="solid"/>
          </a:ln>
        </p:spPr>
        <p:txBody>
          <a:bodyPr wrap="square" lIns="114300" tIns="95250" rIns="114300" bIns="95250" anchor="ctr">
            <a:normAutofit/>
          </a:bodyPr>
          <a:lstStyle/>
          <a:p>
            <a:pPr algn="ctr">
              <a:defRPr sz="2025" b="1">
                <a:solidFill>
                  <a:srgbClr val="B95535"/>
                </a:solidFill>
                <a:latin typeface="Helvetica Neue"/>
                <a:ea typeface="Helvetica Neue"/>
                <a:cs typeface="Helvetica Neue"/>
              </a:defRPr>
            </a:pPr>
            <a:r>
              <a:rPr sz="2025" b="1">
                <a:solidFill>
                  <a:srgbClr val="B95535"/>
                </a:solidFill>
                <a:latin typeface="Helvetica Neue"/>
                <a:ea typeface="Helvetica Neue"/>
                <a:cs typeface="Helvetica Neue"/>
              </a:rPr>
              <a:t>prediction</a:t>
            </a:r>
          </a:p>
          <a:p>
            <a:pPr algn="ctr">
              <a:defRPr sz="2025" b="1">
                <a:solidFill>
                  <a:srgbClr val="B95535"/>
                </a:solidFill>
                <a:latin typeface="Helvetica Neue"/>
                <a:ea typeface="Helvetica Neue"/>
                <a:cs typeface="Helvetica Neue"/>
              </a:defRPr>
            </a:pPr>
            <a:r>
              <a:rPr sz="2025" b="1">
                <a:solidFill>
                  <a:srgbClr val="B95535"/>
                </a:solidFill>
                <a:latin typeface="Helvetica Neue"/>
                <a:ea typeface="Helvetica Neue"/>
                <a:cs typeface="Helvetica Neue"/>
              </a:rPr>
              <a:t>ŷ</a:t>
            </a:r>
          </a:p>
        </p:txBody>
      </p:sp>
      <p:sp>
        <p:nvSpPr>
          <p:cNvPr id="45" name="Rounded Rectangle 44">
            <a:extLst>
              <a:ext uri="{FF2B5EF4-FFF2-40B4-BE49-F238E27FC236}">
                <a16:creationId xmlns:a16="http://schemas.microsoft.com/office/drawing/2014/main" id="{908BD050-D133-4644-8943-3636CC94D7E1}"/>
              </a:ext>
            </a:extLst>
          </p:cNvPr>
          <p:cNvSpPr>
            <a:spLocks noGrp="1"/>
          </p:cNvSpPr>
          <p:nvPr/>
        </p:nvSpPr>
        <p:spPr>
          <a:xfrm>
            <a:off x="9239250" y="2857500"/>
            <a:ext cx="2190750" cy="1047750"/>
          </a:xfrm>
          <a:prstGeom prst="roundRect">
            <a:avLst>
              <a:gd name="adj" fmla="val 10909"/>
            </a:avLst>
          </a:prstGeom>
          <a:solidFill>
            <a:srgbClr val="DDE7DF"/>
          </a:solidFill>
          <a:ln w="14288">
            <a:solidFill>
              <a:srgbClr val="4E705D"/>
            </a:solidFill>
            <a:prstDash val="solid"/>
          </a:ln>
        </p:spPr>
        <p:txBody>
          <a:bodyPr wrap="square" lIns="114300" tIns="95250" rIns="114300" bIns="95250" anchor="ctr">
            <a:normAutofit/>
          </a:bodyPr>
          <a:lstStyle/>
          <a:p>
            <a:pPr algn="ctr">
              <a:defRPr sz="1875" b="1">
                <a:solidFill>
                  <a:srgbClr val="4E705D"/>
                </a:solidFill>
                <a:latin typeface="Helvetica Neue"/>
                <a:ea typeface="Helvetica Neue"/>
                <a:cs typeface="Helvetica Neue"/>
              </a:defRPr>
            </a:pPr>
            <a:r>
              <a:rPr sz="1875" b="1">
                <a:solidFill>
                  <a:srgbClr val="4E705D"/>
                </a:solidFill>
                <a:latin typeface="Helvetica Neue"/>
                <a:ea typeface="Helvetica Neue"/>
                <a:cs typeface="Helvetica Neue"/>
              </a:rPr>
              <a:t>compare with</a:t>
            </a:r>
          </a:p>
          <a:p>
            <a:pPr algn="ctr">
              <a:defRPr sz="1875" b="1">
                <a:solidFill>
                  <a:srgbClr val="4E705D"/>
                </a:solidFill>
                <a:latin typeface="Helvetica Neue"/>
                <a:ea typeface="Helvetica Neue"/>
                <a:cs typeface="Helvetica Neue"/>
              </a:defRPr>
            </a:pPr>
            <a:r>
              <a:rPr sz="1875" b="1">
                <a:solidFill>
                  <a:srgbClr val="4E705D"/>
                </a:solidFill>
                <a:latin typeface="Helvetica Neue"/>
                <a:ea typeface="Helvetica Neue"/>
                <a:cs typeface="Helvetica Neue"/>
              </a:rPr>
              <a:t>target y</a:t>
            </a:r>
          </a:p>
        </p:txBody>
      </p:sp>
      <p:sp>
        <p:nvSpPr>
          <p:cNvPr id="46" name="Rounded Rectangle 45">
            <a:extLst>
              <a:ext uri="{FF2B5EF4-FFF2-40B4-BE49-F238E27FC236}">
                <a16:creationId xmlns:a16="http://schemas.microsoft.com/office/drawing/2014/main" id="{9768E4C2-04EB-412A-B151-8CC226399617}"/>
              </a:ext>
            </a:extLst>
          </p:cNvPr>
          <p:cNvSpPr>
            <a:spLocks noGrp="1"/>
          </p:cNvSpPr>
          <p:nvPr/>
        </p:nvSpPr>
        <p:spPr>
          <a:xfrm>
            <a:off x="1666875" y="4905375"/>
            <a:ext cx="8858250" cy="781050"/>
          </a:xfrm>
          <a:prstGeom prst="roundRect">
            <a:avLst>
              <a:gd name="adj" fmla="val 14634"/>
            </a:avLst>
          </a:prstGeom>
          <a:solidFill>
            <a:srgbClr val="ECE1C8"/>
          </a:solidFill>
          <a:ln w="14288">
            <a:solidFill>
              <a:srgbClr val="B58A35"/>
            </a:solidFill>
            <a:prstDash val="solid"/>
          </a:ln>
        </p:spPr>
        <p:txBody>
          <a:bodyPr wrap="square" lIns="114300" tIns="95250" rIns="114300" bIns="95250" anchor="ctr">
            <a:normAutofit fontScale="84831"/>
          </a:bodyPr>
          <a:lstStyle/>
          <a:p>
            <a:pPr algn="ctr">
              <a:defRPr sz="2025" b="0">
                <a:solidFill>
                  <a:srgbClr val="202224"/>
                </a:solidFill>
                <a:latin typeface="Helvetica Neue"/>
                <a:ea typeface="Helvetica Neue"/>
                <a:cs typeface="Helvetica Neue"/>
              </a:defRPr>
            </a:pPr>
            <a:r>
              <a:rPr sz="2025" b="0">
                <a:solidFill>
                  <a:srgbClr val="202224"/>
                </a:solidFill>
                <a:latin typeface="Helvetica Neue"/>
                <a:ea typeface="Helvetica Neue"/>
                <a:cs typeface="Helvetica Neue"/>
              </a:rPr>
              <a:t>The data choose parameter values. We still choose the representation, model family, loss, and validation test.</a:t>
            </a:r>
          </a:p>
        </p:txBody>
      </p:sp>
      <p:sp>
        <p:nvSpPr>
          <p:cNvPr id="47" name="Rectangle 46">
            <a:extLst>
              <a:ext uri="{FF2B5EF4-FFF2-40B4-BE49-F238E27FC236}">
                <a16:creationId xmlns:a16="http://schemas.microsoft.com/office/drawing/2014/main" id="{73D22E5D-2F83-465B-A39A-D2CA9D083A00}"/>
              </a:ext>
            </a:extLst>
          </p:cNvPr>
          <p:cNvSpPr>
            <a:spLocks noGrp="1"/>
          </p:cNvSpPr>
          <p:nvPr/>
        </p:nvSpPr>
        <p:spPr>
          <a:xfrm>
            <a:off x="2571750" y="5810250"/>
            <a:ext cx="7048500" cy="304800"/>
          </a:xfrm>
          <a:prstGeom prst="rect">
            <a:avLst/>
          </a:prstGeom>
          <a:noFill/>
          <a:ln w="0">
            <a:noFill/>
            <a:prstDash val="solid"/>
          </a:ln>
        </p:spPr>
        <p:txBody>
          <a:bodyPr wrap="square" lIns="0" tIns="0" rIns="0" bIns="0" anchor="ctr">
            <a:normAutofit/>
          </a:bodyPr>
          <a:lstStyle/>
          <a:p>
            <a:pPr algn="ctr">
              <a:defRPr sz="1650" b="1" i="0">
                <a:solidFill>
                  <a:srgbClr val="66645F"/>
                </a:solidFill>
                <a:latin typeface="Helvetica Neue"/>
                <a:ea typeface="Helvetica Neue"/>
                <a:cs typeface="Helvetica Neue"/>
              </a:defRPr>
            </a:pPr>
            <a:r>
              <a:rPr sz="1650" b="1" i="0">
                <a:solidFill>
                  <a:srgbClr val="66645F"/>
                </a:solidFill>
                <a:latin typeface="Helvetica Neue"/>
                <a:ea typeface="Helvetica Neue"/>
                <a:cs typeface="Helvetica Neue"/>
              </a:rPr>
              <a:t>A fitted statistical map is not automatically a physical law.</a:t>
            </a:r>
          </a:p>
        </p:txBody>
      </p:sp>
    </p:spTree>
    <p:extLst>
      <p:ext uri="{BB962C8B-B14F-4D97-AF65-F5344CB8AC3E}">
        <p14:creationId xmlns:p14="http://schemas.microsoft.com/office/powerpoint/2010/main" val="494921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20" name="Rectangle 219">
            <a:extLst>
              <a:ext uri="{FF2B5EF4-FFF2-40B4-BE49-F238E27FC236}">
                <a16:creationId xmlns:a16="http://schemas.microsoft.com/office/drawing/2014/main" id="{5EFFE94F-7C64-4D75-9308-E12BDBA36EA2}"/>
              </a:ext>
            </a:extLst>
          </p:cNvPr>
          <p:cNvSpPr>
            <a:spLocks noGrp="1"/>
          </p:cNvSpPr>
          <p:nvPr/>
        </p:nvSpPr>
        <p:spPr>
          <a:xfrm>
            <a:off x="552450" y="219075"/>
            <a:ext cx="6858000" cy="228600"/>
          </a:xfrm>
          <a:prstGeom prst="rect">
            <a:avLst/>
          </a:prstGeom>
          <a:noFill/>
          <a:ln w="0">
            <a:noFill/>
            <a:prstDash val="solid"/>
          </a:ln>
        </p:spPr>
        <p:txBody>
          <a:bodyPr wrap="square" lIns="0" tIns="0" rIns="0" bIns="0" anchor="ctr">
            <a:normAutofit/>
          </a:bodyPr>
          <a:lstStyle/>
          <a:p>
            <a:pPr algn="l">
              <a:buNone/>
              <a:defRPr sz="1125" b="1" i="0">
                <a:solidFill>
                  <a:srgbClr val="B95535"/>
                </a:solidFill>
                <a:latin typeface="Helvetica Neue"/>
                <a:ea typeface="Helvetica Neue"/>
                <a:cs typeface="Helvetica Neue"/>
              </a:defRPr>
            </a:pPr>
            <a:r>
              <a:rPr sz="1125" b="1" i="0">
                <a:solidFill>
                  <a:srgbClr val="B95535"/>
                </a:solidFill>
                <a:latin typeface="Helvetica Neue"/>
                <a:ea typeface="Helvetica Neue"/>
                <a:cs typeface="Helvetica Neue"/>
              </a:rPr>
              <a:t>MACHINE LEARNING  •  MODEL FAMILY</a:t>
            </a:r>
          </a:p>
        </p:txBody>
      </p:sp>
      <p:sp>
        <p:nvSpPr>
          <p:cNvPr id="2" name="Rectangle 1">
            <a:extLst>
              <a:ext uri="{FF2B5EF4-FFF2-40B4-BE49-F238E27FC236}">
                <a16:creationId xmlns:a16="http://schemas.microsoft.com/office/drawing/2014/main" id="{8C05713D-7F0E-45DC-BB7B-7164AB0E34DC}"/>
              </a:ext>
            </a:extLst>
          </p:cNvPr>
          <p:cNvSpPr>
            <a:spLocks noGrp="1"/>
          </p:cNvSpPr>
          <p:nvPr/>
        </p:nvSpPr>
        <p:spPr>
          <a:xfrm>
            <a:off x="533400" y="476250"/>
            <a:ext cx="11087100" cy="552450"/>
          </a:xfrm>
          <a:prstGeom prst="rect">
            <a:avLst/>
          </a:prstGeom>
          <a:noFill/>
          <a:ln w="0">
            <a:noFill/>
            <a:prstDash val="solid"/>
          </a:ln>
        </p:spPr>
        <p:txBody>
          <a:bodyPr wrap="square" lIns="0" tIns="0" rIns="0" bIns="0" anchor="t">
            <a:normAutofit/>
          </a:bodyPr>
          <a:lstStyle/>
          <a:p>
            <a:pPr algn="l">
              <a:buNone/>
              <a:defRPr sz="2775" b="1" i="0">
                <a:solidFill>
                  <a:srgbClr val="202224"/>
                </a:solidFill>
                <a:latin typeface="Helvetica Neue"/>
                <a:ea typeface="Helvetica Neue"/>
                <a:cs typeface="Helvetica Neue"/>
              </a:defRPr>
            </a:pPr>
            <a:r>
              <a:rPr sz="2775" b="1" i="0">
                <a:solidFill>
                  <a:srgbClr val="202224"/>
                </a:solidFill>
                <a:latin typeface="Helvetica Neue"/>
                <a:ea typeface="Helvetica Neue"/>
                <a:cs typeface="Helvetica Neue"/>
              </a:rPr>
              <a:t>A model is a family of possible functions</a:t>
            </a:r>
          </a:p>
        </p:txBody>
      </p:sp>
      <p:sp>
        <p:nvSpPr>
          <p:cNvPr id="3" name="Rectangle 2">
            <a:extLst>
              <a:ext uri="{FF2B5EF4-FFF2-40B4-BE49-F238E27FC236}">
                <a16:creationId xmlns:a16="http://schemas.microsoft.com/office/drawing/2014/main" id="{0AF6845A-CE47-439C-BFE1-8C098C368887}"/>
              </a:ext>
            </a:extLst>
          </p:cNvPr>
          <p:cNvSpPr>
            <a:spLocks noGrp="1"/>
          </p:cNvSpPr>
          <p:nvPr/>
        </p:nvSpPr>
        <p:spPr>
          <a:xfrm>
            <a:off x="533400" y="1076325"/>
            <a:ext cx="11125200" cy="19050"/>
          </a:xfrm>
          <a:prstGeom prst="rect">
            <a:avLst/>
          </a:prstGeom>
          <a:solidFill>
            <a:srgbClr val="D4CEC2"/>
          </a:solidFill>
          <a:ln w="0">
            <a:noFill/>
            <a:prstDash val="solid"/>
          </a:ln>
        </p:spPr>
        <p:txBody>
          <a:bodyPr/>
          <a:lstStyle/>
          <a:p>
            <a:endParaRPr/>
          </a:p>
        </p:txBody>
      </p:sp>
      <p:sp>
        <p:nvSpPr>
          <p:cNvPr id="4" name="Rectangle 3">
            <a:extLst>
              <a:ext uri="{FF2B5EF4-FFF2-40B4-BE49-F238E27FC236}">
                <a16:creationId xmlns:a16="http://schemas.microsoft.com/office/drawing/2014/main" id="{18D41717-5853-4DA8-A301-4128C290E869}"/>
              </a:ext>
            </a:extLst>
          </p:cNvPr>
          <p:cNvSpPr>
            <a:spLocks noGrp="1"/>
          </p:cNvSpPr>
          <p:nvPr/>
        </p:nvSpPr>
        <p:spPr>
          <a:xfrm>
            <a:off x="11144250" y="228600"/>
            <a:ext cx="495300" cy="219075"/>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03</a:t>
            </a:r>
          </a:p>
        </p:txBody>
      </p:sp>
      <p:sp>
        <p:nvSpPr>
          <p:cNvPr id="5" name="Rectangle 4">
            <a:extLst>
              <a:ext uri="{FF2B5EF4-FFF2-40B4-BE49-F238E27FC236}">
                <a16:creationId xmlns:a16="http://schemas.microsoft.com/office/drawing/2014/main" id="{8FCB00B8-977E-4E49-A040-5335E3FBC74C}"/>
              </a:ext>
            </a:extLst>
          </p:cNvPr>
          <p:cNvSpPr>
            <a:spLocks noGrp="1"/>
          </p:cNvSpPr>
          <p:nvPr/>
        </p:nvSpPr>
        <p:spPr>
          <a:xfrm>
            <a:off x="533400" y="6543675"/>
            <a:ext cx="5810250" cy="161925"/>
          </a:xfrm>
          <a:prstGeom prst="rect">
            <a:avLst/>
          </a:prstGeom>
          <a:noFill/>
          <a:ln w="0">
            <a:noFill/>
            <a:prstDash val="solid"/>
          </a:ln>
        </p:spPr>
        <p:txBody>
          <a:bodyPr wrap="square" lIns="0" tIns="0" rIns="0" bIns="0" anchor="ctr">
            <a:normAutofit/>
          </a:bodyPr>
          <a:lstStyle/>
          <a:p>
            <a:pPr algn="l">
              <a:buNone/>
              <a:defRPr sz="863" b="0" i="0">
                <a:solidFill>
                  <a:srgbClr val="66645F"/>
                </a:solidFill>
                <a:latin typeface="Helvetica Neue"/>
                <a:ea typeface="Helvetica Neue"/>
                <a:cs typeface="Helvetica Neue"/>
              </a:defRPr>
            </a:pPr>
            <a:r>
              <a:rPr sz="863" b="0" i="0">
                <a:solidFill>
                  <a:srgbClr val="66645F"/>
                </a:solidFill>
                <a:latin typeface="Helvetica Neue"/>
                <a:ea typeface="Helvetica Neue"/>
                <a:cs typeface="Helvetica Neue"/>
              </a:rPr>
              <a:t>ICTS 2026  •  Machine learning → transformers</a:t>
            </a:r>
          </a:p>
        </p:txBody>
      </p:sp>
      <p:sp>
        <p:nvSpPr>
          <p:cNvPr id="221" name="Straight Connector 220">
            <a:extLst>
              <a:ext uri="{FF2B5EF4-FFF2-40B4-BE49-F238E27FC236}">
                <a16:creationId xmlns:a16="http://schemas.microsoft.com/office/drawing/2014/main" id="{D20884F8-8DAE-4844-8965-966EBBCF7839}"/>
              </a:ext>
            </a:extLst>
          </p:cNvPr>
          <p:cNvSpPr>
            <a:spLocks noGrp="1"/>
          </p:cNvSpPr>
          <p:nvPr/>
        </p:nvSpPr>
        <p:spPr>
          <a:xfrm>
            <a:off x="952500" y="5238750"/>
            <a:ext cx="5476875" cy="9525"/>
          </a:xfrm>
          <a:prstGeom prst="line">
            <a:avLst/>
          </a:prstGeom>
          <a:noFill/>
          <a:ln w="19050">
            <a:solidFill>
              <a:srgbClr val="D4CEC2"/>
            </a:solidFill>
            <a:prstDash val="solid"/>
          </a:ln>
        </p:spPr>
        <p:txBody>
          <a:bodyPr/>
          <a:lstStyle/>
          <a:p>
            <a:endParaRPr lang="en-US"/>
          </a:p>
        </p:txBody>
      </p:sp>
      <p:sp>
        <p:nvSpPr>
          <p:cNvPr id="222" name="Straight Connector 221">
            <a:extLst>
              <a:ext uri="{FF2B5EF4-FFF2-40B4-BE49-F238E27FC236}">
                <a16:creationId xmlns:a16="http://schemas.microsoft.com/office/drawing/2014/main" id="{61A28921-8D19-408A-9551-F645836C738D}"/>
              </a:ext>
            </a:extLst>
          </p:cNvPr>
          <p:cNvSpPr>
            <a:spLocks noGrp="1"/>
          </p:cNvSpPr>
          <p:nvPr/>
        </p:nvSpPr>
        <p:spPr>
          <a:xfrm>
            <a:off x="952500" y="1809750"/>
            <a:ext cx="9525" cy="3429000"/>
          </a:xfrm>
          <a:prstGeom prst="line">
            <a:avLst/>
          </a:prstGeom>
          <a:noFill/>
          <a:ln w="19050">
            <a:solidFill>
              <a:srgbClr val="D4CEC2"/>
            </a:solidFill>
            <a:prstDash val="solid"/>
          </a:ln>
        </p:spPr>
        <p:txBody>
          <a:bodyPr/>
          <a:lstStyle/>
          <a:p>
            <a:endParaRPr lang="en-US"/>
          </a:p>
        </p:txBody>
      </p:sp>
      <p:sp>
        <p:nvSpPr>
          <p:cNvPr id="223" name="Rectangle 222">
            <a:extLst>
              <a:ext uri="{FF2B5EF4-FFF2-40B4-BE49-F238E27FC236}">
                <a16:creationId xmlns:a16="http://schemas.microsoft.com/office/drawing/2014/main" id="{5141F72E-A4B9-4777-88EB-48837C7D3733}"/>
              </a:ext>
            </a:extLst>
          </p:cNvPr>
          <p:cNvSpPr>
            <a:spLocks noGrp="1"/>
          </p:cNvSpPr>
          <p:nvPr/>
        </p:nvSpPr>
        <p:spPr>
          <a:xfrm>
            <a:off x="4953000" y="5353050"/>
            <a:ext cx="1524000" cy="304800"/>
          </a:xfrm>
          <a:prstGeom prst="rect">
            <a:avLst/>
          </a:prstGeom>
          <a:noFill/>
          <a:ln w="0">
            <a:noFill/>
            <a:prstDash val="solid"/>
          </a:ln>
        </p:spPr>
        <p:txBody>
          <a:bodyPr wrap="square" lIns="0" tIns="0" rIns="0" bIns="0" anchor="ctr">
            <a:normAutofit/>
          </a:bodyPr>
          <a:lstStyle/>
          <a:p>
            <a:pPr algn="r">
              <a:defRPr sz="1650" b="1" i="0">
                <a:solidFill>
                  <a:srgbClr val="66645F"/>
                </a:solidFill>
                <a:latin typeface="Helvetica Neue"/>
                <a:ea typeface="Helvetica Neue"/>
                <a:cs typeface="Helvetica Neue"/>
              </a:defRPr>
            </a:pPr>
            <a:r>
              <a:rPr sz="1650" b="1" i="0">
                <a:solidFill>
                  <a:srgbClr val="66645F"/>
                </a:solidFill>
                <a:latin typeface="Helvetica Neue"/>
                <a:ea typeface="Helvetica Neue"/>
                <a:cs typeface="Helvetica Neue"/>
              </a:rPr>
              <a:t>input x</a:t>
            </a:r>
          </a:p>
        </p:txBody>
      </p:sp>
      <p:sp>
        <p:nvSpPr>
          <p:cNvPr id="224" name="Rectangle 223">
            <a:extLst>
              <a:ext uri="{FF2B5EF4-FFF2-40B4-BE49-F238E27FC236}">
                <a16:creationId xmlns:a16="http://schemas.microsoft.com/office/drawing/2014/main" id="{96FA48ED-865A-49DD-833C-DC8F5D02BC68}"/>
              </a:ext>
            </a:extLst>
          </p:cNvPr>
          <p:cNvSpPr>
            <a:spLocks noGrp="1"/>
          </p:cNvSpPr>
          <p:nvPr/>
        </p:nvSpPr>
        <p:spPr>
          <a:xfrm>
            <a:off x="571500" y="1543050"/>
            <a:ext cx="1333500" cy="285750"/>
          </a:xfrm>
          <a:prstGeom prst="rect">
            <a:avLst/>
          </a:prstGeom>
          <a:noFill/>
          <a:ln w="0">
            <a:noFill/>
            <a:prstDash val="solid"/>
          </a:ln>
        </p:spPr>
        <p:txBody>
          <a:bodyPr wrap="square" lIns="0" tIns="0" rIns="0" bIns="0" anchor="ctr">
            <a:normAutofit/>
          </a:bodyPr>
          <a:lstStyle/>
          <a:p>
            <a:pPr algn="l">
              <a:defRPr sz="1575" b="1" i="0">
                <a:solidFill>
                  <a:srgbClr val="66645F"/>
                </a:solidFill>
                <a:latin typeface="Helvetica Neue"/>
                <a:ea typeface="Helvetica Neue"/>
                <a:cs typeface="Helvetica Neue"/>
              </a:defRPr>
            </a:pPr>
            <a:r>
              <a:rPr sz="1575" b="1" i="0">
                <a:solidFill>
                  <a:srgbClr val="66645F"/>
                </a:solidFill>
                <a:latin typeface="Helvetica Neue"/>
                <a:ea typeface="Helvetica Neue"/>
                <a:cs typeface="Helvetica Neue"/>
              </a:rPr>
              <a:t>target y</a:t>
            </a:r>
          </a:p>
        </p:txBody>
      </p:sp>
      <p:sp>
        <p:nvSpPr>
          <p:cNvPr id="225" name="Straight Connector 224">
            <a:extLst>
              <a:ext uri="{FF2B5EF4-FFF2-40B4-BE49-F238E27FC236}">
                <a16:creationId xmlns:a16="http://schemas.microsoft.com/office/drawing/2014/main" id="{EBAFDF26-DA7F-4B9D-8A12-59154958772B}"/>
              </a:ext>
            </a:extLst>
          </p:cNvPr>
          <p:cNvSpPr>
            <a:spLocks noGrp="1"/>
          </p:cNvSpPr>
          <p:nvPr/>
        </p:nvSpPr>
        <p:spPr>
          <a:xfrm flipV="1">
            <a:off x="1095375" y="4000500"/>
            <a:ext cx="857250" cy="523875"/>
          </a:xfrm>
          <a:prstGeom prst="line">
            <a:avLst/>
          </a:prstGeom>
          <a:noFill/>
          <a:ln w="19050">
            <a:solidFill>
              <a:srgbClr val="527E98"/>
            </a:solidFill>
            <a:prstDash val="dash"/>
          </a:ln>
        </p:spPr>
        <p:txBody>
          <a:bodyPr/>
          <a:lstStyle/>
          <a:p>
            <a:endParaRPr lang="en-US"/>
          </a:p>
        </p:txBody>
      </p:sp>
      <p:sp>
        <p:nvSpPr>
          <p:cNvPr id="226" name="Straight Connector 225">
            <a:extLst>
              <a:ext uri="{FF2B5EF4-FFF2-40B4-BE49-F238E27FC236}">
                <a16:creationId xmlns:a16="http://schemas.microsoft.com/office/drawing/2014/main" id="{54A29B88-EB24-4A69-BBFB-21B9A62BA9C6}"/>
              </a:ext>
            </a:extLst>
          </p:cNvPr>
          <p:cNvSpPr>
            <a:spLocks noGrp="1"/>
          </p:cNvSpPr>
          <p:nvPr/>
        </p:nvSpPr>
        <p:spPr>
          <a:xfrm flipV="1">
            <a:off x="1952625" y="3381375"/>
            <a:ext cx="857250" cy="619125"/>
          </a:xfrm>
          <a:prstGeom prst="line">
            <a:avLst/>
          </a:prstGeom>
          <a:noFill/>
          <a:ln w="19050">
            <a:solidFill>
              <a:srgbClr val="527E98"/>
            </a:solidFill>
            <a:prstDash val="dash"/>
          </a:ln>
        </p:spPr>
        <p:txBody>
          <a:bodyPr/>
          <a:lstStyle/>
          <a:p>
            <a:endParaRPr lang="en-US"/>
          </a:p>
        </p:txBody>
      </p:sp>
      <p:sp>
        <p:nvSpPr>
          <p:cNvPr id="227" name="Straight Connector 226">
            <a:extLst>
              <a:ext uri="{FF2B5EF4-FFF2-40B4-BE49-F238E27FC236}">
                <a16:creationId xmlns:a16="http://schemas.microsoft.com/office/drawing/2014/main" id="{E2BB438E-753C-4B0C-8505-37586E8A08FA}"/>
              </a:ext>
            </a:extLst>
          </p:cNvPr>
          <p:cNvSpPr>
            <a:spLocks noGrp="1"/>
          </p:cNvSpPr>
          <p:nvPr/>
        </p:nvSpPr>
        <p:spPr>
          <a:xfrm flipV="1">
            <a:off x="2809875" y="3000375"/>
            <a:ext cx="857250" cy="381000"/>
          </a:xfrm>
          <a:prstGeom prst="line">
            <a:avLst/>
          </a:prstGeom>
          <a:noFill/>
          <a:ln w="19050">
            <a:solidFill>
              <a:srgbClr val="527E98"/>
            </a:solidFill>
            <a:prstDash val="dash"/>
          </a:ln>
        </p:spPr>
        <p:txBody>
          <a:bodyPr/>
          <a:lstStyle/>
          <a:p>
            <a:endParaRPr lang="en-US"/>
          </a:p>
        </p:txBody>
      </p:sp>
      <p:sp>
        <p:nvSpPr>
          <p:cNvPr id="228" name="Straight Connector 227">
            <a:extLst>
              <a:ext uri="{FF2B5EF4-FFF2-40B4-BE49-F238E27FC236}">
                <a16:creationId xmlns:a16="http://schemas.microsoft.com/office/drawing/2014/main" id="{E7FF07EE-50D0-4D38-8105-F50208C2641D}"/>
              </a:ext>
            </a:extLst>
          </p:cNvPr>
          <p:cNvSpPr>
            <a:spLocks noGrp="1"/>
          </p:cNvSpPr>
          <p:nvPr/>
        </p:nvSpPr>
        <p:spPr>
          <a:xfrm flipV="1">
            <a:off x="3667125" y="2857500"/>
            <a:ext cx="857250" cy="142875"/>
          </a:xfrm>
          <a:prstGeom prst="line">
            <a:avLst/>
          </a:prstGeom>
          <a:noFill/>
          <a:ln w="19050">
            <a:solidFill>
              <a:srgbClr val="527E98"/>
            </a:solidFill>
            <a:prstDash val="dash"/>
          </a:ln>
        </p:spPr>
        <p:txBody>
          <a:bodyPr/>
          <a:lstStyle/>
          <a:p>
            <a:endParaRPr lang="en-US"/>
          </a:p>
        </p:txBody>
      </p:sp>
      <p:sp>
        <p:nvSpPr>
          <p:cNvPr id="229" name="Straight Connector 228">
            <a:extLst>
              <a:ext uri="{FF2B5EF4-FFF2-40B4-BE49-F238E27FC236}">
                <a16:creationId xmlns:a16="http://schemas.microsoft.com/office/drawing/2014/main" id="{E0FD7EB2-961A-4671-8943-43A37B55056E}"/>
              </a:ext>
            </a:extLst>
          </p:cNvPr>
          <p:cNvSpPr>
            <a:spLocks noGrp="1"/>
          </p:cNvSpPr>
          <p:nvPr/>
        </p:nvSpPr>
        <p:spPr>
          <a:xfrm>
            <a:off x="4524375" y="2857500"/>
            <a:ext cx="857250" cy="142875"/>
          </a:xfrm>
          <a:prstGeom prst="line">
            <a:avLst/>
          </a:prstGeom>
          <a:noFill/>
          <a:ln w="19050">
            <a:solidFill>
              <a:srgbClr val="527E98"/>
            </a:solidFill>
            <a:prstDash val="dash"/>
          </a:ln>
        </p:spPr>
        <p:txBody>
          <a:bodyPr/>
          <a:lstStyle/>
          <a:p>
            <a:endParaRPr lang="en-US"/>
          </a:p>
        </p:txBody>
      </p:sp>
      <p:sp>
        <p:nvSpPr>
          <p:cNvPr id="230" name="Straight Connector 229">
            <a:extLst>
              <a:ext uri="{FF2B5EF4-FFF2-40B4-BE49-F238E27FC236}">
                <a16:creationId xmlns:a16="http://schemas.microsoft.com/office/drawing/2014/main" id="{A47D1E2D-120E-4078-BCA2-970B5EAFF618}"/>
              </a:ext>
            </a:extLst>
          </p:cNvPr>
          <p:cNvSpPr>
            <a:spLocks noGrp="1"/>
          </p:cNvSpPr>
          <p:nvPr/>
        </p:nvSpPr>
        <p:spPr>
          <a:xfrm>
            <a:off x="5381625" y="3000375"/>
            <a:ext cx="857250" cy="333375"/>
          </a:xfrm>
          <a:prstGeom prst="line">
            <a:avLst/>
          </a:prstGeom>
          <a:noFill/>
          <a:ln w="19050">
            <a:solidFill>
              <a:srgbClr val="527E98"/>
            </a:solidFill>
            <a:prstDash val="dash"/>
          </a:ln>
        </p:spPr>
        <p:txBody>
          <a:bodyPr/>
          <a:lstStyle/>
          <a:p>
            <a:endParaRPr lang="en-US"/>
          </a:p>
        </p:txBody>
      </p:sp>
      <p:sp>
        <p:nvSpPr>
          <p:cNvPr id="231" name="Straight Connector 230">
            <a:extLst>
              <a:ext uri="{FF2B5EF4-FFF2-40B4-BE49-F238E27FC236}">
                <a16:creationId xmlns:a16="http://schemas.microsoft.com/office/drawing/2014/main" id="{87A0F402-F2B2-4391-9ED2-61E526EFA99B}"/>
              </a:ext>
            </a:extLst>
          </p:cNvPr>
          <p:cNvSpPr>
            <a:spLocks noGrp="1"/>
          </p:cNvSpPr>
          <p:nvPr/>
        </p:nvSpPr>
        <p:spPr>
          <a:xfrm flipV="1">
            <a:off x="1095375" y="4286250"/>
            <a:ext cx="857250" cy="523875"/>
          </a:xfrm>
          <a:prstGeom prst="line">
            <a:avLst/>
          </a:prstGeom>
          <a:noFill/>
          <a:ln w="19050">
            <a:solidFill>
              <a:srgbClr val="D57A56"/>
            </a:solidFill>
            <a:prstDash val="dash"/>
          </a:ln>
        </p:spPr>
        <p:txBody>
          <a:bodyPr/>
          <a:lstStyle/>
          <a:p>
            <a:endParaRPr lang="en-US"/>
          </a:p>
        </p:txBody>
      </p:sp>
      <p:sp>
        <p:nvSpPr>
          <p:cNvPr id="232" name="Straight Connector 231">
            <a:extLst>
              <a:ext uri="{FF2B5EF4-FFF2-40B4-BE49-F238E27FC236}">
                <a16:creationId xmlns:a16="http://schemas.microsoft.com/office/drawing/2014/main" id="{E1254843-2E8E-4B1E-9D9B-39720B4E5C15}"/>
              </a:ext>
            </a:extLst>
          </p:cNvPr>
          <p:cNvSpPr>
            <a:spLocks noGrp="1"/>
          </p:cNvSpPr>
          <p:nvPr/>
        </p:nvSpPr>
        <p:spPr>
          <a:xfrm flipV="1">
            <a:off x="1952625" y="3714750"/>
            <a:ext cx="857250" cy="571500"/>
          </a:xfrm>
          <a:prstGeom prst="line">
            <a:avLst/>
          </a:prstGeom>
          <a:noFill/>
          <a:ln w="19050">
            <a:solidFill>
              <a:srgbClr val="D57A56"/>
            </a:solidFill>
            <a:prstDash val="dash"/>
          </a:ln>
        </p:spPr>
        <p:txBody>
          <a:bodyPr/>
          <a:lstStyle/>
          <a:p>
            <a:endParaRPr lang="en-US"/>
          </a:p>
        </p:txBody>
      </p:sp>
      <p:sp>
        <p:nvSpPr>
          <p:cNvPr id="233" name="Straight Connector 232">
            <a:extLst>
              <a:ext uri="{FF2B5EF4-FFF2-40B4-BE49-F238E27FC236}">
                <a16:creationId xmlns:a16="http://schemas.microsoft.com/office/drawing/2014/main" id="{8F85FE6D-DD2D-4696-8C48-42739D728DF8}"/>
              </a:ext>
            </a:extLst>
          </p:cNvPr>
          <p:cNvSpPr>
            <a:spLocks noGrp="1"/>
          </p:cNvSpPr>
          <p:nvPr/>
        </p:nvSpPr>
        <p:spPr>
          <a:xfrm flipV="1">
            <a:off x="2809875" y="3143250"/>
            <a:ext cx="857250" cy="571500"/>
          </a:xfrm>
          <a:prstGeom prst="line">
            <a:avLst/>
          </a:prstGeom>
          <a:noFill/>
          <a:ln w="19050">
            <a:solidFill>
              <a:srgbClr val="D57A56"/>
            </a:solidFill>
            <a:prstDash val="dash"/>
          </a:ln>
        </p:spPr>
        <p:txBody>
          <a:bodyPr/>
          <a:lstStyle/>
          <a:p>
            <a:endParaRPr lang="en-US"/>
          </a:p>
        </p:txBody>
      </p:sp>
      <p:sp>
        <p:nvSpPr>
          <p:cNvPr id="234" name="Straight Connector 233">
            <a:extLst>
              <a:ext uri="{FF2B5EF4-FFF2-40B4-BE49-F238E27FC236}">
                <a16:creationId xmlns:a16="http://schemas.microsoft.com/office/drawing/2014/main" id="{7F2BBBCA-F4EA-4427-8144-15138D2FDBB2}"/>
              </a:ext>
            </a:extLst>
          </p:cNvPr>
          <p:cNvSpPr>
            <a:spLocks noGrp="1"/>
          </p:cNvSpPr>
          <p:nvPr/>
        </p:nvSpPr>
        <p:spPr>
          <a:xfrm flipV="1">
            <a:off x="3667125" y="2524125"/>
            <a:ext cx="857250" cy="619125"/>
          </a:xfrm>
          <a:prstGeom prst="line">
            <a:avLst/>
          </a:prstGeom>
          <a:noFill/>
          <a:ln w="19050">
            <a:solidFill>
              <a:srgbClr val="D57A56"/>
            </a:solidFill>
            <a:prstDash val="dash"/>
          </a:ln>
        </p:spPr>
        <p:txBody>
          <a:bodyPr/>
          <a:lstStyle/>
          <a:p>
            <a:endParaRPr lang="en-US"/>
          </a:p>
        </p:txBody>
      </p:sp>
      <p:sp>
        <p:nvSpPr>
          <p:cNvPr id="235" name="Straight Connector 234">
            <a:extLst>
              <a:ext uri="{FF2B5EF4-FFF2-40B4-BE49-F238E27FC236}">
                <a16:creationId xmlns:a16="http://schemas.microsoft.com/office/drawing/2014/main" id="{71F7367C-A820-4ACF-8CFF-1F68C74CFB3A}"/>
              </a:ext>
            </a:extLst>
          </p:cNvPr>
          <p:cNvSpPr>
            <a:spLocks noGrp="1"/>
          </p:cNvSpPr>
          <p:nvPr/>
        </p:nvSpPr>
        <p:spPr>
          <a:xfrm flipV="1">
            <a:off x="4524375" y="2000250"/>
            <a:ext cx="857250" cy="523875"/>
          </a:xfrm>
          <a:prstGeom prst="line">
            <a:avLst/>
          </a:prstGeom>
          <a:noFill/>
          <a:ln w="19050">
            <a:solidFill>
              <a:srgbClr val="D57A56"/>
            </a:solidFill>
            <a:prstDash val="dash"/>
          </a:ln>
        </p:spPr>
        <p:txBody>
          <a:bodyPr/>
          <a:lstStyle/>
          <a:p>
            <a:endParaRPr lang="en-US"/>
          </a:p>
        </p:txBody>
      </p:sp>
      <p:sp>
        <p:nvSpPr>
          <p:cNvPr id="236" name="Straight Connector 235">
            <a:extLst>
              <a:ext uri="{FF2B5EF4-FFF2-40B4-BE49-F238E27FC236}">
                <a16:creationId xmlns:a16="http://schemas.microsoft.com/office/drawing/2014/main" id="{74FEBF05-D283-4503-BD1A-E5459307750A}"/>
              </a:ext>
            </a:extLst>
          </p:cNvPr>
          <p:cNvSpPr>
            <a:spLocks noGrp="1"/>
          </p:cNvSpPr>
          <p:nvPr/>
        </p:nvSpPr>
        <p:spPr>
          <a:xfrm flipV="1">
            <a:off x="5381625" y="1714500"/>
            <a:ext cx="857250" cy="285750"/>
          </a:xfrm>
          <a:prstGeom prst="line">
            <a:avLst/>
          </a:prstGeom>
          <a:noFill/>
          <a:ln w="19050">
            <a:solidFill>
              <a:srgbClr val="D57A56"/>
            </a:solidFill>
            <a:prstDash val="dash"/>
          </a:ln>
        </p:spPr>
        <p:txBody>
          <a:bodyPr/>
          <a:lstStyle/>
          <a:p>
            <a:endParaRPr lang="en-US"/>
          </a:p>
        </p:txBody>
      </p:sp>
      <p:sp>
        <p:nvSpPr>
          <p:cNvPr id="237" name="Straight Connector 236">
            <a:extLst>
              <a:ext uri="{FF2B5EF4-FFF2-40B4-BE49-F238E27FC236}">
                <a16:creationId xmlns:a16="http://schemas.microsoft.com/office/drawing/2014/main" id="{BA845C10-B4E4-4E25-A8FB-9D5C07A0410D}"/>
              </a:ext>
            </a:extLst>
          </p:cNvPr>
          <p:cNvSpPr>
            <a:spLocks noGrp="1"/>
          </p:cNvSpPr>
          <p:nvPr/>
        </p:nvSpPr>
        <p:spPr>
          <a:xfrm flipV="1">
            <a:off x="1095375" y="4143375"/>
            <a:ext cx="857250" cy="476250"/>
          </a:xfrm>
          <a:prstGeom prst="line">
            <a:avLst/>
          </a:prstGeom>
          <a:noFill/>
          <a:ln w="47625">
            <a:solidFill>
              <a:srgbClr val="18324A"/>
            </a:solidFill>
            <a:prstDash val="solid"/>
          </a:ln>
        </p:spPr>
        <p:txBody>
          <a:bodyPr/>
          <a:lstStyle/>
          <a:p>
            <a:endParaRPr lang="en-US"/>
          </a:p>
        </p:txBody>
      </p:sp>
      <p:sp>
        <p:nvSpPr>
          <p:cNvPr id="238" name="Straight Connector 237">
            <a:extLst>
              <a:ext uri="{FF2B5EF4-FFF2-40B4-BE49-F238E27FC236}">
                <a16:creationId xmlns:a16="http://schemas.microsoft.com/office/drawing/2014/main" id="{C0AACA1E-7E35-4ADB-B9F5-0C06871CD65F}"/>
              </a:ext>
            </a:extLst>
          </p:cNvPr>
          <p:cNvSpPr>
            <a:spLocks noGrp="1"/>
          </p:cNvSpPr>
          <p:nvPr/>
        </p:nvSpPr>
        <p:spPr>
          <a:xfrm flipV="1">
            <a:off x="1952625" y="3476625"/>
            <a:ext cx="857250" cy="666750"/>
          </a:xfrm>
          <a:prstGeom prst="line">
            <a:avLst/>
          </a:prstGeom>
          <a:noFill/>
          <a:ln w="47625">
            <a:solidFill>
              <a:srgbClr val="18324A"/>
            </a:solidFill>
            <a:prstDash val="solid"/>
          </a:ln>
        </p:spPr>
        <p:txBody>
          <a:bodyPr/>
          <a:lstStyle/>
          <a:p>
            <a:endParaRPr lang="en-US"/>
          </a:p>
        </p:txBody>
      </p:sp>
      <p:sp>
        <p:nvSpPr>
          <p:cNvPr id="239" name="Straight Connector 238">
            <a:extLst>
              <a:ext uri="{FF2B5EF4-FFF2-40B4-BE49-F238E27FC236}">
                <a16:creationId xmlns:a16="http://schemas.microsoft.com/office/drawing/2014/main" id="{79B65936-D6BE-4E19-BA60-B79FAA0CDF0B}"/>
              </a:ext>
            </a:extLst>
          </p:cNvPr>
          <p:cNvSpPr>
            <a:spLocks noGrp="1"/>
          </p:cNvSpPr>
          <p:nvPr/>
        </p:nvSpPr>
        <p:spPr>
          <a:xfrm flipV="1">
            <a:off x="2809875" y="2781300"/>
            <a:ext cx="857250" cy="695325"/>
          </a:xfrm>
          <a:prstGeom prst="line">
            <a:avLst/>
          </a:prstGeom>
          <a:noFill/>
          <a:ln w="47625">
            <a:solidFill>
              <a:srgbClr val="18324A"/>
            </a:solidFill>
            <a:prstDash val="solid"/>
          </a:ln>
        </p:spPr>
        <p:txBody>
          <a:bodyPr/>
          <a:lstStyle/>
          <a:p>
            <a:endParaRPr lang="en-US"/>
          </a:p>
        </p:txBody>
      </p:sp>
      <p:sp>
        <p:nvSpPr>
          <p:cNvPr id="240" name="Straight Connector 239">
            <a:extLst>
              <a:ext uri="{FF2B5EF4-FFF2-40B4-BE49-F238E27FC236}">
                <a16:creationId xmlns:a16="http://schemas.microsoft.com/office/drawing/2014/main" id="{D2ACF825-85A5-4C66-B0D7-FD5CBE4A66C3}"/>
              </a:ext>
            </a:extLst>
          </p:cNvPr>
          <p:cNvSpPr>
            <a:spLocks noGrp="1"/>
          </p:cNvSpPr>
          <p:nvPr/>
        </p:nvSpPr>
        <p:spPr>
          <a:xfrm flipV="1">
            <a:off x="3667125" y="2238375"/>
            <a:ext cx="857250" cy="542925"/>
          </a:xfrm>
          <a:prstGeom prst="line">
            <a:avLst/>
          </a:prstGeom>
          <a:noFill/>
          <a:ln w="47625">
            <a:solidFill>
              <a:srgbClr val="18324A"/>
            </a:solidFill>
            <a:prstDash val="solid"/>
          </a:ln>
        </p:spPr>
        <p:txBody>
          <a:bodyPr/>
          <a:lstStyle/>
          <a:p>
            <a:endParaRPr lang="en-US"/>
          </a:p>
        </p:txBody>
      </p:sp>
      <p:sp>
        <p:nvSpPr>
          <p:cNvPr id="241" name="Straight Connector 240">
            <a:extLst>
              <a:ext uri="{FF2B5EF4-FFF2-40B4-BE49-F238E27FC236}">
                <a16:creationId xmlns:a16="http://schemas.microsoft.com/office/drawing/2014/main" id="{C23A1447-EA5A-4549-AFFD-0D2ECEFFC376}"/>
              </a:ext>
            </a:extLst>
          </p:cNvPr>
          <p:cNvSpPr>
            <a:spLocks noGrp="1"/>
          </p:cNvSpPr>
          <p:nvPr/>
        </p:nvSpPr>
        <p:spPr>
          <a:xfrm>
            <a:off x="4524375" y="2238375"/>
            <a:ext cx="857250" cy="95250"/>
          </a:xfrm>
          <a:prstGeom prst="line">
            <a:avLst/>
          </a:prstGeom>
          <a:noFill/>
          <a:ln w="47625">
            <a:solidFill>
              <a:srgbClr val="18324A"/>
            </a:solidFill>
            <a:prstDash val="solid"/>
          </a:ln>
        </p:spPr>
        <p:txBody>
          <a:bodyPr/>
          <a:lstStyle/>
          <a:p>
            <a:endParaRPr lang="en-US"/>
          </a:p>
        </p:txBody>
      </p:sp>
      <p:sp>
        <p:nvSpPr>
          <p:cNvPr id="242" name="Straight Connector 241">
            <a:extLst>
              <a:ext uri="{FF2B5EF4-FFF2-40B4-BE49-F238E27FC236}">
                <a16:creationId xmlns:a16="http://schemas.microsoft.com/office/drawing/2014/main" id="{06BF55FD-2DBE-409C-8A4C-515FECD91048}"/>
              </a:ext>
            </a:extLst>
          </p:cNvPr>
          <p:cNvSpPr>
            <a:spLocks noGrp="1"/>
          </p:cNvSpPr>
          <p:nvPr/>
        </p:nvSpPr>
        <p:spPr>
          <a:xfrm>
            <a:off x="5381625" y="2333625"/>
            <a:ext cx="857250" cy="571500"/>
          </a:xfrm>
          <a:prstGeom prst="line">
            <a:avLst/>
          </a:prstGeom>
          <a:noFill/>
          <a:ln w="47625">
            <a:solidFill>
              <a:srgbClr val="18324A"/>
            </a:solidFill>
            <a:prstDash val="solid"/>
          </a:ln>
        </p:spPr>
        <p:txBody>
          <a:bodyPr/>
          <a:lstStyle/>
          <a:p>
            <a:endParaRPr lang="en-US"/>
          </a:p>
        </p:txBody>
      </p:sp>
      <p:sp>
        <p:nvSpPr>
          <p:cNvPr id="243" name="Oval 242">
            <a:extLst>
              <a:ext uri="{FF2B5EF4-FFF2-40B4-BE49-F238E27FC236}">
                <a16:creationId xmlns:a16="http://schemas.microsoft.com/office/drawing/2014/main" id="{F66D8FF6-A286-4C9D-AEDB-21E76D26914F}"/>
              </a:ext>
            </a:extLst>
          </p:cNvPr>
          <p:cNvSpPr>
            <a:spLocks noGrp="1"/>
          </p:cNvSpPr>
          <p:nvPr/>
        </p:nvSpPr>
        <p:spPr>
          <a:xfrm>
            <a:off x="1314450" y="4410075"/>
            <a:ext cx="133350" cy="133350"/>
          </a:xfrm>
          <a:prstGeom prst="ellipse">
            <a:avLst/>
          </a:prstGeom>
          <a:solidFill>
            <a:srgbClr val="B58A35"/>
          </a:solidFill>
          <a:ln w="19050">
            <a:solidFill>
              <a:srgbClr val="FFFFFF"/>
            </a:solidFill>
            <a:prstDash val="solid"/>
          </a:ln>
        </p:spPr>
        <p:txBody>
          <a:bodyPr/>
          <a:lstStyle/>
          <a:p>
            <a:endParaRPr lang="en-US"/>
          </a:p>
        </p:txBody>
      </p:sp>
      <p:sp>
        <p:nvSpPr>
          <p:cNvPr id="244" name="Oval 243">
            <a:extLst>
              <a:ext uri="{FF2B5EF4-FFF2-40B4-BE49-F238E27FC236}">
                <a16:creationId xmlns:a16="http://schemas.microsoft.com/office/drawing/2014/main" id="{2013A864-5048-4D66-AF6B-B1C4A2C179AE}"/>
              </a:ext>
            </a:extLst>
          </p:cNvPr>
          <p:cNvSpPr>
            <a:spLocks noGrp="1"/>
          </p:cNvSpPr>
          <p:nvPr/>
        </p:nvSpPr>
        <p:spPr>
          <a:xfrm>
            <a:off x="2028825" y="3981450"/>
            <a:ext cx="133350" cy="133350"/>
          </a:xfrm>
          <a:prstGeom prst="ellipse">
            <a:avLst/>
          </a:prstGeom>
          <a:solidFill>
            <a:srgbClr val="B58A35"/>
          </a:solidFill>
          <a:ln w="19050">
            <a:solidFill>
              <a:srgbClr val="FFFFFF"/>
            </a:solidFill>
            <a:prstDash val="solid"/>
          </a:ln>
        </p:spPr>
        <p:txBody>
          <a:bodyPr/>
          <a:lstStyle/>
          <a:p>
            <a:endParaRPr lang="en-US"/>
          </a:p>
        </p:txBody>
      </p:sp>
      <p:sp>
        <p:nvSpPr>
          <p:cNvPr id="245" name="Oval 244">
            <a:extLst>
              <a:ext uri="{FF2B5EF4-FFF2-40B4-BE49-F238E27FC236}">
                <a16:creationId xmlns:a16="http://schemas.microsoft.com/office/drawing/2014/main" id="{9140CA04-B661-409F-AA03-2C336D877F28}"/>
              </a:ext>
            </a:extLst>
          </p:cNvPr>
          <p:cNvSpPr>
            <a:spLocks noGrp="1"/>
          </p:cNvSpPr>
          <p:nvPr/>
        </p:nvSpPr>
        <p:spPr>
          <a:xfrm>
            <a:off x="2838450" y="3267075"/>
            <a:ext cx="133350" cy="133350"/>
          </a:xfrm>
          <a:prstGeom prst="ellipse">
            <a:avLst/>
          </a:prstGeom>
          <a:solidFill>
            <a:srgbClr val="B58A35"/>
          </a:solidFill>
          <a:ln w="19050">
            <a:solidFill>
              <a:srgbClr val="FFFFFF"/>
            </a:solidFill>
            <a:prstDash val="solid"/>
          </a:ln>
        </p:spPr>
        <p:txBody>
          <a:bodyPr/>
          <a:lstStyle/>
          <a:p>
            <a:endParaRPr lang="en-US"/>
          </a:p>
        </p:txBody>
      </p:sp>
      <p:sp>
        <p:nvSpPr>
          <p:cNvPr id="246" name="Oval 245">
            <a:extLst>
              <a:ext uri="{FF2B5EF4-FFF2-40B4-BE49-F238E27FC236}">
                <a16:creationId xmlns:a16="http://schemas.microsoft.com/office/drawing/2014/main" id="{2FA1B349-E5CF-447E-BDEB-9C1CCC3AF2B6}"/>
              </a:ext>
            </a:extLst>
          </p:cNvPr>
          <p:cNvSpPr>
            <a:spLocks noGrp="1"/>
          </p:cNvSpPr>
          <p:nvPr/>
        </p:nvSpPr>
        <p:spPr>
          <a:xfrm>
            <a:off x="3648075" y="2790825"/>
            <a:ext cx="133350" cy="133350"/>
          </a:xfrm>
          <a:prstGeom prst="ellipse">
            <a:avLst/>
          </a:prstGeom>
          <a:solidFill>
            <a:srgbClr val="B58A35"/>
          </a:solidFill>
          <a:ln w="19050">
            <a:solidFill>
              <a:srgbClr val="FFFFFF"/>
            </a:solidFill>
            <a:prstDash val="solid"/>
          </a:ln>
        </p:spPr>
        <p:txBody>
          <a:bodyPr/>
          <a:lstStyle/>
          <a:p>
            <a:endParaRPr lang="en-US"/>
          </a:p>
        </p:txBody>
      </p:sp>
      <p:sp>
        <p:nvSpPr>
          <p:cNvPr id="247" name="Oval 246">
            <a:extLst>
              <a:ext uri="{FF2B5EF4-FFF2-40B4-BE49-F238E27FC236}">
                <a16:creationId xmlns:a16="http://schemas.microsoft.com/office/drawing/2014/main" id="{0717278E-C55B-4B5A-9B7C-6CD8C7FB19AA}"/>
              </a:ext>
            </a:extLst>
          </p:cNvPr>
          <p:cNvSpPr>
            <a:spLocks noGrp="1"/>
          </p:cNvSpPr>
          <p:nvPr/>
        </p:nvSpPr>
        <p:spPr>
          <a:xfrm>
            <a:off x="4505325" y="2238375"/>
            <a:ext cx="133350" cy="133350"/>
          </a:xfrm>
          <a:prstGeom prst="ellipse">
            <a:avLst/>
          </a:prstGeom>
          <a:solidFill>
            <a:srgbClr val="B58A35"/>
          </a:solidFill>
          <a:ln w="19050">
            <a:solidFill>
              <a:srgbClr val="FFFFFF"/>
            </a:solidFill>
            <a:prstDash val="solid"/>
          </a:ln>
        </p:spPr>
        <p:txBody>
          <a:bodyPr/>
          <a:lstStyle/>
          <a:p>
            <a:endParaRPr lang="en-US"/>
          </a:p>
        </p:txBody>
      </p:sp>
      <p:sp>
        <p:nvSpPr>
          <p:cNvPr id="248" name="Oval 247">
            <a:extLst>
              <a:ext uri="{FF2B5EF4-FFF2-40B4-BE49-F238E27FC236}">
                <a16:creationId xmlns:a16="http://schemas.microsoft.com/office/drawing/2014/main" id="{EB94DA52-CD8B-4508-A34E-12D473EE3B1B}"/>
              </a:ext>
            </a:extLst>
          </p:cNvPr>
          <p:cNvSpPr>
            <a:spLocks noGrp="1"/>
          </p:cNvSpPr>
          <p:nvPr/>
        </p:nvSpPr>
        <p:spPr>
          <a:xfrm>
            <a:off x="5314950" y="2343150"/>
            <a:ext cx="133350" cy="133350"/>
          </a:xfrm>
          <a:prstGeom prst="ellipse">
            <a:avLst/>
          </a:prstGeom>
          <a:solidFill>
            <a:srgbClr val="B58A35"/>
          </a:solidFill>
          <a:ln w="19050">
            <a:solidFill>
              <a:srgbClr val="FFFFFF"/>
            </a:solidFill>
            <a:prstDash val="solid"/>
          </a:ln>
        </p:spPr>
        <p:txBody>
          <a:bodyPr/>
          <a:lstStyle/>
          <a:p>
            <a:endParaRPr lang="en-US"/>
          </a:p>
        </p:txBody>
      </p:sp>
      <p:sp>
        <p:nvSpPr>
          <p:cNvPr id="249" name="Oval 248">
            <a:extLst>
              <a:ext uri="{FF2B5EF4-FFF2-40B4-BE49-F238E27FC236}">
                <a16:creationId xmlns:a16="http://schemas.microsoft.com/office/drawing/2014/main" id="{686B8FC8-D25C-4D30-8F47-FB7D788779F2}"/>
              </a:ext>
            </a:extLst>
          </p:cNvPr>
          <p:cNvSpPr>
            <a:spLocks noGrp="1"/>
          </p:cNvSpPr>
          <p:nvPr/>
        </p:nvSpPr>
        <p:spPr>
          <a:xfrm>
            <a:off x="6029325" y="2771775"/>
            <a:ext cx="133350" cy="133350"/>
          </a:xfrm>
          <a:prstGeom prst="ellipse">
            <a:avLst/>
          </a:prstGeom>
          <a:solidFill>
            <a:srgbClr val="B58A35"/>
          </a:solidFill>
          <a:ln w="19050">
            <a:solidFill>
              <a:srgbClr val="FFFFFF"/>
            </a:solidFill>
            <a:prstDash val="solid"/>
          </a:ln>
        </p:spPr>
        <p:txBody>
          <a:bodyPr/>
          <a:lstStyle/>
          <a:p>
            <a:endParaRPr lang="en-US"/>
          </a:p>
        </p:txBody>
      </p:sp>
      <p:sp>
        <p:nvSpPr>
          <p:cNvPr id="250" name="Rectangle 249">
            <a:extLst>
              <a:ext uri="{FF2B5EF4-FFF2-40B4-BE49-F238E27FC236}">
                <a16:creationId xmlns:a16="http://schemas.microsoft.com/office/drawing/2014/main" id="{51CF95DE-E4EE-450E-9D9F-D4104EA354C4}"/>
              </a:ext>
            </a:extLst>
          </p:cNvPr>
          <p:cNvSpPr>
            <a:spLocks noGrp="1"/>
          </p:cNvSpPr>
          <p:nvPr/>
        </p:nvSpPr>
        <p:spPr>
          <a:xfrm>
            <a:off x="7286625" y="1714500"/>
            <a:ext cx="3619500" cy="666750"/>
          </a:xfrm>
          <a:prstGeom prst="rect">
            <a:avLst/>
          </a:prstGeom>
          <a:noFill/>
          <a:ln w="0">
            <a:noFill/>
            <a:prstDash val="solid"/>
          </a:ln>
        </p:spPr>
        <p:txBody>
          <a:bodyPr wrap="square" lIns="0" tIns="0" rIns="0" bIns="0" anchor="ctr">
            <a:normAutofit/>
          </a:bodyPr>
          <a:lstStyle/>
          <a:p>
            <a:pPr algn="ctr">
              <a:defRPr sz="3375" b="1" i="0">
                <a:solidFill>
                  <a:srgbClr val="18324A"/>
                </a:solidFill>
                <a:latin typeface="Cambria Math"/>
                <a:ea typeface="Cambria Math"/>
                <a:cs typeface="Cambria Math"/>
              </a:defRPr>
            </a:pPr>
            <a:r>
              <a:rPr sz="3375" b="1" i="0">
                <a:solidFill>
                  <a:srgbClr val="18324A"/>
                </a:solidFill>
                <a:latin typeface="Cambria Math"/>
                <a:ea typeface="Cambria Math"/>
                <a:cs typeface="Cambria Math"/>
              </a:rPr>
              <a:t>ŷ = f(x; θ)</a:t>
            </a:r>
          </a:p>
        </p:txBody>
      </p:sp>
      <p:sp>
        <p:nvSpPr>
          <p:cNvPr id="251" name="Rectangle 250">
            <a:extLst>
              <a:ext uri="{FF2B5EF4-FFF2-40B4-BE49-F238E27FC236}">
                <a16:creationId xmlns:a16="http://schemas.microsoft.com/office/drawing/2014/main" id="{4F61A268-98C2-4D34-ADD8-DC48A62C3BE0}"/>
              </a:ext>
            </a:extLst>
          </p:cNvPr>
          <p:cNvSpPr>
            <a:spLocks noGrp="1"/>
          </p:cNvSpPr>
          <p:nvPr/>
        </p:nvSpPr>
        <p:spPr>
          <a:xfrm>
            <a:off x="7334250" y="2762250"/>
            <a:ext cx="1905000" cy="304800"/>
          </a:xfrm>
          <a:prstGeom prst="rect">
            <a:avLst/>
          </a:prstGeom>
          <a:noFill/>
          <a:ln w="0">
            <a:noFill/>
            <a:prstDash val="solid"/>
          </a:ln>
        </p:spPr>
        <p:txBody>
          <a:bodyPr wrap="square" lIns="0" tIns="0" rIns="0" bIns="0" anchor="ctr">
            <a:normAutofit/>
          </a:bodyPr>
          <a:lstStyle/>
          <a:p>
            <a:pPr algn="l">
              <a:defRPr sz="1725" b="1" i="0">
                <a:solidFill>
                  <a:srgbClr val="B95535"/>
                </a:solidFill>
                <a:latin typeface="Helvetica Neue"/>
                <a:ea typeface="Helvetica Neue"/>
                <a:cs typeface="Helvetica Neue"/>
              </a:defRPr>
            </a:pPr>
            <a:r>
              <a:rPr sz="1725" b="1" i="0">
                <a:solidFill>
                  <a:srgbClr val="B95535"/>
                </a:solidFill>
                <a:latin typeface="Helvetica Neue"/>
                <a:ea typeface="Helvetica Neue"/>
                <a:cs typeface="Helvetica Neue"/>
              </a:rPr>
              <a:t>WE CHOOSE</a:t>
            </a:r>
          </a:p>
        </p:txBody>
      </p:sp>
      <p:sp>
        <p:nvSpPr>
          <p:cNvPr id="252" name="Rectangle 251">
            <a:extLst>
              <a:ext uri="{FF2B5EF4-FFF2-40B4-BE49-F238E27FC236}">
                <a16:creationId xmlns:a16="http://schemas.microsoft.com/office/drawing/2014/main" id="{58707A14-AA70-40C1-AF0F-6214E040E925}"/>
              </a:ext>
            </a:extLst>
          </p:cNvPr>
          <p:cNvSpPr>
            <a:spLocks noGrp="1"/>
          </p:cNvSpPr>
          <p:nvPr/>
        </p:nvSpPr>
        <p:spPr>
          <a:xfrm>
            <a:off x="7334250" y="3095625"/>
            <a:ext cx="3714750" cy="428625"/>
          </a:xfrm>
          <a:prstGeom prst="rect">
            <a:avLst/>
          </a:prstGeom>
          <a:noFill/>
          <a:ln w="0">
            <a:noFill/>
            <a:prstDash val="solid"/>
          </a:ln>
        </p:spPr>
        <p:txBody>
          <a:bodyPr wrap="square" lIns="0" tIns="0" rIns="0" bIns="0" anchor="ctr">
            <a:normAutofit fontScale="91978"/>
          </a:bodyPr>
          <a:lstStyle/>
          <a:p>
            <a:pPr algn="l">
              <a:defRPr sz="2175" b="1" i="0">
                <a:solidFill>
                  <a:srgbClr val="202224"/>
                </a:solidFill>
                <a:latin typeface="Helvetica Neue"/>
                <a:ea typeface="Helvetica Neue"/>
                <a:cs typeface="Helvetica Neue"/>
              </a:defRPr>
            </a:pPr>
            <a:r>
              <a:rPr sz="2175" b="1" i="0">
                <a:solidFill>
                  <a:srgbClr val="202224"/>
                </a:solidFill>
                <a:latin typeface="Helvetica Neue"/>
                <a:ea typeface="Helvetica Neue"/>
                <a:cs typeface="Helvetica Neue"/>
              </a:rPr>
              <a:t>the inputs and the architecture</a:t>
            </a:r>
          </a:p>
        </p:txBody>
      </p:sp>
      <p:sp>
        <p:nvSpPr>
          <p:cNvPr id="253" name="Rectangle 252">
            <a:extLst>
              <a:ext uri="{FF2B5EF4-FFF2-40B4-BE49-F238E27FC236}">
                <a16:creationId xmlns:a16="http://schemas.microsoft.com/office/drawing/2014/main" id="{15893394-0344-410B-9F9D-BF2D8738E9FF}"/>
              </a:ext>
            </a:extLst>
          </p:cNvPr>
          <p:cNvSpPr>
            <a:spLocks noGrp="1"/>
          </p:cNvSpPr>
          <p:nvPr/>
        </p:nvSpPr>
        <p:spPr>
          <a:xfrm>
            <a:off x="7334250" y="3905250"/>
            <a:ext cx="2476500" cy="304800"/>
          </a:xfrm>
          <a:prstGeom prst="rect">
            <a:avLst/>
          </a:prstGeom>
          <a:noFill/>
          <a:ln w="0">
            <a:noFill/>
            <a:prstDash val="solid"/>
          </a:ln>
        </p:spPr>
        <p:txBody>
          <a:bodyPr wrap="square" lIns="0" tIns="0" rIns="0" bIns="0" anchor="ctr">
            <a:normAutofit/>
          </a:bodyPr>
          <a:lstStyle/>
          <a:p>
            <a:pPr algn="l">
              <a:defRPr sz="1725" b="1" i="0">
                <a:solidFill>
                  <a:srgbClr val="2D617F"/>
                </a:solidFill>
                <a:latin typeface="Helvetica Neue"/>
                <a:ea typeface="Helvetica Neue"/>
                <a:cs typeface="Helvetica Neue"/>
              </a:defRPr>
            </a:pPr>
            <a:r>
              <a:rPr sz="1725" b="1" i="0">
                <a:solidFill>
                  <a:srgbClr val="2D617F"/>
                </a:solidFill>
                <a:latin typeface="Helvetica Neue"/>
                <a:ea typeface="Helvetica Neue"/>
                <a:cs typeface="Helvetica Neue"/>
              </a:rPr>
              <a:t>TRAINING CHOOSES</a:t>
            </a:r>
          </a:p>
        </p:txBody>
      </p:sp>
      <p:sp>
        <p:nvSpPr>
          <p:cNvPr id="254" name="Rectangle 253">
            <a:extLst>
              <a:ext uri="{FF2B5EF4-FFF2-40B4-BE49-F238E27FC236}">
                <a16:creationId xmlns:a16="http://schemas.microsoft.com/office/drawing/2014/main" id="{B10ECD7C-EDD2-4D44-B090-B7C725751D5A}"/>
              </a:ext>
            </a:extLst>
          </p:cNvPr>
          <p:cNvSpPr>
            <a:spLocks noGrp="1"/>
          </p:cNvSpPr>
          <p:nvPr/>
        </p:nvSpPr>
        <p:spPr>
          <a:xfrm>
            <a:off x="7334250" y="4238625"/>
            <a:ext cx="3714750" cy="428625"/>
          </a:xfrm>
          <a:prstGeom prst="rect">
            <a:avLst/>
          </a:prstGeom>
          <a:noFill/>
          <a:ln w="0">
            <a:noFill/>
            <a:prstDash val="solid"/>
          </a:ln>
        </p:spPr>
        <p:txBody>
          <a:bodyPr wrap="square" lIns="0" tIns="0" rIns="0" bIns="0" anchor="ctr">
            <a:normAutofit/>
          </a:bodyPr>
          <a:lstStyle/>
          <a:p>
            <a:pPr algn="l">
              <a:defRPr sz="2175" b="1" i="0">
                <a:solidFill>
                  <a:srgbClr val="202224"/>
                </a:solidFill>
                <a:latin typeface="Helvetica Neue"/>
                <a:ea typeface="Helvetica Neue"/>
                <a:cs typeface="Helvetica Neue"/>
              </a:defRPr>
            </a:pPr>
            <a:r>
              <a:rPr sz="2175" b="1" i="0">
                <a:solidFill>
                  <a:srgbClr val="202224"/>
                </a:solidFill>
                <a:latin typeface="Helvetica Neue"/>
                <a:ea typeface="Helvetica Neue"/>
                <a:cs typeface="Helvetica Neue"/>
              </a:rPr>
              <a:t>the parameter values θ</a:t>
            </a:r>
          </a:p>
        </p:txBody>
      </p:sp>
      <p:sp>
        <p:nvSpPr>
          <p:cNvPr id="255" name="Rounded Rectangle 254">
            <a:extLst>
              <a:ext uri="{FF2B5EF4-FFF2-40B4-BE49-F238E27FC236}">
                <a16:creationId xmlns:a16="http://schemas.microsoft.com/office/drawing/2014/main" id="{9B941EB1-3E2E-406E-A93D-86901A2354FD}"/>
              </a:ext>
            </a:extLst>
          </p:cNvPr>
          <p:cNvSpPr>
            <a:spLocks noGrp="1"/>
          </p:cNvSpPr>
          <p:nvPr/>
        </p:nvSpPr>
        <p:spPr>
          <a:xfrm>
            <a:off x="7096125" y="5143500"/>
            <a:ext cx="4095750" cy="819150"/>
          </a:xfrm>
          <a:prstGeom prst="roundRect">
            <a:avLst>
              <a:gd name="adj" fmla="val 13953"/>
            </a:avLst>
          </a:prstGeom>
          <a:solidFill>
            <a:srgbClr val="FFFFFF"/>
          </a:solidFill>
          <a:ln w="14288">
            <a:solidFill>
              <a:srgbClr val="D4CEC2"/>
            </a:solidFill>
            <a:prstDash val="solid"/>
          </a:ln>
        </p:spPr>
        <p:txBody>
          <a:bodyPr wrap="square" lIns="114300" tIns="95250" rIns="114300" bIns="95250" anchor="ctr">
            <a:normAutofit fontScale="73481"/>
          </a:bodyPr>
          <a:lstStyle/>
          <a:p>
            <a:pPr algn="ctr">
              <a:defRPr sz="1800" b="0">
                <a:solidFill>
                  <a:srgbClr val="202224"/>
                </a:solidFill>
                <a:latin typeface="Helvetica Neue"/>
                <a:ea typeface="Helvetica Neue"/>
                <a:cs typeface="Helvetica Neue"/>
              </a:defRPr>
            </a:pPr>
            <a:r>
              <a:rPr sz="1800" b="0">
                <a:solidFill>
                  <a:srgbClr val="202224"/>
                </a:solidFill>
                <a:latin typeface="Helvetica Neue"/>
                <a:ea typeface="Helvetica Neue"/>
                <a:cs typeface="Helvetica Neue"/>
              </a:rPr>
              <a:t>A flexible family can fit more shapes—but flexibility alone does not make it scientifically appropriate.</a:t>
            </a:r>
          </a:p>
        </p:txBody>
      </p:sp>
    </p:spTree>
    <p:extLst>
      <p:ext uri="{BB962C8B-B14F-4D97-AF65-F5344CB8AC3E}">
        <p14:creationId xmlns:p14="http://schemas.microsoft.com/office/powerpoint/2010/main" val="1925924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4B9BEF6A-2E49-44B3-8C58-D12C51B18F9A}"/>
              </a:ext>
            </a:extLst>
          </p:cNvPr>
          <p:cNvSpPr>
            <a:spLocks noGrp="1"/>
          </p:cNvSpPr>
          <p:nvPr/>
        </p:nvSpPr>
        <p:spPr>
          <a:xfrm>
            <a:off x="552450" y="219075"/>
            <a:ext cx="6858000" cy="228600"/>
          </a:xfrm>
          <a:prstGeom prst="rect">
            <a:avLst/>
          </a:prstGeom>
          <a:noFill/>
          <a:ln w="0">
            <a:noFill/>
            <a:prstDash val="solid"/>
          </a:ln>
        </p:spPr>
        <p:txBody>
          <a:bodyPr wrap="square" lIns="0" tIns="0" rIns="0" bIns="0" anchor="ctr">
            <a:normAutofit/>
          </a:bodyPr>
          <a:lstStyle/>
          <a:p>
            <a:pPr algn="l">
              <a:buNone/>
              <a:defRPr sz="1125" b="1" i="0">
                <a:solidFill>
                  <a:srgbClr val="B95535"/>
                </a:solidFill>
                <a:latin typeface="Helvetica Neue"/>
                <a:ea typeface="Helvetica Neue"/>
                <a:cs typeface="Helvetica Neue"/>
              </a:defRPr>
            </a:pPr>
            <a:r>
              <a:rPr sz="1125" b="1" i="0">
                <a:solidFill>
                  <a:srgbClr val="B95535"/>
                </a:solidFill>
                <a:latin typeface="Helvetica Neue"/>
                <a:ea typeface="Helvetica Neue"/>
                <a:cs typeface="Helvetica Neue"/>
              </a:rPr>
              <a:t>MACHINE LEARNING  •  NEURAL NETWORK</a:t>
            </a:r>
          </a:p>
        </p:txBody>
      </p:sp>
      <p:sp>
        <p:nvSpPr>
          <p:cNvPr id="2" name="Rectangle 1">
            <a:extLst>
              <a:ext uri="{FF2B5EF4-FFF2-40B4-BE49-F238E27FC236}">
                <a16:creationId xmlns:a16="http://schemas.microsoft.com/office/drawing/2014/main" id="{1A0CD113-F55F-4F3F-A4E1-FCBEB1038D04}"/>
              </a:ext>
            </a:extLst>
          </p:cNvPr>
          <p:cNvSpPr>
            <a:spLocks noGrp="1"/>
          </p:cNvSpPr>
          <p:nvPr/>
        </p:nvSpPr>
        <p:spPr>
          <a:xfrm>
            <a:off x="533400" y="476250"/>
            <a:ext cx="11087100" cy="552450"/>
          </a:xfrm>
          <a:prstGeom prst="rect">
            <a:avLst/>
          </a:prstGeom>
          <a:noFill/>
          <a:ln w="0">
            <a:noFill/>
            <a:prstDash val="solid"/>
          </a:ln>
        </p:spPr>
        <p:txBody>
          <a:bodyPr wrap="square" lIns="0" tIns="0" rIns="0" bIns="0" anchor="t">
            <a:normAutofit/>
          </a:bodyPr>
          <a:lstStyle/>
          <a:p>
            <a:pPr algn="l">
              <a:buNone/>
              <a:defRPr sz="3525" b="1" i="0">
                <a:solidFill>
                  <a:srgbClr val="202224"/>
                </a:solidFill>
                <a:latin typeface="Helvetica Neue"/>
                <a:ea typeface="Helvetica Neue"/>
                <a:cs typeface="Helvetica Neue"/>
              </a:defRPr>
            </a:pPr>
            <a:r>
              <a:rPr sz="3525" b="1" i="0">
                <a:solidFill>
                  <a:srgbClr val="202224"/>
                </a:solidFill>
                <a:latin typeface="Helvetica Neue"/>
                <a:ea typeface="Helvetica Neue"/>
                <a:cs typeface="Helvetica Neue"/>
              </a:rPr>
              <a:t>Nonlinearity makes a neural network flexible</a:t>
            </a:r>
          </a:p>
        </p:txBody>
      </p:sp>
      <p:sp>
        <p:nvSpPr>
          <p:cNvPr id="3" name="Rectangle 2">
            <a:extLst>
              <a:ext uri="{FF2B5EF4-FFF2-40B4-BE49-F238E27FC236}">
                <a16:creationId xmlns:a16="http://schemas.microsoft.com/office/drawing/2014/main" id="{0CC8EC1A-10B2-4ECF-9B89-B20270FCB81E}"/>
              </a:ext>
            </a:extLst>
          </p:cNvPr>
          <p:cNvSpPr>
            <a:spLocks noGrp="1"/>
          </p:cNvSpPr>
          <p:nvPr/>
        </p:nvSpPr>
        <p:spPr>
          <a:xfrm>
            <a:off x="533400" y="1076325"/>
            <a:ext cx="11125200" cy="19050"/>
          </a:xfrm>
          <a:prstGeom prst="rect">
            <a:avLst/>
          </a:prstGeom>
          <a:solidFill>
            <a:srgbClr val="D4CEC2"/>
          </a:solidFill>
          <a:ln w="0">
            <a:noFill/>
            <a:prstDash val="solid"/>
          </a:ln>
        </p:spPr>
        <p:txBody>
          <a:bodyPr/>
          <a:lstStyle/>
          <a:p>
            <a:endParaRPr/>
          </a:p>
        </p:txBody>
      </p:sp>
      <p:sp>
        <p:nvSpPr>
          <p:cNvPr id="4" name="Rectangle 3">
            <a:extLst>
              <a:ext uri="{FF2B5EF4-FFF2-40B4-BE49-F238E27FC236}">
                <a16:creationId xmlns:a16="http://schemas.microsoft.com/office/drawing/2014/main" id="{90D98B28-5478-40E3-9FAE-A9F374793E6C}"/>
              </a:ext>
            </a:extLst>
          </p:cNvPr>
          <p:cNvSpPr>
            <a:spLocks noGrp="1"/>
          </p:cNvSpPr>
          <p:nvPr/>
        </p:nvSpPr>
        <p:spPr>
          <a:xfrm>
            <a:off x="11144250" y="228600"/>
            <a:ext cx="495300" cy="219075"/>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04</a:t>
            </a:r>
          </a:p>
        </p:txBody>
      </p:sp>
      <p:sp>
        <p:nvSpPr>
          <p:cNvPr id="5" name="Rectangle 4">
            <a:extLst>
              <a:ext uri="{FF2B5EF4-FFF2-40B4-BE49-F238E27FC236}">
                <a16:creationId xmlns:a16="http://schemas.microsoft.com/office/drawing/2014/main" id="{1E754255-C110-4332-8E44-8DFE79444A7C}"/>
              </a:ext>
            </a:extLst>
          </p:cNvPr>
          <p:cNvSpPr>
            <a:spLocks noGrp="1"/>
          </p:cNvSpPr>
          <p:nvPr/>
        </p:nvSpPr>
        <p:spPr>
          <a:xfrm>
            <a:off x="533400" y="6543675"/>
            <a:ext cx="5810250" cy="161925"/>
          </a:xfrm>
          <a:prstGeom prst="rect">
            <a:avLst/>
          </a:prstGeom>
          <a:noFill/>
          <a:ln w="0">
            <a:noFill/>
            <a:prstDash val="solid"/>
          </a:ln>
        </p:spPr>
        <p:txBody>
          <a:bodyPr wrap="square" lIns="0" tIns="0" rIns="0" bIns="0" anchor="ctr">
            <a:normAutofit/>
          </a:bodyPr>
          <a:lstStyle/>
          <a:p>
            <a:pPr algn="l">
              <a:buNone/>
              <a:defRPr sz="863" b="0" i="0">
                <a:solidFill>
                  <a:srgbClr val="66645F"/>
                </a:solidFill>
                <a:latin typeface="Helvetica Neue"/>
                <a:ea typeface="Helvetica Neue"/>
                <a:cs typeface="Helvetica Neue"/>
              </a:defRPr>
            </a:pPr>
            <a:r>
              <a:rPr sz="863" b="0" i="0">
                <a:solidFill>
                  <a:srgbClr val="66645F"/>
                </a:solidFill>
                <a:latin typeface="Helvetica Neue"/>
                <a:ea typeface="Helvetica Neue"/>
                <a:cs typeface="Helvetica Neue"/>
              </a:rPr>
              <a:t>ICTS 2026  •  Machine learning → transformers</a:t>
            </a:r>
          </a:p>
        </p:txBody>
      </p:sp>
      <p:pic>
        <p:nvPicPr>
          <p:cNvPr id="77" name="Picture 76"/>
          <p:cNvPicPr>
            <a:picLocks noChangeAspect="1"/>
          </p:cNvPicPr>
          <p:nvPr/>
        </p:nvPicPr>
        <p:blipFill>
          <a:blip r:embed="rId3"/>
          <a:stretch/>
        </p:blipFill>
        <p:spPr>
          <a:xfrm>
            <a:off x="7775997" y="1352550"/>
            <a:ext cx="3212256" cy="4857750"/>
          </a:xfrm>
          <a:prstGeom prst="roundRect">
            <a:avLst>
              <a:gd name="adj" fmla="val 3529"/>
            </a:avLst>
          </a:prstGeom>
        </p:spPr>
      </p:pic>
      <p:pic>
        <p:nvPicPr>
          <p:cNvPr id="78" name="Picture 77"/>
          <p:cNvPicPr>
            <a:picLocks noChangeAspect="1"/>
          </p:cNvPicPr>
          <p:nvPr/>
        </p:nvPicPr>
        <p:blipFill>
          <a:blip r:embed="rId3"/>
          <a:stretch/>
        </p:blipFill>
        <p:spPr>
          <a:xfrm>
            <a:off x="7728372" y="1352550"/>
            <a:ext cx="3212256" cy="4857750"/>
          </a:xfrm>
          <a:prstGeom prst="roundRect">
            <a:avLst>
              <a:gd name="adj" fmla="val 3333"/>
            </a:avLst>
          </a:prstGeom>
        </p:spPr>
      </p:pic>
      <p:sp>
        <p:nvSpPr>
          <p:cNvPr id="64" name="Rectangle 63">
            <a:extLst>
              <a:ext uri="{FF2B5EF4-FFF2-40B4-BE49-F238E27FC236}">
                <a16:creationId xmlns:a16="http://schemas.microsoft.com/office/drawing/2014/main" id="{20F56F40-DE87-4DF9-BEF7-A70BE3A49669}"/>
              </a:ext>
            </a:extLst>
          </p:cNvPr>
          <p:cNvSpPr>
            <a:spLocks noGrp="1"/>
          </p:cNvSpPr>
          <p:nvPr/>
        </p:nvSpPr>
        <p:spPr>
          <a:xfrm>
            <a:off x="714375" y="1666875"/>
            <a:ext cx="2476500" cy="323850"/>
          </a:xfrm>
          <a:prstGeom prst="rect">
            <a:avLst/>
          </a:prstGeom>
          <a:noFill/>
          <a:ln w="0">
            <a:noFill/>
            <a:prstDash val="solid"/>
          </a:ln>
        </p:spPr>
        <p:txBody>
          <a:bodyPr wrap="square" lIns="0" tIns="0" rIns="0" bIns="0" anchor="ctr">
            <a:normAutofit/>
          </a:bodyPr>
          <a:lstStyle/>
          <a:p>
            <a:pPr algn="l">
              <a:defRPr sz="1800" b="1" i="0">
                <a:solidFill>
                  <a:srgbClr val="2D617F"/>
                </a:solidFill>
                <a:latin typeface="Helvetica Neue"/>
                <a:ea typeface="Helvetica Neue"/>
                <a:cs typeface="Helvetica Neue"/>
              </a:defRPr>
            </a:pPr>
            <a:r>
              <a:rPr sz="1800" b="1" i="0">
                <a:solidFill>
                  <a:srgbClr val="2D617F"/>
                </a:solidFill>
                <a:latin typeface="Helvetica Neue"/>
                <a:ea typeface="Helvetica Neue"/>
                <a:cs typeface="Helvetica Neue"/>
              </a:rPr>
              <a:t>LINEAR MIX</a:t>
            </a:r>
          </a:p>
        </p:txBody>
      </p:sp>
      <p:sp>
        <p:nvSpPr>
          <p:cNvPr id="65" name="Rectangle 64">
            <a:extLst>
              <a:ext uri="{FF2B5EF4-FFF2-40B4-BE49-F238E27FC236}">
                <a16:creationId xmlns:a16="http://schemas.microsoft.com/office/drawing/2014/main" id="{BEBCA6D4-FACE-4EEB-B4EA-9FCBABEAC083}"/>
              </a:ext>
            </a:extLst>
          </p:cNvPr>
          <p:cNvSpPr>
            <a:spLocks noGrp="1"/>
          </p:cNvSpPr>
          <p:nvPr/>
        </p:nvSpPr>
        <p:spPr>
          <a:xfrm>
            <a:off x="714375" y="2000250"/>
            <a:ext cx="5810250" cy="495300"/>
          </a:xfrm>
          <a:prstGeom prst="rect">
            <a:avLst/>
          </a:prstGeom>
          <a:noFill/>
          <a:ln w="0">
            <a:noFill/>
            <a:prstDash val="solid"/>
          </a:ln>
        </p:spPr>
        <p:txBody>
          <a:bodyPr wrap="square" lIns="0" tIns="0" rIns="0" bIns="0" anchor="ctr">
            <a:normAutofit/>
          </a:bodyPr>
          <a:lstStyle/>
          <a:p>
            <a:pPr algn="l">
              <a:defRPr sz="2325" b="1" i="0">
                <a:solidFill>
                  <a:srgbClr val="202224"/>
                </a:solidFill>
                <a:latin typeface="Helvetica Neue"/>
                <a:ea typeface="Helvetica Neue"/>
                <a:cs typeface="Helvetica Neue"/>
              </a:defRPr>
            </a:pPr>
            <a:r>
              <a:rPr sz="2325" b="1" i="0">
                <a:solidFill>
                  <a:srgbClr val="202224"/>
                </a:solidFill>
                <a:latin typeface="Helvetica Neue"/>
                <a:ea typeface="Helvetica Neue"/>
                <a:cs typeface="Helvetica Neue"/>
              </a:rPr>
              <a:t>Combine the input coordinates.</a:t>
            </a:r>
          </a:p>
        </p:txBody>
      </p:sp>
      <p:sp>
        <p:nvSpPr>
          <p:cNvPr id="66" name="Rectangle 65">
            <a:extLst>
              <a:ext uri="{FF2B5EF4-FFF2-40B4-BE49-F238E27FC236}">
                <a16:creationId xmlns:a16="http://schemas.microsoft.com/office/drawing/2014/main" id="{E8BC0193-1AA1-4FC5-BCF0-01F4660B4F87}"/>
              </a:ext>
            </a:extLst>
          </p:cNvPr>
          <p:cNvSpPr>
            <a:spLocks noGrp="1"/>
          </p:cNvSpPr>
          <p:nvPr/>
        </p:nvSpPr>
        <p:spPr>
          <a:xfrm>
            <a:off x="714375" y="2905125"/>
            <a:ext cx="2857500" cy="323850"/>
          </a:xfrm>
          <a:prstGeom prst="rect">
            <a:avLst/>
          </a:prstGeom>
          <a:noFill/>
          <a:ln w="0">
            <a:noFill/>
            <a:prstDash val="solid"/>
          </a:ln>
        </p:spPr>
        <p:txBody>
          <a:bodyPr wrap="square" lIns="0" tIns="0" rIns="0" bIns="0" anchor="ctr">
            <a:normAutofit/>
          </a:bodyPr>
          <a:lstStyle/>
          <a:p>
            <a:pPr algn="l">
              <a:defRPr sz="1800" b="1" i="0">
                <a:solidFill>
                  <a:srgbClr val="B95535"/>
                </a:solidFill>
                <a:latin typeface="Helvetica Neue"/>
                <a:ea typeface="Helvetica Neue"/>
                <a:cs typeface="Helvetica Neue"/>
              </a:defRPr>
            </a:pPr>
            <a:r>
              <a:rPr sz="1800" b="1" i="0">
                <a:solidFill>
                  <a:srgbClr val="B95535"/>
                </a:solidFill>
                <a:latin typeface="Helvetica Neue"/>
                <a:ea typeface="Helvetica Neue"/>
                <a:cs typeface="Helvetica Neue"/>
              </a:rPr>
              <a:t>NONLINEAR STEP</a:t>
            </a:r>
          </a:p>
        </p:txBody>
      </p:sp>
      <p:sp>
        <p:nvSpPr>
          <p:cNvPr id="67" name="Rectangle 66">
            <a:extLst>
              <a:ext uri="{FF2B5EF4-FFF2-40B4-BE49-F238E27FC236}">
                <a16:creationId xmlns:a16="http://schemas.microsoft.com/office/drawing/2014/main" id="{9EBDE1DE-2D20-435C-AAAE-A3055B67FAA7}"/>
              </a:ext>
            </a:extLst>
          </p:cNvPr>
          <p:cNvSpPr>
            <a:spLocks noGrp="1"/>
          </p:cNvSpPr>
          <p:nvPr/>
        </p:nvSpPr>
        <p:spPr>
          <a:xfrm>
            <a:off x="714375" y="3238500"/>
            <a:ext cx="5810250" cy="495300"/>
          </a:xfrm>
          <a:prstGeom prst="rect">
            <a:avLst/>
          </a:prstGeom>
          <a:noFill/>
          <a:ln w="0">
            <a:noFill/>
            <a:prstDash val="solid"/>
          </a:ln>
        </p:spPr>
        <p:txBody>
          <a:bodyPr wrap="square" lIns="0" tIns="0" rIns="0" bIns="0" anchor="ctr">
            <a:normAutofit/>
          </a:bodyPr>
          <a:lstStyle/>
          <a:p>
            <a:pPr algn="l">
              <a:defRPr sz="2325" b="1" i="0">
                <a:solidFill>
                  <a:srgbClr val="202224"/>
                </a:solidFill>
                <a:latin typeface="Helvetica Neue"/>
                <a:ea typeface="Helvetica Neue"/>
                <a:cs typeface="Helvetica Neue"/>
              </a:defRPr>
            </a:pPr>
            <a:r>
              <a:rPr sz="2325" b="1" i="0">
                <a:solidFill>
                  <a:srgbClr val="202224"/>
                </a:solidFill>
                <a:latin typeface="Helvetica Neue"/>
                <a:ea typeface="Helvetica Neue"/>
                <a:cs typeface="Helvetica Neue"/>
              </a:rPr>
              <a:t>Bend the family of possible functions.</a:t>
            </a:r>
          </a:p>
        </p:txBody>
      </p:sp>
      <p:sp>
        <p:nvSpPr>
          <p:cNvPr id="68" name="Rectangle 67">
            <a:extLst>
              <a:ext uri="{FF2B5EF4-FFF2-40B4-BE49-F238E27FC236}">
                <a16:creationId xmlns:a16="http://schemas.microsoft.com/office/drawing/2014/main" id="{B261D2E1-AA24-4648-9A07-2724286F1941}"/>
              </a:ext>
            </a:extLst>
          </p:cNvPr>
          <p:cNvSpPr>
            <a:spLocks noGrp="1"/>
          </p:cNvSpPr>
          <p:nvPr/>
        </p:nvSpPr>
        <p:spPr>
          <a:xfrm>
            <a:off x="714375" y="4143375"/>
            <a:ext cx="1905000" cy="323850"/>
          </a:xfrm>
          <a:prstGeom prst="rect">
            <a:avLst/>
          </a:prstGeom>
          <a:noFill/>
          <a:ln w="0">
            <a:noFill/>
            <a:prstDash val="solid"/>
          </a:ln>
        </p:spPr>
        <p:txBody>
          <a:bodyPr wrap="square" lIns="0" tIns="0" rIns="0" bIns="0" anchor="ctr">
            <a:normAutofit/>
          </a:bodyPr>
          <a:lstStyle/>
          <a:p>
            <a:pPr algn="l">
              <a:defRPr sz="1800" b="1" i="0">
                <a:solidFill>
                  <a:srgbClr val="4E705D"/>
                </a:solidFill>
                <a:latin typeface="Helvetica Neue"/>
                <a:ea typeface="Helvetica Neue"/>
                <a:cs typeface="Helvetica Neue"/>
              </a:defRPr>
            </a:pPr>
            <a:r>
              <a:rPr sz="1800" b="1" i="0">
                <a:solidFill>
                  <a:srgbClr val="4E705D"/>
                </a:solidFill>
                <a:latin typeface="Helvetica Neue"/>
                <a:ea typeface="Helvetica Neue"/>
                <a:cs typeface="Helvetica Neue"/>
              </a:rPr>
              <a:t>REPEAT</a:t>
            </a:r>
          </a:p>
        </p:txBody>
      </p:sp>
      <p:sp>
        <p:nvSpPr>
          <p:cNvPr id="69" name="Rectangle 68">
            <a:extLst>
              <a:ext uri="{FF2B5EF4-FFF2-40B4-BE49-F238E27FC236}">
                <a16:creationId xmlns:a16="http://schemas.microsoft.com/office/drawing/2014/main" id="{23A0F969-AE11-4981-8629-0F21E50F7F00}"/>
              </a:ext>
            </a:extLst>
          </p:cNvPr>
          <p:cNvSpPr>
            <a:spLocks noGrp="1"/>
          </p:cNvSpPr>
          <p:nvPr/>
        </p:nvSpPr>
        <p:spPr>
          <a:xfrm>
            <a:off x="714375" y="4476750"/>
            <a:ext cx="5810250" cy="495300"/>
          </a:xfrm>
          <a:prstGeom prst="rect">
            <a:avLst/>
          </a:prstGeom>
          <a:noFill/>
          <a:ln w="0">
            <a:noFill/>
            <a:prstDash val="solid"/>
          </a:ln>
        </p:spPr>
        <p:txBody>
          <a:bodyPr wrap="square" lIns="0" tIns="0" rIns="0" bIns="0" anchor="ctr">
            <a:normAutofit/>
          </a:bodyPr>
          <a:lstStyle/>
          <a:p>
            <a:pPr algn="l">
              <a:defRPr sz="2325" b="1" i="0">
                <a:solidFill>
                  <a:srgbClr val="202224"/>
                </a:solidFill>
                <a:latin typeface="Helvetica Neue"/>
                <a:ea typeface="Helvetica Neue"/>
                <a:cs typeface="Helvetica Neue"/>
              </a:defRPr>
            </a:pPr>
            <a:r>
              <a:rPr sz="2325" b="1" i="0">
                <a:solidFill>
                  <a:srgbClr val="202224"/>
                </a:solidFill>
                <a:latin typeface="Helvetica Neue"/>
                <a:ea typeface="Helvetica Neue"/>
                <a:cs typeface="Helvetica Neue"/>
              </a:rPr>
              <a:t>Build a useful internal representation.</a:t>
            </a:r>
          </a:p>
        </p:txBody>
      </p:sp>
      <p:sp>
        <p:nvSpPr>
          <p:cNvPr id="70" name="Rectangle 69">
            <a:extLst>
              <a:ext uri="{FF2B5EF4-FFF2-40B4-BE49-F238E27FC236}">
                <a16:creationId xmlns:a16="http://schemas.microsoft.com/office/drawing/2014/main" id="{87EA1CA6-55DD-486F-A585-9CB2E72242AA}"/>
              </a:ext>
            </a:extLst>
          </p:cNvPr>
          <p:cNvSpPr>
            <a:spLocks noGrp="1"/>
          </p:cNvSpPr>
          <p:nvPr/>
        </p:nvSpPr>
        <p:spPr>
          <a:xfrm>
            <a:off x="1095375" y="5286375"/>
            <a:ext cx="4953000" cy="533400"/>
          </a:xfrm>
          <a:prstGeom prst="rect">
            <a:avLst/>
          </a:prstGeom>
          <a:noFill/>
          <a:ln w="0">
            <a:noFill/>
            <a:prstDash val="solid"/>
          </a:ln>
        </p:spPr>
        <p:txBody>
          <a:bodyPr wrap="square" lIns="0" tIns="0" rIns="0" bIns="0" anchor="ctr">
            <a:normAutofit/>
          </a:bodyPr>
          <a:lstStyle/>
          <a:p>
            <a:pPr algn="ctr">
              <a:defRPr sz="2775" b="1" i="0">
                <a:solidFill>
                  <a:srgbClr val="18324A"/>
                </a:solidFill>
                <a:latin typeface="Cambria Math"/>
                <a:ea typeface="Cambria Math"/>
                <a:cs typeface="Cambria Math"/>
              </a:defRPr>
            </a:pPr>
            <a:r>
              <a:rPr sz="2775" b="1" i="0">
                <a:solidFill>
                  <a:srgbClr val="18324A"/>
                </a:solidFill>
                <a:latin typeface="Cambria Math"/>
                <a:ea typeface="Cambria Math"/>
                <a:cs typeface="Cambria Math"/>
              </a:rPr>
              <a:t>h = σ(Wx + b)</a:t>
            </a:r>
          </a:p>
        </p:txBody>
      </p:sp>
      <p:sp>
        <p:nvSpPr>
          <p:cNvPr id="71" name="Rectangle 70">
            <a:extLst>
              <a:ext uri="{FF2B5EF4-FFF2-40B4-BE49-F238E27FC236}">
                <a16:creationId xmlns:a16="http://schemas.microsoft.com/office/drawing/2014/main" id="{3D376180-59F6-44AC-B1D7-BDB2282B9F42}"/>
              </a:ext>
            </a:extLst>
          </p:cNvPr>
          <p:cNvSpPr>
            <a:spLocks noGrp="1"/>
          </p:cNvSpPr>
          <p:nvPr/>
        </p:nvSpPr>
        <p:spPr>
          <a:xfrm>
            <a:off x="1000125" y="5857875"/>
            <a:ext cx="5238750" cy="304800"/>
          </a:xfrm>
          <a:prstGeom prst="rect">
            <a:avLst/>
          </a:prstGeom>
          <a:noFill/>
          <a:ln w="0">
            <a:noFill/>
            <a:prstDash val="solid"/>
          </a:ln>
        </p:spPr>
        <p:txBody>
          <a:bodyPr wrap="square" lIns="0" tIns="0" rIns="0" bIns="0" anchor="ctr">
            <a:normAutofit fontScale="83843"/>
          </a:bodyPr>
          <a:lstStyle/>
          <a:p>
            <a:pPr algn="ctr">
              <a:defRPr sz="1650" b="1" i="0">
                <a:solidFill>
                  <a:srgbClr val="66645F"/>
                </a:solidFill>
                <a:latin typeface="Helvetica Neue"/>
                <a:ea typeface="Helvetica Neue"/>
                <a:cs typeface="Helvetica Neue"/>
              </a:defRPr>
            </a:pPr>
            <a:r>
              <a:rPr sz="1650" b="1" i="0">
                <a:solidFill>
                  <a:srgbClr val="66645F"/>
                </a:solidFill>
                <a:latin typeface="Helvetica Neue"/>
                <a:ea typeface="Helvetica Neue"/>
                <a:cs typeface="Helvetica Neue"/>
              </a:rPr>
              <a:t>Without σ, stacked linear layers still make only one linear map.</a:t>
            </a:r>
          </a:p>
        </p:txBody>
      </p:sp>
    </p:spTree>
    <p:extLst>
      <p:ext uri="{BB962C8B-B14F-4D97-AF65-F5344CB8AC3E}">
        <p14:creationId xmlns:p14="http://schemas.microsoft.com/office/powerpoint/2010/main" val="707068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F497344B-73CA-4161-844B-45B182FA72BC}"/>
              </a:ext>
            </a:extLst>
          </p:cNvPr>
          <p:cNvSpPr>
            <a:spLocks noGrp="1"/>
          </p:cNvSpPr>
          <p:nvPr/>
        </p:nvSpPr>
        <p:spPr>
          <a:xfrm>
            <a:off x="552450" y="219075"/>
            <a:ext cx="6858000" cy="228600"/>
          </a:xfrm>
          <a:prstGeom prst="rect">
            <a:avLst/>
          </a:prstGeom>
          <a:noFill/>
          <a:ln w="0">
            <a:noFill/>
            <a:prstDash val="solid"/>
          </a:ln>
        </p:spPr>
        <p:txBody>
          <a:bodyPr wrap="square" lIns="0" tIns="0" rIns="0" bIns="0" anchor="ctr">
            <a:normAutofit/>
          </a:bodyPr>
          <a:lstStyle/>
          <a:p>
            <a:pPr algn="l">
              <a:buNone/>
              <a:defRPr sz="1125" b="1" i="0">
                <a:solidFill>
                  <a:srgbClr val="B95535"/>
                </a:solidFill>
                <a:latin typeface="Helvetica Neue"/>
                <a:ea typeface="Helvetica Neue"/>
                <a:cs typeface="Helvetica Neue"/>
              </a:defRPr>
            </a:pPr>
            <a:r>
              <a:rPr sz="1125" b="1" i="0">
                <a:solidFill>
                  <a:srgbClr val="B95535"/>
                </a:solidFill>
                <a:latin typeface="Helvetica Neue"/>
                <a:ea typeface="Helvetica Neue"/>
                <a:cs typeface="Helvetica Neue"/>
              </a:rPr>
              <a:t>MACHINE LEARNING  •  TRAINING</a:t>
            </a:r>
          </a:p>
        </p:txBody>
      </p:sp>
      <p:sp>
        <p:nvSpPr>
          <p:cNvPr id="2" name="Rectangle 1">
            <a:extLst>
              <a:ext uri="{FF2B5EF4-FFF2-40B4-BE49-F238E27FC236}">
                <a16:creationId xmlns:a16="http://schemas.microsoft.com/office/drawing/2014/main" id="{05EC52A8-977B-4440-B285-B293900C3702}"/>
              </a:ext>
            </a:extLst>
          </p:cNvPr>
          <p:cNvSpPr>
            <a:spLocks noGrp="1"/>
          </p:cNvSpPr>
          <p:nvPr/>
        </p:nvSpPr>
        <p:spPr>
          <a:xfrm>
            <a:off x="533400" y="476250"/>
            <a:ext cx="11087100" cy="552450"/>
          </a:xfrm>
          <a:prstGeom prst="rect">
            <a:avLst/>
          </a:prstGeom>
          <a:noFill/>
          <a:ln w="0">
            <a:noFill/>
            <a:prstDash val="solid"/>
          </a:ln>
        </p:spPr>
        <p:txBody>
          <a:bodyPr wrap="square" lIns="0" tIns="0" rIns="0" bIns="0" anchor="t">
            <a:normAutofit/>
          </a:bodyPr>
          <a:lstStyle/>
          <a:p>
            <a:pPr algn="l">
              <a:buNone/>
              <a:defRPr sz="3075" b="1" i="0">
                <a:solidFill>
                  <a:srgbClr val="202224"/>
                </a:solidFill>
                <a:latin typeface="Helvetica Neue"/>
                <a:ea typeface="Helvetica Neue"/>
                <a:cs typeface="Helvetica Neue"/>
              </a:defRPr>
            </a:pPr>
            <a:r>
              <a:rPr sz="3075" b="1" i="0">
                <a:solidFill>
                  <a:srgbClr val="202224"/>
                </a:solidFill>
                <a:latin typeface="Helvetica Neue"/>
                <a:ea typeface="Helvetica Neue"/>
                <a:cs typeface="Helvetica Neue"/>
              </a:rPr>
              <a:t>Training repeats predict, compare, update</a:t>
            </a:r>
          </a:p>
        </p:txBody>
      </p:sp>
      <p:sp>
        <p:nvSpPr>
          <p:cNvPr id="3" name="Rectangle 2">
            <a:extLst>
              <a:ext uri="{FF2B5EF4-FFF2-40B4-BE49-F238E27FC236}">
                <a16:creationId xmlns:a16="http://schemas.microsoft.com/office/drawing/2014/main" id="{38EED358-B650-4941-B9DE-588356C31579}"/>
              </a:ext>
            </a:extLst>
          </p:cNvPr>
          <p:cNvSpPr>
            <a:spLocks noGrp="1"/>
          </p:cNvSpPr>
          <p:nvPr/>
        </p:nvSpPr>
        <p:spPr>
          <a:xfrm>
            <a:off x="533400" y="1076325"/>
            <a:ext cx="11125200" cy="19050"/>
          </a:xfrm>
          <a:prstGeom prst="rect">
            <a:avLst/>
          </a:prstGeom>
          <a:solidFill>
            <a:srgbClr val="D4CEC2"/>
          </a:solidFill>
          <a:ln w="0">
            <a:noFill/>
            <a:prstDash val="solid"/>
          </a:ln>
        </p:spPr>
        <p:txBody>
          <a:bodyPr/>
          <a:lstStyle/>
          <a:p>
            <a:endParaRPr/>
          </a:p>
        </p:txBody>
      </p:sp>
      <p:sp>
        <p:nvSpPr>
          <p:cNvPr id="4" name="Rectangle 3">
            <a:extLst>
              <a:ext uri="{FF2B5EF4-FFF2-40B4-BE49-F238E27FC236}">
                <a16:creationId xmlns:a16="http://schemas.microsoft.com/office/drawing/2014/main" id="{D33D7C5F-95F5-433B-A64D-715B25AEFF01}"/>
              </a:ext>
            </a:extLst>
          </p:cNvPr>
          <p:cNvSpPr>
            <a:spLocks noGrp="1"/>
          </p:cNvSpPr>
          <p:nvPr/>
        </p:nvSpPr>
        <p:spPr>
          <a:xfrm>
            <a:off x="11144250" y="228600"/>
            <a:ext cx="495300" cy="219075"/>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05</a:t>
            </a:r>
          </a:p>
        </p:txBody>
      </p:sp>
      <p:sp>
        <p:nvSpPr>
          <p:cNvPr id="5" name="Rectangle 4">
            <a:extLst>
              <a:ext uri="{FF2B5EF4-FFF2-40B4-BE49-F238E27FC236}">
                <a16:creationId xmlns:a16="http://schemas.microsoft.com/office/drawing/2014/main" id="{EEECA30B-C26B-4378-A848-28ADAC2CBA6E}"/>
              </a:ext>
            </a:extLst>
          </p:cNvPr>
          <p:cNvSpPr>
            <a:spLocks noGrp="1"/>
          </p:cNvSpPr>
          <p:nvPr/>
        </p:nvSpPr>
        <p:spPr>
          <a:xfrm>
            <a:off x="533400" y="6543675"/>
            <a:ext cx="5810250" cy="161925"/>
          </a:xfrm>
          <a:prstGeom prst="rect">
            <a:avLst/>
          </a:prstGeom>
          <a:noFill/>
          <a:ln w="0">
            <a:noFill/>
            <a:prstDash val="solid"/>
          </a:ln>
        </p:spPr>
        <p:txBody>
          <a:bodyPr wrap="square" lIns="0" tIns="0" rIns="0" bIns="0" anchor="ctr">
            <a:normAutofit/>
          </a:bodyPr>
          <a:lstStyle/>
          <a:p>
            <a:pPr algn="l">
              <a:buNone/>
              <a:defRPr sz="863" b="0" i="0">
                <a:solidFill>
                  <a:srgbClr val="66645F"/>
                </a:solidFill>
                <a:latin typeface="Helvetica Neue"/>
                <a:ea typeface="Helvetica Neue"/>
                <a:cs typeface="Helvetica Neue"/>
              </a:defRPr>
            </a:pPr>
            <a:r>
              <a:rPr sz="863" b="0" i="0">
                <a:solidFill>
                  <a:srgbClr val="66645F"/>
                </a:solidFill>
                <a:latin typeface="Helvetica Neue"/>
                <a:ea typeface="Helvetica Neue"/>
                <a:cs typeface="Helvetica Neue"/>
              </a:rPr>
              <a:t>ICTS 2026  •  Machine learning → transformers</a:t>
            </a:r>
          </a:p>
        </p:txBody>
      </p:sp>
      <p:sp>
        <p:nvSpPr>
          <p:cNvPr id="52" name="Rectangle 51">
            <a:extLst>
              <a:ext uri="{FF2B5EF4-FFF2-40B4-BE49-F238E27FC236}">
                <a16:creationId xmlns:a16="http://schemas.microsoft.com/office/drawing/2014/main" id="{CD733B5A-8141-402C-B515-7A75B249C96E}"/>
              </a:ext>
            </a:extLst>
          </p:cNvPr>
          <p:cNvSpPr>
            <a:spLocks noGrp="1"/>
          </p:cNvSpPr>
          <p:nvPr/>
        </p:nvSpPr>
        <p:spPr>
          <a:xfrm>
            <a:off x="666750" y="1428750"/>
            <a:ext cx="10287000" cy="476250"/>
          </a:xfrm>
          <a:prstGeom prst="rect">
            <a:avLst/>
          </a:prstGeom>
          <a:noFill/>
          <a:ln w="0">
            <a:noFill/>
            <a:prstDash val="solid"/>
          </a:ln>
        </p:spPr>
        <p:txBody>
          <a:bodyPr wrap="square" lIns="0" tIns="0" rIns="0" bIns="0" anchor="ctr">
            <a:normAutofit/>
          </a:bodyPr>
          <a:lstStyle/>
          <a:p>
            <a:pPr algn="l">
              <a:defRPr sz="2325" b="1" i="0">
                <a:solidFill>
                  <a:srgbClr val="18324A"/>
                </a:solidFill>
                <a:latin typeface="Helvetica Neue"/>
                <a:ea typeface="Helvetica Neue"/>
                <a:cs typeface="Helvetica Neue"/>
              </a:defRPr>
            </a:pPr>
            <a:r>
              <a:rPr sz="2325" b="1" i="0">
                <a:solidFill>
                  <a:srgbClr val="18324A"/>
                </a:solidFill>
                <a:latin typeface="Helvetica Neue"/>
                <a:ea typeface="Helvetica Neue"/>
                <a:cs typeface="Helvetica Neue"/>
              </a:rPr>
              <a:t>Minibatches pass through this loop repeatedly.</a:t>
            </a:r>
          </a:p>
        </p:txBody>
      </p:sp>
      <p:sp>
        <p:nvSpPr>
          <p:cNvPr id="53" name="Rectangle 52">
            <a:extLst>
              <a:ext uri="{FF2B5EF4-FFF2-40B4-BE49-F238E27FC236}">
                <a16:creationId xmlns:a16="http://schemas.microsoft.com/office/drawing/2014/main" id="{840BBFCC-BD72-4589-A26D-F8935B064D6C}"/>
              </a:ext>
            </a:extLst>
          </p:cNvPr>
          <p:cNvSpPr>
            <a:spLocks noGrp="1"/>
          </p:cNvSpPr>
          <p:nvPr/>
        </p:nvSpPr>
        <p:spPr>
          <a:xfrm>
            <a:off x="1000125" y="2000250"/>
            <a:ext cx="3619500" cy="304800"/>
          </a:xfrm>
          <a:prstGeom prst="rect">
            <a:avLst/>
          </a:prstGeom>
          <a:noFill/>
          <a:ln w="0">
            <a:noFill/>
            <a:prstDash val="solid"/>
          </a:ln>
        </p:spPr>
        <p:txBody>
          <a:bodyPr wrap="square" lIns="0" tIns="0" rIns="0" bIns="0" anchor="ctr">
            <a:normAutofit/>
          </a:bodyPr>
          <a:lstStyle/>
          <a:p>
            <a:pPr algn="l">
              <a:defRPr sz="1800" b="1" i="0">
                <a:solidFill>
                  <a:srgbClr val="66645F"/>
                </a:solidFill>
                <a:latin typeface="Helvetica Neue"/>
                <a:ea typeface="Helvetica Neue"/>
                <a:cs typeface="Helvetica Neue"/>
              </a:defRPr>
            </a:pPr>
            <a:r>
              <a:rPr sz="1800" b="1" i="0">
                <a:solidFill>
                  <a:srgbClr val="66645F"/>
                </a:solidFill>
                <a:latin typeface="Helvetica Neue"/>
                <a:ea typeface="Helvetica Neue"/>
                <a:cs typeface="Helvetica Neue"/>
              </a:rPr>
              <a:t>logits = one score per class</a:t>
            </a:r>
          </a:p>
        </p:txBody>
      </p:sp>
      <p:sp>
        <p:nvSpPr>
          <p:cNvPr id="54" name="Straight Connector 53">
            <a:extLst>
              <a:ext uri="{FF2B5EF4-FFF2-40B4-BE49-F238E27FC236}">
                <a16:creationId xmlns:a16="http://schemas.microsoft.com/office/drawing/2014/main" id="{F90607F3-66C0-4878-A135-927457F7B3DE}"/>
              </a:ext>
            </a:extLst>
          </p:cNvPr>
          <p:cNvSpPr>
            <a:spLocks noGrp="1"/>
          </p:cNvSpPr>
          <p:nvPr/>
        </p:nvSpPr>
        <p:spPr>
          <a:xfrm>
            <a:off x="3333750" y="3143250"/>
            <a:ext cx="1152525" cy="9525"/>
          </a:xfrm>
          <a:prstGeom prst="line">
            <a:avLst/>
          </a:prstGeom>
          <a:noFill/>
          <a:ln w="28575">
            <a:solidFill>
              <a:srgbClr val="2D617F"/>
            </a:solidFill>
            <a:prstDash val="solid"/>
          </a:ln>
        </p:spPr>
        <p:txBody>
          <a:bodyPr/>
          <a:lstStyle/>
          <a:p>
            <a:endParaRPr lang="en-US"/>
          </a:p>
        </p:txBody>
      </p:sp>
      <p:sp>
        <p:nvSpPr>
          <p:cNvPr id="55" name="Triangle 54">
            <a:extLst>
              <a:ext uri="{FF2B5EF4-FFF2-40B4-BE49-F238E27FC236}">
                <a16:creationId xmlns:a16="http://schemas.microsoft.com/office/drawing/2014/main" id="{8F695C99-95BD-4284-A5EA-ECD2FAA6AAA2}"/>
              </a:ext>
            </a:extLst>
          </p:cNvPr>
          <p:cNvSpPr>
            <a:spLocks noGrp="1"/>
          </p:cNvSpPr>
          <p:nvPr/>
        </p:nvSpPr>
        <p:spPr>
          <a:xfrm rot="5400000">
            <a:off x="4524375" y="3048000"/>
            <a:ext cx="190500" cy="190500"/>
          </a:xfrm>
          <a:prstGeom prst="triangle">
            <a:avLst/>
          </a:prstGeom>
          <a:solidFill>
            <a:srgbClr val="2D617F"/>
          </a:solidFill>
          <a:ln w="0">
            <a:noFill/>
            <a:prstDash val="solid"/>
          </a:ln>
        </p:spPr>
        <p:txBody>
          <a:bodyPr/>
          <a:lstStyle/>
          <a:p>
            <a:endParaRPr lang="en-US"/>
          </a:p>
        </p:txBody>
      </p:sp>
      <p:sp>
        <p:nvSpPr>
          <p:cNvPr id="56" name="Straight Connector 55">
            <a:extLst>
              <a:ext uri="{FF2B5EF4-FFF2-40B4-BE49-F238E27FC236}">
                <a16:creationId xmlns:a16="http://schemas.microsoft.com/office/drawing/2014/main" id="{2044CB20-C59A-4C14-A48A-BE3F4BF20FA9}"/>
              </a:ext>
            </a:extLst>
          </p:cNvPr>
          <p:cNvSpPr>
            <a:spLocks noGrp="1"/>
          </p:cNvSpPr>
          <p:nvPr/>
        </p:nvSpPr>
        <p:spPr>
          <a:xfrm>
            <a:off x="7143750" y="3143250"/>
            <a:ext cx="1152525" cy="9525"/>
          </a:xfrm>
          <a:prstGeom prst="line">
            <a:avLst/>
          </a:prstGeom>
          <a:noFill/>
          <a:ln w="28575">
            <a:solidFill>
              <a:srgbClr val="B95535"/>
            </a:solidFill>
            <a:prstDash val="solid"/>
          </a:ln>
        </p:spPr>
        <p:txBody>
          <a:bodyPr/>
          <a:lstStyle/>
          <a:p>
            <a:endParaRPr lang="en-US"/>
          </a:p>
        </p:txBody>
      </p:sp>
      <p:sp>
        <p:nvSpPr>
          <p:cNvPr id="57" name="Triangle 56">
            <a:extLst>
              <a:ext uri="{FF2B5EF4-FFF2-40B4-BE49-F238E27FC236}">
                <a16:creationId xmlns:a16="http://schemas.microsoft.com/office/drawing/2014/main" id="{7C4B6A3E-34EF-4128-99E0-DC245DF0B8C3}"/>
              </a:ext>
            </a:extLst>
          </p:cNvPr>
          <p:cNvSpPr>
            <a:spLocks noGrp="1"/>
          </p:cNvSpPr>
          <p:nvPr/>
        </p:nvSpPr>
        <p:spPr>
          <a:xfrm rot="5400000">
            <a:off x="8334375" y="3048000"/>
            <a:ext cx="190500" cy="190500"/>
          </a:xfrm>
          <a:prstGeom prst="triangle">
            <a:avLst/>
          </a:prstGeom>
          <a:solidFill>
            <a:srgbClr val="B95535"/>
          </a:solidFill>
          <a:ln w="0">
            <a:noFill/>
            <a:prstDash val="solid"/>
          </a:ln>
        </p:spPr>
        <p:txBody>
          <a:bodyPr/>
          <a:lstStyle/>
          <a:p>
            <a:endParaRPr lang="en-US"/>
          </a:p>
        </p:txBody>
      </p:sp>
      <p:sp>
        <p:nvSpPr>
          <p:cNvPr id="58" name="Straight Connector 57">
            <a:extLst>
              <a:ext uri="{FF2B5EF4-FFF2-40B4-BE49-F238E27FC236}">
                <a16:creationId xmlns:a16="http://schemas.microsoft.com/office/drawing/2014/main" id="{A5F8A04B-3A10-4987-9281-581D74182B01}"/>
              </a:ext>
            </a:extLst>
          </p:cNvPr>
          <p:cNvSpPr>
            <a:spLocks noGrp="1"/>
          </p:cNvSpPr>
          <p:nvPr/>
        </p:nvSpPr>
        <p:spPr>
          <a:xfrm>
            <a:off x="2657475" y="4381500"/>
            <a:ext cx="6534150" cy="9525"/>
          </a:xfrm>
          <a:prstGeom prst="line">
            <a:avLst/>
          </a:prstGeom>
          <a:noFill/>
          <a:ln w="28575">
            <a:solidFill>
              <a:srgbClr val="4E705D"/>
            </a:solidFill>
            <a:prstDash val="solid"/>
          </a:ln>
        </p:spPr>
        <p:txBody>
          <a:bodyPr/>
          <a:lstStyle/>
          <a:p>
            <a:endParaRPr lang="en-US"/>
          </a:p>
        </p:txBody>
      </p:sp>
      <p:sp>
        <p:nvSpPr>
          <p:cNvPr id="59" name="Triangle 58">
            <a:extLst>
              <a:ext uri="{FF2B5EF4-FFF2-40B4-BE49-F238E27FC236}">
                <a16:creationId xmlns:a16="http://schemas.microsoft.com/office/drawing/2014/main" id="{1D4FD8D2-80B4-46F1-9835-70D3EDC276BF}"/>
              </a:ext>
            </a:extLst>
          </p:cNvPr>
          <p:cNvSpPr>
            <a:spLocks noGrp="1"/>
          </p:cNvSpPr>
          <p:nvPr/>
        </p:nvSpPr>
        <p:spPr>
          <a:xfrm rot="16200000">
            <a:off x="2428875" y="4286250"/>
            <a:ext cx="190500" cy="190500"/>
          </a:xfrm>
          <a:prstGeom prst="triangle">
            <a:avLst/>
          </a:prstGeom>
          <a:solidFill>
            <a:srgbClr val="4E705D"/>
          </a:solidFill>
          <a:ln w="0">
            <a:noFill/>
            <a:prstDash val="solid"/>
          </a:ln>
        </p:spPr>
        <p:txBody>
          <a:bodyPr/>
          <a:lstStyle/>
          <a:p>
            <a:endParaRPr lang="en-US"/>
          </a:p>
        </p:txBody>
      </p:sp>
      <p:sp>
        <p:nvSpPr>
          <p:cNvPr id="60" name="Rounded Rectangle 59">
            <a:extLst>
              <a:ext uri="{FF2B5EF4-FFF2-40B4-BE49-F238E27FC236}">
                <a16:creationId xmlns:a16="http://schemas.microsoft.com/office/drawing/2014/main" id="{EDF2815C-9C62-4844-ACF3-2E5E6BE98598}"/>
              </a:ext>
            </a:extLst>
          </p:cNvPr>
          <p:cNvSpPr>
            <a:spLocks noGrp="1"/>
          </p:cNvSpPr>
          <p:nvPr/>
        </p:nvSpPr>
        <p:spPr>
          <a:xfrm>
            <a:off x="1000125" y="2476500"/>
            <a:ext cx="2333625" cy="1333500"/>
          </a:xfrm>
          <a:prstGeom prst="roundRect">
            <a:avLst>
              <a:gd name="adj" fmla="val 8571"/>
            </a:avLst>
          </a:prstGeom>
          <a:solidFill>
            <a:srgbClr val="DCE6ED"/>
          </a:solidFill>
          <a:ln w="14288">
            <a:solidFill>
              <a:srgbClr val="2D617F"/>
            </a:solidFill>
            <a:prstDash val="solid"/>
          </a:ln>
        </p:spPr>
        <p:txBody>
          <a:bodyPr wrap="square" lIns="114300" tIns="95250" rIns="114300" bIns="95250" anchor="ctr">
            <a:normAutofit/>
          </a:bodyPr>
          <a:lstStyle/>
          <a:p>
            <a:pPr algn="ctr">
              <a:defRPr sz="2025" b="1">
                <a:solidFill>
                  <a:srgbClr val="2D617F"/>
                </a:solidFill>
                <a:latin typeface="Helvetica Neue"/>
                <a:ea typeface="Helvetica Neue"/>
                <a:cs typeface="Helvetica Neue"/>
              </a:defRPr>
            </a:pPr>
            <a:r>
              <a:rPr sz="2025" b="1">
                <a:solidFill>
                  <a:srgbClr val="2D617F"/>
                </a:solidFill>
                <a:latin typeface="Helvetica Neue"/>
                <a:ea typeface="Helvetica Neue"/>
                <a:cs typeface="Helvetica Neue"/>
              </a:rPr>
              <a:t>1</a:t>
            </a:r>
          </a:p>
          <a:p>
            <a:pPr algn="ctr">
              <a:defRPr sz="2025" b="1">
                <a:solidFill>
                  <a:srgbClr val="2D617F"/>
                </a:solidFill>
                <a:latin typeface="Helvetica Neue"/>
                <a:ea typeface="Helvetica Neue"/>
                <a:cs typeface="Helvetica Neue"/>
              </a:defRPr>
            </a:pPr>
            <a:r>
              <a:rPr sz="2025" b="1">
                <a:solidFill>
                  <a:srgbClr val="2D617F"/>
                </a:solidFill>
                <a:latin typeface="Helvetica Neue"/>
                <a:ea typeface="Helvetica Neue"/>
                <a:cs typeface="Helvetica Neue"/>
              </a:rPr>
              <a:t>PREDICT</a:t>
            </a:r>
          </a:p>
          <a:p>
            <a:pPr algn="ctr">
              <a:defRPr sz="2025" b="1">
                <a:solidFill>
                  <a:srgbClr val="2D617F"/>
                </a:solidFill>
                <a:latin typeface="Helvetica Neue"/>
                <a:ea typeface="Helvetica Neue"/>
                <a:cs typeface="Helvetica Neue"/>
              </a:defRPr>
            </a:pPr>
            <a:r>
              <a:rPr sz="2025" b="1">
                <a:solidFill>
                  <a:srgbClr val="2D617F"/>
                </a:solidFill>
                <a:latin typeface="Helvetica Neue"/>
                <a:ea typeface="Helvetica Neue"/>
                <a:cs typeface="Helvetica Neue"/>
              </a:rPr>
              <a:t>logits</a:t>
            </a:r>
          </a:p>
        </p:txBody>
      </p:sp>
      <p:sp>
        <p:nvSpPr>
          <p:cNvPr id="61" name="Rounded Rectangle 60">
            <a:extLst>
              <a:ext uri="{FF2B5EF4-FFF2-40B4-BE49-F238E27FC236}">
                <a16:creationId xmlns:a16="http://schemas.microsoft.com/office/drawing/2014/main" id="{5656A45E-BF91-4615-AEF8-5BDFE0521085}"/>
              </a:ext>
            </a:extLst>
          </p:cNvPr>
          <p:cNvSpPr>
            <a:spLocks noGrp="1"/>
          </p:cNvSpPr>
          <p:nvPr/>
        </p:nvSpPr>
        <p:spPr>
          <a:xfrm>
            <a:off x="4619625" y="2476500"/>
            <a:ext cx="2524125" cy="1333500"/>
          </a:xfrm>
          <a:prstGeom prst="roundRect">
            <a:avLst>
              <a:gd name="adj" fmla="val 8571"/>
            </a:avLst>
          </a:prstGeom>
          <a:solidFill>
            <a:srgbClr val="EED8CE"/>
          </a:solidFill>
          <a:ln w="14288">
            <a:solidFill>
              <a:srgbClr val="B95535"/>
            </a:solidFill>
            <a:prstDash val="solid"/>
          </a:ln>
        </p:spPr>
        <p:txBody>
          <a:bodyPr wrap="square" lIns="114300" tIns="95250" rIns="114300" bIns="95250" anchor="ctr">
            <a:normAutofit/>
          </a:bodyPr>
          <a:lstStyle/>
          <a:p>
            <a:pPr algn="ctr">
              <a:defRPr sz="2025" b="1">
                <a:solidFill>
                  <a:srgbClr val="B95535"/>
                </a:solidFill>
                <a:latin typeface="Helvetica Neue"/>
                <a:ea typeface="Helvetica Neue"/>
                <a:cs typeface="Helvetica Neue"/>
              </a:defRPr>
            </a:pPr>
            <a:r>
              <a:rPr sz="2025" b="1">
                <a:solidFill>
                  <a:srgbClr val="B95535"/>
                </a:solidFill>
                <a:latin typeface="Helvetica Neue"/>
                <a:ea typeface="Helvetica Neue"/>
                <a:cs typeface="Helvetica Neue"/>
              </a:rPr>
              <a:t>2</a:t>
            </a:r>
          </a:p>
          <a:p>
            <a:pPr algn="ctr">
              <a:defRPr sz="2025" b="1">
                <a:solidFill>
                  <a:srgbClr val="B95535"/>
                </a:solidFill>
                <a:latin typeface="Helvetica Neue"/>
                <a:ea typeface="Helvetica Neue"/>
                <a:cs typeface="Helvetica Neue"/>
              </a:defRPr>
            </a:pPr>
            <a:r>
              <a:rPr sz="2025" b="1">
                <a:solidFill>
                  <a:srgbClr val="B95535"/>
                </a:solidFill>
                <a:latin typeface="Helvetica Neue"/>
                <a:ea typeface="Helvetica Neue"/>
                <a:cs typeface="Helvetica Neue"/>
              </a:rPr>
              <a:t>COMPARE</a:t>
            </a:r>
          </a:p>
          <a:p>
            <a:pPr algn="ctr">
              <a:defRPr sz="2025" b="1">
                <a:solidFill>
                  <a:srgbClr val="B95535"/>
                </a:solidFill>
                <a:latin typeface="Helvetica Neue"/>
                <a:ea typeface="Helvetica Neue"/>
                <a:cs typeface="Helvetica Neue"/>
              </a:defRPr>
            </a:pPr>
            <a:r>
              <a:rPr sz="2025" b="1">
                <a:solidFill>
                  <a:srgbClr val="B95535"/>
                </a:solidFill>
                <a:latin typeface="Helvetica Neue"/>
                <a:ea typeface="Helvetica Neue"/>
                <a:cs typeface="Helvetica Neue"/>
              </a:rPr>
              <a:t>with targets</a:t>
            </a:r>
          </a:p>
        </p:txBody>
      </p:sp>
      <p:sp>
        <p:nvSpPr>
          <p:cNvPr id="62" name="Rounded Rectangle 61">
            <a:extLst>
              <a:ext uri="{FF2B5EF4-FFF2-40B4-BE49-F238E27FC236}">
                <a16:creationId xmlns:a16="http://schemas.microsoft.com/office/drawing/2014/main" id="{12939447-2DD7-4DE4-B903-9A0B4DF79D51}"/>
              </a:ext>
            </a:extLst>
          </p:cNvPr>
          <p:cNvSpPr>
            <a:spLocks noGrp="1"/>
          </p:cNvSpPr>
          <p:nvPr/>
        </p:nvSpPr>
        <p:spPr>
          <a:xfrm>
            <a:off x="8429625" y="2476500"/>
            <a:ext cx="2524125" cy="1333500"/>
          </a:xfrm>
          <a:prstGeom prst="roundRect">
            <a:avLst>
              <a:gd name="adj" fmla="val 8571"/>
            </a:avLst>
          </a:prstGeom>
          <a:solidFill>
            <a:srgbClr val="DDE7DF"/>
          </a:solidFill>
          <a:ln w="14288">
            <a:solidFill>
              <a:srgbClr val="4E705D"/>
            </a:solidFill>
            <a:prstDash val="solid"/>
          </a:ln>
        </p:spPr>
        <p:txBody>
          <a:bodyPr wrap="square" lIns="114300" tIns="95250" rIns="114300" bIns="95250" anchor="ctr">
            <a:normAutofit/>
          </a:bodyPr>
          <a:lstStyle/>
          <a:p>
            <a:pPr algn="ctr">
              <a:defRPr sz="2025" b="1">
                <a:solidFill>
                  <a:srgbClr val="4E705D"/>
                </a:solidFill>
                <a:latin typeface="Helvetica Neue"/>
                <a:ea typeface="Helvetica Neue"/>
                <a:cs typeface="Helvetica Neue"/>
              </a:defRPr>
            </a:pPr>
            <a:r>
              <a:rPr sz="2025" b="1">
                <a:solidFill>
                  <a:srgbClr val="4E705D"/>
                </a:solidFill>
                <a:latin typeface="Helvetica Neue"/>
                <a:ea typeface="Helvetica Neue"/>
                <a:cs typeface="Helvetica Neue"/>
              </a:rPr>
              <a:t>3</a:t>
            </a:r>
          </a:p>
          <a:p>
            <a:pPr algn="ctr">
              <a:defRPr sz="2025" b="1">
                <a:solidFill>
                  <a:srgbClr val="4E705D"/>
                </a:solidFill>
                <a:latin typeface="Helvetica Neue"/>
                <a:ea typeface="Helvetica Neue"/>
                <a:cs typeface="Helvetica Neue"/>
              </a:defRPr>
            </a:pPr>
            <a:r>
              <a:rPr sz="2025" b="1">
                <a:solidFill>
                  <a:srgbClr val="4E705D"/>
                </a:solidFill>
                <a:latin typeface="Helvetica Neue"/>
                <a:ea typeface="Helvetica Neue"/>
                <a:cs typeface="Helvetica Neue"/>
              </a:rPr>
              <a:t>UPDATE</a:t>
            </a:r>
          </a:p>
          <a:p>
            <a:pPr algn="ctr">
              <a:defRPr sz="2025" b="1">
                <a:solidFill>
                  <a:srgbClr val="4E705D"/>
                </a:solidFill>
                <a:latin typeface="Helvetica Neue"/>
                <a:ea typeface="Helvetica Neue"/>
                <a:cs typeface="Helvetica Neue"/>
              </a:defRPr>
            </a:pPr>
            <a:r>
              <a:rPr sz="2025" b="1">
                <a:solidFill>
                  <a:srgbClr val="4E705D"/>
                </a:solidFill>
                <a:latin typeface="Helvetica Neue"/>
                <a:ea typeface="Helvetica Neue"/>
                <a:cs typeface="Helvetica Neue"/>
              </a:rPr>
              <a:t>parameters</a:t>
            </a:r>
          </a:p>
        </p:txBody>
      </p:sp>
      <p:sp>
        <p:nvSpPr>
          <p:cNvPr id="63" name="Rectangle 62">
            <a:extLst>
              <a:ext uri="{FF2B5EF4-FFF2-40B4-BE49-F238E27FC236}">
                <a16:creationId xmlns:a16="http://schemas.microsoft.com/office/drawing/2014/main" id="{16F52175-476F-4657-818F-281653FE6313}"/>
              </a:ext>
            </a:extLst>
          </p:cNvPr>
          <p:cNvSpPr>
            <a:spLocks noGrp="1"/>
          </p:cNvSpPr>
          <p:nvPr/>
        </p:nvSpPr>
        <p:spPr>
          <a:xfrm>
            <a:off x="3714750" y="3952875"/>
            <a:ext cx="4762500" cy="304800"/>
          </a:xfrm>
          <a:prstGeom prst="rect">
            <a:avLst/>
          </a:prstGeom>
          <a:noFill/>
          <a:ln w="0">
            <a:noFill/>
            <a:prstDash val="solid"/>
          </a:ln>
        </p:spPr>
        <p:txBody>
          <a:bodyPr wrap="square" lIns="0" tIns="0" rIns="0" bIns="0" anchor="ctr">
            <a:normAutofit/>
          </a:bodyPr>
          <a:lstStyle/>
          <a:p>
            <a:pPr algn="ctr">
              <a:defRPr sz="1650" b="1" i="0">
                <a:solidFill>
                  <a:srgbClr val="4E705D"/>
                </a:solidFill>
                <a:latin typeface="Helvetica Neue"/>
                <a:ea typeface="Helvetica Neue"/>
                <a:cs typeface="Helvetica Neue"/>
              </a:defRPr>
            </a:pPr>
            <a:r>
              <a:rPr sz="1650" b="1" i="0">
                <a:solidFill>
                  <a:srgbClr val="4E705D"/>
                </a:solidFill>
                <a:latin typeface="Helvetica Neue"/>
                <a:ea typeface="Helvetica Neue"/>
                <a:cs typeface="Helvetica Neue"/>
              </a:rPr>
              <a:t>repeat with the next minibatch</a:t>
            </a:r>
          </a:p>
        </p:txBody>
      </p:sp>
      <p:sp>
        <p:nvSpPr>
          <p:cNvPr id="64" name="Rectangle 63">
            <a:extLst>
              <a:ext uri="{FF2B5EF4-FFF2-40B4-BE49-F238E27FC236}">
                <a16:creationId xmlns:a16="http://schemas.microsoft.com/office/drawing/2014/main" id="{B8C70541-D628-4946-94D5-5DF89C410AF3}"/>
              </a:ext>
            </a:extLst>
          </p:cNvPr>
          <p:cNvSpPr>
            <a:spLocks noGrp="1"/>
          </p:cNvSpPr>
          <p:nvPr/>
        </p:nvSpPr>
        <p:spPr>
          <a:xfrm>
            <a:off x="2190750" y="4857750"/>
            <a:ext cx="7810500" cy="533400"/>
          </a:xfrm>
          <a:prstGeom prst="rect">
            <a:avLst/>
          </a:prstGeom>
          <a:noFill/>
          <a:ln w="0">
            <a:noFill/>
            <a:prstDash val="solid"/>
          </a:ln>
        </p:spPr>
        <p:txBody>
          <a:bodyPr wrap="square" lIns="0" tIns="0" rIns="0" bIns="0" anchor="ctr">
            <a:normAutofit/>
          </a:bodyPr>
          <a:lstStyle/>
          <a:p>
            <a:pPr algn="ctr">
              <a:defRPr sz="2250" b="1" i="0">
                <a:solidFill>
                  <a:srgbClr val="18324A"/>
                </a:solidFill>
                <a:latin typeface="Helvetica Neue"/>
                <a:ea typeface="Helvetica Neue"/>
                <a:cs typeface="Helvetica Neue"/>
              </a:defRPr>
            </a:pPr>
            <a:r>
              <a:rPr sz="2250" b="1" i="0">
                <a:solidFill>
                  <a:srgbClr val="18324A"/>
                </a:solidFill>
                <a:latin typeface="Helvetica Neue"/>
                <a:ea typeface="Helvetica Neue"/>
                <a:cs typeface="Helvetica Neue"/>
              </a:rPr>
              <a:t>classification loss = cross-entropy(logits, target)</a:t>
            </a:r>
          </a:p>
        </p:txBody>
      </p:sp>
      <p:sp>
        <p:nvSpPr>
          <p:cNvPr id="65" name="Rounded Rectangle 64">
            <a:extLst>
              <a:ext uri="{FF2B5EF4-FFF2-40B4-BE49-F238E27FC236}">
                <a16:creationId xmlns:a16="http://schemas.microsoft.com/office/drawing/2014/main" id="{6132506C-E299-42FB-AF3A-E0F7CEB39640}"/>
              </a:ext>
            </a:extLst>
          </p:cNvPr>
          <p:cNvSpPr>
            <a:spLocks noGrp="1"/>
          </p:cNvSpPr>
          <p:nvPr/>
        </p:nvSpPr>
        <p:spPr>
          <a:xfrm>
            <a:off x="2905125" y="5619750"/>
            <a:ext cx="6381750" cy="514350"/>
          </a:xfrm>
          <a:prstGeom prst="roundRect">
            <a:avLst>
              <a:gd name="adj" fmla="val 22222"/>
            </a:avLst>
          </a:prstGeom>
          <a:solidFill>
            <a:srgbClr val="ECE1C8"/>
          </a:solidFill>
          <a:ln w="14288">
            <a:solidFill>
              <a:srgbClr val="B58A35"/>
            </a:solidFill>
            <a:prstDash val="solid"/>
          </a:ln>
        </p:spPr>
        <p:txBody>
          <a:bodyPr wrap="square" lIns="114300" tIns="95250" rIns="114300" bIns="95250" anchor="ctr">
            <a:normAutofit fontScale="79202"/>
          </a:bodyPr>
          <a:lstStyle/>
          <a:p>
            <a:pPr algn="ctr">
              <a:defRPr sz="1875" b="0">
                <a:solidFill>
                  <a:srgbClr val="202224"/>
                </a:solidFill>
                <a:latin typeface="Helvetica Neue"/>
                <a:ea typeface="Helvetica Neue"/>
                <a:cs typeface="Helvetica Neue"/>
              </a:defRPr>
            </a:pPr>
            <a:r>
              <a:rPr sz="1875" b="0">
                <a:solidFill>
                  <a:srgbClr val="202224"/>
                </a:solidFill>
                <a:latin typeface="Helvetica Neue"/>
                <a:ea typeface="Helvetica Neue"/>
                <a:cs typeface="Helvetica Neue"/>
              </a:rPr>
              <a:t>Backpropagation computes gradients. The optimizer applies the update.</a:t>
            </a:r>
          </a:p>
        </p:txBody>
      </p:sp>
    </p:spTree>
    <p:extLst>
      <p:ext uri="{BB962C8B-B14F-4D97-AF65-F5344CB8AC3E}">
        <p14:creationId xmlns:p14="http://schemas.microsoft.com/office/powerpoint/2010/main" val="733256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C51F6EA3-6853-4E6C-8A3A-B415D2D42007}"/>
              </a:ext>
            </a:extLst>
          </p:cNvPr>
          <p:cNvSpPr>
            <a:spLocks noGrp="1"/>
          </p:cNvSpPr>
          <p:nvPr/>
        </p:nvSpPr>
        <p:spPr>
          <a:xfrm>
            <a:off x="552450" y="219075"/>
            <a:ext cx="6858000" cy="228600"/>
          </a:xfrm>
          <a:prstGeom prst="rect">
            <a:avLst/>
          </a:prstGeom>
          <a:noFill/>
          <a:ln w="0">
            <a:noFill/>
            <a:prstDash val="solid"/>
          </a:ln>
        </p:spPr>
        <p:txBody>
          <a:bodyPr wrap="square" lIns="0" tIns="0" rIns="0" bIns="0" anchor="ctr">
            <a:normAutofit/>
          </a:bodyPr>
          <a:lstStyle/>
          <a:p>
            <a:pPr algn="l">
              <a:buNone/>
              <a:defRPr sz="1125" b="1" i="0">
                <a:solidFill>
                  <a:srgbClr val="B95535"/>
                </a:solidFill>
                <a:latin typeface="Helvetica Neue"/>
                <a:ea typeface="Helvetica Neue"/>
                <a:cs typeface="Helvetica Neue"/>
              </a:defRPr>
            </a:pPr>
            <a:r>
              <a:rPr sz="1125" b="1" i="0">
                <a:solidFill>
                  <a:srgbClr val="B95535"/>
                </a:solidFill>
                <a:latin typeface="Helvetica Neue"/>
                <a:ea typeface="Helvetica Neue"/>
                <a:cs typeface="Helvetica Neue"/>
              </a:rPr>
              <a:t>MACHINE LEARNING  •  GENERALIZATION</a:t>
            </a:r>
          </a:p>
        </p:txBody>
      </p:sp>
      <p:sp>
        <p:nvSpPr>
          <p:cNvPr id="2" name="Rectangle 1">
            <a:extLst>
              <a:ext uri="{FF2B5EF4-FFF2-40B4-BE49-F238E27FC236}">
                <a16:creationId xmlns:a16="http://schemas.microsoft.com/office/drawing/2014/main" id="{EA7A6510-E8C1-4295-A84C-0365E4928ED5}"/>
              </a:ext>
            </a:extLst>
          </p:cNvPr>
          <p:cNvSpPr>
            <a:spLocks noGrp="1"/>
          </p:cNvSpPr>
          <p:nvPr/>
        </p:nvSpPr>
        <p:spPr>
          <a:xfrm>
            <a:off x="533400" y="476250"/>
            <a:ext cx="11087100" cy="552450"/>
          </a:xfrm>
          <a:prstGeom prst="rect">
            <a:avLst/>
          </a:prstGeom>
          <a:noFill/>
          <a:ln w="0">
            <a:noFill/>
            <a:prstDash val="solid"/>
          </a:ln>
        </p:spPr>
        <p:txBody>
          <a:bodyPr wrap="square" lIns="0" tIns="0" rIns="0" bIns="0" anchor="t">
            <a:normAutofit/>
          </a:bodyPr>
          <a:lstStyle/>
          <a:p>
            <a:pPr algn="l">
              <a:buNone/>
              <a:defRPr sz="3525" b="1" i="0">
                <a:solidFill>
                  <a:srgbClr val="202224"/>
                </a:solidFill>
                <a:latin typeface="Helvetica Neue"/>
                <a:ea typeface="Helvetica Neue"/>
                <a:cs typeface="Helvetica Neue"/>
              </a:defRPr>
            </a:pPr>
            <a:r>
              <a:rPr sz="3525" b="1" i="0">
                <a:solidFill>
                  <a:srgbClr val="202224"/>
                </a:solidFill>
                <a:latin typeface="Helvetica Neue"/>
                <a:ea typeface="Helvetica Neue"/>
                <a:cs typeface="Helvetica Neue"/>
              </a:rPr>
              <a:t>Generalization is the real test</a:t>
            </a:r>
          </a:p>
        </p:txBody>
      </p:sp>
      <p:sp>
        <p:nvSpPr>
          <p:cNvPr id="3" name="Rectangle 2">
            <a:extLst>
              <a:ext uri="{FF2B5EF4-FFF2-40B4-BE49-F238E27FC236}">
                <a16:creationId xmlns:a16="http://schemas.microsoft.com/office/drawing/2014/main" id="{75E0C357-F276-4455-B6AC-96A8728DF052}"/>
              </a:ext>
            </a:extLst>
          </p:cNvPr>
          <p:cNvSpPr>
            <a:spLocks noGrp="1"/>
          </p:cNvSpPr>
          <p:nvPr/>
        </p:nvSpPr>
        <p:spPr>
          <a:xfrm>
            <a:off x="533400" y="1076325"/>
            <a:ext cx="11125200" cy="19050"/>
          </a:xfrm>
          <a:prstGeom prst="rect">
            <a:avLst/>
          </a:prstGeom>
          <a:solidFill>
            <a:srgbClr val="D4CEC2"/>
          </a:solidFill>
          <a:ln w="0">
            <a:noFill/>
            <a:prstDash val="solid"/>
          </a:ln>
        </p:spPr>
        <p:txBody>
          <a:bodyPr/>
          <a:lstStyle/>
          <a:p>
            <a:endParaRPr/>
          </a:p>
        </p:txBody>
      </p:sp>
      <p:sp>
        <p:nvSpPr>
          <p:cNvPr id="4" name="Rectangle 3">
            <a:extLst>
              <a:ext uri="{FF2B5EF4-FFF2-40B4-BE49-F238E27FC236}">
                <a16:creationId xmlns:a16="http://schemas.microsoft.com/office/drawing/2014/main" id="{E46AD6D8-85A0-4208-B9F7-5695AD57BABB}"/>
              </a:ext>
            </a:extLst>
          </p:cNvPr>
          <p:cNvSpPr>
            <a:spLocks noGrp="1"/>
          </p:cNvSpPr>
          <p:nvPr/>
        </p:nvSpPr>
        <p:spPr>
          <a:xfrm>
            <a:off x="11144250" y="228600"/>
            <a:ext cx="495300" cy="219075"/>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06</a:t>
            </a:r>
          </a:p>
        </p:txBody>
      </p:sp>
      <p:sp>
        <p:nvSpPr>
          <p:cNvPr id="5" name="Rectangle 4">
            <a:extLst>
              <a:ext uri="{FF2B5EF4-FFF2-40B4-BE49-F238E27FC236}">
                <a16:creationId xmlns:a16="http://schemas.microsoft.com/office/drawing/2014/main" id="{3A22FB4B-77C8-4D61-9E48-D5548F1BE982}"/>
              </a:ext>
            </a:extLst>
          </p:cNvPr>
          <p:cNvSpPr>
            <a:spLocks noGrp="1"/>
          </p:cNvSpPr>
          <p:nvPr/>
        </p:nvSpPr>
        <p:spPr>
          <a:xfrm>
            <a:off x="533400" y="6543675"/>
            <a:ext cx="5810250" cy="161925"/>
          </a:xfrm>
          <a:prstGeom prst="rect">
            <a:avLst/>
          </a:prstGeom>
          <a:noFill/>
          <a:ln w="0">
            <a:noFill/>
            <a:prstDash val="solid"/>
          </a:ln>
        </p:spPr>
        <p:txBody>
          <a:bodyPr wrap="square" lIns="0" tIns="0" rIns="0" bIns="0" anchor="ctr">
            <a:normAutofit/>
          </a:bodyPr>
          <a:lstStyle/>
          <a:p>
            <a:pPr algn="l">
              <a:buNone/>
              <a:defRPr sz="863" b="0" i="0">
                <a:solidFill>
                  <a:srgbClr val="66645F"/>
                </a:solidFill>
                <a:latin typeface="Helvetica Neue"/>
                <a:ea typeface="Helvetica Neue"/>
                <a:cs typeface="Helvetica Neue"/>
              </a:defRPr>
            </a:pPr>
            <a:r>
              <a:rPr sz="863" b="0" i="0">
                <a:solidFill>
                  <a:srgbClr val="66645F"/>
                </a:solidFill>
                <a:latin typeface="Helvetica Neue"/>
                <a:ea typeface="Helvetica Neue"/>
                <a:cs typeface="Helvetica Neue"/>
              </a:rPr>
              <a:t>ICTS 2026  •  Machine learning → transformers</a:t>
            </a:r>
          </a:p>
        </p:txBody>
      </p:sp>
      <p:sp>
        <p:nvSpPr>
          <p:cNvPr id="38" name="Rectangle 37">
            <a:extLst>
              <a:ext uri="{FF2B5EF4-FFF2-40B4-BE49-F238E27FC236}">
                <a16:creationId xmlns:a16="http://schemas.microsoft.com/office/drawing/2014/main" id="{631E4263-A9BA-4494-9E71-DCDC7D0AA47A}"/>
              </a:ext>
            </a:extLst>
          </p:cNvPr>
          <p:cNvSpPr>
            <a:spLocks noGrp="1"/>
          </p:cNvSpPr>
          <p:nvPr/>
        </p:nvSpPr>
        <p:spPr>
          <a:xfrm>
            <a:off x="666750" y="1381125"/>
            <a:ext cx="10477500" cy="514350"/>
          </a:xfrm>
          <a:prstGeom prst="rect">
            <a:avLst/>
          </a:prstGeom>
          <a:noFill/>
          <a:ln w="0">
            <a:noFill/>
            <a:prstDash val="solid"/>
          </a:ln>
        </p:spPr>
        <p:txBody>
          <a:bodyPr wrap="square" lIns="0" tIns="0" rIns="0" bIns="0" anchor="ctr">
            <a:normAutofit fontScale="92708"/>
          </a:bodyPr>
          <a:lstStyle/>
          <a:p>
            <a:pPr algn="l">
              <a:defRPr sz="2325" b="1" i="0">
                <a:solidFill>
                  <a:srgbClr val="18324A"/>
                </a:solidFill>
                <a:latin typeface="Helvetica Neue"/>
                <a:ea typeface="Helvetica Neue"/>
                <a:cs typeface="Helvetica Neue"/>
              </a:defRPr>
            </a:pPr>
            <a:r>
              <a:rPr sz="2325" b="1" i="0">
                <a:solidFill>
                  <a:srgbClr val="18324A"/>
                </a:solidFill>
                <a:latin typeface="Helvetica Neue"/>
                <a:ea typeface="Helvetica Neue"/>
                <a:cs typeface="Helvetica Neue"/>
              </a:rPr>
              <a:t>Success means predicting independent examples that did not update the model.</a:t>
            </a:r>
          </a:p>
        </p:txBody>
      </p:sp>
      <p:sp>
        <p:nvSpPr>
          <p:cNvPr id="39" name="Rounded Rectangle 38">
            <a:extLst>
              <a:ext uri="{FF2B5EF4-FFF2-40B4-BE49-F238E27FC236}">
                <a16:creationId xmlns:a16="http://schemas.microsoft.com/office/drawing/2014/main" id="{59F9E375-6126-456A-9AB6-62A6B8D6C4B6}"/>
              </a:ext>
            </a:extLst>
          </p:cNvPr>
          <p:cNvSpPr>
            <a:spLocks noGrp="1"/>
          </p:cNvSpPr>
          <p:nvPr/>
        </p:nvSpPr>
        <p:spPr>
          <a:xfrm>
            <a:off x="762000" y="2333625"/>
            <a:ext cx="10572750" cy="1000125"/>
          </a:xfrm>
          <a:prstGeom prst="roundRect">
            <a:avLst>
              <a:gd name="adj" fmla="val 11429"/>
            </a:avLst>
          </a:prstGeom>
          <a:solidFill>
            <a:srgbClr val="DCE6ED"/>
          </a:solidFill>
          <a:ln w="14288">
            <a:solidFill>
              <a:srgbClr val="2D617F"/>
            </a:solidFill>
            <a:prstDash val="solid"/>
          </a:ln>
        </p:spPr>
        <p:txBody>
          <a:bodyPr wrap="square" lIns="285750" tIns="95250" rIns="114300" bIns="95250" anchor="ctr">
            <a:normAutofit/>
          </a:bodyPr>
          <a:lstStyle/>
          <a:p>
            <a:pPr algn="l">
              <a:defRPr sz="2100" b="1">
                <a:solidFill>
                  <a:srgbClr val="2D617F"/>
                </a:solidFill>
                <a:latin typeface="Helvetica Neue"/>
                <a:ea typeface="Helvetica Neue"/>
                <a:cs typeface="Helvetica Neue"/>
              </a:defRPr>
            </a:pPr>
            <a:r>
              <a:rPr sz="2100" b="1">
                <a:solidFill>
                  <a:srgbClr val="2D617F"/>
                </a:solidFill>
                <a:latin typeface="Helvetica Neue"/>
                <a:ea typeface="Helvetica Neue"/>
                <a:cs typeface="Helvetica Neue"/>
              </a:rPr>
              <a:t>TRAIN</a:t>
            </a:r>
          </a:p>
        </p:txBody>
      </p:sp>
      <p:sp>
        <p:nvSpPr>
          <p:cNvPr id="40" name="Rounded Rectangle 39">
            <a:extLst>
              <a:ext uri="{FF2B5EF4-FFF2-40B4-BE49-F238E27FC236}">
                <a16:creationId xmlns:a16="http://schemas.microsoft.com/office/drawing/2014/main" id="{9B40402C-A740-4E4B-BF4D-6D7EABBEC3DC}"/>
              </a:ext>
            </a:extLst>
          </p:cNvPr>
          <p:cNvSpPr>
            <a:spLocks noGrp="1"/>
          </p:cNvSpPr>
          <p:nvPr/>
        </p:nvSpPr>
        <p:spPr>
          <a:xfrm>
            <a:off x="762000" y="3619500"/>
            <a:ext cx="10572750" cy="1000125"/>
          </a:xfrm>
          <a:prstGeom prst="roundRect">
            <a:avLst>
              <a:gd name="adj" fmla="val 11429"/>
            </a:avLst>
          </a:prstGeom>
          <a:solidFill>
            <a:srgbClr val="ECE1C8"/>
          </a:solidFill>
          <a:ln w="14288">
            <a:solidFill>
              <a:srgbClr val="B58A35"/>
            </a:solidFill>
            <a:prstDash val="solid"/>
          </a:ln>
        </p:spPr>
        <p:txBody>
          <a:bodyPr wrap="square" lIns="285750" tIns="95250" rIns="114300" bIns="95250" anchor="ctr">
            <a:normAutofit/>
          </a:bodyPr>
          <a:lstStyle/>
          <a:p>
            <a:pPr algn="l">
              <a:defRPr sz="2100" b="1">
                <a:solidFill>
                  <a:srgbClr val="B58A35"/>
                </a:solidFill>
                <a:latin typeface="Helvetica Neue"/>
                <a:ea typeface="Helvetica Neue"/>
                <a:cs typeface="Helvetica Neue"/>
              </a:defRPr>
            </a:pPr>
            <a:r>
              <a:rPr sz="2100" b="1">
                <a:solidFill>
                  <a:srgbClr val="B58A35"/>
                </a:solidFill>
                <a:latin typeface="Helvetica Neue"/>
                <a:ea typeface="Helvetica Neue"/>
                <a:cs typeface="Helvetica Neue"/>
              </a:rPr>
              <a:t>VALIDATION</a:t>
            </a:r>
          </a:p>
        </p:txBody>
      </p:sp>
      <p:sp>
        <p:nvSpPr>
          <p:cNvPr id="41" name="Rounded Rectangle 40">
            <a:extLst>
              <a:ext uri="{FF2B5EF4-FFF2-40B4-BE49-F238E27FC236}">
                <a16:creationId xmlns:a16="http://schemas.microsoft.com/office/drawing/2014/main" id="{96CB6C42-4FFB-465A-873F-ED2C9A56B189}"/>
              </a:ext>
            </a:extLst>
          </p:cNvPr>
          <p:cNvSpPr>
            <a:spLocks noGrp="1"/>
          </p:cNvSpPr>
          <p:nvPr/>
        </p:nvSpPr>
        <p:spPr>
          <a:xfrm>
            <a:off x="762000" y="4905375"/>
            <a:ext cx="10572750" cy="1000125"/>
          </a:xfrm>
          <a:prstGeom prst="roundRect">
            <a:avLst>
              <a:gd name="adj" fmla="val 11429"/>
            </a:avLst>
          </a:prstGeom>
          <a:solidFill>
            <a:srgbClr val="EED8CE"/>
          </a:solidFill>
          <a:ln w="14288">
            <a:solidFill>
              <a:srgbClr val="B95535"/>
            </a:solidFill>
            <a:prstDash val="solid"/>
          </a:ln>
        </p:spPr>
        <p:txBody>
          <a:bodyPr wrap="square" lIns="285750" tIns="95250" rIns="114300" bIns="95250" anchor="ctr">
            <a:normAutofit/>
          </a:bodyPr>
          <a:lstStyle/>
          <a:p>
            <a:pPr algn="l">
              <a:defRPr sz="2100" b="1">
                <a:solidFill>
                  <a:srgbClr val="B95535"/>
                </a:solidFill>
                <a:latin typeface="Helvetica Neue"/>
                <a:ea typeface="Helvetica Neue"/>
                <a:cs typeface="Helvetica Neue"/>
              </a:defRPr>
            </a:pPr>
            <a:r>
              <a:rPr sz="2100" b="1">
                <a:solidFill>
                  <a:srgbClr val="B95535"/>
                </a:solidFill>
                <a:latin typeface="Helvetica Neue"/>
                <a:ea typeface="Helvetica Neue"/>
                <a:cs typeface="Helvetica Neue"/>
              </a:rPr>
              <a:t>TEST</a:t>
            </a:r>
          </a:p>
        </p:txBody>
      </p:sp>
      <p:sp>
        <p:nvSpPr>
          <p:cNvPr id="42" name="Rectangle 41">
            <a:extLst>
              <a:ext uri="{FF2B5EF4-FFF2-40B4-BE49-F238E27FC236}">
                <a16:creationId xmlns:a16="http://schemas.microsoft.com/office/drawing/2014/main" id="{0EBD2D55-8DEB-4A92-8F16-FB6EFA6C5786}"/>
              </a:ext>
            </a:extLst>
          </p:cNvPr>
          <p:cNvSpPr>
            <a:spLocks noGrp="1"/>
          </p:cNvSpPr>
          <p:nvPr/>
        </p:nvSpPr>
        <p:spPr>
          <a:xfrm>
            <a:off x="3286125" y="2476500"/>
            <a:ext cx="2476500" cy="419100"/>
          </a:xfrm>
          <a:prstGeom prst="rect">
            <a:avLst/>
          </a:prstGeom>
          <a:noFill/>
          <a:ln w="0">
            <a:noFill/>
            <a:prstDash val="solid"/>
          </a:ln>
        </p:spPr>
        <p:txBody>
          <a:bodyPr wrap="square" lIns="0" tIns="0" rIns="0" bIns="0" anchor="ctr">
            <a:normAutofit/>
          </a:bodyPr>
          <a:lstStyle/>
          <a:p>
            <a:pPr algn="l">
              <a:defRPr sz="2175" b="1" i="0">
                <a:solidFill>
                  <a:srgbClr val="202224"/>
                </a:solidFill>
                <a:latin typeface="Helvetica Neue"/>
                <a:ea typeface="Helvetica Neue"/>
                <a:cs typeface="Helvetica Neue"/>
              </a:defRPr>
            </a:pPr>
            <a:r>
              <a:rPr sz="2175" b="1" i="0">
                <a:solidFill>
                  <a:srgbClr val="202224"/>
                </a:solidFill>
                <a:latin typeface="Helvetica Neue"/>
                <a:ea typeface="Helvetica Neue"/>
                <a:cs typeface="Helvetica Neue"/>
              </a:rPr>
              <a:t>fit parameters</a:t>
            </a:r>
          </a:p>
        </p:txBody>
      </p:sp>
      <p:sp>
        <p:nvSpPr>
          <p:cNvPr id="43" name="Rectangle 42">
            <a:extLst>
              <a:ext uri="{FF2B5EF4-FFF2-40B4-BE49-F238E27FC236}">
                <a16:creationId xmlns:a16="http://schemas.microsoft.com/office/drawing/2014/main" id="{6D06719E-EBB9-45C7-8314-D315736F5947}"/>
              </a:ext>
            </a:extLst>
          </p:cNvPr>
          <p:cNvSpPr>
            <a:spLocks noGrp="1"/>
          </p:cNvSpPr>
          <p:nvPr/>
        </p:nvSpPr>
        <p:spPr>
          <a:xfrm>
            <a:off x="6715125" y="2476500"/>
            <a:ext cx="4000500" cy="419100"/>
          </a:xfrm>
          <a:prstGeom prst="rect">
            <a:avLst/>
          </a:prstGeom>
          <a:noFill/>
          <a:ln w="0">
            <a:noFill/>
            <a:prstDash val="solid"/>
          </a:ln>
        </p:spPr>
        <p:txBody>
          <a:bodyPr wrap="square" lIns="0" tIns="0" rIns="0" bIns="0" anchor="ctr">
            <a:normAutofit/>
          </a:bodyPr>
          <a:lstStyle/>
          <a:p>
            <a:pPr algn="l">
              <a:defRPr sz="1950" b="0" i="0">
                <a:solidFill>
                  <a:srgbClr val="66645F"/>
                </a:solidFill>
                <a:latin typeface="Helvetica Neue"/>
                <a:ea typeface="Helvetica Neue"/>
                <a:cs typeface="Helvetica Neue"/>
              </a:defRPr>
            </a:pPr>
            <a:r>
              <a:rPr sz="1950" b="0" i="0">
                <a:solidFill>
                  <a:srgbClr val="66645F"/>
                </a:solidFill>
                <a:latin typeface="Helvetica Neue"/>
                <a:ea typeface="Helvetica Neue"/>
                <a:cs typeface="Helvetica Neue"/>
              </a:rPr>
              <a:t>compute scaling statistics here</a:t>
            </a:r>
          </a:p>
        </p:txBody>
      </p:sp>
      <p:sp>
        <p:nvSpPr>
          <p:cNvPr id="44" name="Rectangle 43">
            <a:extLst>
              <a:ext uri="{FF2B5EF4-FFF2-40B4-BE49-F238E27FC236}">
                <a16:creationId xmlns:a16="http://schemas.microsoft.com/office/drawing/2014/main" id="{7F3C8F2E-0A97-4E68-8EBD-BF3F5F3B360F}"/>
              </a:ext>
            </a:extLst>
          </p:cNvPr>
          <p:cNvSpPr>
            <a:spLocks noGrp="1"/>
          </p:cNvSpPr>
          <p:nvPr/>
        </p:nvSpPr>
        <p:spPr>
          <a:xfrm>
            <a:off x="3286125" y="3762375"/>
            <a:ext cx="3048000" cy="419100"/>
          </a:xfrm>
          <a:prstGeom prst="rect">
            <a:avLst/>
          </a:prstGeom>
          <a:noFill/>
          <a:ln w="0">
            <a:noFill/>
            <a:prstDash val="solid"/>
          </a:ln>
        </p:spPr>
        <p:txBody>
          <a:bodyPr wrap="square" lIns="0" tIns="0" rIns="0" bIns="0" anchor="ctr">
            <a:normAutofit/>
          </a:bodyPr>
          <a:lstStyle/>
          <a:p>
            <a:pPr algn="l">
              <a:defRPr sz="2175" b="1" i="0">
                <a:solidFill>
                  <a:srgbClr val="202224"/>
                </a:solidFill>
                <a:latin typeface="Helvetica Neue"/>
                <a:ea typeface="Helvetica Neue"/>
                <a:cs typeface="Helvetica Neue"/>
              </a:defRPr>
            </a:pPr>
            <a:r>
              <a:rPr sz="2175" b="1" i="0">
                <a:solidFill>
                  <a:srgbClr val="202224"/>
                </a:solidFill>
                <a:latin typeface="Helvetica Neue"/>
                <a:ea typeface="Helvetica Neue"/>
                <a:cs typeface="Helvetica Neue"/>
              </a:rPr>
              <a:t>choose model settings</a:t>
            </a:r>
          </a:p>
        </p:txBody>
      </p:sp>
      <p:sp>
        <p:nvSpPr>
          <p:cNvPr id="45" name="Rectangle 44">
            <a:extLst>
              <a:ext uri="{FF2B5EF4-FFF2-40B4-BE49-F238E27FC236}">
                <a16:creationId xmlns:a16="http://schemas.microsoft.com/office/drawing/2014/main" id="{70F5727C-895D-4CE0-B89D-D974E95E34EE}"/>
              </a:ext>
            </a:extLst>
          </p:cNvPr>
          <p:cNvSpPr>
            <a:spLocks noGrp="1"/>
          </p:cNvSpPr>
          <p:nvPr/>
        </p:nvSpPr>
        <p:spPr>
          <a:xfrm>
            <a:off x="7477125" y="3762375"/>
            <a:ext cx="3143250" cy="419100"/>
          </a:xfrm>
          <a:prstGeom prst="rect">
            <a:avLst/>
          </a:prstGeom>
          <a:noFill/>
          <a:ln w="0">
            <a:noFill/>
            <a:prstDash val="solid"/>
          </a:ln>
        </p:spPr>
        <p:txBody>
          <a:bodyPr wrap="square" lIns="0" tIns="0" rIns="0" bIns="0" anchor="ctr">
            <a:normAutofit/>
          </a:bodyPr>
          <a:lstStyle/>
          <a:p>
            <a:pPr algn="l">
              <a:defRPr sz="1950" b="0" i="0">
                <a:solidFill>
                  <a:srgbClr val="66645F"/>
                </a:solidFill>
                <a:latin typeface="Helvetica Neue"/>
                <a:ea typeface="Helvetica Neue"/>
                <a:cs typeface="Helvetica Neue"/>
              </a:defRPr>
            </a:pPr>
            <a:r>
              <a:rPr sz="1950" b="0" i="0">
                <a:solidFill>
                  <a:srgbClr val="66645F"/>
                </a:solidFill>
                <a:latin typeface="Helvetica Neue"/>
                <a:ea typeface="Helvetica Neue"/>
                <a:cs typeface="Helvetica Neue"/>
              </a:rPr>
              <a:t>no parameter updates</a:t>
            </a:r>
          </a:p>
        </p:txBody>
      </p:sp>
      <p:sp>
        <p:nvSpPr>
          <p:cNvPr id="46" name="Rectangle 45">
            <a:extLst>
              <a:ext uri="{FF2B5EF4-FFF2-40B4-BE49-F238E27FC236}">
                <a16:creationId xmlns:a16="http://schemas.microsoft.com/office/drawing/2014/main" id="{FEDBC762-6906-4390-9EF5-F73AFD90B6D5}"/>
              </a:ext>
            </a:extLst>
          </p:cNvPr>
          <p:cNvSpPr>
            <a:spLocks noGrp="1"/>
          </p:cNvSpPr>
          <p:nvPr/>
        </p:nvSpPr>
        <p:spPr>
          <a:xfrm>
            <a:off x="3286125" y="5048250"/>
            <a:ext cx="3333750" cy="419100"/>
          </a:xfrm>
          <a:prstGeom prst="rect">
            <a:avLst/>
          </a:prstGeom>
          <a:noFill/>
          <a:ln w="0">
            <a:noFill/>
            <a:prstDash val="solid"/>
          </a:ln>
        </p:spPr>
        <p:txBody>
          <a:bodyPr wrap="square" lIns="0" tIns="0" rIns="0" bIns="0" anchor="ctr">
            <a:normAutofit/>
          </a:bodyPr>
          <a:lstStyle/>
          <a:p>
            <a:pPr algn="l">
              <a:defRPr sz="2175" b="1" i="0">
                <a:solidFill>
                  <a:srgbClr val="202224"/>
                </a:solidFill>
                <a:latin typeface="Helvetica Neue"/>
                <a:ea typeface="Helvetica Neue"/>
                <a:cs typeface="Helvetica Neue"/>
              </a:defRPr>
            </a:pPr>
            <a:r>
              <a:rPr sz="2175" b="1" i="0">
                <a:solidFill>
                  <a:srgbClr val="202224"/>
                </a:solidFill>
                <a:latin typeface="Helvetica Neue"/>
                <a:ea typeface="Helvetica Neue"/>
                <a:cs typeface="Helvetica Neue"/>
              </a:rPr>
              <a:t>report once at the end</a:t>
            </a:r>
          </a:p>
        </p:txBody>
      </p:sp>
      <p:sp>
        <p:nvSpPr>
          <p:cNvPr id="47" name="Rectangle 46">
            <a:extLst>
              <a:ext uri="{FF2B5EF4-FFF2-40B4-BE49-F238E27FC236}">
                <a16:creationId xmlns:a16="http://schemas.microsoft.com/office/drawing/2014/main" id="{3964BFB0-AA86-420A-BFC6-80915EC7A94E}"/>
              </a:ext>
            </a:extLst>
          </p:cNvPr>
          <p:cNvSpPr>
            <a:spLocks noGrp="1"/>
          </p:cNvSpPr>
          <p:nvPr/>
        </p:nvSpPr>
        <p:spPr>
          <a:xfrm>
            <a:off x="7477125" y="5048250"/>
            <a:ext cx="3238500" cy="419100"/>
          </a:xfrm>
          <a:prstGeom prst="rect">
            <a:avLst/>
          </a:prstGeom>
          <a:noFill/>
          <a:ln w="0">
            <a:noFill/>
            <a:prstDash val="solid"/>
          </a:ln>
        </p:spPr>
        <p:txBody>
          <a:bodyPr wrap="square" lIns="0" tIns="0" rIns="0" bIns="0" anchor="ctr">
            <a:normAutofit/>
          </a:bodyPr>
          <a:lstStyle/>
          <a:p>
            <a:pPr algn="l">
              <a:defRPr sz="1950" b="0" i="0">
                <a:solidFill>
                  <a:srgbClr val="66645F"/>
                </a:solidFill>
                <a:latin typeface="Helvetica Neue"/>
                <a:ea typeface="Helvetica Neue"/>
                <a:cs typeface="Helvetica Neue"/>
              </a:defRPr>
            </a:pPr>
            <a:r>
              <a:rPr sz="1950" b="0" i="0">
                <a:solidFill>
                  <a:srgbClr val="66645F"/>
                </a:solidFill>
                <a:latin typeface="Helvetica Neue"/>
                <a:ea typeface="Helvetica Neue"/>
                <a:cs typeface="Helvetica Neue"/>
              </a:rPr>
              <a:t>keep untouched until then</a:t>
            </a:r>
          </a:p>
        </p:txBody>
      </p:sp>
      <p:sp>
        <p:nvSpPr>
          <p:cNvPr id="48" name="Rectangle 47">
            <a:extLst>
              <a:ext uri="{FF2B5EF4-FFF2-40B4-BE49-F238E27FC236}">
                <a16:creationId xmlns:a16="http://schemas.microsoft.com/office/drawing/2014/main" id="{6D942215-5C59-4D53-AA97-7CD4A5B7AED2}"/>
              </a:ext>
            </a:extLst>
          </p:cNvPr>
          <p:cNvSpPr>
            <a:spLocks noGrp="1"/>
          </p:cNvSpPr>
          <p:nvPr/>
        </p:nvSpPr>
        <p:spPr>
          <a:xfrm>
            <a:off x="2428875" y="6000750"/>
            <a:ext cx="7334250" cy="304800"/>
          </a:xfrm>
          <a:prstGeom prst="rect">
            <a:avLst/>
          </a:prstGeom>
          <a:noFill/>
          <a:ln w="0">
            <a:noFill/>
            <a:prstDash val="solid"/>
          </a:ln>
        </p:spPr>
        <p:txBody>
          <a:bodyPr wrap="square" lIns="0" tIns="0" rIns="0" bIns="0" anchor="ctr">
            <a:normAutofit/>
          </a:bodyPr>
          <a:lstStyle/>
          <a:p>
            <a:pPr algn="ctr">
              <a:defRPr sz="1650" b="1" i="0">
                <a:solidFill>
                  <a:srgbClr val="9E3B32"/>
                </a:solidFill>
                <a:latin typeface="Helvetica Neue"/>
                <a:ea typeface="Helvetica Neue"/>
                <a:cs typeface="Helvetica Neue"/>
              </a:defRPr>
            </a:pPr>
            <a:r>
              <a:rPr sz="1650" b="1" i="0">
                <a:solidFill>
                  <a:srgbClr val="9E3B32"/>
                </a:solidFill>
                <a:latin typeface="Helvetica Neue"/>
                <a:ea typeface="Helvetica Neue"/>
                <a:cs typeface="Helvetica Neue"/>
              </a:rPr>
              <a:t>Split independent systems or simulations—not merely correlated rows.</a:t>
            </a:r>
          </a:p>
        </p:txBody>
      </p:sp>
    </p:spTree>
    <p:extLst>
      <p:ext uri="{BB962C8B-B14F-4D97-AF65-F5344CB8AC3E}">
        <p14:creationId xmlns:p14="http://schemas.microsoft.com/office/powerpoint/2010/main" val="418843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F497344B-73CA-4161-844B-45B182FA72BC}"/>
              </a:ext>
            </a:extLst>
          </p:cNvPr>
          <p:cNvSpPr>
            <a:spLocks noGrp="1"/>
          </p:cNvSpPr>
          <p:nvPr/>
        </p:nvSpPr>
        <p:spPr>
          <a:xfrm>
            <a:off x="552450" y="219075"/>
            <a:ext cx="6858000" cy="228600"/>
          </a:xfrm>
          <a:prstGeom prst="rect">
            <a:avLst/>
          </a:prstGeom>
          <a:noFill/>
          <a:ln w="0">
            <a:noFill/>
            <a:prstDash val="solid"/>
          </a:ln>
        </p:spPr>
        <p:txBody>
          <a:bodyPr wrap="square" lIns="0" tIns="0" rIns="0" bIns="0" anchor="ctr">
            <a:normAutofit/>
          </a:bodyPr>
          <a:lstStyle/>
          <a:p>
            <a:pPr algn="l">
              <a:buNone/>
              <a:defRPr sz="1125" b="1" i="0">
                <a:solidFill>
                  <a:srgbClr val="B95535"/>
                </a:solidFill>
                <a:latin typeface="Helvetica Neue"/>
                <a:ea typeface="Helvetica Neue"/>
                <a:cs typeface="Helvetica Neue"/>
              </a:defRPr>
            </a:pPr>
            <a:r>
              <a:rPr sz="1125" b="1" i="0">
                <a:solidFill>
                  <a:srgbClr val="B95535"/>
                </a:solidFill>
                <a:latin typeface="Helvetica Neue"/>
                <a:ea typeface="Helvetica Neue"/>
                <a:cs typeface="Helvetica Neue"/>
              </a:rPr>
              <a:t>MACHINE LEARNING  •  TWO COMMON TASKS</a:t>
            </a:r>
          </a:p>
        </p:txBody>
      </p:sp>
      <p:sp>
        <p:nvSpPr>
          <p:cNvPr id="2" name="Rectangle 1">
            <a:extLst>
              <a:ext uri="{FF2B5EF4-FFF2-40B4-BE49-F238E27FC236}">
                <a16:creationId xmlns:a16="http://schemas.microsoft.com/office/drawing/2014/main" id="{05EC52A8-977B-4440-B285-B293900C3702}"/>
              </a:ext>
            </a:extLst>
          </p:cNvPr>
          <p:cNvSpPr>
            <a:spLocks noGrp="1"/>
          </p:cNvSpPr>
          <p:nvPr/>
        </p:nvSpPr>
        <p:spPr>
          <a:xfrm>
            <a:off x="533400" y="476250"/>
            <a:ext cx="11087100" cy="552450"/>
          </a:xfrm>
          <a:prstGeom prst="rect">
            <a:avLst/>
          </a:prstGeom>
          <a:noFill/>
          <a:ln w="0">
            <a:noFill/>
            <a:prstDash val="solid"/>
          </a:ln>
        </p:spPr>
        <p:txBody>
          <a:bodyPr wrap="square" lIns="0" tIns="0" rIns="0" bIns="0" anchor="t">
            <a:normAutofit/>
          </a:bodyPr>
          <a:lstStyle/>
          <a:p>
            <a:pPr algn="l">
              <a:buNone/>
              <a:defRPr sz="3075" b="1" i="0">
                <a:solidFill>
                  <a:srgbClr val="202224"/>
                </a:solidFill>
                <a:latin typeface="Helvetica Neue"/>
                <a:ea typeface="Helvetica Neue"/>
                <a:cs typeface="Helvetica Neue"/>
              </a:defRPr>
            </a:pPr>
            <a:r>
              <a:rPr sz="3075" b="1" i="0">
                <a:solidFill>
                  <a:srgbClr val="202224"/>
                </a:solidFill>
                <a:latin typeface="Helvetica Neue"/>
                <a:ea typeface="Helvetica Neue"/>
                <a:cs typeface="Helvetica Neue"/>
              </a:rPr>
              <a:t>Regression predicts values; classification predicts classes</a:t>
            </a:r>
          </a:p>
        </p:txBody>
      </p:sp>
      <p:sp>
        <p:nvSpPr>
          <p:cNvPr id="3" name="Rectangle 2">
            <a:extLst>
              <a:ext uri="{FF2B5EF4-FFF2-40B4-BE49-F238E27FC236}">
                <a16:creationId xmlns:a16="http://schemas.microsoft.com/office/drawing/2014/main" id="{38EED358-B650-4941-B9DE-588356C31579}"/>
              </a:ext>
            </a:extLst>
          </p:cNvPr>
          <p:cNvSpPr>
            <a:spLocks noGrp="1"/>
          </p:cNvSpPr>
          <p:nvPr/>
        </p:nvSpPr>
        <p:spPr>
          <a:xfrm>
            <a:off x="533400" y="1076325"/>
            <a:ext cx="11125200" cy="19050"/>
          </a:xfrm>
          <a:prstGeom prst="rect">
            <a:avLst/>
          </a:prstGeom>
          <a:solidFill>
            <a:srgbClr val="D4CEC2"/>
          </a:solidFill>
          <a:ln w="0">
            <a:noFill/>
            <a:prstDash val="solid"/>
          </a:ln>
        </p:spPr>
        <p:txBody>
          <a:bodyPr/>
          <a:lstStyle/>
          <a:p>
            <a:endParaRPr/>
          </a:p>
        </p:txBody>
      </p:sp>
      <p:sp>
        <p:nvSpPr>
          <p:cNvPr id="4" name="Rectangle 3">
            <a:extLst>
              <a:ext uri="{FF2B5EF4-FFF2-40B4-BE49-F238E27FC236}">
                <a16:creationId xmlns:a16="http://schemas.microsoft.com/office/drawing/2014/main" id="{D33D7C5F-95F5-433B-A64D-715B25AEFF01}"/>
              </a:ext>
            </a:extLst>
          </p:cNvPr>
          <p:cNvSpPr>
            <a:spLocks noGrp="1"/>
          </p:cNvSpPr>
          <p:nvPr/>
        </p:nvSpPr>
        <p:spPr>
          <a:xfrm>
            <a:off x="11144250" y="228600"/>
            <a:ext cx="495300" cy="219075"/>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07</a:t>
            </a:r>
          </a:p>
        </p:txBody>
      </p:sp>
      <p:sp>
        <p:nvSpPr>
          <p:cNvPr id="5" name="Rectangle 4">
            <a:extLst>
              <a:ext uri="{FF2B5EF4-FFF2-40B4-BE49-F238E27FC236}">
                <a16:creationId xmlns:a16="http://schemas.microsoft.com/office/drawing/2014/main" id="{EEECA30B-C26B-4378-A848-28ADAC2CBA6E}"/>
              </a:ext>
            </a:extLst>
          </p:cNvPr>
          <p:cNvSpPr>
            <a:spLocks noGrp="1"/>
          </p:cNvSpPr>
          <p:nvPr/>
        </p:nvSpPr>
        <p:spPr>
          <a:xfrm>
            <a:off x="533400" y="6543675"/>
            <a:ext cx="5810250" cy="161925"/>
          </a:xfrm>
          <a:prstGeom prst="rect">
            <a:avLst/>
          </a:prstGeom>
          <a:noFill/>
          <a:ln w="0">
            <a:noFill/>
            <a:prstDash val="solid"/>
          </a:ln>
        </p:spPr>
        <p:txBody>
          <a:bodyPr wrap="square" lIns="0" tIns="0" rIns="0" bIns="0" anchor="ctr">
            <a:normAutofit/>
          </a:bodyPr>
          <a:lstStyle/>
          <a:p>
            <a:pPr algn="l">
              <a:buNone/>
              <a:defRPr sz="863" b="0" i="0">
                <a:solidFill>
                  <a:srgbClr val="66645F"/>
                </a:solidFill>
                <a:latin typeface="Helvetica Neue"/>
                <a:ea typeface="Helvetica Neue"/>
                <a:cs typeface="Helvetica Neue"/>
              </a:defRPr>
            </a:pPr>
            <a:r>
              <a:rPr sz="863" b="0" i="0">
                <a:solidFill>
                  <a:srgbClr val="66645F"/>
                </a:solidFill>
                <a:latin typeface="Helvetica Neue"/>
                <a:ea typeface="Helvetica Neue"/>
                <a:cs typeface="Helvetica Neue"/>
              </a:rPr>
              <a:t>ICTS 2026  •  Machine learning → transformers</a:t>
            </a:r>
          </a:p>
        </p:txBody>
      </p:sp>
      <p:sp>
        <p:nvSpPr>
          <p:cNvPr id="52" name="Rounded Rectangle 51">
            <a:extLst>
              <a:ext uri="{FF2B5EF4-FFF2-40B4-BE49-F238E27FC236}">
                <a16:creationId xmlns:a16="http://schemas.microsoft.com/office/drawing/2014/main" id="{5292BA7D-C9D1-4F62-B28C-33CA3622162D}"/>
              </a:ext>
            </a:extLst>
          </p:cNvPr>
          <p:cNvSpPr>
            <a:spLocks noGrp="1"/>
          </p:cNvSpPr>
          <p:nvPr/>
        </p:nvSpPr>
        <p:spPr>
          <a:xfrm>
            <a:off x="714375" y="1571625"/>
            <a:ext cx="4953000" cy="3714750"/>
          </a:xfrm>
          <a:prstGeom prst="roundRect">
            <a:avLst>
              <a:gd name="adj" fmla="val 3077"/>
            </a:avLst>
          </a:prstGeom>
          <a:solidFill>
            <a:srgbClr val="DCE6ED"/>
          </a:solidFill>
          <a:ln w="14288">
            <a:solidFill>
              <a:srgbClr val="2D617F"/>
            </a:solidFill>
            <a:prstDash val="solid"/>
          </a:ln>
        </p:spPr>
        <p:txBody>
          <a:bodyPr/>
          <a:lstStyle/>
          <a:p>
            <a:endParaRPr lang="en-US"/>
          </a:p>
        </p:txBody>
      </p:sp>
      <p:sp>
        <p:nvSpPr>
          <p:cNvPr id="53" name="Rounded Rectangle 52">
            <a:extLst>
              <a:ext uri="{FF2B5EF4-FFF2-40B4-BE49-F238E27FC236}">
                <a16:creationId xmlns:a16="http://schemas.microsoft.com/office/drawing/2014/main" id="{EF718703-CD48-4B70-B7AE-BE9113A911AB}"/>
              </a:ext>
            </a:extLst>
          </p:cNvPr>
          <p:cNvSpPr>
            <a:spLocks noGrp="1"/>
          </p:cNvSpPr>
          <p:nvPr/>
        </p:nvSpPr>
        <p:spPr>
          <a:xfrm>
            <a:off x="6524625" y="1571625"/>
            <a:ext cx="4953000" cy="3714750"/>
          </a:xfrm>
          <a:prstGeom prst="roundRect">
            <a:avLst>
              <a:gd name="adj" fmla="val 3077"/>
            </a:avLst>
          </a:prstGeom>
          <a:solidFill>
            <a:srgbClr val="EED8CE"/>
          </a:solidFill>
          <a:ln w="14288">
            <a:solidFill>
              <a:srgbClr val="B95535"/>
            </a:solidFill>
            <a:prstDash val="solid"/>
          </a:ln>
        </p:spPr>
        <p:txBody>
          <a:bodyPr/>
          <a:lstStyle/>
          <a:p>
            <a:endParaRPr lang="en-US"/>
          </a:p>
        </p:txBody>
      </p:sp>
      <p:sp>
        <p:nvSpPr>
          <p:cNvPr id="54" name="Rectangle 53">
            <a:extLst>
              <a:ext uri="{FF2B5EF4-FFF2-40B4-BE49-F238E27FC236}">
                <a16:creationId xmlns:a16="http://schemas.microsoft.com/office/drawing/2014/main" id="{13855490-7B42-4B67-A447-73EDC9B0E4C1}"/>
              </a:ext>
            </a:extLst>
          </p:cNvPr>
          <p:cNvSpPr>
            <a:spLocks noGrp="1"/>
          </p:cNvSpPr>
          <p:nvPr/>
        </p:nvSpPr>
        <p:spPr>
          <a:xfrm>
            <a:off x="1047750" y="1857375"/>
            <a:ext cx="2857500" cy="400050"/>
          </a:xfrm>
          <a:prstGeom prst="rect">
            <a:avLst/>
          </a:prstGeom>
          <a:noFill/>
          <a:ln w="0">
            <a:noFill/>
            <a:prstDash val="solid"/>
          </a:ln>
        </p:spPr>
        <p:txBody>
          <a:bodyPr wrap="square" lIns="0" tIns="0" rIns="0" bIns="0" anchor="ctr">
            <a:normAutofit/>
          </a:bodyPr>
          <a:lstStyle/>
          <a:p>
            <a:pPr algn="l">
              <a:defRPr sz="1950" b="1" i="0">
                <a:solidFill>
                  <a:srgbClr val="2D617F"/>
                </a:solidFill>
                <a:latin typeface="Helvetica Neue"/>
                <a:ea typeface="Helvetica Neue"/>
                <a:cs typeface="Helvetica Neue"/>
              </a:defRPr>
            </a:pPr>
            <a:r>
              <a:rPr sz="1950" b="1" i="0">
                <a:solidFill>
                  <a:srgbClr val="2D617F"/>
                </a:solidFill>
                <a:latin typeface="Helvetica Neue"/>
                <a:ea typeface="Helvetica Neue"/>
                <a:cs typeface="Helvetica Neue"/>
              </a:rPr>
              <a:t>REGRESSION</a:t>
            </a:r>
          </a:p>
        </p:txBody>
      </p:sp>
      <p:sp>
        <p:nvSpPr>
          <p:cNvPr id="55" name="Rectangle 54">
            <a:extLst>
              <a:ext uri="{FF2B5EF4-FFF2-40B4-BE49-F238E27FC236}">
                <a16:creationId xmlns:a16="http://schemas.microsoft.com/office/drawing/2014/main" id="{2E0981FB-6587-4385-BF8A-F2A6C7FCA252}"/>
              </a:ext>
            </a:extLst>
          </p:cNvPr>
          <p:cNvSpPr>
            <a:spLocks noGrp="1"/>
          </p:cNvSpPr>
          <p:nvPr/>
        </p:nvSpPr>
        <p:spPr>
          <a:xfrm>
            <a:off x="1047750" y="2428875"/>
            <a:ext cx="3429000" cy="457200"/>
          </a:xfrm>
          <a:prstGeom prst="rect">
            <a:avLst/>
          </a:prstGeom>
          <a:noFill/>
          <a:ln w="0">
            <a:noFill/>
            <a:prstDash val="solid"/>
          </a:ln>
        </p:spPr>
        <p:txBody>
          <a:bodyPr wrap="square" lIns="0" tIns="0" rIns="0" bIns="0" anchor="ctr">
            <a:normAutofit/>
          </a:bodyPr>
          <a:lstStyle/>
          <a:p>
            <a:pPr algn="l">
              <a:defRPr sz="2400" b="1" i="0">
                <a:solidFill>
                  <a:srgbClr val="202224"/>
                </a:solidFill>
                <a:latin typeface="Helvetica Neue"/>
                <a:ea typeface="Helvetica Neue"/>
                <a:cs typeface="Helvetica Neue"/>
              </a:defRPr>
            </a:pPr>
            <a:r>
              <a:rPr sz="2400" b="1" i="0">
                <a:solidFill>
                  <a:srgbClr val="202224"/>
                </a:solidFill>
                <a:latin typeface="Helvetica Neue"/>
                <a:ea typeface="Helvetica Neue"/>
                <a:cs typeface="Helvetica Neue"/>
              </a:rPr>
              <a:t>output: a number</a:t>
            </a:r>
          </a:p>
        </p:txBody>
      </p:sp>
      <p:sp>
        <p:nvSpPr>
          <p:cNvPr id="56" name="Rectangle 55">
            <a:extLst>
              <a:ext uri="{FF2B5EF4-FFF2-40B4-BE49-F238E27FC236}">
                <a16:creationId xmlns:a16="http://schemas.microsoft.com/office/drawing/2014/main" id="{C3CA195C-E811-4370-9A3E-2A184F7F0857}"/>
              </a:ext>
            </a:extLst>
          </p:cNvPr>
          <p:cNvSpPr>
            <a:spLocks noGrp="1"/>
          </p:cNvSpPr>
          <p:nvPr/>
        </p:nvSpPr>
        <p:spPr>
          <a:xfrm>
            <a:off x="1047750" y="3000375"/>
            <a:ext cx="3619500" cy="400050"/>
          </a:xfrm>
          <a:prstGeom prst="rect">
            <a:avLst/>
          </a:prstGeom>
          <a:noFill/>
          <a:ln w="0">
            <a:noFill/>
            <a:prstDash val="solid"/>
          </a:ln>
        </p:spPr>
        <p:txBody>
          <a:bodyPr wrap="square" lIns="0" tIns="0" rIns="0" bIns="0" anchor="ctr">
            <a:normAutofit/>
          </a:bodyPr>
          <a:lstStyle/>
          <a:p>
            <a:pPr algn="l">
              <a:defRPr sz="2025" b="0" i="0">
                <a:solidFill>
                  <a:srgbClr val="202224"/>
                </a:solidFill>
                <a:latin typeface="Helvetica Neue"/>
                <a:ea typeface="Helvetica Neue"/>
                <a:cs typeface="Helvetica Neue"/>
              </a:defRPr>
            </a:pPr>
            <a:r>
              <a:rPr sz="2025" b="0" i="0">
                <a:solidFill>
                  <a:srgbClr val="202224"/>
                </a:solidFill>
                <a:latin typeface="Helvetica Neue"/>
                <a:ea typeface="Helvetica Neue"/>
                <a:cs typeface="Helvetica Neue"/>
              </a:rPr>
              <a:t>example: estimated mass</a:t>
            </a:r>
          </a:p>
        </p:txBody>
      </p:sp>
      <p:sp>
        <p:nvSpPr>
          <p:cNvPr id="57" name="Rectangle 56">
            <a:extLst>
              <a:ext uri="{FF2B5EF4-FFF2-40B4-BE49-F238E27FC236}">
                <a16:creationId xmlns:a16="http://schemas.microsoft.com/office/drawing/2014/main" id="{487580EB-9F83-4ABA-919A-0C44F80049EE}"/>
              </a:ext>
            </a:extLst>
          </p:cNvPr>
          <p:cNvSpPr>
            <a:spLocks noGrp="1"/>
          </p:cNvSpPr>
          <p:nvPr/>
        </p:nvSpPr>
        <p:spPr>
          <a:xfrm>
            <a:off x="1047750" y="3667125"/>
            <a:ext cx="3905250" cy="628650"/>
          </a:xfrm>
          <a:prstGeom prst="rect">
            <a:avLst/>
          </a:prstGeom>
          <a:noFill/>
          <a:ln w="0">
            <a:noFill/>
            <a:prstDash val="solid"/>
          </a:ln>
        </p:spPr>
        <p:txBody>
          <a:bodyPr wrap="square" lIns="0" tIns="0" rIns="0" bIns="0" anchor="ctr">
            <a:normAutofit/>
          </a:bodyPr>
          <a:lstStyle/>
          <a:p>
            <a:pPr algn="l">
              <a:defRPr sz="2025" b="0" i="0">
                <a:solidFill>
                  <a:srgbClr val="66645F"/>
                </a:solidFill>
                <a:latin typeface="Helvetica Neue"/>
                <a:ea typeface="Helvetica Neue"/>
                <a:cs typeface="Helvetica Neue"/>
              </a:defRPr>
            </a:pPr>
            <a:r>
              <a:rPr sz="2025" b="0" i="0">
                <a:solidFill>
                  <a:srgbClr val="66645F"/>
                </a:solidFill>
                <a:latin typeface="Helvetica Neue"/>
                <a:ea typeface="Helvetica Neue"/>
                <a:cs typeface="Helvetica Neue"/>
              </a:rPr>
              <a:t>compare with mean-squared error</a:t>
            </a:r>
          </a:p>
        </p:txBody>
      </p:sp>
      <p:sp>
        <p:nvSpPr>
          <p:cNvPr id="58" name="Rectangle 57">
            <a:extLst>
              <a:ext uri="{FF2B5EF4-FFF2-40B4-BE49-F238E27FC236}">
                <a16:creationId xmlns:a16="http://schemas.microsoft.com/office/drawing/2014/main" id="{518A4C69-F834-418F-A442-CE2689192C73}"/>
              </a:ext>
            </a:extLst>
          </p:cNvPr>
          <p:cNvSpPr>
            <a:spLocks noGrp="1"/>
          </p:cNvSpPr>
          <p:nvPr/>
        </p:nvSpPr>
        <p:spPr>
          <a:xfrm>
            <a:off x="1095375" y="4524375"/>
            <a:ext cx="4143375" cy="457200"/>
          </a:xfrm>
          <a:prstGeom prst="rect">
            <a:avLst/>
          </a:prstGeom>
          <a:noFill/>
          <a:ln w="0">
            <a:noFill/>
            <a:prstDash val="solid"/>
          </a:ln>
        </p:spPr>
        <p:txBody>
          <a:bodyPr wrap="square" lIns="0" tIns="0" rIns="0" bIns="0" anchor="ctr">
            <a:normAutofit/>
          </a:bodyPr>
          <a:lstStyle/>
          <a:p>
            <a:pPr algn="ctr">
              <a:defRPr sz="2100" b="1" i="0">
                <a:solidFill>
                  <a:srgbClr val="18324A"/>
                </a:solidFill>
                <a:latin typeface="Cambria Math"/>
                <a:ea typeface="Cambria Math"/>
                <a:cs typeface="Cambria Math"/>
              </a:defRPr>
            </a:pPr>
            <a:r>
              <a:rPr sz="2100" b="1" i="0">
                <a:solidFill>
                  <a:srgbClr val="18324A"/>
                </a:solidFill>
                <a:latin typeface="Cambria Math"/>
                <a:ea typeface="Cambria Math"/>
                <a:cs typeface="Cambria Math"/>
              </a:rPr>
              <a:t>MSE loss = mean[(ŷ − y)²]</a:t>
            </a:r>
          </a:p>
        </p:txBody>
      </p:sp>
      <p:sp>
        <p:nvSpPr>
          <p:cNvPr id="59" name="Rectangle 58">
            <a:extLst>
              <a:ext uri="{FF2B5EF4-FFF2-40B4-BE49-F238E27FC236}">
                <a16:creationId xmlns:a16="http://schemas.microsoft.com/office/drawing/2014/main" id="{FC606976-EF01-4D40-AC2B-C7D6A75C7B7F}"/>
              </a:ext>
            </a:extLst>
          </p:cNvPr>
          <p:cNvSpPr>
            <a:spLocks noGrp="1"/>
          </p:cNvSpPr>
          <p:nvPr/>
        </p:nvSpPr>
        <p:spPr>
          <a:xfrm>
            <a:off x="6858000" y="1857375"/>
            <a:ext cx="3238500" cy="400050"/>
          </a:xfrm>
          <a:prstGeom prst="rect">
            <a:avLst/>
          </a:prstGeom>
          <a:noFill/>
          <a:ln w="0">
            <a:noFill/>
            <a:prstDash val="solid"/>
          </a:ln>
        </p:spPr>
        <p:txBody>
          <a:bodyPr wrap="square" lIns="0" tIns="0" rIns="0" bIns="0" anchor="ctr">
            <a:normAutofit/>
          </a:bodyPr>
          <a:lstStyle/>
          <a:p>
            <a:pPr algn="l">
              <a:defRPr sz="1950" b="1" i="0">
                <a:solidFill>
                  <a:srgbClr val="B95535"/>
                </a:solidFill>
                <a:latin typeface="Helvetica Neue"/>
                <a:ea typeface="Helvetica Neue"/>
                <a:cs typeface="Helvetica Neue"/>
              </a:defRPr>
            </a:pPr>
            <a:r>
              <a:rPr sz="1950" b="1" i="0">
                <a:solidFill>
                  <a:srgbClr val="B95535"/>
                </a:solidFill>
                <a:latin typeface="Helvetica Neue"/>
                <a:ea typeface="Helvetica Neue"/>
                <a:cs typeface="Helvetica Neue"/>
              </a:rPr>
              <a:t>CLASSIFICATION</a:t>
            </a:r>
          </a:p>
        </p:txBody>
      </p:sp>
      <p:sp>
        <p:nvSpPr>
          <p:cNvPr id="60" name="Rectangle 59">
            <a:extLst>
              <a:ext uri="{FF2B5EF4-FFF2-40B4-BE49-F238E27FC236}">
                <a16:creationId xmlns:a16="http://schemas.microsoft.com/office/drawing/2014/main" id="{7345B74E-710A-48E1-8BB0-931E9A196FE8}"/>
              </a:ext>
            </a:extLst>
          </p:cNvPr>
          <p:cNvSpPr>
            <a:spLocks noGrp="1"/>
          </p:cNvSpPr>
          <p:nvPr/>
        </p:nvSpPr>
        <p:spPr>
          <a:xfrm>
            <a:off x="6858000" y="2428875"/>
            <a:ext cx="3714750" cy="457200"/>
          </a:xfrm>
          <a:prstGeom prst="rect">
            <a:avLst/>
          </a:prstGeom>
          <a:noFill/>
          <a:ln w="0">
            <a:noFill/>
            <a:prstDash val="solid"/>
          </a:ln>
        </p:spPr>
        <p:txBody>
          <a:bodyPr wrap="square" lIns="0" tIns="0" rIns="0" bIns="0" anchor="ctr">
            <a:normAutofit/>
          </a:bodyPr>
          <a:lstStyle/>
          <a:p>
            <a:pPr algn="l">
              <a:defRPr sz="2400" b="1" i="0">
                <a:solidFill>
                  <a:srgbClr val="202224"/>
                </a:solidFill>
                <a:latin typeface="Helvetica Neue"/>
                <a:ea typeface="Helvetica Neue"/>
                <a:cs typeface="Helvetica Neue"/>
              </a:defRPr>
            </a:pPr>
            <a:r>
              <a:rPr sz="2400" b="1" i="0">
                <a:solidFill>
                  <a:srgbClr val="202224"/>
                </a:solidFill>
                <a:latin typeface="Helvetica Neue"/>
                <a:ea typeface="Helvetica Neue"/>
                <a:cs typeface="Helvetica Neue"/>
              </a:rPr>
              <a:t>output: class logits</a:t>
            </a:r>
          </a:p>
        </p:txBody>
      </p:sp>
      <p:sp>
        <p:nvSpPr>
          <p:cNvPr id="61" name="Rectangle 60">
            <a:extLst>
              <a:ext uri="{FF2B5EF4-FFF2-40B4-BE49-F238E27FC236}">
                <a16:creationId xmlns:a16="http://schemas.microsoft.com/office/drawing/2014/main" id="{7392E1EB-6A71-4145-B8BE-5DA34D0ECC35}"/>
              </a:ext>
            </a:extLst>
          </p:cNvPr>
          <p:cNvSpPr>
            <a:spLocks noGrp="1"/>
          </p:cNvSpPr>
          <p:nvPr/>
        </p:nvSpPr>
        <p:spPr>
          <a:xfrm>
            <a:off x="6858000" y="3000375"/>
            <a:ext cx="3714750" cy="400050"/>
          </a:xfrm>
          <a:prstGeom prst="rect">
            <a:avLst/>
          </a:prstGeom>
          <a:noFill/>
          <a:ln w="0">
            <a:noFill/>
            <a:prstDash val="solid"/>
          </a:ln>
        </p:spPr>
        <p:txBody>
          <a:bodyPr wrap="square" lIns="0" tIns="0" rIns="0" bIns="0" anchor="ctr">
            <a:normAutofit/>
          </a:bodyPr>
          <a:lstStyle/>
          <a:p>
            <a:pPr algn="l">
              <a:defRPr sz="2025" b="0" i="0">
                <a:solidFill>
                  <a:srgbClr val="202224"/>
                </a:solidFill>
                <a:latin typeface="Helvetica Neue"/>
                <a:ea typeface="Helvetica Neue"/>
                <a:cs typeface="Helvetica Neue"/>
              </a:defRPr>
            </a:pPr>
            <a:r>
              <a:rPr sz="2025" b="0" i="0">
                <a:solidFill>
                  <a:srgbClr val="202224"/>
                </a:solidFill>
                <a:latin typeface="Helvetica Neue"/>
                <a:ea typeface="Helvetica Neue"/>
                <a:cs typeface="Helvetica Neue"/>
              </a:rPr>
              <a:t>example: energy regime</a:t>
            </a:r>
          </a:p>
        </p:txBody>
      </p:sp>
      <p:sp>
        <p:nvSpPr>
          <p:cNvPr id="62" name="Rectangle 61">
            <a:extLst>
              <a:ext uri="{FF2B5EF4-FFF2-40B4-BE49-F238E27FC236}">
                <a16:creationId xmlns:a16="http://schemas.microsoft.com/office/drawing/2014/main" id="{248009A3-C2F1-4C1B-A639-FD166EEC173D}"/>
              </a:ext>
            </a:extLst>
          </p:cNvPr>
          <p:cNvSpPr>
            <a:spLocks noGrp="1"/>
          </p:cNvSpPr>
          <p:nvPr/>
        </p:nvSpPr>
        <p:spPr>
          <a:xfrm>
            <a:off x="6858000" y="3667125"/>
            <a:ext cx="4000500" cy="514350"/>
          </a:xfrm>
          <a:prstGeom prst="rect">
            <a:avLst/>
          </a:prstGeom>
          <a:noFill/>
          <a:ln w="0">
            <a:noFill/>
            <a:prstDash val="solid"/>
          </a:ln>
        </p:spPr>
        <p:txBody>
          <a:bodyPr wrap="square" lIns="0" tIns="0" rIns="0" bIns="0" anchor="ctr">
            <a:normAutofit/>
          </a:bodyPr>
          <a:lstStyle/>
          <a:p>
            <a:pPr algn="l">
              <a:defRPr sz="2025" b="0" i="0">
                <a:solidFill>
                  <a:srgbClr val="66645F"/>
                </a:solidFill>
                <a:latin typeface="Helvetica Neue"/>
                <a:ea typeface="Helvetica Neue"/>
                <a:cs typeface="Helvetica Neue"/>
              </a:defRPr>
            </a:pPr>
            <a:r>
              <a:rPr sz="2025" b="0" i="0">
                <a:solidFill>
                  <a:srgbClr val="66645F"/>
                </a:solidFill>
                <a:latin typeface="Helvetica Neue"/>
                <a:ea typeface="Helvetica Neue"/>
                <a:cs typeface="Helvetica Neue"/>
              </a:rPr>
              <a:t>softmax → class probabilities</a:t>
            </a:r>
          </a:p>
        </p:txBody>
      </p:sp>
      <p:sp>
        <p:nvSpPr>
          <p:cNvPr id="63" name="Rectangle 62">
            <a:extLst>
              <a:ext uri="{FF2B5EF4-FFF2-40B4-BE49-F238E27FC236}">
                <a16:creationId xmlns:a16="http://schemas.microsoft.com/office/drawing/2014/main" id="{01282CE5-B963-44A6-A054-087DBBD1E488}"/>
              </a:ext>
            </a:extLst>
          </p:cNvPr>
          <p:cNvSpPr>
            <a:spLocks noGrp="1"/>
          </p:cNvSpPr>
          <p:nvPr/>
        </p:nvSpPr>
        <p:spPr>
          <a:xfrm>
            <a:off x="6858000" y="4524375"/>
            <a:ext cx="4191000" cy="457200"/>
          </a:xfrm>
          <a:prstGeom prst="rect">
            <a:avLst/>
          </a:prstGeom>
          <a:noFill/>
          <a:ln w="0">
            <a:noFill/>
            <a:prstDash val="solid"/>
          </a:ln>
        </p:spPr>
        <p:txBody>
          <a:bodyPr wrap="square" lIns="0" tIns="0" rIns="0" bIns="0" anchor="ctr">
            <a:normAutofit fontScale="92494"/>
          </a:bodyPr>
          <a:lstStyle/>
          <a:p>
            <a:pPr algn="ctr">
              <a:defRPr sz="2025" b="1" i="0">
                <a:solidFill>
                  <a:srgbClr val="18324A"/>
                </a:solidFill>
                <a:latin typeface="Cambria Math"/>
                <a:ea typeface="Cambria Math"/>
                <a:cs typeface="Cambria Math"/>
              </a:defRPr>
            </a:pPr>
            <a:r>
              <a:rPr sz="2025" b="1" i="0">
                <a:solidFill>
                  <a:srgbClr val="18324A"/>
                </a:solidFill>
                <a:latin typeface="Cambria Math"/>
                <a:ea typeface="Cambria Math"/>
                <a:cs typeface="Cambria Math"/>
              </a:rPr>
              <a:t>cross-entropy = −log p(correct class)</a:t>
            </a:r>
          </a:p>
        </p:txBody>
      </p:sp>
      <p:sp>
        <p:nvSpPr>
          <p:cNvPr id="64" name="Rounded Rectangle 63">
            <a:extLst>
              <a:ext uri="{FF2B5EF4-FFF2-40B4-BE49-F238E27FC236}">
                <a16:creationId xmlns:a16="http://schemas.microsoft.com/office/drawing/2014/main" id="{AC1C27C5-86B0-4847-8075-67DCA9E85997}"/>
              </a:ext>
            </a:extLst>
          </p:cNvPr>
          <p:cNvSpPr>
            <a:spLocks noGrp="1"/>
          </p:cNvSpPr>
          <p:nvPr/>
        </p:nvSpPr>
        <p:spPr>
          <a:xfrm>
            <a:off x="2952750" y="5619750"/>
            <a:ext cx="6286500" cy="552450"/>
          </a:xfrm>
          <a:prstGeom prst="roundRect">
            <a:avLst>
              <a:gd name="adj" fmla="val 20690"/>
            </a:avLst>
          </a:prstGeom>
          <a:solidFill>
            <a:srgbClr val="ECE1C8"/>
          </a:solidFill>
          <a:ln w="14288">
            <a:solidFill>
              <a:srgbClr val="B58A35"/>
            </a:solidFill>
            <a:prstDash val="solid"/>
          </a:ln>
        </p:spPr>
        <p:txBody>
          <a:bodyPr wrap="square" lIns="114300" tIns="95250" rIns="114300" bIns="95250" anchor="ctr">
            <a:normAutofit fontScale="86365"/>
          </a:bodyPr>
          <a:lstStyle/>
          <a:p>
            <a:pPr algn="ctr">
              <a:defRPr sz="2025" b="1">
                <a:solidFill>
                  <a:srgbClr val="202224"/>
                </a:solidFill>
                <a:latin typeface="Helvetica Neue"/>
                <a:ea typeface="Helvetica Neue"/>
                <a:cs typeface="Helvetica Neue"/>
              </a:defRPr>
            </a:pPr>
            <a:r>
              <a:rPr sz="2025" b="1">
                <a:solidFill>
                  <a:srgbClr val="202224"/>
                </a:solidFill>
                <a:latin typeface="Helvetica Neue"/>
                <a:ea typeface="Helvetica Neue"/>
                <a:cs typeface="Helvetica Neue"/>
              </a:rPr>
              <a:t>Next-token prediction is classification over a vocabulary.</a:t>
            </a:r>
          </a:p>
        </p:txBody>
      </p:sp>
    </p:spTree>
    <p:extLst>
      <p:ext uri="{BB962C8B-B14F-4D97-AF65-F5344CB8AC3E}">
        <p14:creationId xmlns:p14="http://schemas.microsoft.com/office/powerpoint/2010/main" val="733256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6C6DD736-1CC6-43BE-9ED9-734A9C47F0C4}"/>
              </a:ext>
            </a:extLst>
          </p:cNvPr>
          <p:cNvSpPr>
            <a:spLocks noGrp="1"/>
          </p:cNvSpPr>
          <p:nvPr/>
        </p:nvSpPr>
        <p:spPr>
          <a:xfrm>
            <a:off x="552450" y="219075"/>
            <a:ext cx="6858000" cy="228600"/>
          </a:xfrm>
          <a:prstGeom prst="rect">
            <a:avLst/>
          </a:prstGeom>
          <a:noFill/>
          <a:ln w="0">
            <a:noFill/>
            <a:prstDash val="solid"/>
          </a:ln>
        </p:spPr>
        <p:txBody>
          <a:bodyPr wrap="square" lIns="0" tIns="0" rIns="0" bIns="0" anchor="ctr">
            <a:normAutofit/>
          </a:bodyPr>
          <a:lstStyle/>
          <a:p>
            <a:pPr algn="l">
              <a:buNone/>
              <a:defRPr sz="1125" b="1" i="0">
                <a:solidFill>
                  <a:srgbClr val="B95535"/>
                </a:solidFill>
                <a:latin typeface="Helvetica Neue"/>
                <a:ea typeface="Helvetica Neue"/>
                <a:cs typeface="Helvetica Neue"/>
              </a:defRPr>
            </a:pPr>
            <a:r>
              <a:rPr sz="1125" b="1" i="0">
                <a:solidFill>
                  <a:srgbClr val="B95535"/>
                </a:solidFill>
                <a:latin typeface="Helvetica Neue"/>
                <a:ea typeface="Helvetica Neue"/>
                <a:cs typeface="Helvetica Neue"/>
              </a:rPr>
              <a:t>MACHINE LEARNING  •  HANDOFF</a:t>
            </a:r>
          </a:p>
        </p:txBody>
      </p:sp>
      <p:sp>
        <p:nvSpPr>
          <p:cNvPr id="2" name="Rectangle 1">
            <a:extLst>
              <a:ext uri="{FF2B5EF4-FFF2-40B4-BE49-F238E27FC236}">
                <a16:creationId xmlns:a16="http://schemas.microsoft.com/office/drawing/2014/main" id="{40B0D3F5-6FFE-42B1-A323-52540D824AFD}"/>
              </a:ext>
            </a:extLst>
          </p:cNvPr>
          <p:cNvSpPr>
            <a:spLocks noGrp="1"/>
          </p:cNvSpPr>
          <p:nvPr/>
        </p:nvSpPr>
        <p:spPr>
          <a:xfrm>
            <a:off x="533400" y="476250"/>
            <a:ext cx="11087100" cy="552450"/>
          </a:xfrm>
          <a:prstGeom prst="rect">
            <a:avLst/>
          </a:prstGeom>
          <a:noFill/>
          <a:ln w="0">
            <a:noFill/>
            <a:prstDash val="solid"/>
          </a:ln>
        </p:spPr>
        <p:txBody>
          <a:bodyPr wrap="square" lIns="0" tIns="0" rIns="0" bIns="0" anchor="t">
            <a:normAutofit fontScale="90990"/>
          </a:bodyPr>
          <a:lstStyle/>
          <a:p>
            <a:pPr algn="l">
              <a:buNone/>
              <a:defRPr sz="3525" b="1" i="0">
                <a:solidFill>
                  <a:srgbClr val="202224"/>
                </a:solidFill>
                <a:latin typeface="Helvetica Neue"/>
                <a:ea typeface="Helvetica Neue"/>
                <a:cs typeface="Helvetica Neue"/>
              </a:defRPr>
            </a:pPr>
            <a:r>
              <a:rPr sz="3525" b="1" i="0">
                <a:solidFill>
                  <a:srgbClr val="202224"/>
                </a:solidFill>
                <a:latin typeface="Helvetica Neue"/>
                <a:ea typeface="Helvetica Neue"/>
                <a:cs typeface="Helvetica Neue"/>
              </a:rPr>
              <a:t>A transformer uses the same learning loop on sequences</a:t>
            </a:r>
          </a:p>
        </p:txBody>
      </p:sp>
      <p:sp>
        <p:nvSpPr>
          <p:cNvPr id="3" name="Rectangle 2">
            <a:extLst>
              <a:ext uri="{FF2B5EF4-FFF2-40B4-BE49-F238E27FC236}">
                <a16:creationId xmlns:a16="http://schemas.microsoft.com/office/drawing/2014/main" id="{2DB267CD-1266-4B89-8560-FF80EBE0607D}"/>
              </a:ext>
            </a:extLst>
          </p:cNvPr>
          <p:cNvSpPr>
            <a:spLocks noGrp="1"/>
          </p:cNvSpPr>
          <p:nvPr/>
        </p:nvSpPr>
        <p:spPr>
          <a:xfrm>
            <a:off x="533400" y="1076325"/>
            <a:ext cx="11125200" cy="19050"/>
          </a:xfrm>
          <a:prstGeom prst="rect">
            <a:avLst/>
          </a:prstGeom>
          <a:solidFill>
            <a:srgbClr val="D4CEC2"/>
          </a:solidFill>
          <a:ln w="0">
            <a:noFill/>
            <a:prstDash val="solid"/>
          </a:ln>
        </p:spPr>
        <p:txBody>
          <a:bodyPr/>
          <a:lstStyle/>
          <a:p>
            <a:endParaRPr/>
          </a:p>
        </p:txBody>
      </p:sp>
      <p:sp>
        <p:nvSpPr>
          <p:cNvPr id="4" name="Rectangle 3">
            <a:extLst>
              <a:ext uri="{FF2B5EF4-FFF2-40B4-BE49-F238E27FC236}">
                <a16:creationId xmlns:a16="http://schemas.microsoft.com/office/drawing/2014/main" id="{97C95126-581A-4B01-B5EE-1B9C8B1D2B59}"/>
              </a:ext>
            </a:extLst>
          </p:cNvPr>
          <p:cNvSpPr>
            <a:spLocks noGrp="1"/>
          </p:cNvSpPr>
          <p:nvPr/>
        </p:nvSpPr>
        <p:spPr>
          <a:xfrm>
            <a:off x="11144250" y="228600"/>
            <a:ext cx="495300" cy="219075"/>
          </a:xfrm>
          <a:prstGeom prst="rect">
            <a:avLst/>
          </a:prstGeom>
          <a:noFill/>
          <a:ln w="0">
            <a:noFill/>
            <a:prstDash val="solid"/>
          </a:ln>
        </p:spPr>
        <p:txBody>
          <a:bodyPr wrap="square" lIns="0" tIns="0" rIns="0" bIns="0" anchor="ctr">
            <a:normAutofit/>
          </a:bodyPr>
          <a:lstStyle/>
          <a:p>
            <a:pPr algn="r">
              <a:buNone/>
              <a:defRPr sz="1050" b="0" i="0">
                <a:solidFill>
                  <a:srgbClr val="66645F"/>
                </a:solidFill>
                <a:latin typeface="Helvetica Neue"/>
                <a:ea typeface="Helvetica Neue"/>
                <a:cs typeface="Helvetica Neue"/>
              </a:defRPr>
            </a:pPr>
            <a:r>
              <a:rPr sz="1050" b="0" i="0">
                <a:solidFill>
                  <a:srgbClr val="66645F"/>
                </a:solidFill>
                <a:latin typeface="Helvetica Neue"/>
                <a:ea typeface="Helvetica Neue"/>
                <a:cs typeface="Helvetica Neue"/>
              </a:rPr>
              <a:t>08</a:t>
            </a:r>
          </a:p>
        </p:txBody>
      </p:sp>
      <p:sp>
        <p:nvSpPr>
          <p:cNvPr id="5" name="Rectangle 4">
            <a:extLst>
              <a:ext uri="{FF2B5EF4-FFF2-40B4-BE49-F238E27FC236}">
                <a16:creationId xmlns:a16="http://schemas.microsoft.com/office/drawing/2014/main" id="{66D1D558-BC43-41B1-8650-D1CCEEEC810D}"/>
              </a:ext>
            </a:extLst>
          </p:cNvPr>
          <p:cNvSpPr>
            <a:spLocks noGrp="1"/>
          </p:cNvSpPr>
          <p:nvPr/>
        </p:nvSpPr>
        <p:spPr>
          <a:xfrm>
            <a:off x="533400" y="6543675"/>
            <a:ext cx="5810250" cy="161925"/>
          </a:xfrm>
          <a:prstGeom prst="rect">
            <a:avLst/>
          </a:prstGeom>
          <a:noFill/>
          <a:ln w="0">
            <a:noFill/>
            <a:prstDash val="solid"/>
          </a:ln>
        </p:spPr>
        <p:txBody>
          <a:bodyPr wrap="square" lIns="0" tIns="0" rIns="0" bIns="0" anchor="ctr">
            <a:normAutofit/>
          </a:bodyPr>
          <a:lstStyle/>
          <a:p>
            <a:pPr algn="l">
              <a:buNone/>
              <a:defRPr sz="863" b="0" i="0">
                <a:solidFill>
                  <a:srgbClr val="66645F"/>
                </a:solidFill>
                <a:latin typeface="Helvetica Neue"/>
                <a:ea typeface="Helvetica Neue"/>
                <a:cs typeface="Helvetica Neue"/>
              </a:defRPr>
            </a:pPr>
            <a:r>
              <a:rPr sz="863" b="0" i="0">
                <a:solidFill>
                  <a:srgbClr val="66645F"/>
                </a:solidFill>
                <a:latin typeface="Helvetica Neue"/>
                <a:ea typeface="Helvetica Neue"/>
                <a:cs typeface="Helvetica Neue"/>
              </a:rPr>
              <a:t>ICTS 2026  •  Machine learning → transformers</a:t>
            </a:r>
          </a:p>
        </p:txBody>
      </p:sp>
      <p:sp>
        <p:nvSpPr>
          <p:cNvPr id="43" name="Straight Connector 42">
            <a:extLst>
              <a:ext uri="{FF2B5EF4-FFF2-40B4-BE49-F238E27FC236}">
                <a16:creationId xmlns:a16="http://schemas.microsoft.com/office/drawing/2014/main" id="{E3C2773C-EC49-440E-B422-98A28E0E30B4}"/>
              </a:ext>
            </a:extLst>
          </p:cNvPr>
          <p:cNvSpPr>
            <a:spLocks noGrp="1"/>
          </p:cNvSpPr>
          <p:nvPr/>
        </p:nvSpPr>
        <p:spPr>
          <a:xfrm>
            <a:off x="2143125" y="2524125"/>
            <a:ext cx="485775" cy="9525"/>
          </a:xfrm>
          <a:prstGeom prst="line">
            <a:avLst/>
          </a:prstGeom>
          <a:noFill/>
          <a:ln w="28575">
            <a:solidFill>
              <a:srgbClr val="2D617F"/>
            </a:solidFill>
            <a:prstDash val="solid"/>
          </a:ln>
        </p:spPr>
        <p:txBody>
          <a:bodyPr/>
          <a:lstStyle/>
          <a:p>
            <a:endParaRPr lang="en-US"/>
          </a:p>
        </p:txBody>
      </p:sp>
      <p:sp>
        <p:nvSpPr>
          <p:cNvPr id="44" name="Triangle 43">
            <a:extLst>
              <a:ext uri="{FF2B5EF4-FFF2-40B4-BE49-F238E27FC236}">
                <a16:creationId xmlns:a16="http://schemas.microsoft.com/office/drawing/2014/main" id="{0E9B1C10-C943-4B09-9CC9-51DF24B5BF30}"/>
              </a:ext>
            </a:extLst>
          </p:cNvPr>
          <p:cNvSpPr>
            <a:spLocks noGrp="1"/>
          </p:cNvSpPr>
          <p:nvPr/>
        </p:nvSpPr>
        <p:spPr>
          <a:xfrm rot="5400000">
            <a:off x="2667000" y="2428875"/>
            <a:ext cx="190500" cy="190500"/>
          </a:xfrm>
          <a:prstGeom prst="triangle">
            <a:avLst/>
          </a:prstGeom>
          <a:solidFill>
            <a:srgbClr val="2D617F"/>
          </a:solidFill>
          <a:ln w="0">
            <a:noFill/>
            <a:prstDash val="solid"/>
          </a:ln>
        </p:spPr>
        <p:txBody>
          <a:bodyPr/>
          <a:lstStyle/>
          <a:p>
            <a:endParaRPr lang="en-US"/>
          </a:p>
        </p:txBody>
      </p:sp>
      <p:sp>
        <p:nvSpPr>
          <p:cNvPr id="45" name="Straight Connector 44">
            <a:extLst>
              <a:ext uri="{FF2B5EF4-FFF2-40B4-BE49-F238E27FC236}">
                <a16:creationId xmlns:a16="http://schemas.microsoft.com/office/drawing/2014/main" id="{AA6F0224-E19D-41CF-9128-9CFC9A696E4F}"/>
              </a:ext>
            </a:extLst>
          </p:cNvPr>
          <p:cNvSpPr>
            <a:spLocks noGrp="1"/>
          </p:cNvSpPr>
          <p:nvPr/>
        </p:nvSpPr>
        <p:spPr>
          <a:xfrm>
            <a:off x="7524750" y="2524125"/>
            <a:ext cx="438150" cy="9525"/>
          </a:xfrm>
          <a:prstGeom prst="line">
            <a:avLst/>
          </a:prstGeom>
          <a:noFill/>
          <a:ln w="28575">
            <a:solidFill>
              <a:srgbClr val="B95535"/>
            </a:solidFill>
            <a:prstDash val="solid"/>
          </a:ln>
        </p:spPr>
        <p:txBody>
          <a:bodyPr/>
          <a:lstStyle/>
          <a:p>
            <a:endParaRPr lang="en-US"/>
          </a:p>
        </p:txBody>
      </p:sp>
      <p:sp>
        <p:nvSpPr>
          <p:cNvPr id="46" name="Triangle 45">
            <a:extLst>
              <a:ext uri="{FF2B5EF4-FFF2-40B4-BE49-F238E27FC236}">
                <a16:creationId xmlns:a16="http://schemas.microsoft.com/office/drawing/2014/main" id="{6B316ED3-5312-4D67-BE2C-4D146EB83E19}"/>
              </a:ext>
            </a:extLst>
          </p:cNvPr>
          <p:cNvSpPr>
            <a:spLocks noGrp="1"/>
          </p:cNvSpPr>
          <p:nvPr/>
        </p:nvSpPr>
        <p:spPr>
          <a:xfrm rot="5400000">
            <a:off x="8001000" y="2428875"/>
            <a:ext cx="190500" cy="190500"/>
          </a:xfrm>
          <a:prstGeom prst="triangle">
            <a:avLst/>
          </a:prstGeom>
          <a:solidFill>
            <a:srgbClr val="B95535"/>
          </a:solidFill>
          <a:ln w="0">
            <a:noFill/>
            <a:prstDash val="solid"/>
          </a:ln>
        </p:spPr>
        <p:txBody>
          <a:bodyPr/>
          <a:lstStyle/>
          <a:p>
            <a:endParaRPr lang="en-US"/>
          </a:p>
        </p:txBody>
      </p:sp>
      <p:sp>
        <p:nvSpPr>
          <p:cNvPr id="47" name="Straight Connector 46">
            <a:extLst>
              <a:ext uri="{FF2B5EF4-FFF2-40B4-BE49-F238E27FC236}">
                <a16:creationId xmlns:a16="http://schemas.microsoft.com/office/drawing/2014/main" id="{E8B7E964-7DB2-458E-BC26-C8008E9C6019}"/>
              </a:ext>
            </a:extLst>
          </p:cNvPr>
          <p:cNvSpPr>
            <a:spLocks noGrp="1"/>
          </p:cNvSpPr>
          <p:nvPr/>
        </p:nvSpPr>
        <p:spPr>
          <a:xfrm>
            <a:off x="9858375" y="2524125"/>
            <a:ext cx="390525" cy="9525"/>
          </a:xfrm>
          <a:prstGeom prst="line">
            <a:avLst/>
          </a:prstGeom>
          <a:noFill/>
          <a:ln w="28575">
            <a:solidFill>
              <a:srgbClr val="4E705D"/>
            </a:solidFill>
            <a:prstDash val="solid"/>
          </a:ln>
        </p:spPr>
        <p:txBody>
          <a:bodyPr/>
          <a:lstStyle/>
          <a:p>
            <a:endParaRPr lang="en-US"/>
          </a:p>
        </p:txBody>
      </p:sp>
      <p:sp>
        <p:nvSpPr>
          <p:cNvPr id="48" name="Triangle 47">
            <a:extLst>
              <a:ext uri="{FF2B5EF4-FFF2-40B4-BE49-F238E27FC236}">
                <a16:creationId xmlns:a16="http://schemas.microsoft.com/office/drawing/2014/main" id="{A34AAB58-7368-465B-B086-81F8401E3E1A}"/>
              </a:ext>
            </a:extLst>
          </p:cNvPr>
          <p:cNvSpPr>
            <a:spLocks noGrp="1"/>
          </p:cNvSpPr>
          <p:nvPr/>
        </p:nvSpPr>
        <p:spPr>
          <a:xfrm rot="5400000">
            <a:off x="10287000" y="2428875"/>
            <a:ext cx="190500" cy="190500"/>
          </a:xfrm>
          <a:prstGeom prst="triangle">
            <a:avLst/>
          </a:prstGeom>
          <a:solidFill>
            <a:srgbClr val="4E705D"/>
          </a:solidFill>
          <a:ln w="0">
            <a:noFill/>
            <a:prstDash val="solid"/>
          </a:ln>
        </p:spPr>
        <p:txBody>
          <a:bodyPr/>
          <a:lstStyle/>
          <a:p>
            <a:endParaRPr lang="en-US"/>
          </a:p>
        </p:txBody>
      </p:sp>
      <p:sp>
        <p:nvSpPr>
          <p:cNvPr id="49" name="Rounded Rectangle 48">
            <a:extLst>
              <a:ext uri="{FF2B5EF4-FFF2-40B4-BE49-F238E27FC236}">
                <a16:creationId xmlns:a16="http://schemas.microsoft.com/office/drawing/2014/main" id="{D6124D9F-E0C2-4EF6-BBCA-30F1101143B4}"/>
              </a:ext>
            </a:extLst>
          </p:cNvPr>
          <p:cNvSpPr>
            <a:spLocks noGrp="1"/>
          </p:cNvSpPr>
          <p:nvPr/>
        </p:nvSpPr>
        <p:spPr>
          <a:xfrm>
            <a:off x="619125" y="2000250"/>
            <a:ext cx="1524000" cy="1047750"/>
          </a:xfrm>
          <a:prstGeom prst="roundRect">
            <a:avLst>
              <a:gd name="adj" fmla="val 10909"/>
            </a:avLst>
          </a:prstGeom>
          <a:solidFill>
            <a:srgbClr val="DCE6ED"/>
          </a:solidFill>
          <a:ln w="14288">
            <a:solidFill>
              <a:srgbClr val="2D617F"/>
            </a:solidFill>
            <a:prstDash val="solid"/>
          </a:ln>
        </p:spPr>
        <p:txBody>
          <a:bodyPr wrap="square" lIns="114300" tIns="95250" rIns="114300" bIns="95250" anchor="ctr">
            <a:normAutofit/>
          </a:bodyPr>
          <a:lstStyle/>
          <a:p>
            <a:pPr algn="ctr">
              <a:defRPr sz="1500" b="1">
                <a:solidFill>
                  <a:srgbClr val="2D617F"/>
                </a:solidFill>
                <a:latin typeface="Helvetica Neue"/>
                <a:ea typeface="Helvetica Neue"/>
                <a:cs typeface="Helvetica Neue"/>
              </a:defRPr>
            </a:pPr>
            <a:r>
              <a:rPr sz="1500" b="1">
                <a:solidFill>
                  <a:srgbClr val="2D617F"/>
                </a:solidFill>
                <a:latin typeface="Helvetica Neue"/>
                <a:ea typeface="Helvetica Neue"/>
                <a:cs typeface="Helvetica Neue"/>
              </a:rPr>
              <a:t>sequence</a:t>
            </a:r>
          </a:p>
          <a:p>
            <a:pPr algn="ctr">
              <a:defRPr sz="1500" b="1">
                <a:solidFill>
                  <a:srgbClr val="2D617F"/>
                </a:solidFill>
                <a:latin typeface="Helvetica Neue"/>
                <a:ea typeface="Helvetica Neue"/>
                <a:cs typeface="Helvetica Neue"/>
              </a:defRPr>
            </a:pPr>
            <a:r>
              <a:rPr sz="1500" b="1">
                <a:solidFill>
                  <a:srgbClr val="2D617F"/>
                </a:solidFill>
                <a:latin typeface="Helvetica Neue"/>
                <a:ea typeface="Helvetica Neue"/>
                <a:cs typeface="Helvetica Neue"/>
              </a:rPr>
              <a:t>examples</a:t>
            </a:r>
          </a:p>
        </p:txBody>
      </p:sp>
      <p:sp>
        <p:nvSpPr>
          <p:cNvPr id="50" name="Rounded Rectangle 49">
            <a:extLst>
              <a:ext uri="{FF2B5EF4-FFF2-40B4-BE49-F238E27FC236}">
                <a16:creationId xmlns:a16="http://schemas.microsoft.com/office/drawing/2014/main" id="{2F638356-33D3-456F-BD2C-5B0278BDEDD7}"/>
              </a:ext>
            </a:extLst>
          </p:cNvPr>
          <p:cNvSpPr>
            <a:spLocks noGrp="1"/>
          </p:cNvSpPr>
          <p:nvPr/>
        </p:nvSpPr>
        <p:spPr>
          <a:xfrm>
            <a:off x="2762250" y="1571625"/>
            <a:ext cx="4762500" cy="1905000"/>
          </a:xfrm>
          <a:prstGeom prst="roundRect">
            <a:avLst>
              <a:gd name="adj" fmla="val 6000"/>
            </a:avLst>
          </a:prstGeom>
          <a:solidFill>
            <a:srgbClr val="FFFFFF"/>
          </a:solidFill>
          <a:ln w="14288">
            <a:solidFill>
              <a:srgbClr val="D4CEC2"/>
            </a:solidFill>
            <a:prstDash val="solid"/>
          </a:ln>
        </p:spPr>
        <p:txBody>
          <a:bodyPr wrap="square" lIns="285750" tIns="95250" rIns="114300" bIns="95250" anchor="t">
            <a:normAutofit/>
          </a:bodyPr>
          <a:lstStyle/>
          <a:p>
            <a:pPr algn="l">
              <a:defRPr sz="1725" b="1">
                <a:solidFill>
                  <a:srgbClr val="18324A"/>
                </a:solidFill>
                <a:latin typeface="Helvetica Neue"/>
                <a:ea typeface="Helvetica Neue"/>
                <a:cs typeface="Helvetica Neue"/>
              </a:defRPr>
            </a:pPr>
            <a:r>
              <a:rPr sz="1725" b="1">
                <a:solidFill>
                  <a:srgbClr val="18324A"/>
                </a:solidFill>
                <a:latin typeface="Helvetica Neue"/>
                <a:ea typeface="Helvetica Neue"/>
                <a:cs typeface="Helvetica Neue"/>
              </a:rPr>
              <a:t>TRANSFORMER</a:t>
            </a:r>
          </a:p>
        </p:txBody>
      </p:sp>
      <p:sp>
        <p:nvSpPr>
          <p:cNvPr id="51" name="Straight Connector 50">
            <a:extLst>
              <a:ext uri="{FF2B5EF4-FFF2-40B4-BE49-F238E27FC236}">
                <a16:creationId xmlns:a16="http://schemas.microsoft.com/office/drawing/2014/main" id="{4323AB8C-84F3-4DDB-B022-EB20741030CB}"/>
              </a:ext>
            </a:extLst>
          </p:cNvPr>
          <p:cNvSpPr>
            <a:spLocks noGrp="1"/>
          </p:cNvSpPr>
          <p:nvPr/>
        </p:nvSpPr>
        <p:spPr>
          <a:xfrm>
            <a:off x="4476750" y="2619375"/>
            <a:ext cx="200025" cy="9525"/>
          </a:xfrm>
          <a:prstGeom prst="line">
            <a:avLst/>
          </a:prstGeom>
          <a:noFill/>
          <a:ln w="19050">
            <a:solidFill>
              <a:srgbClr val="527E98"/>
            </a:solidFill>
            <a:prstDash val="solid"/>
          </a:ln>
        </p:spPr>
        <p:txBody>
          <a:bodyPr/>
          <a:lstStyle/>
          <a:p>
            <a:endParaRPr lang="en-US"/>
          </a:p>
        </p:txBody>
      </p:sp>
      <p:sp>
        <p:nvSpPr>
          <p:cNvPr id="52" name="Triangle 51">
            <a:extLst>
              <a:ext uri="{FF2B5EF4-FFF2-40B4-BE49-F238E27FC236}">
                <a16:creationId xmlns:a16="http://schemas.microsoft.com/office/drawing/2014/main" id="{55524E3A-E0AB-41C5-B1F0-59C764F4DA9C}"/>
              </a:ext>
            </a:extLst>
          </p:cNvPr>
          <p:cNvSpPr>
            <a:spLocks noGrp="1"/>
          </p:cNvSpPr>
          <p:nvPr/>
        </p:nvSpPr>
        <p:spPr>
          <a:xfrm rot="5400000">
            <a:off x="4714875" y="2524125"/>
            <a:ext cx="190500" cy="190500"/>
          </a:xfrm>
          <a:prstGeom prst="triangle">
            <a:avLst/>
          </a:prstGeom>
          <a:solidFill>
            <a:srgbClr val="527E98"/>
          </a:solidFill>
          <a:ln w="0">
            <a:noFill/>
            <a:prstDash val="solid"/>
          </a:ln>
        </p:spPr>
        <p:txBody>
          <a:bodyPr/>
          <a:lstStyle/>
          <a:p>
            <a:endParaRPr lang="en-US"/>
          </a:p>
        </p:txBody>
      </p:sp>
      <p:sp>
        <p:nvSpPr>
          <p:cNvPr id="53" name="Straight Connector 52">
            <a:extLst>
              <a:ext uri="{FF2B5EF4-FFF2-40B4-BE49-F238E27FC236}">
                <a16:creationId xmlns:a16="http://schemas.microsoft.com/office/drawing/2014/main" id="{C5E48DB5-9DEC-4AB6-AC6B-92C80AAB917D}"/>
              </a:ext>
            </a:extLst>
          </p:cNvPr>
          <p:cNvSpPr>
            <a:spLocks noGrp="1"/>
          </p:cNvSpPr>
          <p:nvPr/>
        </p:nvSpPr>
        <p:spPr>
          <a:xfrm>
            <a:off x="6048375" y="2619375"/>
            <a:ext cx="247650" cy="9525"/>
          </a:xfrm>
          <a:prstGeom prst="line">
            <a:avLst/>
          </a:prstGeom>
          <a:noFill/>
          <a:ln w="19050">
            <a:solidFill>
              <a:srgbClr val="D57A56"/>
            </a:solidFill>
            <a:prstDash val="solid"/>
          </a:ln>
        </p:spPr>
        <p:txBody>
          <a:bodyPr/>
          <a:lstStyle/>
          <a:p>
            <a:endParaRPr lang="en-US"/>
          </a:p>
        </p:txBody>
      </p:sp>
      <p:sp>
        <p:nvSpPr>
          <p:cNvPr id="54" name="Triangle 53">
            <a:extLst>
              <a:ext uri="{FF2B5EF4-FFF2-40B4-BE49-F238E27FC236}">
                <a16:creationId xmlns:a16="http://schemas.microsoft.com/office/drawing/2014/main" id="{97CD2FD2-16E2-4262-A38E-C7E05D02DA13}"/>
              </a:ext>
            </a:extLst>
          </p:cNvPr>
          <p:cNvSpPr>
            <a:spLocks noGrp="1"/>
          </p:cNvSpPr>
          <p:nvPr/>
        </p:nvSpPr>
        <p:spPr>
          <a:xfrm rot="5400000">
            <a:off x="6334125" y="2524125"/>
            <a:ext cx="190500" cy="190500"/>
          </a:xfrm>
          <a:prstGeom prst="triangle">
            <a:avLst/>
          </a:prstGeom>
          <a:solidFill>
            <a:srgbClr val="D57A56"/>
          </a:solidFill>
          <a:ln w="0">
            <a:noFill/>
            <a:prstDash val="solid"/>
          </a:ln>
        </p:spPr>
        <p:txBody>
          <a:bodyPr/>
          <a:lstStyle/>
          <a:p>
            <a:endParaRPr lang="en-US"/>
          </a:p>
        </p:txBody>
      </p:sp>
      <p:sp>
        <p:nvSpPr>
          <p:cNvPr id="55" name="Rounded Rectangle 54">
            <a:extLst>
              <a:ext uri="{FF2B5EF4-FFF2-40B4-BE49-F238E27FC236}">
                <a16:creationId xmlns:a16="http://schemas.microsoft.com/office/drawing/2014/main" id="{CA04529D-9287-443D-80AC-5B4FD5CBAA21}"/>
              </a:ext>
            </a:extLst>
          </p:cNvPr>
          <p:cNvSpPr>
            <a:spLocks noGrp="1"/>
          </p:cNvSpPr>
          <p:nvPr/>
        </p:nvSpPr>
        <p:spPr>
          <a:xfrm>
            <a:off x="3048000" y="2238375"/>
            <a:ext cx="1428750" cy="762000"/>
          </a:xfrm>
          <a:prstGeom prst="roundRect">
            <a:avLst>
              <a:gd name="adj" fmla="val 15000"/>
            </a:avLst>
          </a:prstGeom>
          <a:solidFill>
            <a:srgbClr val="DCE6ED"/>
          </a:solidFill>
          <a:ln w="14288">
            <a:solidFill>
              <a:srgbClr val="2D617F"/>
            </a:solidFill>
            <a:prstDash val="solid"/>
          </a:ln>
        </p:spPr>
        <p:txBody>
          <a:bodyPr wrap="square" lIns="38100" tIns="57150" rIns="38100" bIns="57150" anchor="ctr">
            <a:normAutofit/>
          </a:bodyPr>
          <a:lstStyle/>
          <a:p>
            <a:pPr algn="ctr">
              <a:defRPr sz="1425" b="1">
                <a:solidFill>
                  <a:srgbClr val="202224"/>
                </a:solidFill>
                <a:latin typeface="Helvetica Neue"/>
                <a:ea typeface="Helvetica Neue"/>
                <a:cs typeface="Helvetica Neue"/>
              </a:defRPr>
            </a:pPr>
            <a:r>
              <a:rPr sz="1425" b="1">
                <a:solidFill>
                  <a:srgbClr val="202224"/>
                </a:solidFill>
                <a:latin typeface="Helvetica Neue"/>
                <a:ea typeface="Helvetica Neue"/>
                <a:cs typeface="Helvetica Neue"/>
              </a:rPr>
              <a:t>embedding</a:t>
            </a:r>
          </a:p>
        </p:txBody>
      </p:sp>
      <p:sp>
        <p:nvSpPr>
          <p:cNvPr id="56" name="Rounded Rectangle 55">
            <a:extLst>
              <a:ext uri="{FF2B5EF4-FFF2-40B4-BE49-F238E27FC236}">
                <a16:creationId xmlns:a16="http://schemas.microsoft.com/office/drawing/2014/main" id="{81FE93EC-A9BA-4427-8872-D39543FCEFDC}"/>
              </a:ext>
            </a:extLst>
          </p:cNvPr>
          <p:cNvSpPr>
            <a:spLocks noGrp="1"/>
          </p:cNvSpPr>
          <p:nvPr/>
        </p:nvSpPr>
        <p:spPr>
          <a:xfrm>
            <a:off x="4810125" y="2238375"/>
            <a:ext cx="1238250" cy="762000"/>
          </a:xfrm>
          <a:prstGeom prst="roundRect">
            <a:avLst>
              <a:gd name="adj" fmla="val 15000"/>
            </a:avLst>
          </a:prstGeom>
          <a:solidFill>
            <a:srgbClr val="EED8CE"/>
          </a:solidFill>
          <a:ln w="14288">
            <a:solidFill>
              <a:srgbClr val="B95535"/>
            </a:solidFill>
            <a:prstDash val="solid"/>
          </a:ln>
        </p:spPr>
        <p:txBody>
          <a:bodyPr wrap="square" lIns="38100" tIns="57150" rIns="38100" bIns="57150" anchor="ctr">
            <a:normAutofit/>
          </a:bodyPr>
          <a:lstStyle/>
          <a:p>
            <a:pPr algn="ctr">
              <a:defRPr sz="1425" b="1">
                <a:solidFill>
                  <a:srgbClr val="202224"/>
                </a:solidFill>
                <a:latin typeface="Helvetica Neue"/>
                <a:ea typeface="Helvetica Neue"/>
                <a:cs typeface="Helvetica Neue"/>
              </a:defRPr>
            </a:pPr>
            <a:r>
              <a:rPr sz="1425" b="1">
                <a:solidFill>
                  <a:srgbClr val="202224"/>
                </a:solidFill>
                <a:latin typeface="Helvetica Neue"/>
                <a:ea typeface="Helvetica Neue"/>
                <a:cs typeface="Helvetica Neue"/>
              </a:rPr>
              <a:t>attention</a:t>
            </a:r>
          </a:p>
        </p:txBody>
      </p:sp>
      <p:sp>
        <p:nvSpPr>
          <p:cNvPr id="57" name="Rounded Rectangle 56">
            <a:extLst>
              <a:ext uri="{FF2B5EF4-FFF2-40B4-BE49-F238E27FC236}">
                <a16:creationId xmlns:a16="http://schemas.microsoft.com/office/drawing/2014/main" id="{018D69F2-C954-4984-A1BB-D414F2E3A01F}"/>
              </a:ext>
            </a:extLst>
          </p:cNvPr>
          <p:cNvSpPr>
            <a:spLocks noGrp="1"/>
          </p:cNvSpPr>
          <p:nvPr/>
        </p:nvSpPr>
        <p:spPr>
          <a:xfrm>
            <a:off x="6429375" y="2238375"/>
            <a:ext cx="809625" cy="762000"/>
          </a:xfrm>
          <a:prstGeom prst="roundRect">
            <a:avLst>
              <a:gd name="adj" fmla="val 15000"/>
            </a:avLst>
          </a:prstGeom>
          <a:solidFill>
            <a:srgbClr val="DDE7DF"/>
          </a:solidFill>
          <a:ln w="14288">
            <a:solidFill>
              <a:srgbClr val="4E705D"/>
            </a:solidFill>
            <a:prstDash val="solid"/>
          </a:ln>
        </p:spPr>
        <p:txBody>
          <a:bodyPr wrap="square" lIns="38100" tIns="57150" rIns="38100" bIns="57150" anchor="ctr">
            <a:normAutofit/>
          </a:bodyPr>
          <a:lstStyle/>
          <a:p>
            <a:pPr algn="ctr">
              <a:defRPr sz="1425" b="1">
                <a:solidFill>
                  <a:srgbClr val="202224"/>
                </a:solidFill>
                <a:latin typeface="Helvetica Neue"/>
                <a:ea typeface="Helvetica Neue"/>
                <a:cs typeface="Helvetica Neue"/>
              </a:defRPr>
            </a:pPr>
            <a:r>
              <a:rPr sz="1425" b="1">
                <a:solidFill>
                  <a:srgbClr val="202224"/>
                </a:solidFill>
                <a:latin typeface="Helvetica Neue"/>
                <a:ea typeface="Helvetica Neue"/>
                <a:cs typeface="Helvetica Neue"/>
              </a:rPr>
              <a:t>MLP</a:t>
            </a:r>
          </a:p>
        </p:txBody>
      </p:sp>
      <p:sp>
        <p:nvSpPr>
          <p:cNvPr id="58" name="Rounded Rectangle 57">
            <a:extLst>
              <a:ext uri="{FF2B5EF4-FFF2-40B4-BE49-F238E27FC236}">
                <a16:creationId xmlns:a16="http://schemas.microsoft.com/office/drawing/2014/main" id="{CD4BFD66-7B92-4D0D-A932-924DE0FE2A29}"/>
              </a:ext>
            </a:extLst>
          </p:cNvPr>
          <p:cNvSpPr>
            <a:spLocks noGrp="1"/>
          </p:cNvSpPr>
          <p:nvPr/>
        </p:nvSpPr>
        <p:spPr>
          <a:xfrm>
            <a:off x="8096250" y="2000250"/>
            <a:ext cx="1762125" cy="1047750"/>
          </a:xfrm>
          <a:prstGeom prst="roundRect">
            <a:avLst>
              <a:gd name="adj" fmla="val 10909"/>
            </a:avLst>
          </a:prstGeom>
          <a:solidFill>
            <a:srgbClr val="EED8CE"/>
          </a:solidFill>
          <a:ln w="14288">
            <a:solidFill>
              <a:srgbClr val="B95535"/>
            </a:solidFill>
            <a:prstDash val="solid"/>
          </a:ln>
        </p:spPr>
        <p:txBody>
          <a:bodyPr wrap="square" lIns="114300" tIns="95250" rIns="114300" bIns="95250" anchor="ctr">
            <a:normAutofit/>
          </a:bodyPr>
          <a:lstStyle/>
          <a:p>
            <a:pPr algn="ctr">
              <a:defRPr sz="1800" b="1">
                <a:solidFill>
                  <a:srgbClr val="B95535"/>
                </a:solidFill>
                <a:latin typeface="Helvetica Neue"/>
                <a:ea typeface="Helvetica Neue"/>
                <a:cs typeface="Helvetica Neue"/>
              </a:defRPr>
            </a:pPr>
            <a:r>
              <a:rPr sz="1800" b="1">
                <a:solidFill>
                  <a:srgbClr val="B95535"/>
                </a:solidFill>
                <a:latin typeface="Helvetica Neue"/>
                <a:ea typeface="Helvetica Neue"/>
                <a:cs typeface="Helvetica Neue"/>
              </a:rPr>
              <a:t>next-token</a:t>
            </a:r>
          </a:p>
          <a:p>
            <a:pPr algn="ctr">
              <a:defRPr sz="1800" b="1">
                <a:solidFill>
                  <a:srgbClr val="B95535"/>
                </a:solidFill>
                <a:latin typeface="Helvetica Neue"/>
                <a:ea typeface="Helvetica Neue"/>
                <a:cs typeface="Helvetica Neue"/>
              </a:defRPr>
            </a:pPr>
            <a:r>
              <a:rPr sz="1800" b="1">
                <a:solidFill>
                  <a:srgbClr val="B95535"/>
                </a:solidFill>
                <a:latin typeface="Helvetica Neue"/>
                <a:ea typeface="Helvetica Neue"/>
                <a:cs typeface="Helvetica Neue"/>
              </a:rPr>
              <a:t>logits</a:t>
            </a:r>
          </a:p>
        </p:txBody>
      </p:sp>
      <p:sp>
        <p:nvSpPr>
          <p:cNvPr id="59" name="Rounded Rectangle 58">
            <a:extLst>
              <a:ext uri="{FF2B5EF4-FFF2-40B4-BE49-F238E27FC236}">
                <a16:creationId xmlns:a16="http://schemas.microsoft.com/office/drawing/2014/main" id="{0229B674-4329-4F8F-A1D0-1E960E16A5FC}"/>
              </a:ext>
            </a:extLst>
          </p:cNvPr>
          <p:cNvSpPr>
            <a:spLocks noGrp="1"/>
          </p:cNvSpPr>
          <p:nvPr/>
        </p:nvSpPr>
        <p:spPr>
          <a:xfrm>
            <a:off x="10382250" y="2000250"/>
            <a:ext cx="1095375" cy="1047750"/>
          </a:xfrm>
          <a:prstGeom prst="roundRect">
            <a:avLst>
              <a:gd name="adj" fmla="val 10909"/>
            </a:avLst>
          </a:prstGeom>
          <a:solidFill>
            <a:srgbClr val="DDE7DF"/>
          </a:solidFill>
          <a:ln w="14288">
            <a:solidFill>
              <a:srgbClr val="4E705D"/>
            </a:solidFill>
            <a:prstDash val="solid"/>
          </a:ln>
        </p:spPr>
        <p:txBody>
          <a:bodyPr wrap="square" lIns="38100" tIns="57150" rIns="38100" bIns="57150" anchor="ctr">
            <a:normAutofit/>
          </a:bodyPr>
          <a:lstStyle/>
          <a:p>
            <a:pPr algn="ctr">
              <a:defRPr sz="1425" b="1">
                <a:solidFill>
                  <a:srgbClr val="4E705D"/>
                </a:solidFill>
                <a:latin typeface="Helvetica Neue"/>
                <a:ea typeface="Helvetica Neue"/>
                <a:cs typeface="Helvetica Neue"/>
              </a:defRPr>
            </a:pPr>
            <a:r>
              <a:rPr sz="1425" b="1">
                <a:solidFill>
                  <a:srgbClr val="4E705D"/>
                </a:solidFill>
                <a:latin typeface="Helvetica Neue"/>
                <a:ea typeface="Helvetica Neue"/>
                <a:cs typeface="Helvetica Neue"/>
              </a:rPr>
              <a:t>loss +</a:t>
            </a:r>
          </a:p>
          <a:p>
            <a:pPr algn="ctr">
              <a:defRPr sz="1425" b="1">
                <a:solidFill>
                  <a:srgbClr val="4E705D"/>
                </a:solidFill>
                <a:latin typeface="Helvetica Neue"/>
                <a:ea typeface="Helvetica Neue"/>
                <a:cs typeface="Helvetica Neue"/>
              </a:defRPr>
            </a:pPr>
            <a:r>
              <a:rPr sz="1425" b="1">
                <a:solidFill>
                  <a:srgbClr val="4E705D"/>
                </a:solidFill>
                <a:latin typeface="Helvetica Neue"/>
                <a:ea typeface="Helvetica Neue"/>
                <a:cs typeface="Helvetica Neue"/>
              </a:rPr>
              <a:t>update</a:t>
            </a:r>
          </a:p>
        </p:txBody>
      </p:sp>
      <p:sp>
        <p:nvSpPr>
          <p:cNvPr id="60" name="Rectangle 59">
            <a:extLst>
              <a:ext uri="{FF2B5EF4-FFF2-40B4-BE49-F238E27FC236}">
                <a16:creationId xmlns:a16="http://schemas.microsoft.com/office/drawing/2014/main" id="{97E3A70F-F819-450F-ABE0-8DE4D7DB39C6}"/>
              </a:ext>
            </a:extLst>
          </p:cNvPr>
          <p:cNvSpPr>
            <a:spLocks noGrp="1"/>
          </p:cNvSpPr>
          <p:nvPr/>
        </p:nvSpPr>
        <p:spPr>
          <a:xfrm>
            <a:off x="1143000" y="4048125"/>
            <a:ext cx="3238500" cy="342900"/>
          </a:xfrm>
          <a:prstGeom prst="rect">
            <a:avLst/>
          </a:prstGeom>
          <a:noFill/>
          <a:ln w="0">
            <a:noFill/>
            <a:prstDash val="solid"/>
          </a:ln>
        </p:spPr>
        <p:txBody>
          <a:bodyPr wrap="square" lIns="0" tIns="0" rIns="0" bIns="0" anchor="ctr">
            <a:normAutofit/>
          </a:bodyPr>
          <a:lstStyle/>
          <a:p>
            <a:pPr algn="l">
              <a:defRPr sz="1800" b="1" i="0">
                <a:solidFill>
                  <a:srgbClr val="2D617F"/>
                </a:solidFill>
                <a:latin typeface="Helvetica Neue"/>
                <a:ea typeface="Helvetica Neue"/>
                <a:cs typeface="Helvetica Neue"/>
              </a:defRPr>
            </a:pPr>
            <a:r>
              <a:rPr sz="1800" b="1" i="0">
                <a:solidFill>
                  <a:srgbClr val="2D617F"/>
                </a:solidFill>
                <a:latin typeface="Helvetica Neue"/>
                <a:ea typeface="Helvetica Neue"/>
                <a:cs typeface="Helvetica Neue"/>
              </a:rPr>
              <a:t>SAME LEARNING LOGIC</a:t>
            </a:r>
          </a:p>
        </p:txBody>
      </p:sp>
      <p:sp>
        <p:nvSpPr>
          <p:cNvPr id="61" name="Rectangle 60">
            <a:extLst>
              <a:ext uri="{FF2B5EF4-FFF2-40B4-BE49-F238E27FC236}">
                <a16:creationId xmlns:a16="http://schemas.microsoft.com/office/drawing/2014/main" id="{00CFE94A-6D7A-4946-BC23-13DB504A22EB}"/>
              </a:ext>
            </a:extLst>
          </p:cNvPr>
          <p:cNvSpPr>
            <a:spLocks noGrp="1"/>
          </p:cNvSpPr>
          <p:nvPr/>
        </p:nvSpPr>
        <p:spPr>
          <a:xfrm>
            <a:off x="1143000" y="4429125"/>
            <a:ext cx="9334500" cy="457200"/>
          </a:xfrm>
          <a:prstGeom prst="rect">
            <a:avLst/>
          </a:prstGeom>
          <a:noFill/>
          <a:ln w="0">
            <a:noFill/>
            <a:prstDash val="solid"/>
          </a:ln>
        </p:spPr>
        <p:txBody>
          <a:bodyPr wrap="square" lIns="0" tIns="0" rIns="0" bIns="0" anchor="ctr">
            <a:normAutofit/>
          </a:bodyPr>
          <a:lstStyle/>
          <a:p>
            <a:pPr algn="l">
              <a:defRPr sz="2325" b="1" i="0">
                <a:solidFill>
                  <a:srgbClr val="202224"/>
                </a:solidFill>
                <a:latin typeface="Helvetica Neue"/>
                <a:ea typeface="Helvetica Neue"/>
                <a:cs typeface="Helvetica Neue"/>
              </a:defRPr>
            </a:pPr>
            <a:r>
              <a:rPr sz="2325" b="1" i="0">
                <a:solidFill>
                  <a:srgbClr val="202224"/>
                </a:solidFill>
                <a:latin typeface="Helvetica Neue"/>
                <a:ea typeface="Helvetica Neue"/>
                <a:cs typeface="Helvetica Neue"/>
              </a:rPr>
              <a:t>data • loss • gradients • optimizer • validation</a:t>
            </a:r>
          </a:p>
        </p:txBody>
      </p:sp>
      <p:sp>
        <p:nvSpPr>
          <p:cNvPr id="62" name="Rectangle 61">
            <a:extLst>
              <a:ext uri="{FF2B5EF4-FFF2-40B4-BE49-F238E27FC236}">
                <a16:creationId xmlns:a16="http://schemas.microsoft.com/office/drawing/2014/main" id="{78D7379F-0236-4204-AB73-FE85848137D2}"/>
              </a:ext>
            </a:extLst>
          </p:cNvPr>
          <p:cNvSpPr>
            <a:spLocks noGrp="1"/>
          </p:cNvSpPr>
          <p:nvPr/>
        </p:nvSpPr>
        <p:spPr>
          <a:xfrm>
            <a:off x="1143000" y="5191125"/>
            <a:ext cx="3238500" cy="342900"/>
          </a:xfrm>
          <a:prstGeom prst="rect">
            <a:avLst/>
          </a:prstGeom>
          <a:noFill/>
          <a:ln w="0">
            <a:noFill/>
            <a:prstDash val="solid"/>
          </a:ln>
        </p:spPr>
        <p:txBody>
          <a:bodyPr wrap="square" lIns="0" tIns="0" rIns="0" bIns="0" anchor="ctr">
            <a:normAutofit/>
          </a:bodyPr>
          <a:lstStyle/>
          <a:p>
            <a:pPr algn="l">
              <a:defRPr sz="1800" b="1" i="0">
                <a:solidFill>
                  <a:srgbClr val="B95535"/>
                </a:solidFill>
                <a:latin typeface="Helvetica Neue"/>
                <a:ea typeface="Helvetica Neue"/>
                <a:cs typeface="Helvetica Neue"/>
              </a:defRPr>
            </a:pPr>
            <a:r>
              <a:rPr sz="1800" b="1" i="0">
                <a:solidFill>
                  <a:srgbClr val="B95535"/>
                </a:solidFill>
                <a:latin typeface="Helvetica Neue"/>
                <a:ea typeface="Helvetica Neue"/>
                <a:cs typeface="Helvetica Neue"/>
              </a:rPr>
              <a:t>NEW MODEL INTERNALS</a:t>
            </a:r>
          </a:p>
        </p:txBody>
      </p:sp>
      <p:sp>
        <p:nvSpPr>
          <p:cNvPr id="63" name="Rectangle 62">
            <a:extLst>
              <a:ext uri="{FF2B5EF4-FFF2-40B4-BE49-F238E27FC236}">
                <a16:creationId xmlns:a16="http://schemas.microsoft.com/office/drawing/2014/main" id="{0711030D-2975-4B07-8B36-0159B0B32901}"/>
              </a:ext>
            </a:extLst>
          </p:cNvPr>
          <p:cNvSpPr>
            <a:spLocks noGrp="1"/>
          </p:cNvSpPr>
          <p:nvPr/>
        </p:nvSpPr>
        <p:spPr>
          <a:xfrm>
            <a:off x="1143000" y="5572125"/>
            <a:ext cx="8572500" cy="457200"/>
          </a:xfrm>
          <a:prstGeom prst="rect">
            <a:avLst/>
          </a:prstGeom>
          <a:noFill/>
          <a:ln w="0">
            <a:noFill/>
            <a:prstDash val="solid"/>
          </a:ln>
        </p:spPr>
        <p:txBody>
          <a:bodyPr wrap="square" lIns="0" tIns="0" rIns="0" bIns="0" anchor="ctr">
            <a:normAutofit/>
          </a:bodyPr>
          <a:lstStyle/>
          <a:p>
            <a:pPr algn="l">
              <a:defRPr sz="2325" b="1" i="0">
                <a:solidFill>
                  <a:srgbClr val="202224"/>
                </a:solidFill>
                <a:latin typeface="Helvetica Neue"/>
                <a:ea typeface="Helvetica Neue"/>
                <a:cs typeface="Helvetica Neue"/>
              </a:defRPr>
            </a:pPr>
            <a:r>
              <a:rPr sz="2325" b="1" i="0">
                <a:solidFill>
                  <a:srgbClr val="202224"/>
                </a:solidFill>
                <a:latin typeface="Helvetica Neue"/>
                <a:ea typeface="Helvetica Neue"/>
                <a:cs typeface="Helvetica Neue"/>
              </a:rPr>
              <a:t>embeddings • attention • position-wise MLP</a:t>
            </a:r>
          </a:p>
        </p:txBody>
      </p:sp>
      <p:sp>
        <p:nvSpPr>
          <p:cNvPr id="64" name="Rounded Rectangle 63">
            <a:extLst>
              <a:ext uri="{FF2B5EF4-FFF2-40B4-BE49-F238E27FC236}">
                <a16:creationId xmlns:a16="http://schemas.microsoft.com/office/drawing/2014/main" id="{EF7D962B-1E7C-416F-8775-C9DEE0684800}"/>
              </a:ext>
            </a:extLst>
          </p:cNvPr>
          <p:cNvSpPr>
            <a:spLocks noGrp="1"/>
          </p:cNvSpPr>
          <p:nvPr/>
        </p:nvSpPr>
        <p:spPr>
          <a:xfrm>
            <a:off x="8477250" y="4810125"/>
            <a:ext cx="3000375" cy="876300"/>
          </a:xfrm>
          <a:prstGeom prst="roundRect">
            <a:avLst>
              <a:gd name="adj" fmla="val 13043"/>
            </a:avLst>
          </a:prstGeom>
          <a:solidFill>
            <a:srgbClr val="ECE1C8"/>
          </a:solidFill>
          <a:ln w="14288">
            <a:solidFill>
              <a:srgbClr val="B58A35"/>
            </a:solidFill>
            <a:prstDash val="solid"/>
          </a:ln>
        </p:spPr>
        <p:txBody>
          <a:bodyPr wrap="square" lIns="114300" tIns="95250" rIns="114300" bIns="95250" anchor="ctr">
            <a:normAutofit fontScale="96683"/>
          </a:bodyPr>
          <a:lstStyle/>
          <a:p>
            <a:pPr algn="ctr">
              <a:defRPr sz="2100" b="1">
                <a:solidFill>
                  <a:srgbClr val="202224"/>
                </a:solidFill>
                <a:latin typeface="Helvetica Neue"/>
                <a:ea typeface="Helvetica Neue"/>
                <a:cs typeface="Helvetica Neue"/>
              </a:defRPr>
            </a:pPr>
            <a:r>
              <a:rPr sz="2100" b="1">
                <a:solidFill>
                  <a:srgbClr val="202224"/>
                </a:solidFill>
                <a:latin typeface="Helvetica Neue"/>
                <a:ea typeface="Helvetica Neue"/>
                <a:cs typeface="Helvetica Neue"/>
              </a:rPr>
              <a:t>Next: how each token gathers context.</a:t>
            </a:r>
          </a:p>
        </p:txBody>
      </p:sp>
    </p:spTree>
    <p:extLst>
      <p:ext uri="{BB962C8B-B14F-4D97-AF65-F5344CB8AC3E}">
        <p14:creationId xmlns:p14="http://schemas.microsoft.com/office/powerpoint/2010/main" val="1818012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1252</Words>
  <Application>Microsoft Macintosh PowerPoint</Application>
  <DocSecurity>0</DocSecurity>
  <PresentationFormat>Widescreen</PresentationFormat>
  <Paragraphs>149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Cambria Math</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Pandey, Shivam - (shivampcosmo)</cp:lastModifiedBy>
  <cp:revision>1</cp:revision>
  <dcterms:created xsi:type="dcterms:W3CDTF">2026-07-29T04:06:15Z</dcterms:created>
  <dcterms:modified xsi:type="dcterms:W3CDTF">2026-07-29T04:18:32Z</dcterms:modified>
</cp:coreProperties>
</file>