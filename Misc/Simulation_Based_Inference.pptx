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4107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inverse problem, not with neural networks. SBI is a family of Bayesian computational methods, not one algorithm.
Sources: Deistler et al. 2025 (arXiv:2508.12939); Thiele 2026 (arXiv:2605.10719); Anau Montel 2025 (MPA lecture notes).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checkpoints. Come back to them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of Part I as: what exactly is missing when we say the likelihood is intractable?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a point estimate plus an error bar is a summary of the posterior, and often a bad one (see the bimodal example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of these five objects does your simulator give you access to? Answer: only samples from the joint.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MCMC and nested sampling need likelihood values; HMC and VI also need gradients with respect to the parameters. SBI needs neither, only the forward program.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Eq. 3 is an approximation people make for tractability, not a law. SBI removes the need for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examples from the audience's own projects here — it is worth two minutes.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2 is the friendlier case: a ground-truth posterior exists, so the SBI result can be validated directly.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cosmological parameters (wanted) from nuisance parameters (tolerated) from latent variables (never wanted, but unavoidable).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II builds the intuition: posterior = conditional slice of the joint; ABC = the crudest way to take that slice.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simulation and training are decoupled, the bank can be generated offline, fully in parallel, in any language — then reused across methods and architectures for free.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useful mental image in the lecture. Conditioning = slicing. Everything that follows is a way of estimating that slice without literally having to hit xₒ.</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ABC is Rubin's idea from the 1980s, and it was the whole of SBI for decades. It is still the clearest way to see what SBI is doing.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as ε shrinks the ABC posterior converges onto the target. Right: the acceptance rate falls like a power law. You cannot have both, and the cost is per-observation.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ε/R = 0.2 and a 10-dimensional summary you accept roughly one simulation in ten million. This is exactly why ABC was confined to low-dimensional summaries for thirty years.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jump: ABC is nearest-neighbour estimation with a hand-made metric. Neural SBI is regression over the whole bank.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NPE reads off horizontal cuts and needs nothing further. Middle: NLE reads off vertical cuts — those are likelihoods, so a sampler must still turn them into a posterior. Right: NRE learns a single surface over the whole plane; positive where parameters and data belong together.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Gaussian cannot represent the bimodal ball-throw posterior no matter how well it is trained. That is a model-class failure, not a training failure.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Masked autoregressive flows and neural spline flows are the workhorses. Continuous-time alternatives (flow matching, diffusion) are more expressive but slower to evaluate — and cosmological posteriors are usually not that complicated.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doing slowly on the board: the KL decomposition is the reason this works, and it is two lines of algebra. The expectation is over x ~ p(x), which is why the result holds for all x simultaneously.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callout is the important one. Coverage tests need hundreds to thousands of inferences on held-out simulations. With a per-observation MCMC that is often simply out of reach.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prefer NLE in the rarer case where the parameter vector is high-dimensional relative to the data: networks map high-dimensional inputs to low-dimensional outputs far more easily than the reverse.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Shuffling to build the negative class is the whole trick, and it costs nothing: the marginal samples are already in the table.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'posterior samples' row aloud: it is the single most practical difference between the methods.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i.i.d. trap is subtle and has bitten real analyses: with a uniform prior the network cannot represent the sharp edge exactly, and multiplying N posteriors multiplies that error N times.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advice from both reviews: for tabular summaries start with something simple like MOPED and only reach for neural compression if you can show it helps. For fields and images, respect the symmetries in the architecture.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genuinely one of SBI's structural advantages over likelihood-based inference, and it is under-appreciated. It is also why marginal-first methods like truncated marginal NRE scale to models with very many nuisance parameters.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Thiele's judgement is worth quoting: when SBI buys you order-unity improvement rather than a transformation, the extra consistency checks that amortised methods allow are the better trade.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message of Part IV: neural networks fail silently. Unlike MCMC there is no chain to inspect, so the tests have to be built into the workflow from the start.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star markers. Ask: what should a good method return here? Arguably a loud complaint, not a posterior. This is why the prior predictive check comes first.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censoring is the test practitioners are already best at, because they have strong physical expectations for how the posterior should respond to a scale cut. Use that intuition.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what SBC needs: a test set drawn from the same joint as the training set. That requirement is exactly what sequential methods violate.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HPD coverage from Hermans et al. (2022); TARP from Lemos et al. (2023). Both are ranking procedures — that is the unifying idea behind every calibration test in this lecture.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card is the strongest position an SBI paper can be in, and it is available whenever SBI is chosen for speed rather than forced by an intractable likelihood.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stressing: these are analyses of real data, not just forecasts. The methodology is past the proof-of-concept stage.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many simulations do I need?', the honest answer is that nobody can tell you a priori — which is precisely why the diagnostics in Part IV are not optional.</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loop. Nobody gets this right on the first pass, and a paper that reports only the final pass is hiding information.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1 deserves emphasis. SBI is a tool for when you have no alternative or when speed genuinely matters, not a default modernisation of a working analysis.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walking back through the five questions from slide 2.</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sources are freely available online.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5.gif"/><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A2E"/>
        </a:solidFill>
        <a:effectLst/>
      </p:bgPr>
    </p:bg>
    <p:spTree>
      <p:nvGrpSpPr>
        <p:cNvPr id="1" name=""/>
        <p:cNvGrpSpPr/>
        <p:nvPr/>
      </p:nvGrpSpPr>
      <p:grpSpPr>
        <a:xfrm>
          <a:off x="0" y="0"/>
          <a:ext cx="0" cy="0"/>
          <a:chOff x="0" y="0"/>
          <a:chExt cx="0" cy="0"/>
        </a:xfrm>
      </p:grpSpPr>
      <p:sp>
        <p:nvSpPr>
          <p:cNvPr id="2" name="Text 0"/>
          <p:cNvSpPr/>
          <p:nvPr/>
        </p:nvSpPr>
        <p:spPr>
          <a:xfrm>
            <a:off x="566928" y="777240"/>
            <a:ext cx="11057839" cy="274320"/>
          </a:xfrm>
          <a:prstGeom prst="rect">
            <a:avLst/>
          </a:prstGeom>
          <a:noFill/>
          <a:ln/>
        </p:spPr>
        <p:txBody>
          <a:bodyPr wrap="square" lIns="0" tIns="0" rIns="0" bIns="0" rtlCol="0" anchor="ctr"/>
          <a:lstStyle/>
          <a:p>
            <a:pPr marL="0" indent="0">
              <a:buNone/>
            </a:pPr>
            <a:r>
              <a:rPr lang="en-US" sz="1350" b="1" kern="0" spc="220" dirty="0">
                <a:solidFill>
                  <a:srgbClr val="B9B1E0"/>
                </a:solidFill>
                <a:latin typeface="Calibri" pitchFamily="34" charset="0"/>
                <a:ea typeface="Calibri" pitchFamily="34" charset="-122"/>
                <a:cs typeface="Calibri" pitchFamily="34" charset="-120"/>
              </a:rPr>
              <a:t>ICTS 2026  ·  GRADUATE LECTURE</a:t>
            </a:r>
            <a:endParaRPr lang="en-US" sz="1350" dirty="0"/>
          </a:p>
        </p:txBody>
      </p:sp>
      <p:sp>
        <p:nvSpPr>
          <p:cNvPr id="3" name="Text 1"/>
          <p:cNvSpPr/>
          <p:nvPr/>
        </p:nvSpPr>
        <p:spPr>
          <a:xfrm>
            <a:off x="566928" y="1170432"/>
            <a:ext cx="1051560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Simulation-Based Inference</a:t>
            </a:r>
            <a:endParaRPr lang="en-US" sz="4600" dirty="0"/>
          </a:p>
        </p:txBody>
      </p:sp>
      <p:sp>
        <p:nvSpPr>
          <p:cNvPr id="4" name="Text 2"/>
          <p:cNvSpPr/>
          <p:nvPr/>
        </p:nvSpPr>
        <p:spPr>
          <a:xfrm>
            <a:off x="566928" y="2212848"/>
            <a:ext cx="7863840" cy="868680"/>
          </a:xfrm>
          <a:prstGeom prst="rect">
            <a:avLst/>
          </a:prstGeom>
          <a:noFill/>
          <a:ln/>
        </p:spPr>
        <p:txBody>
          <a:bodyPr wrap="square" lIns="0" tIns="0" rIns="0" bIns="0" rtlCol="0" anchor="ctr"/>
          <a:lstStyle/>
          <a:p>
            <a:pPr marL="0" indent="0">
              <a:lnSpc>
                <a:spcPct val="112000"/>
              </a:lnSpc>
              <a:buNone/>
            </a:pPr>
            <a:r>
              <a:rPr lang="en-US" sz="1900" dirty="0">
                <a:solidFill>
                  <a:srgbClr val="CFCAE8"/>
                </a:solidFill>
                <a:latin typeface="Calibri" pitchFamily="34" charset="0"/>
                <a:ea typeface="Calibri" pitchFamily="34" charset="-122"/>
                <a:cs typeface="Calibri" pitchFamily="34" charset="-120"/>
              </a:rPr>
              <a:t>Bayesian inference when you can simulate your data</a:t>
            </a:r>
            <a:endParaRPr lang="en-US" sz="1900" dirty="0"/>
          </a:p>
          <a:p>
            <a:pPr marL="0" indent="0">
              <a:lnSpc>
                <a:spcPct val="112000"/>
              </a:lnSpc>
              <a:buNone/>
            </a:pPr>
            <a:r>
              <a:rPr lang="en-US" sz="1900" dirty="0">
                <a:solidFill>
                  <a:srgbClr val="CFCAE8"/>
                </a:solidFill>
                <a:latin typeface="Calibri" pitchFamily="34" charset="0"/>
                <a:ea typeface="Calibri" pitchFamily="34" charset="-122"/>
                <a:cs typeface="Calibri" pitchFamily="34" charset="-120"/>
              </a:rPr>
              <a:t>but cannot write down its likelihood</a:t>
            </a:r>
            <a:endParaRPr lang="en-US" sz="1900" dirty="0"/>
          </a:p>
        </p:txBody>
      </p:sp>
      <p:sp>
        <p:nvSpPr>
          <p:cNvPr id="5" name="Shape 3"/>
          <p:cNvSpPr/>
          <p:nvPr/>
        </p:nvSpPr>
        <p:spPr>
          <a:xfrm>
            <a:off x="1188720" y="3794760"/>
            <a:ext cx="2148840" cy="786384"/>
          </a:xfrm>
          <a:prstGeom prst="roundRect">
            <a:avLst>
              <a:gd name="adj" fmla="val 11628"/>
            </a:avLst>
          </a:prstGeom>
          <a:solidFill>
            <a:srgbClr val="2E2A5C"/>
          </a:solidFill>
          <a:ln w="12700">
            <a:solidFill>
              <a:srgbClr val="4B4880"/>
            </a:solidFill>
            <a:prstDash val="solid"/>
          </a:ln>
        </p:spPr>
        <p:txBody>
          <a:bodyPr/>
          <a:lstStyle/>
          <a:p>
            <a:endParaRPr lang="en-US"/>
          </a:p>
        </p:txBody>
      </p:sp>
      <p:sp>
        <p:nvSpPr>
          <p:cNvPr id="6" name="Text 4"/>
          <p:cNvSpPr/>
          <p:nvPr/>
        </p:nvSpPr>
        <p:spPr>
          <a:xfrm>
            <a:off x="1188720" y="3886200"/>
            <a:ext cx="2148840" cy="310896"/>
          </a:xfrm>
          <a:prstGeom prst="rect">
            <a:avLst/>
          </a:prstGeom>
          <a:noFill/>
          <a:ln/>
        </p:spPr>
        <p:txBody>
          <a:bodyPr wrap="square" lIns="0" tIns="0" rIns="0" bIns="0" rtlCol="0" anchor="ctr"/>
          <a:lstStyle/>
          <a:p>
            <a:pPr marL="0" indent="0" algn="ctr">
              <a:buNone/>
            </a:pPr>
            <a:r>
              <a:rPr lang="en-US" sz="1550" b="1" dirty="0">
                <a:solidFill>
                  <a:srgbClr val="B9B1E0"/>
                </a:solidFill>
                <a:latin typeface="Calibri" pitchFamily="34" charset="0"/>
                <a:ea typeface="Calibri" pitchFamily="34" charset="-122"/>
                <a:cs typeface="Calibri" pitchFamily="34" charset="-120"/>
              </a:rPr>
              <a:t>parameters</a:t>
            </a:r>
            <a:endParaRPr lang="en-US" sz="1550" dirty="0"/>
          </a:p>
        </p:txBody>
      </p:sp>
      <p:sp>
        <p:nvSpPr>
          <p:cNvPr id="7" name="Text 5"/>
          <p:cNvSpPr/>
          <p:nvPr/>
        </p:nvSpPr>
        <p:spPr>
          <a:xfrm>
            <a:off x="1188720" y="4197096"/>
            <a:ext cx="2148840" cy="292608"/>
          </a:xfrm>
          <a:prstGeom prst="rect">
            <a:avLst/>
          </a:prstGeom>
          <a:noFill/>
          <a:ln/>
        </p:spPr>
        <p:txBody>
          <a:bodyPr wrap="square" lIns="0" tIns="0" rIns="0" bIns="0" rtlCol="0" anchor="ctr"/>
          <a:lstStyle/>
          <a:p>
            <a:pPr marL="0" indent="0" algn="ctr">
              <a:buNone/>
            </a:pPr>
            <a:r>
              <a:rPr lang="en-US" sz="1350" dirty="0">
                <a:solidFill>
                  <a:srgbClr val="9E9AC4"/>
                </a:solidFill>
                <a:latin typeface="Calibri" pitchFamily="34" charset="0"/>
                <a:ea typeface="Calibri" pitchFamily="34" charset="-122"/>
                <a:cs typeface="Calibri" pitchFamily="34" charset="-120"/>
              </a:rPr>
              <a:t>θ</a:t>
            </a:r>
            <a:endParaRPr lang="en-US" sz="1350" dirty="0"/>
          </a:p>
        </p:txBody>
      </p:sp>
      <p:sp>
        <p:nvSpPr>
          <p:cNvPr id="8" name="Shape 6"/>
          <p:cNvSpPr/>
          <p:nvPr/>
        </p:nvSpPr>
        <p:spPr>
          <a:xfrm>
            <a:off x="4160520" y="3794760"/>
            <a:ext cx="2606040" cy="786384"/>
          </a:xfrm>
          <a:prstGeom prst="roundRect">
            <a:avLst>
              <a:gd name="adj" fmla="val 11628"/>
            </a:avLst>
          </a:prstGeom>
          <a:solidFill>
            <a:srgbClr val="34305F"/>
          </a:solidFill>
          <a:ln w="12700">
            <a:solidFill>
              <a:srgbClr val="4B4880"/>
            </a:solidFill>
            <a:prstDash val="solid"/>
          </a:ln>
        </p:spPr>
        <p:txBody>
          <a:bodyPr/>
          <a:lstStyle/>
          <a:p>
            <a:endParaRPr lang="en-US"/>
          </a:p>
        </p:txBody>
      </p:sp>
      <p:sp>
        <p:nvSpPr>
          <p:cNvPr id="9" name="Text 7"/>
          <p:cNvSpPr/>
          <p:nvPr/>
        </p:nvSpPr>
        <p:spPr>
          <a:xfrm>
            <a:off x="4160520" y="3886200"/>
            <a:ext cx="2606040" cy="310896"/>
          </a:xfrm>
          <a:prstGeom prst="rect">
            <a:avLst/>
          </a:prstGeom>
          <a:noFill/>
          <a:ln/>
        </p:spPr>
        <p:txBody>
          <a:bodyPr wrap="square" lIns="0" tIns="0" rIns="0" bIns="0" rtlCol="0" anchor="ctr"/>
          <a:lstStyle/>
          <a:p>
            <a:pPr marL="0" indent="0" algn="ctr">
              <a:buNone/>
            </a:pPr>
            <a:r>
              <a:rPr lang="en-US" sz="1550" b="1" dirty="0">
                <a:solidFill>
                  <a:srgbClr val="CFCAE8"/>
                </a:solidFill>
                <a:latin typeface="Calibri" pitchFamily="34" charset="0"/>
                <a:ea typeface="Calibri" pitchFamily="34" charset="-122"/>
                <a:cs typeface="Calibri" pitchFamily="34" charset="-120"/>
              </a:rPr>
              <a:t>simulator</a:t>
            </a:r>
            <a:endParaRPr lang="en-US" sz="1550" dirty="0"/>
          </a:p>
        </p:txBody>
      </p:sp>
      <p:sp>
        <p:nvSpPr>
          <p:cNvPr id="10" name="Text 8"/>
          <p:cNvSpPr/>
          <p:nvPr/>
        </p:nvSpPr>
        <p:spPr>
          <a:xfrm>
            <a:off x="4160520" y="4197096"/>
            <a:ext cx="2606040" cy="292608"/>
          </a:xfrm>
          <a:prstGeom prst="rect">
            <a:avLst/>
          </a:prstGeom>
          <a:noFill/>
          <a:ln/>
        </p:spPr>
        <p:txBody>
          <a:bodyPr wrap="square" lIns="0" tIns="0" rIns="0" bIns="0" rtlCol="0" anchor="ctr"/>
          <a:lstStyle/>
          <a:p>
            <a:pPr marL="0" indent="0" algn="ctr">
              <a:buNone/>
            </a:pPr>
            <a:r>
              <a:rPr lang="en-US" sz="1350" dirty="0">
                <a:solidFill>
                  <a:srgbClr val="9E9AC4"/>
                </a:solidFill>
                <a:latin typeface="Calibri" pitchFamily="34" charset="0"/>
                <a:ea typeface="Calibri" pitchFamily="34" charset="-122"/>
                <a:cs typeface="Calibri" pitchFamily="34" charset="-120"/>
              </a:rPr>
              <a:t>run the physics</a:t>
            </a:r>
            <a:endParaRPr lang="en-US" sz="1350" dirty="0"/>
          </a:p>
        </p:txBody>
      </p:sp>
      <p:sp>
        <p:nvSpPr>
          <p:cNvPr id="11" name="Shape 9"/>
          <p:cNvSpPr/>
          <p:nvPr/>
        </p:nvSpPr>
        <p:spPr>
          <a:xfrm>
            <a:off x="7589520" y="3794760"/>
            <a:ext cx="2148840" cy="786384"/>
          </a:xfrm>
          <a:prstGeom prst="roundRect">
            <a:avLst>
              <a:gd name="adj" fmla="val 11628"/>
            </a:avLst>
          </a:prstGeom>
          <a:solidFill>
            <a:srgbClr val="1C4A44"/>
          </a:solidFill>
          <a:ln w="12700">
            <a:solidFill>
              <a:srgbClr val="4B4880"/>
            </a:solidFill>
            <a:prstDash val="solid"/>
          </a:ln>
        </p:spPr>
        <p:txBody>
          <a:bodyPr/>
          <a:lstStyle/>
          <a:p>
            <a:endParaRPr lang="en-US"/>
          </a:p>
        </p:txBody>
      </p:sp>
      <p:sp>
        <p:nvSpPr>
          <p:cNvPr id="12" name="Text 10"/>
          <p:cNvSpPr/>
          <p:nvPr/>
        </p:nvSpPr>
        <p:spPr>
          <a:xfrm>
            <a:off x="7589520" y="3886200"/>
            <a:ext cx="2148840" cy="310896"/>
          </a:xfrm>
          <a:prstGeom prst="rect">
            <a:avLst/>
          </a:prstGeom>
          <a:noFill/>
          <a:ln/>
        </p:spPr>
        <p:txBody>
          <a:bodyPr wrap="square" lIns="0" tIns="0" rIns="0" bIns="0" rtlCol="0" anchor="ctr"/>
          <a:lstStyle/>
          <a:p>
            <a:pPr marL="0" indent="0" algn="ctr">
              <a:buNone/>
            </a:pPr>
            <a:r>
              <a:rPr lang="en-US" sz="1550" b="1" dirty="0">
                <a:solidFill>
                  <a:srgbClr val="8FCBC0"/>
                </a:solidFill>
                <a:latin typeface="Calibri" pitchFamily="34" charset="0"/>
                <a:ea typeface="Calibri" pitchFamily="34" charset="-122"/>
                <a:cs typeface="Calibri" pitchFamily="34" charset="-120"/>
              </a:rPr>
              <a:t>data</a:t>
            </a:r>
            <a:endParaRPr lang="en-US" sz="1550" dirty="0"/>
          </a:p>
        </p:txBody>
      </p:sp>
      <p:sp>
        <p:nvSpPr>
          <p:cNvPr id="13" name="Text 11"/>
          <p:cNvSpPr/>
          <p:nvPr/>
        </p:nvSpPr>
        <p:spPr>
          <a:xfrm>
            <a:off x="7589520" y="4197096"/>
            <a:ext cx="2148840" cy="292608"/>
          </a:xfrm>
          <a:prstGeom prst="rect">
            <a:avLst/>
          </a:prstGeom>
          <a:noFill/>
          <a:ln/>
        </p:spPr>
        <p:txBody>
          <a:bodyPr wrap="square" lIns="0" tIns="0" rIns="0" bIns="0" rtlCol="0" anchor="ctr"/>
          <a:lstStyle/>
          <a:p>
            <a:pPr marL="0" indent="0" algn="ctr">
              <a:buNone/>
            </a:pPr>
            <a:r>
              <a:rPr lang="en-US" sz="1350" dirty="0">
                <a:solidFill>
                  <a:srgbClr val="9E9AC4"/>
                </a:solidFill>
                <a:latin typeface="Calibri" pitchFamily="34" charset="0"/>
                <a:ea typeface="Calibri" pitchFamily="34" charset="-122"/>
                <a:cs typeface="Calibri" pitchFamily="34" charset="-120"/>
              </a:rPr>
              <a:t>x</a:t>
            </a:r>
            <a:endParaRPr lang="en-US" sz="1350" dirty="0"/>
          </a:p>
        </p:txBody>
      </p:sp>
      <p:sp>
        <p:nvSpPr>
          <p:cNvPr id="14" name="Shape 12"/>
          <p:cNvSpPr/>
          <p:nvPr/>
        </p:nvSpPr>
        <p:spPr>
          <a:xfrm>
            <a:off x="3401568" y="4187952"/>
            <a:ext cx="694944" cy="0"/>
          </a:xfrm>
          <a:prstGeom prst="line">
            <a:avLst/>
          </a:prstGeom>
          <a:noFill/>
          <a:ln w="25400">
            <a:solidFill>
              <a:srgbClr val="8FCBC0"/>
            </a:solidFill>
            <a:prstDash val="solid"/>
            <a:tailEnd type="triangle"/>
          </a:ln>
        </p:spPr>
        <p:txBody>
          <a:bodyPr/>
          <a:lstStyle/>
          <a:p>
            <a:endParaRPr lang="en-US"/>
          </a:p>
        </p:txBody>
      </p:sp>
      <p:sp>
        <p:nvSpPr>
          <p:cNvPr id="15" name="Shape 13"/>
          <p:cNvSpPr/>
          <p:nvPr/>
        </p:nvSpPr>
        <p:spPr>
          <a:xfrm>
            <a:off x="6830568" y="4187952"/>
            <a:ext cx="694944" cy="0"/>
          </a:xfrm>
          <a:prstGeom prst="line">
            <a:avLst/>
          </a:prstGeom>
          <a:noFill/>
          <a:ln w="25400">
            <a:solidFill>
              <a:srgbClr val="8FCBC0"/>
            </a:solidFill>
            <a:prstDash val="solid"/>
            <a:tailEnd type="triangle"/>
          </a:ln>
        </p:spPr>
        <p:txBody>
          <a:bodyPr/>
          <a:lstStyle/>
          <a:p>
            <a:endParaRPr lang="en-US"/>
          </a:p>
        </p:txBody>
      </p:sp>
      <p:sp>
        <p:nvSpPr>
          <p:cNvPr id="16" name="Text 14"/>
          <p:cNvSpPr/>
          <p:nvPr/>
        </p:nvSpPr>
        <p:spPr>
          <a:xfrm>
            <a:off x="3017520" y="3410712"/>
            <a:ext cx="4297680" cy="274320"/>
          </a:xfrm>
          <a:prstGeom prst="rect">
            <a:avLst/>
          </a:prstGeom>
          <a:noFill/>
          <a:ln/>
        </p:spPr>
        <p:txBody>
          <a:bodyPr wrap="square" lIns="0" tIns="0" rIns="0" bIns="0" rtlCol="0" anchor="ctr"/>
          <a:lstStyle/>
          <a:p>
            <a:pPr marL="0" indent="0" algn="ctr">
              <a:buNone/>
            </a:pPr>
            <a:r>
              <a:rPr lang="en-US" sz="1250" dirty="0">
                <a:solidFill>
                  <a:srgbClr val="8FCBC0"/>
                </a:solidFill>
                <a:latin typeface="Calibri" pitchFamily="34" charset="0"/>
                <a:ea typeface="Calibri" pitchFamily="34" charset="-122"/>
                <a:cs typeface="Calibri" pitchFamily="34" charset="-120"/>
              </a:rPr>
              <a:t>forward:  easy</a:t>
            </a:r>
            <a:endParaRPr lang="en-US" sz="1250" dirty="0"/>
          </a:p>
        </p:txBody>
      </p:sp>
      <p:sp>
        <p:nvSpPr>
          <p:cNvPr id="17" name="Shape 15"/>
          <p:cNvSpPr/>
          <p:nvPr/>
        </p:nvSpPr>
        <p:spPr>
          <a:xfrm flipH="1">
            <a:off x="1188720" y="5074920"/>
            <a:ext cx="7470648" cy="0"/>
          </a:xfrm>
          <a:prstGeom prst="line">
            <a:avLst/>
          </a:prstGeom>
          <a:noFill/>
          <a:ln w="25400">
            <a:solidFill>
              <a:srgbClr val="B9B1E0"/>
            </a:solidFill>
            <a:prstDash val="solid"/>
            <a:tailEnd type="triangle"/>
          </a:ln>
        </p:spPr>
        <p:txBody>
          <a:bodyPr/>
          <a:lstStyle/>
          <a:p>
            <a:endParaRPr lang="en-US"/>
          </a:p>
        </p:txBody>
      </p:sp>
      <p:sp>
        <p:nvSpPr>
          <p:cNvPr id="18" name="Text 16"/>
          <p:cNvSpPr/>
          <p:nvPr/>
        </p:nvSpPr>
        <p:spPr>
          <a:xfrm>
            <a:off x="1188720" y="5138928"/>
            <a:ext cx="8686800" cy="292608"/>
          </a:xfrm>
          <a:prstGeom prst="rect">
            <a:avLst/>
          </a:prstGeom>
          <a:noFill/>
          <a:ln/>
        </p:spPr>
        <p:txBody>
          <a:bodyPr wrap="square" lIns="0" tIns="0" rIns="0" bIns="0" rtlCol="0" anchor="ctr"/>
          <a:lstStyle/>
          <a:p>
            <a:pPr marL="0" indent="0" algn="ctr">
              <a:buNone/>
            </a:pPr>
            <a:r>
              <a:rPr lang="en-US" sz="1350" b="1" dirty="0">
                <a:solidFill>
                  <a:srgbClr val="B9B1E0"/>
                </a:solidFill>
                <a:latin typeface="Calibri" pitchFamily="34" charset="0"/>
                <a:ea typeface="Calibri" pitchFamily="34" charset="-122"/>
                <a:cs typeface="Calibri" pitchFamily="34" charset="-120"/>
              </a:rPr>
              <a:t>inverse:  which θ could have produced the one x we observed?</a:t>
            </a:r>
            <a:endParaRPr lang="en-US" sz="1350" dirty="0"/>
          </a:p>
        </p:txBody>
      </p:sp>
      <p:sp>
        <p:nvSpPr>
          <p:cNvPr id="19" name="Text 17"/>
          <p:cNvSpPr/>
          <p:nvPr/>
        </p:nvSpPr>
        <p:spPr>
          <a:xfrm>
            <a:off x="566928" y="6053328"/>
            <a:ext cx="11057839" cy="274320"/>
          </a:xfrm>
          <a:prstGeom prst="rect">
            <a:avLst/>
          </a:prstGeom>
          <a:noFill/>
          <a:ln/>
        </p:spPr>
        <p:txBody>
          <a:bodyPr wrap="square" lIns="0" tIns="0" rIns="0" bIns="0" rtlCol="0" anchor="ctr"/>
          <a:lstStyle/>
          <a:p>
            <a:pPr marL="0" indent="0">
              <a:buNone/>
            </a:pPr>
            <a:r>
              <a:rPr lang="en-US" sz="1350" dirty="0">
                <a:solidFill>
                  <a:srgbClr val="7C79A0"/>
                </a:solidFill>
                <a:latin typeface="Calibri" pitchFamily="34" charset="0"/>
                <a:ea typeface="Calibri" pitchFamily="34" charset="-122"/>
                <a:cs typeface="Calibri" pitchFamily="34" charset="-120"/>
              </a:rPr>
              <a:t>A first course for PhD students in astronomy and cosmology</a:t>
            </a:r>
            <a:endParaRPr lang="en-US" sz="1350" dirty="0"/>
          </a:p>
        </p:txBody>
      </p:sp>
      <p:sp>
        <p:nvSpPr>
          <p:cNvPr id="20" name="Text 18"/>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A6A8C"/>
                </a:solidFill>
                <a:latin typeface="Calibri" pitchFamily="34" charset="0"/>
                <a:ea typeface="Calibri" pitchFamily="34" charset="-122"/>
                <a:cs typeface="Calibri" pitchFamily="34" charset="-120"/>
              </a:rPr>
              <a:t>Simulation-Based Inference  ·  Introduction</a:t>
            </a:r>
            <a:endParaRPr lang="en-US" sz="950" dirty="0"/>
          </a:p>
        </p:txBody>
      </p:sp>
      <p:sp>
        <p:nvSpPr>
          <p:cNvPr id="21" name="Text 19"/>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A6A8C"/>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HOW THIS LECTURE IS ORGANISED</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Five questions, in order</a:t>
            </a:r>
            <a:endParaRPr lang="en-US" sz="3000" dirty="0"/>
          </a:p>
        </p:txBody>
      </p:sp>
      <p:sp>
        <p:nvSpPr>
          <p:cNvPr id="4" name="Shape 2"/>
          <p:cNvSpPr/>
          <p:nvPr/>
        </p:nvSpPr>
        <p:spPr>
          <a:xfrm>
            <a:off x="566928" y="1517904"/>
            <a:ext cx="11057839" cy="749808"/>
          </a:xfrm>
          <a:prstGeom prst="roundRect">
            <a:avLst>
              <a:gd name="adj" fmla="val 7317"/>
            </a:avLst>
          </a:prstGeom>
          <a:solidFill>
            <a:srgbClr val="F3F3F8"/>
          </a:solidFill>
          <a:ln/>
        </p:spPr>
        <p:txBody>
          <a:bodyPr/>
          <a:lstStyle/>
          <a:p>
            <a:endParaRPr lang="en-US"/>
          </a:p>
        </p:txBody>
      </p:sp>
      <p:sp>
        <p:nvSpPr>
          <p:cNvPr id="5" name="Shape 3"/>
          <p:cNvSpPr/>
          <p:nvPr/>
        </p:nvSpPr>
        <p:spPr>
          <a:xfrm>
            <a:off x="822960" y="1691640"/>
            <a:ext cx="402336" cy="402336"/>
          </a:xfrm>
          <a:prstGeom prst="ellipse">
            <a:avLst/>
          </a:prstGeom>
          <a:solidFill>
            <a:srgbClr val="4A3F8F"/>
          </a:solidFill>
          <a:ln/>
        </p:spPr>
        <p:txBody>
          <a:bodyPr/>
          <a:lstStyle/>
          <a:p>
            <a:endParaRPr lang="en-US"/>
          </a:p>
        </p:txBody>
      </p:sp>
      <p:sp>
        <p:nvSpPr>
          <p:cNvPr id="6" name="Text 4"/>
          <p:cNvSpPr/>
          <p:nvPr/>
        </p:nvSpPr>
        <p:spPr>
          <a:xfrm>
            <a:off x="822960" y="169164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35608" y="1517904"/>
            <a:ext cx="8229600" cy="749808"/>
          </a:xfrm>
          <a:prstGeom prst="rect">
            <a:avLst/>
          </a:prstGeom>
          <a:noFill/>
          <a:ln/>
        </p:spPr>
        <p:txBody>
          <a:bodyPr wrap="square" lIns="0" tIns="0" rIns="0" bIns="0" rtlCol="0" anchor="ctr"/>
          <a:lstStyle/>
          <a:p>
            <a:pPr marL="0" indent="0">
              <a:buNone/>
            </a:pPr>
            <a:r>
              <a:rPr lang="en-US" sz="1750" b="1" dirty="0">
                <a:solidFill>
                  <a:srgbClr val="1C1B29"/>
                </a:solidFill>
                <a:latin typeface="Calibri" pitchFamily="34" charset="0"/>
                <a:ea typeface="Calibri" pitchFamily="34" charset="-122"/>
                <a:cs typeface="Calibri" pitchFamily="34" charset="-120"/>
              </a:rPr>
              <a:t>Why can a simulator be easy to run but impossible to score?</a:t>
            </a:r>
            <a:endParaRPr lang="en-US" sz="1750" dirty="0"/>
          </a:p>
        </p:txBody>
      </p:sp>
      <p:sp>
        <p:nvSpPr>
          <p:cNvPr id="8" name="Text 6"/>
          <p:cNvSpPr/>
          <p:nvPr/>
        </p:nvSpPr>
        <p:spPr>
          <a:xfrm>
            <a:off x="9887407" y="1517904"/>
            <a:ext cx="1463040" cy="749808"/>
          </a:xfrm>
          <a:prstGeom prst="rect">
            <a:avLst/>
          </a:prstGeom>
          <a:noFill/>
          <a:ln/>
        </p:spPr>
        <p:txBody>
          <a:bodyPr wrap="square" lIns="0" tIns="0" rIns="0" bIns="0" rtlCol="0" anchor="ctr"/>
          <a:lstStyle/>
          <a:p>
            <a:pPr marL="0" indent="0" algn="r">
              <a:buNone/>
            </a:pPr>
            <a:r>
              <a:rPr lang="en-US" sz="1350" b="1" dirty="0">
                <a:solidFill>
                  <a:srgbClr val="4A3F8F"/>
                </a:solidFill>
                <a:latin typeface="Calibri" pitchFamily="34" charset="0"/>
                <a:ea typeface="Calibri" pitchFamily="34" charset="-122"/>
                <a:cs typeface="Calibri" pitchFamily="34" charset="-120"/>
              </a:rPr>
              <a:t>Part I</a:t>
            </a:r>
            <a:endParaRPr lang="en-US" sz="1350" dirty="0"/>
          </a:p>
        </p:txBody>
      </p:sp>
      <p:sp>
        <p:nvSpPr>
          <p:cNvPr id="9" name="Shape 7"/>
          <p:cNvSpPr/>
          <p:nvPr/>
        </p:nvSpPr>
        <p:spPr>
          <a:xfrm>
            <a:off x="566928" y="2377440"/>
            <a:ext cx="11057839" cy="749808"/>
          </a:xfrm>
          <a:prstGeom prst="roundRect">
            <a:avLst>
              <a:gd name="adj" fmla="val 7317"/>
            </a:avLst>
          </a:prstGeom>
          <a:solidFill>
            <a:srgbClr val="FFFFFF"/>
          </a:solidFill>
          <a:ln/>
        </p:spPr>
        <p:txBody>
          <a:bodyPr/>
          <a:lstStyle/>
          <a:p>
            <a:endParaRPr lang="en-US"/>
          </a:p>
        </p:txBody>
      </p:sp>
      <p:sp>
        <p:nvSpPr>
          <p:cNvPr id="10" name="Shape 8"/>
          <p:cNvSpPr/>
          <p:nvPr/>
        </p:nvSpPr>
        <p:spPr>
          <a:xfrm>
            <a:off x="822960" y="2551176"/>
            <a:ext cx="402336" cy="402336"/>
          </a:xfrm>
          <a:prstGeom prst="ellipse">
            <a:avLst/>
          </a:prstGeom>
          <a:solidFill>
            <a:srgbClr val="4A3F8F"/>
          </a:solidFill>
          <a:ln/>
        </p:spPr>
        <p:txBody>
          <a:bodyPr/>
          <a:lstStyle/>
          <a:p>
            <a:endParaRPr lang="en-US"/>
          </a:p>
        </p:txBody>
      </p:sp>
      <p:sp>
        <p:nvSpPr>
          <p:cNvPr id="11" name="Text 9"/>
          <p:cNvSpPr/>
          <p:nvPr/>
        </p:nvSpPr>
        <p:spPr>
          <a:xfrm>
            <a:off x="822960" y="255117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35608" y="2377440"/>
            <a:ext cx="8229600" cy="749808"/>
          </a:xfrm>
          <a:prstGeom prst="rect">
            <a:avLst/>
          </a:prstGeom>
          <a:noFill/>
          <a:ln/>
        </p:spPr>
        <p:txBody>
          <a:bodyPr wrap="square" lIns="0" tIns="0" rIns="0" bIns="0" rtlCol="0" anchor="ctr"/>
          <a:lstStyle/>
          <a:p>
            <a:pPr marL="0" indent="0">
              <a:buNone/>
            </a:pPr>
            <a:r>
              <a:rPr lang="en-US" sz="1750" b="1" dirty="0">
                <a:solidFill>
                  <a:srgbClr val="1C1B29"/>
                </a:solidFill>
                <a:latin typeface="Calibri" pitchFamily="34" charset="0"/>
                <a:ea typeface="Calibri" pitchFamily="34" charset="-122"/>
                <a:cs typeface="Calibri" pitchFamily="34" charset="-120"/>
              </a:rPr>
              <a:t>What does ABC do — and why does it stop working?</a:t>
            </a:r>
            <a:endParaRPr lang="en-US" sz="1750" dirty="0"/>
          </a:p>
        </p:txBody>
      </p:sp>
      <p:sp>
        <p:nvSpPr>
          <p:cNvPr id="13" name="Text 11"/>
          <p:cNvSpPr/>
          <p:nvPr/>
        </p:nvSpPr>
        <p:spPr>
          <a:xfrm>
            <a:off x="9887407" y="2377440"/>
            <a:ext cx="1463040" cy="749808"/>
          </a:xfrm>
          <a:prstGeom prst="rect">
            <a:avLst/>
          </a:prstGeom>
          <a:noFill/>
          <a:ln/>
        </p:spPr>
        <p:txBody>
          <a:bodyPr wrap="square" lIns="0" tIns="0" rIns="0" bIns="0" rtlCol="0" anchor="ctr"/>
          <a:lstStyle/>
          <a:p>
            <a:pPr marL="0" indent="0" algn="r">
              <a:buNone/>
            </a:pPr>
            <a:r>
              <a:rPr lang="en-US" sz="1350" b="1" dirty="0">
                <a:solidFill>
                  <a:srgbClr val="4A3F8F"/>
                </a:solidFill>
                <a:latin typeface="Calibri" pitchFamily="34" charset="0"/>
                <a:ea typeface="Calibri" pitchFamily="34" charset="-122"/>
                <a:cs typeface="Calibri" pitchFamily="34" charset="-120"/>
              </a:rPr>
              <a:t>Part II</a:t>
            </a:r>
            <a:endParaRPr lang="en-US" sz="1350" dirty="0"/>
          </a:p>
        </p:txBody>
      </p:sp>
      <p:sp>
        <p:nvSpPr>
          <p:cNvPr id="14" name="Shape 12"/>
          <p:cNvSpPr/>
          <p:nvPr/>
        </p:nvSpPr>
        <p:spPr>
          <a:xfrm>
            <a:off x="566928" y="3236976"/>
            <a:ext cx="11057839" cy="749808"/>
          </a:xfrm>
          <a:prstGeom prst="roundRect">
            <a:avLst>
              <a:gd name="adj" fmla="val 7317"/>
            </a:avLst>
          </a:prstGeom>
          <a:solidFill>
            <a:srgbClr val="F3F3F8"/>
          </a:solidFill>
          <a:ln/>
        </p:spPr>
        <p:txBody>
          <a:bodyPr/>
          <a:lstStyle/>
          <a:p>
            <a:endParaRPr lang="en-US"/>
          </a:p>
        </p:txBody>
      </p:sp>
      <p:sp>
        <p:nvSpPr>
          <p:cNvPr id="15" name="Shape 13"/>
          <p:cNvSpPr/>
          <p:nvPr/>
        </p:nvSpPr>
        <p:spPr>
          <a:xfrm>
            <a:off x="822960" y="3410712"/>
            <a:ext cx="402336" cy="402336"/>
          </a:xfrm>
          <a:prstGeom prst="ellipse">
            <a:avLst/>
          </a:prstGeom>
          <a:solidFill>
            <a:srgbClr val="4A3F8F"/>
          </a:solidFill>
          <a:ln/>
        </p:spPr>
        <p:txBody>
          <a:bodyPr/>
          <a:lstStyle/>
          <a:p>
            <a:endParaRPr lang="en-US"/>
          </a:p>
        </p:txBody>
      </p:sp>
      <p:sp>
        <p:nvSpPr>
          <p:cNvPr id="16" name="Text 14"/>
          <p:cNvSpPr/>
          <p:nvPr/>
        </p:nvSpPr>
        <p:spPr>
          <a:xfrm>
            <a:off x="822960" y="341071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35608" y="3236976"/>
            <a:ext cx="8229600" cy="749808"/>
          </a:xfrm>
          <a:prstGeom prst="rect">
            <a:avLst/>
          </a:prstGeom>
          <a:noFill/>
          <a:ln/>
        </p:spPr>
        <p:txBody>
          <a:bodyPr wrap="square" lIns="0" tIns="0" rIns="0" bIns="0" rtlCol="0" anchor="ctr"/>
          <a:lstStyle/>
          <a:p>
            <a:pPr marL="0" indent="0">
              <a:buNone/>
            </a:pPr>
            <a:r>
              <a:rPr lang="en-US" sz="1750" b="1" dirty="0">
                <a:solidFill>
                  <a:srgbClr val="1C1B29"/>
                </a:solidFill>
                <a:latin typeface="Calibri" pitchFamily="34" charset="0"/>
                <a:ea typeface="Calibri" pitchFamily="34" charset="-122"/>
                <a:cs typeface="Calibri" pitchFamily="34" charset="-120"/>
              </a:rPr>
              <a:t>What do NPE, NLE and NRE actually learn?</a:t>
            </a:r>
            <a:endParaRPr lang="en-US" sz="1750" dirty="0"/>
          </a:p>
        </p:txBody>
      </p:sp>
      <p:sp>
        <p:nvSpPr>
          <p:cNvPr id="18" name="Text 16"/>
          <p:cNvSpPr/>
          <p:nvPr/>
        </p:nvSpPr>
        <p:spPr>
          <a:xfrm>
            <a:off x="9887407" y="3236976"/>
            <a:ext cx="1463040" cy="749808"/>
          </a:xfrm>
          <a:prstGeom prst="rect">
            <a:avLst/>
          </a:prstGeom>
          <a:noFill/>
          <a:ln/>
        </p:spPr>
        <p:txBody>
          <a:bodyPr wrap="square" lIns="0" tIns="0" rIns="0" bIns="0" rtlCol="0" anchor="ctr"/>
          <a:lstStyle/>
          <a:p>
            <a:pPr marL="0" indent="0" algn="r">
              <a:buNone/>
            </a:pPr>
            <a:r>
              <a:rPr lang="en-US" sz="1350" b="1" dirty="0">
                <a:solidFill>
                  <a:srgbClr val="4A3F8F"/>
                </a:solidFill>
                <a:latin typeface="Calibri" pitchFamily="34" charset="0"/>
                <a:ea typeface="Calibri" pitchFamily="34" charset="-122"/>
                <a:cs typeface="Calibri" pitchFamily="34" charset="-120"/>
              </a:rPr>
              <a:t>Part III</a:t>
            </a:r>
            <a:endParaRPr lang="en-US" sz="1350" dirty="0"/>
          </a:p>
        </p:txBody>
      </p:sp>
      <p:sp>
        <p:nvSpPr>
          <p:cNvPr id="19" name="Shape 17"/>
          <p:cNvSpPr/>
          <p:nvPr/>
        </p:nvSpPr>
        <p:spPr>
          <a:xfrm>
            <a:off x="566928" y="4096512"/>
            <a:ext cx="11057839" cy="749808"/>
          </a:xfrm>
          <a:prstGeom prst="roundRect">
            <a:avLst>
              <a:gd name="adj" fmla="val 7317"/>
            </a:avLst>
          </a:prstGeom>
          <a:solidFill>
            <a:srgbClr val="FFFFFF"/>
          </a:solidFill>
          <a:ln/>
        </p:spPr>
        <p:txBody>
          <a:bodyPr/>
          <a:lstStyle/>
          <a:p>
            <a:endParaRPr lang="en-US"/>
          </a:p>
        </p:txBody>
      </p:sp>
      <p:sp>
        <p:nvSpPr>
          <p:cNvPr id="20" name="Shape 18"/>
          <p:cNvSpPr/>
          <p:nvPr/>
        </p:nvSpPr>
        <p:spPr>
          <a:xfrm>
            <a:off x="822960" y="4270248"/>
            <a:ext cx="402336" cy="402336"/>
          </a:xfrm>
          <a:prstGeom prst="ellipse">
            <a:avLst/>
          </a:prstGeom>
          <a:solidFill>
            <a:srgbClr val="4A3F8F"/>
          </a:solidFill>
          <a:ln/>
        </p:spPr>
        <p:txBody>
          <a:bodyPr/>
          <a:lstStyle/>
          <a:p>
            <a:endParaRPr lang="en-US"/>
          </a:p>
        </p:txBody>
      </p:sp>
      <p:sp>
        <p:nvSpPr>
          <p:cNvPr id="21" name="Text 19"/>
          <p:cNvSpPr/>
          <p:nvPr/>
        </p:nvSpPr>
        <p:spPr>
          <a:xfrm>
            <a:off x="822960" y="427024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435608" y="4096512"/>
            <a:ext cx="8229600" cy="749808"/>
          </a:xfrm>
          <a:prstGeom prst="rect">
            <a:avLst/>
          </a:prstGeom>
          <a:noFill/>
          <a:ln/>
        </p:spPr>
        <p:txBody>
          <a:bodyPr wrap="square" lIns="0" tIns="0" rIns="0" bIns="0" rtlCol="0" anchor="ctr"/>
          <a:lstStyle/>
          <a:p>
            <a:pPr marL="0" indent="0">
              <a:buNone/>
            </a:pPr>
            <a:r>
              <a:rPr lang="en-US" sz="1750" b="1" dirty="0">
                <a:solidFill>
                  <a:srgbClr val="1C1B29"/>
                </a:solidFill>
                <a:latin typeface="Calibri" pitchFamily="34" charset="0"/>
                <a:ea typeface="Calibri" pitchFamily="34" charset="-122"/>
                <a:cs typeface="Calibri" pitchFamily="34" charset="-120"/>
              </a:rPr>
              <a:t>What does “amortised” buy you?</a:t>
            </a:r>
            <a:endParaRPr lang="en-US" sz="1750" dirty="0"/>
          </a:p>
        </p:txBody>
      </p:sp>
      <p:sp>
        <p:nvSpPr>
          <p:cNvPr id="23" name="Text 21"/>
          <p:cNvSpPr/>
          <p:nvPr/>
        </p:nvSpPr>
        <p:spPr>
          <a:xfrm>
            <a:off x="9887407" y="4096512"/>
            <a:ext cx="1463040" cy="749808"/>
          </a:xfrm>
          <a:prstGeom prst="rect">
            <a:avLst/>
          </a:prstGeom>
          <a:noFill/>
          <a:ln/>
        </p:spPr>
        <p:txBody>
          <a:bodyPr wrap="square" lIns="0" tIns="0" rIns="0" bIns="0" rtlCol="0" anchor="ctr"/>
          <a:lstStyle/>
          <a:p>
            <a:pPr marL="0" indent="0" algn="r">
              <a:buNone/>
            </a:pPr>
            <a:r>
              <a:rPr lang="en-US" sz="1350" b="1" dirty="0">
                <a:solidFill>
                  <a:srgbClr val="4A3F8F"/>
                </a:solidFill>
                <a:latin typeface="Calibri" pitchFamily="34" charset="0"/>
                <a:ea typeface="Calibri" pitchFamily="34" charset="-122"/>
                <a:cs typeface="Calibri" pitchFamily="34" charset="-120"/>
              </a:rPr>
              <a:t>Part III</a:t>
            </a:r>
            <a:endParaRPr lang="en-US" sz="1350" dirty="0"/>
          </a:p>
        </p:txBody>
      </p:sp>
      <p:sp>
        <p:nvSpPr>
          <p:cNvPr id="24" name="Shape 22"/>
          <p:cNvSpPr/>
          <p:nvPr/>
        </p:nvSpPr>
        <p:spPr>
          <a:xfrm>
            <a:off x="566928" y="4956048"/>
            <a:ext cx="11057839" cy="749808"/>
          </a:xfrm>
          <a:prstGeom prst="roundRect">
            <a:avLst>
              <a:gd name="adj" fmla="val 7317"/>
            </a:avLst>
          </a:prstGeom>
          <a:solidFill>
            <a:srgbClr val="F3F3F8"/>
          </a:solidFill>
          <a:ln/>
        </p:spPr>
        <p:txBody>
          <a:bodyPr/>
          <a:lstStyle/>
          <a:p>
            <a:endParaRPr lang="en-US"/>
          </a:p>
        </p:txBody>
      </p:sp>
      <p:sp>
        <p:nvSpPr>
          <p:cNvPr id="25" name="Shape 23"/>
          <p:cNvSpPr/>
          <p:nvPr/>
        </p:nvSpPr>
        <p:spPr>
          <a:xfrm>
            <a:off x="822960" y="5129784"/>
            <a:ext cx="402336" cy="402336"/>
          </a:xfrm>
          <a:prstGeom prst="ellipse">
            <a:avLst/>
          </a:prstGeom>
          <a:solidFill>
            <a:srgbClr val="4A3F8F"/>
          </a:solidFill>
          <a:ln/>
        </p:spPr>
        <p:txBody>
          <a:bodyPr/>
          <a:lstStyle/>
          <a:p>
            <a:endParaRPr lang="en-US"/>
          </a:p>
        </p:txBody>
      </p:sp>
      <p:sp>
        <p:nvSpPr>
          <p:cNvPr id="26" name="Text 24"/>
          <p:cNvSpPr/>
          <p:nvPr/>
        </p:nvSpPr>
        <p:spPr>
          <a:xfrm>
            <a:off x="822960" y="512978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435608" y="4956048"/>
            <a:ext cx="8229600" cy="749808"/>
          </a:xfrm>
          <a:prstGeom prst="rect">
            <a:avLst/>
          </a:prstGeom>
          <a:noFill/>
          <a:ln/>
        </p:spPr>
        <p:txBody>
          <a:bodyPr wrap="square" lIns="0" tIns="0" rIns="0" bIns="0" rtlCol="0" anchor="ctr"/>
          <a:lstStyle/>
          <a:p>
            <a:pPr marL="0" indent="0">
              <a:buNone/>
            </a:pPr>
            <a:r>
              <a:rPr lang="en-US" sz="1750" b="1" dirty="0">
                <a:solidFill>
                  <a:srgbClr val="1C1B29"/>
                </a:solidFill>
                <a:latin typeface="Calibri" pitchFamily="34" charset="0"/>
                <a:ea typeface="Calibri" pitchFamily="34" charset="-122"/>
                <a:cs typeface="Calibri" pitchFamily="34" charset="-120"/>
              </a:rPr>
              <a:t>How do you know the posterior is not nonsense?</a:t>
            </a:r>
            <a:endParaRPr lang="en-US" sz="1750" dirty="0"/>
          </a:p>
        </p:txBody>
      </p:sp>
      <p:sp>
        <p:nvSpPr>
          <p:cNvPr id="28" name="Text 26"/>
          <p:cNvSpPr/>
          <p:nvPr/>
        </p:nvSpPr>
        <p:spPr>
          <a:xfrm>
            <a:off x="9887407" y="4956048"/>
            <a:ext cx="1463040" cy="749808"/>
          </a:xfrm>
          <a:prstGeom prst="rect">
            <a:avLst/>
          </a:prstGeom>
          <a:noFill/>
          <a:ln/>
        </p:spPr>
        <p:txBody>
          <a:bodyPr wrap="square" lIns="0" tIns="0" rIns="0" bIns="0" rtlCol="0" anchor="ctr"/>
          <a:lstStyle/>
          <a:p>
            <a:pPr marL="0" indent="0" algn="r">
              <a:buNone/>
            </a:pPr>
            <a:r>
              <a:rPr lang="en-US" sz="1350" b="1" dirty="0">
                <a:solidFill>
                  <a:srgbClr val="4A3F8F"/>
                </a:solidFill>
                <a:latin typeface="Calibri" pitchFamily="34" charset="0"/>
                <a:ea typeface="Calibri" pitchFamily="34" charset="-122"/>
                <a:cs typeface="Calibri" pitchFamily="34" charset="-120"/>
              </a:rPr>
              <a:t>Part IV</a:t>
            </a:r>
            <a:endParaRPr lang="en-US" sz="1350" dirty="0"/>
          </a:p>
        </p:txBody>
      </p:sp>
      <p:sp>
        <p:nvSpPr>
          <p:cNvPr id="29" name="Text 27"/>
          <p:cNvSpPr/>
          <p:nvPr/>
        </p:nvSpPr>
        <p:spPr>
          <a:xfrm>
            <a:off x="566928" y="5870448"/>
            <a:ext cx="11057839" cy="457200"/>
          </a:xfrm>
          <a:prstGeom prst="rect">
            <a:avLst/>
          </a:prstGeom>
          <a:noFill/>
          <a:ln/>
        </p:spPr>
        <p:txBody>
          <a:bodyPr wrap="square" lIns="0" tIns="0" rIns="0" bIns="0" rtlCol="0" anchor="t"/>
          <a:lstStyle/>
          <a:p>
            <a:pPr marL="0" indent="0">
              <a:lnSpc>
                <a:spcPct val="106000"/>
              </a:lnSpc>
              <a:buNone/>
            </a:pPr>
            <a:r>
              <a:rPr lang="en-US" sz="1500" i="1" dirty="0">
                <a:solidFill>
                  <a:srgbClr val="6E6E80"/>
                </a:solidFill>
                <a:latin typeface="Calibri" pitchFamily="34" charset="0"/>
                <a:ea typeface="Calibri" pitchFamily="34" charset="-122"/>
                <a:cs typeface="Calibri" pitchFamily="34" charset="-120"/>
              </a:rPr>
              <a:t>By the end you should be able to answer each of these in plain language, and to say which method you would use on your own data.</a:t>
            </a:r>
            <a:endParaRPr lang="en-US" sz="1500" dirty="0"/>
          </a:p>
        </p:txBody>
      </p:sp>
      <p:sp>
        <p:nvSpPr>
          <p:cNvPr id="30" name="Text 28"/>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Introduction</a:t>
            </a:r>
            <a:endParaRPr lang="en-US" sz="950" dirty="0"/>
          </a:p>
        </p:txBody>
      </p:sp>
      <p:sp>
        <p:nvSpPr>
          <p:cNvPr id="31" name="Text 29"/>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91A2E"/>
        </a:solidFill>
        <a:effectLst/>
      </p:bgPr>
    </p:bg>
    <p:spTree>
      <p:nvGrpSpPr>
        <p:cNvPr id="1" name=""/>
        <p:cNvGrpSpPr/>
        <p:nvPr/>
      </p:nvGrpSpPr>
      <p:grpSpPr>
        <a:xfrm>
          <a:off x="0" y="0"/>
          <a:ext cx="0" cy="0"/>
          <a:chOff x="0" y="0"/>
          <a:chExt cx="0" cy="0"/>
        </a:xfrm>
      </p:grpSpPr>
      <p:sp>
        <p:nvSpPr>
          <p:cNvPr id="2" name="Text 0"/>
          <p:cNvSpPr/>
          <p:nvPr/>
        </p:nvSpPr>
        <p:spPr>
          <a:xfrm>
            <a:off x="566928" y="1993392"/>
            <a:ext cx="11057839" cy="292608"/>
          </a:xfrm>
          <a:prstGeom prst="rect">
            <a:avLst/>
          </a:prstGeom>
          <a:noFill/>
          <a:ln/>
        </p:spPr>
        <p:txBody>
          <a:bodyPr wrap="square" lIns="0" tIns="0" rIns="0" bIns="0" rtlCol="0" anchor="ctr"/>
          <a:lstStyle/>
          <a:p>
            <a:pPr marL="0" indent="0">
              <a:buNone/>
            </a:pPr>
            <a:r>
              <a:rPr lang="en-US" sz="1400" b="1" kern="0" spc="240" dirty="0">
                <a:solidFill>
                  <a:srgbClr val="B9B1E0"/>
                </a:solidFill>
                <a:latin typeface="Calibri" pitchFamily="34" charset="0"/>
                <a:ea typeface="Calibri" pitchFamily="34" charset="-122"/>
                <a:cs typeface="Calibri" pitchFamily="34" charset="-120"/>
              </a:rPr>
              <a:t>PART I</a:t>
            </a:r>
            <a:endParaRPr lang="en-US" sz="1400" dirty="0"/>
          </a:p>
        </p:txBody>
      </p:sp>
      <p:sp>
        <p:nvSpPr>
          <p:cNvPr id="3" name="Text 1"/>
          <p:cNvSpPr/>
          <p:nvPr/>
        </p:nvSpPr>
        <p:spPr>
          <a:xfrm>
            <a:off x="566928" y="2395728"/>
            <a:ext cx="10058400" cy="13716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Why simulation-based inference?</a:t>
            </a:r>
            <a:endParaRPr lang="en-US" sz="4000" dirty="0"/>
          </a:p>
        </p:txBody>
      </p:sp>
      <p:sp>
        <p:nvSpPr>
          <p:cNvPr id="4" name="Text 2"/>
          <p:cNvSpPr/>
          <p:nvPr/>
        </p:nvSpPr>
        <p:spPr>
          <a:xfrm>
            <a:off x="566928" y="3767328"/>
            <a:ext cx="8778240" cy="640080"/>
          </a:xfrm>
          <a:prstGeom prst="rect">
            <a:avLst/>
          </a:prstGeom>
          <a:noFill/>
          <a:ln/>
        </p:spPr>
        <p:txBody>
          <a:bodyPr wrap="square" lIns="0" tIns="0" rIns="0" bIns="0" rtlCol="0" anchor="ctr"/>
          <a:lstStyle/>
          <a:p>
            <a:pPr marL="0" indent="0">
              <a:lnSpc>
                <a:spcPct val="110000"/>
              </a:lnSpc>
              <a:buNone/>
            </a:pPr>
            <a:r>
              <a:rPr lang="en-US" sz="1800" dirty="0">
                <a:solidFill>
                  <a:srgbClr val="CFCAE8"/>
                </a:solidFill>
                <a:latin typeface="Calibri" pitchFamily="34" charset="0"/>
                <a:ea typeface="Calibri" pitchFamily="34" charset="-122"/>
                <a:cs typeface="Calibri" pitchFamily="34" charset="-120"/>
              </a:rPr>
              <a:t>The inverse problem, and the two different ways a likelihood can fail you.</a:t>
            </a:r>
            <a:endParaRPr lang="en-US" sz="1800" dirty="0"/>
          </a:p>
        </p:txBody>
      </p:sp>
      <p:pic>
        <p:nvPicPr>
          <p:cNvPr id="5" name="Image 0" descr="eq/d_inverse.png"/>
          <p:cNvPicPr>
            <a:picLocks noChangeAspect="1"/>
          </p:cNvPicPr>
          <p:nvPr/>
        </p:nvPicPr>
        <p:blipFill>
          <a:blip r:embed="rId3"/>
          <a:stretch>
            <a:fillRect/>
          </a:stretch>
        </p:blipFill>
        <p:spPr>
          <a:xfrm>
            <a:off x="566928" y="4773168"/>
            <a:ext cx="3375965" cy="396240"/>
          </a:xfrm>
          <a:prstGeom prst="rect">
            <a:avLst/>
          </a:prstGeom>
        </p:spPr>
      </p:pic>
      <p:sp>
        <p:nvSpPr>
          <p:cNvPr id="6" name="Text 3"/>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A6A8C"/>
                </a:solidFill>
                <a:latin typeface="Calibri" pitchFamily="34" charset="0"/>
                <a:ea typeface="Calibri" pitchFamily="34" charset="-122"/>
                <a:cs typeface="Calibri" pitchFamily="34" charset="-120"/>
              </a:rPr>
              <a:t>Simulation-Based Inference  ·  Part I — Motivation</a:t>
            </a:r>
            <a:endParaRPr lang="en-US" sz="950" dirty="0"/>
          </a:p>
        </p:txBody>
      </p:sp>
      <p:sp>
        <p:nvSpPr>
          <p:cNvPr id="7" name="Text 4"/>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A6A8C"/>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THE INVERSE PROBLEM</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Every model can be run in two directions</a:t>
            </a:r>
            <a:endParaRPr lang="en-US" sz="3000" dirty="0"/>
          </a:p>
        </p:txBody>
      </p:sp>
      <p:sp>
        <p:nvSpPr>
          <p:cNvPr id="4" name="Shape 2"/>
          <p:cNvSpPr/>
          <p:nvPr/>
        </p:nvSpPr>
        <p:spPr>
          <a:xfrm>
            <a:off x="566928" y="1426464"/>
            <a:ext cx="5349240" cy="2395728"/>
          </a:xfrm>
          <a:prstGeom prst="roundRect">
            <a:avLst>
              <a:gd name="adj" fmla="val 2290"/>
            </a:avLst>
          </a:prstGeom>
          <a:solidFill>
            <a:srgbClr val="E3F1EE"/>
          </a:solidFill>
          <a:ln/>
        </p:spPr>
        <p:txBody>
          <a:bodyPr/>
          <a:lstStyle/>
          <a:p>
            <a:endParaRPr lang="en-US"/>
          </a:p>
        </p:txBody>
      </p:sp>
      <p:sp>
        <p:nvSpPr>
          <p:cNvPr id="5" name="Text 3"/>
          <p:cNvSpPr/>
          <p:nvPr/>
        </p:nvSpPr>
        <p:spPr>
          <a:xfrm>
            <a:off x="841248" y="1554480"/>
            <a:ext cx="4754880" cy="384048"/>
          </a:xfrm>
          <a:prstGeom prst="rect">
            <a:avLst/>
          </a:prstGeom>
          <a:noFill/>
          <a:ln/>
        </p:spPr>
        <p:txBody>
          <a:bodyPr wrap="square" lIns="0" tIns="0" rIns="0" bIns="0" rtlCol="0" anchor="ctr"/>
          <a:lstStyle/>
          <a:p>
            <a:pPr marL="0" indent="0">
              <a:buNone/>
            </a:pPr>
            <a:r>
              <a:rPr lang="en-US" sz="1800" b="1" dirty="0">
                <a:solidFill>
                  <a:srgbClr val="1F7A6C"/>
                </a:solidFill>
                <a:latin typeface="Calibri" pitchFamily="34" charset="0"/>
                <a:ea typeface="Calibri" pitchFamily="34" charset="-122"/>
                <a:cs typeface="Calibri" pitchFamily="34" charset="-120"/>
              </a:rPr>
              <a:t>Forward  —  the simulator</a:t>
            </a:r>
            <a:endParaRPr lang="en-US" sz="1800" dirty="0"/>
          </a:p>
        </p:txBody>
      </p:sp>
      <p:sp>
        <p:nvSpPr>
          <p:cNvPr id="6" name="Text 4"/>
          <p:cNvSpPr/>
          <p:nvPr/>
        </p:nvSpPr>
        <p:spPr>
          <a:xfrm>
            <a:off x="841248" y="2029968"/>
            <a:ext cx="4800600" cy="169164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550" dirty="0">
                <a:solidFill>
                  <a:srgbClr val="1C1B29"/>
                </a:solidFill>
                <a:latin typeface="Calibri" pitchFamily="34" charset="0"/>
                <a:ea typeface="Calibri" pitchFamily="34" charset="-122"/>
                <a:cs typeface="Calibri" pitchFamily="34" charset="-120"/>
              </a:rPr>
              <a:t>You choose θ; the code returns a possible dataset x.</a:t>
            </a:r>
            <a:endParaRPr lang="en-US" sz="1550" dirty="0"/>
          </a:p>
          <a:p>
            <a:pPr marL="177800" indent="-177800">
              <a:lnSpc>
                <a:spcPct val="102000"/>
              </a:lnSpc>
              <a:spcAft>
                <a:spcPts val="700"/>
              </a:spcAft>
              <a:buSzPct val="100000"/>
              <a:buChar char="•"/>
            </a:pPr>
            <a:r>
              <a:rPr lang="en-US" sz="1550" dirty="0">
                <a:solidFill>
                  <a:srgbClr val="1C1B29"/>
                </a:solidFill>
                <a:latin typeface="Calibri" pitchFamily="34" charset="0"/>
                <a:ea typeface="Calibri" pitchFamily="34" charset="-122"/>
                <a:cs typeface="Calibri" pitchFamily="34" charset="-120"/>
              </a:rPr>
              <a:t>This is exactly what your simulator already does.</a:t>
            </a:r>
            <a:endParaRPr lang="en-US" sz="1550" dirty="0"/>
          </a:p>
          <a:p>
            <a:pPr marL="177800" indent="-177800">
              <a:lnSpc>
                <a:spcPct val="102000"/>
              </a:lnSpc>
              <a:spcAft>
                <a:spcPts val="700"/>
              </a:spcAft>
              <a:buSzPct val="100000"/>
              <a:buChar char="•"/>
            </a:pPr>
            <a:r>
              <a:rPr lang="en-US" sz="1550" dirty="0">
                <a:solidFill>
                  <a:srgbClr val="1C1B29"/>
                </a:solidFill>
                <a:latin typeface="Calibri" pitchFamily="34" charset="0"/>
                <a:ea typeface="Calibri" pitchFamily="34" charset="-122"/>
                <a:cs typeface="Calibri" pitchFamily="34" charset="-120"/>
              </a:rPr>
              <a:t>It is stochastic: the same θ gives a different x every run.</a:t>
            </a:r>
            <a:endParaRPr lang="en-US" sz="1550" dirty="0"/>
          </a:p>
        </p:txBody>
      </p:sp>
      <p:sp>
        <p:nvSpPr>
          <p:cNvPr id="7" name="Shape 5"/>
          <p:cNvSpPr/>
          <p:nvPr/>
        </p:nvSpPr>
        <p:spPr>
          <a:xfrm>
            <a:off x="6300216" y="1426464"/>
            <a:ext cx="5349240" cy="2395728"/>
          </a:xfrm>
          <a:prstGeom prst="roundRect">
            <a:avLst>
              <a:gd name="adj" fmla="val 2290"/>
            </a:avLst>
          </a:prstGeom>
          <a:solidFill>
            <a:srgbClr val="EDEBF7"/>
          </a:solidFill>
          <a:ln/>
        </p:spPr>
        <p:txBody>
          <a:bodyPr/>
          <a:lstStyle/>
          <a:p>
            <a:endParaRPr lang="en-US"/>
          </a:p>
        </p:txBody>
      </p:sp>
      <p:sp>
        <p:nvSpPr>
          <p:cNvPr id="8" name="Text 6"/>
          <p:cNvSpPr/>
          <p:nvPr/>
        </p:nvSpPr>
        <p:spPr>
          <a:xfrm>
            <a:off x="6574536" y="1554480"/>
            <a:ext cx="4754880" cy="384048"/>
          </a:xfrm>
          <a:prstGeom prst="rect">
            <a:avLst/>
          </a:prstGeom>
          <a:noFill/>
          <a:ln/>
        </p:spPr>
        <p:txBody>
          <a:bodyPr wrap="square" lIns="0" tIns="0" rIns="0" bIns="0" rtlCol="0" anchor="ctr"/>
          <a:lstStyle/>
          <a:p>
            <a:pPr marL="0" indent="0">
              <a:buNone/>
            </a:pPr>
            <a:r>
              <a:rPr lang="en-US" sz="1800" b="1" dirty="0">
                <a:solidFill>
                  <a:srgbClr val="4A3F8F"/>
                </a:solidFill>
                <a:latin typeface="Calibri" pitchFamily="34" charset="0"/>
                <a:ea typeface="Calibri" pitchFamily="34" charset="-122"/>
                <a:cs typeface="Calibri" pitchFamily="34" charset="-120"/>
              </a:rPr>
              <a:t>Inverse  —  inference</a:t>
            </a:r>
            <a:endParaRPr lang="en-US" sz="1800" dirty="0"/>
          </a:p>
        </p:txBody>
      </p:sp>
      <p:sp>
        <p:nvSpPr>
          <p:cNvPr id="9" name="Text 7"/>
          <p:cNvSpPr/>
          <p:nvPr/>
        </p:nvSpPr>
        <p:spPr>
          <a:xfrm>
            <a:off x="6574536" y="2029968"/>
            <a:ext cx="4800600" cy="169164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550" dirty="0">
                <a:solidFill>
                  <a:srgbClr val="1C1B29"/>
                </a:solidFill>
                <a:latin typeface="Calibri" pitchFamily="34" charset="0"/>
                <a:ea typeface="Calibri" pitchFamily="34" charset="-122"/>
                <a:cs typeface="Calibri" pitchFamily="34" charset="-120"/>
              </a:rPr>
              <a:t>You have one dataset xₒ. Which θ could have produced it?</a:t>
            </a:r>
            <a:endParaRPr lang="en-US" sz="1550" dirty="0"/>
          </a:p>
          <a:p>
            <a:pPr marL="177800" indent="-177800">
              <a:lnSpc>
                <a:spcPct val="102000"/>
              </a:lnSpc>
              <a:spcAft>
                <a:spcPts val="700"/>
              </a:spcAft>
              <a:buSzPct val="100000"/>
              <a:buChar char="•"/>
            </a:pPr>
            <a:r>
              <a:rPr lang="en-US" sz="1550" dirty="0">
                <a:solidFill>
                  <a:srgbClr val="1C1B29"/>
                </a:solidFill>
                <a:latin typeface="Calibri" pitchFamily="34" charset="0"/>
                <a:ea typeface="Calibri" pitchFamily="34" charset="-122"/>
                <a:cs typeface="Calibri" pitchFamily="34" charset="-120"/>
              </a:rPr>
              <a:t>The answer is a distribution, not a single best fit.</a:t>
            </a:r>
            <a:endParaRPr lang="en-US" sz="1550" dirty="0"/>
          </a:p>
          <a:p>
            <a:pPr marL="177800" indent="-177800">
              <a:lnSpc>
                <a:spcPct val="102000"/>
              </a:lnSpc>
              <a:spcAft>
                <a:spcPts val="700"/>
              </a:spcAft>
              <a:buSzPct val="100000"/>
              <a:buChar char="•"/>
            </a:pPr>
            <a:r>
              <a:rPr lang="en-US" sz="1550" dirty="0">
                <a:solidFill>
                  <a:srgbClr val="1C1B29"/>
                </a:solidFill>
                <a:latin typeface="Calibri" pitchFamily="34" charset="0"/>
                <a:ea typeface="Calibri" pitchFamily="34" charset="-122"/>
                <a:cs typeface="Calibri" pitchFamily="34" charset="-120"/>
              </a:rPr>
              <a:t>Degeneracies and uncertainty are part of the answer.</a:t>
            </a:r>
            <a:endParaRPr lang="en-US" sz="1550" dirty="0"/>
          </a:p>
        </p:txBody>
      </p:sp>
      <p:pic>
        <p:nvPicPr>
          <p:cNvPr id="10" name="Image 0" descr="eq/bayes_labels.png"/>
          <p:cNvPicPr>
            <a:picLocks noChangeAspect="1"/>
          </p:cNvPicPr>
          <p:nvPr/>
        </p:nvPicPr>
        <p:blipFill>
          <a:blip r:embed="rId3"/>
          <a:stretch>
            <a:fillRect/>
          </a:stretch>
        </p:blipFill>
        <p:spPr>
          <a:xfrm>
            <a:off x="4316730" y="3931920"/>
            <a:ext cx="3558235" cy="919277"/>
          </a:xfrm>
          <a:prstGeom prst="rect">
            <a:avLst/>
          </a:prstGeom>
        </p:spPr>
      </p:pic>
      <p:sp>
        <p:nvSpPr>
          <p:cNvPr id="11" name="Text 8"/>
          <p:cNvSpPr/>
          <p:nvPr/>
        </p:nvSpPr>
        <p:spPr>
          <a:xfrm>
            <a:off x="566928" y="5138928"/>
            <a:ext cx="11057839" cy="219456"/>
          </a:xfrm>
          <a:prstGeom prst="rect">
            <a:avLst/>
          </a:prstGeom>
          <a:noFill/>
          <a:ln/>
        </p:spPr>
        <p:txBody>
          <a:bodyPr wrap="square" lIns="0" tIns="0" rIns="0" bIns="0" rtlCol="0" anchor="ctr"/>
          <a:lstStyle/>
          <a:p>
            <a:pPr marL="0" indent="0" algn="ctr">
              <a:buNone/>
            </a:pPr>
            <a:r>
              <a:rPr lang="en-US" sz="1050" i="1" dirty="0">
                <a:solidFill>
                  <a:srgbClr val="6E6E80"/>
                </a:solidFill>
                <a:latin typeface="Calibri" pitchFamily="34" charset="0"/>
                <a:ea typeface="Calibri" pitchFamily="34" charset="-122"/>
                <a:cs typeface="Calibri" pitchFamily="34" charset="-120"/>
              </a:rPr>
              <a:t>The prior and the likelihood are physics choices; the posterior is what the data plus those choices imply.</a:t>
            </a:r>
            <a:endParaRPr lang="en-US" sz="1050" dirty="0"/>
          </a:p>
        </p:txBody>
      </p:sp>
      <p:sp>
        <p:nvSpPr>
          <p:cNvPr id="12" name="Shape 9"/>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13" name="Text 10"/>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The target is the whole distribution p(θ | xₒ) — every parameter compatible with the data and the prior.</a:t>
            </a:r>
            <a:endParaRPr lang="en-US" sz="1550" dirty="0"/>
          </a:p>
        </p:txBody>
      </p:sp>
      <p:sp>
        <p:nvSpPr>
          <p:cNvPr id="14" name="Text 11"/>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 — Motivation</a:t>
            </a:r>
            <a:endParaRPr lang="en-US" sz="950" dirty="0"/>
          </a:p>
        </p:txBody>
      </p:sp>
      <p:sp>
        <p:nvSpPr>
          <p:cNvPr id="15" name="Text 12"/>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ANATOMY OF BAYES' THEOREM</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Every Bayesian object is a slice of one density</a:t>
            </a:r>
            <a:endParaRPr lang="en-US" sz="3000" dirty="0"/>
          </a:p>
        </p:txBody>
      </p:sp>
      <p:pic>
        <p:nvPicPr>
          <p:cNvPr id="4" name="Image 0" descr="figs/fig_bayes_anatomy.png"/>
          <p:cNvPicPr>
            <a:picLocks noChangeAspect="1"/>
          </p:cNvPicPr>
          <p:nvPr/>
        </p:nvPicPr>
        <p:blipFill>
          <a:blip r:embed="rId3"/>
          <a:stretch>
            <a:fillRect/>
          </a:stretch>
        </p:blipFill>
        <p:spPr>
          <a:xfrm>
            <a:off x="411480" y="1463040"/>
            <a:ext cx="6446520" cy="3840480"/>
          </a:xfrm>
          <a:prstGeom prst="rect">
            <a:avLst/>
          </a:prstGeom>
        </p:spPr>
      </p:pic>
      <p:sp>
        <p:nvSpPr>
          <p:cNvPr id="5" name="Text 2"/>
          <p:cNvSpPr/>
          <p:nvPr/>
        </p:nvSpPr>
        <p:spPr>
          <a:xfrm>
            <a:off x="7132320" y="1481328"/>
            <a:ext cx="4492447" cy="329184"/>
          </a:xfrm>
          <a:prstGeom prst="rect">
            <a:avLst/>
          </a:prstGeom>
          <a:noFill/>
          <a:ln/>
        </p:spPr>
        <p:txBody>
          <a:bodyPr wrap="square" lIns="0" tIns="0" rIns="0" bIns="0" rtlCol="0" anchor="ctr"/>
          <a:lstStyle/>
          <a:p>
            <a:pPr marL="0" indent="0">
              <a:buNone/>
            </a:pPr>
            <a:r>
              <a:rPr lang="en-US" sz="1800" b="1" dirty="0">
                <a:solidFill>
                  <a:srgbClr val="4A3F8F"/>
                </a:solidFill>
                <a:latin typeface="Calibri" pitchFamily="34" charset="0"/>
                <a:ea typeface="Calibri" pitchFamily="34" charset="-122"/>
                <a:cs typeface="Calibri" pitchFamily="34" charset="-120"/>
              </a:rPr>
              <a:t>How to read it</a:t>
            </a:r>
            <a:endParaRPr lang="en-US" sz="1800" dirty="0"/>
          </a:p>
        </p:txBody>
      </p:sp>
      <p:sp>
        <p:nvSpPr>
          <p:cNvPr id="6" name="Text 3"/>
          <p:cNvSpPr/>
          <p:nvPr/>
        </p:nvSpPr>
        <p:spPr>
          <a:xfrm>
            <a:off x="7132320" y="1901952"/>
            <a:ext cx="4492447" cy="228600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550" dirty="0">
                <a:solidFill>
                  <a:srgbClr val="1C1B29"/>
                </a:solidFill>
                <a:latin typeface="Calibri" pitchFamily="34" charset="0"/>
                <a:ea typeface="Calibri" pitchFamily="34" charset="-122"/>
                <a:cs typeface="Calibri" pitchFamily="34" charset="-120"/>
              </a:rPr>
              <a:t>The joint p(θ, x) = p(θ) p(x | θ) contains everything.</a:t>
            </a:r>
            <a:endParaRPr lang="en-US" sz="1550" dirty="0"/>
          </a:p>
          <a:p>
            <a:pPr marL="177800" indent="-177800">
              <a:lnSpc>
                <a:spcPct val="102000"/>
              </a:lnSpc>
              <a:spcAft>
                <a:spcPts val="900"/>
              </a:spcAft>
              <a:buSzPct val="100000"/>
              <a:buChar char="•"/>
            </a:pPr>
            <a:r>
              <a:rPr lang="en-US" sz="1550" dirty="0">
                <a:solidFill>
                  <a:srgbClr val="1C1B29"/>
                </a:solidFill>
                <a:latin typeface="Calibri" pitchFamily="34" charset="0"/>
                <a:ea typeface="Calibri" pitchFamily="34" charset="-122"/>
                <a:cs typeface="Calibri" pitchFamily="34" charset="-120"/>
              </a:rPr>
              <a:t>Fix a parameter θ*: the vertical slice is the likelihood.</a:t>
            </a:r>
            <a:endParaRPr lang="en-US" sz="1550" dirty="0"/>
          </a:p>
          <a:p>
            <a:pPr marL="177800" indent="-177800">
              <a:lnSpc>
                <a:spcPct val="102000"/>
              </a:lnSpc>
              <a:spcAft>
                <a:spcPts val="900"/>
              </a:spcAft>
              <a:buSzPct val="100000"/>
              <a:buChar char="•"/>
            </a:pPr>
            <a:r>
              <a:rPr lang="en-US" sz="1550" dirty="0">
                <a:solidFill>
                  <a:srgbClr val="1C1B29"/>
                </a:solidFill>
                <a:latin typeface="Calibri" pitchFamily="34" charset="0"/>
                <a:ea typeface="Calibri" pitchFamily="34" charset="-122"/>
                <a:cs typeface="Calibri" pitchFamily="34" charset="-120"/>
              </a:rPr>
              <a:t>Fix the data at xₒ: the horizontal slice is the posterior.</a:t>
            </a:r>
            <a:endParaRPr lang="en-US" sz="1550" dirty="0"/>
          </a:p>
          <a:p>
            <a:pPr marL="177800" indent="-177800">
              <a:lnSpc>
                <a:spcPct val="102000"/>
              </a:lnSpc>
              <a:spcAft>
                <a:spcPts val="900"/>
              </a:spcAft>
              <a:buSzPct val="100000"/>
              <a:buChar char="•"/>
            </a:pPr>
            <a:r>
              <a:rPr lang="en-US" sz="1550" dirty="0">
                <a:solidFill>
                  <a:srgbClr val="1C1B29"/>
                </a:solidFill>
                <a:latin typeface="Calibri" pitchFamily="34" charset="0"/>
                <a:ea typeface="Calibri" pitchFamily="34" charset="-122"/>
                <a:cs typeface="Calibri" pitchFamily="34" charset="-120"/>
              </a:rPr>
              <a:t>Integrate over θ: the evidence p(xₒ), a normalisation.</a:t>
            </a:r>
            <a:endParaRPr lang="en-US" sz="1550" dirty="0"/>
          </a:p>
        </p:txBody>
      </p:sp>
      <p:pic>
        <p:nvPicPr>
          <p:cNvPr id="7" name="Image 1" descr="eq/evidence.png"/>
          <p:cNvPicPr>
            <a:picLocks noChangeAspect="1"/>
          </p:cNvPicPr>
          <p:nvPr/>
        </p:nvPicPr>
        <p:blipFill>
          <a:blip r:embed="rId4"/>
          <a:stretch>
            <a:fillRect/>
          </a:stretch>
        </p:blipFill>
        <p:spPr>
          <a:xfrm>
            <a:off x="7132320" y="4224528"/>
            <a:ext cx="2399081" cy="523342"/>
          </a:xfrm>
          <a:prstGeom prst="rect">
            <a:avLst/>
          </a:prstGeom>
        </p:spPr>
      </p:pic>
      <p:sp>
        <p:nvSpPr>
          <p:cNvPr id="8" name="Text 4"/>
          <p:cNvSpPr/>
          <p:nvPr/>
        </p:nvSpPr>
        <p:spPr>
          <a:xfrm>
            <a:off x="566928" y="5413248"/>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Figure computed for a linear-Gaussian model; layout after Anau Montel (2025), Fig. 1.</a:t>
            </a:r>
            <a:endParaRPr lang="en-US" sz="1050" dirty="0"/>
          </a:p>
        </p:txBody>
      </p:sp>
      <p:sp>
        <p:nvSpPr>
          <p:cNvPr id="9" name="Shape 5"/>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10" name="Text 6"/>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If you can draw the joint distribution, you have already done Bayesian inference. The rest is computation.</a:t>
            </a:r>
            <a:endParaRPr lang="en-US" sz="1550" dirty="0"/>
          </a:p>
        </p:txBody>
      </p:sp>
      <p:sp>
        <p:nvSpPr>
          <p:cNvPr id="11" name="Text 7"/>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 — Motivation</a:t>
            </a:r>
            <a:endParaRPr lang="en-US" sz="950" dirty="0"/>
          </a:p>
        </p:txBody>
      </p:sp>
      <p:sp>
        <p:nvSpPr>
          <p:cNvPr id="12" name="Text 8"/>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WHAT EACH METHOD DEMANDS OF YOUR MODEL</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SBI is the only row that never evaluates a likelihood</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11057839" cy="2834640"/>
        </p:xfrm>
        <a:graphic>
          <a:graphicData uri="http://schemas.openxmlformats.org/drawingml/2006/table">
            <a:tbl>
              <a:tblPr/>
              <a:tblGrid>
                <a:gridCol w="36576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1039">
                  <a:extLst>
                    <a:ext uri="{9D8B030D-6E8A-4147-A177-3AD203B41FA5}">
                      <a16:colId xmlns:a16="http://schemas.microsoft.com/office/drawing/2014/main" val="20003"/>
                    </a:ext>
                  </a:extLst>
                </a:gridCol>
              </a:tblGrid>
              <a:tr h="475488">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method</a:t>
                      </a:r>
                      <a:endParaRPr lang="en-US" sz="145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3E3379"/>
                    </a:solidFill>
                  </a:tcPr>
                </a:tc>
                <a:tc>
                  <a:txBody>
                    <a:bodyPr/>
                    <a:lstStyle/>
                    <a:p>
                      <a:pPr marL="0" indent="0" algn="ctr">
                        <a:buNone/>
                      </a:pPr>
                      <a:r>
                        <a:rPr lang="en-US" sz="1450" b="1" dirty="0">
                          <a:solidFill>
                            <a:srgbClr val="FFFFFF"/>
                          </a:solidFill>
                          <a:latin typeface="Calibri" pitchFamily="34" charset="0"/>
                          <a:ea typeface="Calibri" pitchFamily="34" charset="-122"/>
                          <a:cs typeface="Calibri" pitchFamily="34" charset="-120"/>
                        </a:rPr>
                        <a:t>sample  (θ, x) ~ p(θ, x)</a:t>
                      </a:r>
                      <a:endParaRPr lang="en-US" sz="145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3E3379"/>
                    </a:solidFill>
                  </a:tcPr>
                </a:tc>
                <a:tc>
                  <a:txBody>
                    <a:bodyPr/>
                    <a:lstStyle/>
                    <a:p>
                      <a:pPr marL="0" indent="0" algn="ctr">
                        <a:buNone/>
                      </a:pPr>
                      <a:r>
                        <a:rPr lang="en-US" sz="1450" b="1" dirty="0">
                          <a:solidFill>
                            <a:srgbClr val="FFFFFF"/>
                          </a:solidFill>
                          <a:latin typeface="Calibri" pitchFamily="34" charset="0"/>
                          <a:ea typeface="Calibri" pitchFamily="34" charset="-122"/>
                          <a:cs typeface="Calibri" pitchFamily="34" charset="-120"/>
                        </a:rPr>
                        <a:t>evaluate  p(xₒ | θ)</a:t>
                      </a:r>
                      <a:endParaRPr lang="en-US" sz="145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3E3379"/>
                    </a:solidFill>
                  </a:tcPr>
                </a:tc>
                <a:tc>
                  <a:txBody>
                    <a:bodyPr/>
                    <a:lstStyle/>
                    <a:p>
                      <a:pPr marL="0" indent="0" algn="ctr">
                        <a:buNone/>
                      </a:pPr>
                      <a:r>
                        <a:rPr lang="en-US" sz="1450" b="1" dirty="0">
                          <a:solidFill>
                            <a:srgbClr val="FFFFFF"/>
                          </a:solidFill>
                          <a:latin typeface="Calibri" pitchFamily="34" charset="0"/>
                          <a:ea typeface="Calibri" pitchFamily="34" charset="-122"/>
                          <a:cs typeface="Calibri" pitchFamily="34" charset="-120"/>
                        </a:rPr>
                        <a:t>evaluate  ∇θ log p(xₒ | θ)</a:t>
                      </a:r>
                      <a:endParaRPr lang="en-US" sz="145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3E3379"/>
                    </a:solidFill>
                  </a:tcPr>
                </a:tc>
                <a:extLst>
                  <a:ext uri="{0D108BD9-81ED-4DB2-BD59-A6C34878D82A}">
                    <a16:rowId xmlns:a16="http://schemas.microsoft.com/office/drawing/2014/main" val="10000"/>
                  </a:ext>
                </a:extLst>
              </a:tr>
              <a:tr h="457200">
                <a:tc>
                  <a:txBody>
                    <a:bodyPr/>
                    <a:lstStyle/>
                    <a:p>
                      <a:pPr marL="0" indent="0" algn="l">
                        <a:buNone/>
                      </a:pPr>
                      <a:r>
                        <a:rPr lang="en-US" sz="1500" dirty="0">
                          <a:solidFill>
                            <a:srgbClr val="1C1B29"/>
                          </a:solidFill>
                          <a:latin typeface="Calibri" pitchFamily="34" charset="0"/>
                          <a:ea typeface="Calibri" pitchFamily="34" charset="-122"/>
                          <a:cs typeface="Calibri" pitchFamily="34" charset="-120"/>
                        </a:rPr>
                        <a:t>Markov chain Monte Carlo</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tc>
                  <a:txBody>
                    <a:bodyPr/>
                    <a:lstStyle/>
                    <a:p>
                      <a:pPr marL="0" indent="0" algn="ctr">
                        <a:buNone/>
                      </a:pPr>
                      <a:r>
                        <a:rPr lang="en-US" sz="1500" dirty="0">
                          <a:solidFill>
                            <a:srgbClr val="A0A0B4"/>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tc>
                  <a:txBody>
                    <a:bodyPr/>
                    <a:lstStyle/>
                    <a:p>
                      <a:pPr marL="0" indent="0" algn="ctr">
                        <a:buNone/>
                      </a:pPr>
                      <a:r>
                        <a:rPr lang="en-US" sz="1500" dirty="0">
                          <a:solidFill>
                            <a:srgbClr val="1F7A6C"/>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tc>
                  <a:txBody>
                    <a:bodyPr/>
                    <a:lstStyle/>
                    <a:p>
                      <a:pPr marL="0" indent="0" algn="ctr">
                        <a:buNone/>
                      </a:pPr>
                      <a:r>
                        <a:rPr lang="en-US" sz="1500" dirty="0">
                          <a:solidFill>
                            <a:srgbClr val="A0A0B4"/>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extLst>
                  <a:ext uri="{0D108BD9-81ED-4DB2-BD59-A6C34878D82A}">
                    <a16:rowId xmlns:a16="http://schemas.microsoft.com/office/drawing/2014/main" val="10001"/>
                  </a:ext>
                </a:extLst>
              </a:tr>
              <a:tr h="457200">
                <a:tc>
                  <a:txBody>
                    <a:bodyPr/>
                    <a:lstStyle/>
                    <a:p>
                      <a:pPr marL="0" indent="0" algn="l">
                        <a:buNone/>
                      </a:pPr>
                      <a:r>
                        <a:rPr lang="en-US" sz="1500" dirty="0">
                          <a:solidFill>
                            <a:srgbClr val="1C1B29"/>
                          </a:solidFill>
                          <a:latin typeface="Calibri" pitchFamily="34" charset="0"/>
                          <a:ea typeface="Calibri" pitchFamily="34" charset="-122"/>
                          <a:cs typeface="Calibri" pitchFamily="34" charset="-120"/>
                        </a:rPr>
                        <a:t>Nested sampling</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A0A0B4"/>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7A6C"/>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A0A0B4"/>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500" dirty="0">
                          <a:solidFill>
                            <a:srgbClr val="1C1B29"/>
                          </a:solidFill>
                          <a:latin typeface="Calibri" pitchFamily="34" charset="0"/>
                          <a:ea typeface="Calibri" pitchFamily="34" charset="-122"/>
                          <a:cs typeface="Calibri" pitchFamily="34" charset="-120"/>
                        </a:rPr>
                        <a:t>Hamiltonian Monte Carlo</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tc>
                  <a:txBody>
                    <a:bodyPr/>
                    <a:lstStyle/>
                    <a:p>
                      <a:pPr marL="0" indent="0" algn="ctr">
                        <a:buNone/>
                      </a:pPr>
                      <a:r>
                        <a:rPr lang="en-US" sz="1500" dirty="0">
                          <a:solidFill>
                            <a:srgbClr val="A0A0B4"/>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tc>
                  <a:txBody>
                    <a:bodyPr/>
                    <a:lstStyle/>
                    <a:p>
                      <a:pPr marL="0" indent="0" algn="ctr">
                        <a:buNone/>
                      </a:pPr>
                      <a:r>
                        <a:rPr lang="en-US" sz="1500" dirty="0">
                          <a:solidFill>
                            <a:srgbClr val="1F7A6C"/>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tc>
                  <a:txBody>
                    <a:bodyPr/>
                    <a:lstStyle/>
                    <a:p>
                      <a:pPr marL="0" indent="0" algn="ctr">
                        <a:buNone/>
                      </a:pPr>
                      <a:r>
                        <a:rPr lang="en-US" sz="1500" dirty="0">
                          <a:solidFill>
                            <a:srgbClr val="1F7A6C"/>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extLst>
                  <a:ext uri="{0D108BD9-81ED-4DB2-BD59-A6C34878D82A}">
                    <a16:rowId xmlns:a16="http://schemas.microsoft.com/office/drawing/2014/main" val="10003"/>
                  </a:ext>
                </a:extLst>
              </a:tr>
              <a:tr h="457200">
                <a:tc>
                  <a:txBody>
                    <a:bodyPr/>
                    <a:lstStyle/>
                    <a:p>
                      <a:pPr marL="0" indent="0" algn="l">
                        <a:buNone/>
                      </a:pPr>
                      <a:r>
                        <a:rPr lang="en-US" sz="1500" dirty="0">
                          <a:solidFill>
                            <a:srgbClr val="1C1B29"/>
                          </a:solidFill>
                          <a:latin typeface="Calibri" pitchFamily="34" charset="0"/>
                          <a:ea typeface="Calibri" pitchFamily="34" charset="-122"/>
                          <a:cs typeface="Calibri" pitchFamily="34" charset="-120"/>
                        </a:rPr>
                        <a:t>Variational inference</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A0A0B4"/>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7A6C"/>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7A6C"/>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0352">
                <a:tc>
                  <a:txBody>
                    <a:bodyPr/>
                    <a:lstStyle/>
                    <a:p>
                      <a:pPr marL="0" indent="0" algn="l">
                        <a:buNone/>
                      </a:pPr>
                      <a:r>
                        <a:rPr lang="en-US" sz="1500" b="1" dirty="0">
                          <a:solidFill>
                            <a:srgbClr val="3E3379"/>
                          </a:solidFill>
                          <a:latin typeface="Calibri" pitchFamily="34" charset="0"/>
                          <a:ea typeface="Calibri" pitchFamily="34" charset="-122"/>
                          <a:cs typeface="Calibri" pitchFamily="34" charset="-120"/>
                        </a:rPr>
                        <a:t>Simulation-based inference</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EDEBF7"/>
                    </a:solidFill>
                  </a:tcPr>
                </a:tc>
                <a:tc>
                  <a:txBody>
                    <a:bodyPr/>
                    <a:lstStyle/>
                    <a:p>
                      <a:pPr marL="0" indent="0" algn="ctr">
                        <a:buNone/>
                      </a:pPr>
                      <a:r>
                        <a:rPr lang="en-US" sz="1500" b="1" dirty="0">
                          <a:solidFill>
                            <a:srgbClr val="1F7A6C"/>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EDEBF7"/>
                    </a:solidFill>
                  </a:tcPr>
                </a:tc>
                <a:tc>
                  <a:txBody>
                    <a:bodyPr/>
                    <a:lstStyle/>
                    <a:p>
                      <a:pPr marL="0" indent="0" algn="ctr">
                        <a:buNone/>
                      </a:pPr>
                      <a:r>
                        <a:rPr lang="en-US" sz="1500" b="1" dirty="0">
                          <a:solidFill>
                            <a:srgbClr val="B03A5B"/>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EDEBF7"/>
                    </a:solidFill>
                  </a:tcPr>
                </a:tc>
                <a:tc>
                  <a:txBody>
                    <a:bodyPr/>
                    <a:lstStyle/>
                    <a:p>
                      <a:pPr marL="0" indent="0" algn="ctr">
                        <a:buNone/>
                      </a:pPr>
                      <a:r>
                        <a:rPr lang="en-US" sz="1500" b="1" dirty="0">
                          <a:solidFill>
                            <a:srgbClr val="B03A5B"/>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9728" marR="109728" marT="36576" marB="36576"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EDEBF7"/>
                    </a:solidFill>
                  </a:tcPr>
                </a:tc>
                <a:extLst>
                  <a:ext uri="{0D108BD9-81ED-4DB2-BD59-A6C34878D82A}">
                    <a16:rowId xmlns:a16="http://schemas.microsoft.com/office/drawing/2014/main" val="10005"/>
                  </a:ext>
                </a:extLst>
              </a:tr>
            </a:tbl>
          </a:graphicData>
        </a:graphic>
      </p:graphicFrame>
      <p:sp>
        <p:nvSpPr>
          <p:cNvPr id="5" name="Shape 2"/>
          <p:cNvSpPr/>
          <p:nvPr/>
        </p:nvSpPr>
        <p:spPr>
          <a:xfrm>
            <a:off x="566928" y="4480560"/>
            <a:ext cx="11057839" cy="1005840"/>
          </a:xfrm>
          <a:prstGeom prst="roundRect">
            <a:avLst>
              <a:gd name="adj" fmla="val 5455"/>
            </a:avLst>
          </a:prstGeom>
          <a:solidFill>
            <a:srgbClr val="EDEBF7"/>
          </a:solidFill>
          <a:ln/>
        </p:spPr>
        <p:txBody>
          <a:bodyPr/>
          <a:lstStyle/>
          <a:p>
            <a:endParaRPr lang="en-US"/>
          </a:p>
        </p:txBody>
      </p:sp>
      <p:sp>
        <p:nvSpPr>
          <p:cNvPr id="6" name="Text 3"/>
          <p:cNvSpPr/>
          <p:nvPr/>
        </p:nvSpPr>
        <p:spPr>
          <a:xfrm>
            <a:off x="841248" y="4608576"/>
            <a:ext cx="10509199" cy="822960"/>
          </a:xfrm>
          <a:prstGeom prst="rect">
            <a:avLst/>
          </a:prstGeom>
          <a:noFill/>
          <a:ln/>
        </p:spPr>
        <p:txBody>
          <a:bodyPr wrap="square" lIns="0" tIns="0" rIns="0" bIns="0" rtlCol="0" anchor="t"/>
          <a:lstStyle/>
          <a:p>
            <a:pPr marL="0" indent="0">
              <a:lnSpc>
                <a:spcPct val="106000"/>
              </a:lnSpc>
              <a:buNone/>
            </a:pPr>
            <a:r>
              <a:rPr lang="en-US" sz="1550" dirty="0">
                <a:solidFill>
                  <a:srgbClr val="3E3379"/>
                </a:solidFill>
                <a:latin typeface="Calibri" pitchFamily="34" charset="0"/>
                <a:ea typeface="Calibri" pitchFamily="34" charset="-122"/>
                <a:cs typeface="Calibri" pitchFamily="34" charset="-120"/>
              </a:rPr>
              <a:t>Every classical method needs a program that returns a number for p(xₒ | θ). SBI needs a program that returns a random dataset. That single substitution is the whole idea — and it is why SBI works on black-box code, in any language, with no gradients.</a:t>
            </a:r>
            <a:endParaRPr lang="en-US" sz="1550" dirty="0"/>
          </a:p>
        </p:txBody>
      </p:sp>
      <p:sp>
        <p:nvSpPr>
          <p:cNvPr id="4" name="Text 4"/>
          <p:cNvSpPr/>
          <p:nvPr/>
        </p:nvSpPr>
        <p:spPr>
          <a:xfrm>
            <a:off x="566928" y="5577840"/>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After Anau Montel (2025), Table 1.</a:t>
            </a:r>
            <a:endParaRPr lang="en-US" sz="1050" dirty="0"/>
          </a:p>
        </p:txBody>
      </p:sp>
      <p:sp>
        <p:nvSpPr>
          <p:cNvPr id="8" name="Shape 5"/>
          <p:cNvSpPr/>
          <p:nvPr/>
        </p:nvSpPr>
        <p:spPr>
          <a:xfrm>
            <a:off x="566928" y="5897880"/>
            <a:ext cx="11057839" cy="502920"/>
          </a:xfrm>
          <a:prstGeom prst="roundRect">
            <a:avLst>
              <a:gd name="adj" fmla="val 10909"/>
            </a:avLst>
          </a:prstGeom>
          <a:solidFill>
            <a:srgbClr val="FBF0E1"/>
          </a:solidFill>
          <a:ln/>
        </p:spPr>
        <p:txBody>
          <a:bodyPr/>
          <a:lstStyle/>
          <a:p>
            <a:endParaRPr lang="en-US"/>
          </a:p>
        </p:txBody>
      </p:sp>
      <p:sp>
        <p:nvSpPr>
          <p:cNvPr id="9" name="Text 6"/>
          <p:cNvSpPr/>
          <p:nvPr/>
        </p:nvSpPr>
        <p:spPr>
          <a:xfrm>
            <a:off x="804672" y="5897880"/>
            <a:ext cx="10600639" cy="502920"/>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Ask of your own model: can I sample from it? Can I score it? The answers select your method.</a:t>
            </a:r>
            <a:endParaRPr lang="en-US" sz="1550" dirty="0"/>
          </a:p>
        </p:txBody>
      </p:sp>
      <p:sp>
        <p:nvSpPr>
          <p:cNvPr id="10" name="Text 7"/>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 — Motivation</a:t>
            </a:r>
            <a:endParaRPr lang="en-US" sz="950" dirty="0"/>
          </a:p>
        </p:txBody>
      </p:sp>
      <p:sp>
        <p:nvSpPr>
          <p:cNvPr id="11" name="Text 8"/>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WHY LIKELIHOODS BECOME INTRACTABLE</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The Gaussian likelihood is a lucky special case</a:t>
            </a:r>
            <a:endParaRPr lang="en-US" sz="3000" dirty="0"/>
          </a:p>
        </p:txBody>
      </p:sp>
      <p:sp>
        <p:nvSpPr>
          <p:cNvPr id="4" name="Shape 2"/>
          <p:cNvSpPr/>
          <p:nvPr/>
        </p:nvSpPr>
        <p:spPr>
          <a:xfrm>
            <a:off x="566928" y="1426464"/>
            <a:ext cx="6903720" cy="1572768"/>
          </a:xfrm>
          <a:prstGeom prst="roundRect">
            <a:avLst>
              <a:gd name="adj" fmla="val 3488"/>
            </a:avLst>
          </a:prstGeom>
          <a:solidFill>
            <a:srgbClr val="F3F3F8"/>
          </a:solidFill>
          <a:ln/>
        </p:spPr>
        <p:txBody>
          <a:bodyPr/>
          <a:lstStyle/>
          <a:p>
            <a:endParaRPr lang="en-US"/>
          </a:p>
        </p:txBody>
      </p:sp>
      <p:sp>
        <p:nvSpPr>
          <p:cNvPr id="5" name="Text 3"/>
          <p:cNvSpPr/>
          <p:nvPr/>
        </p:nvSpPr>
        <p:spPr>
          <a:xfrm>
            <a:off x="822960" y="1517904"/>
            <a:ext cx="6309360" cy="329184"/>
          </a:xfrm>
          <a:prstGeom prst="rect">
            <a:avLst/>
          </a:prstGeom>
          <a:noFill/>
          <a:ln/>
        </p:spPr>
        <p:txBody>
          <a:bodyPr wrap="square" lIns="0" tIns="0" rIns="0" bIns="0" rtlCol="0" anchor="ctr"/>
          <a:lstStyle/>
          <a:p>
            <a:pPr marL="0" indent="0">
              <a:buNone/>
            </a:pPr>
            <a:r>
              <a:rPr lang="en-US" sz="1700" b="1" dirty="0">
                <a:solidFill>
                  <a:srgbClr val="1C1B29"/>
                </a:solidFill>
                <a:latin typeface="Calibri" pitchFamily="34" charset="0"/>
                <a:ea typeface="Calibri" pitchFamily="34" charset="-122"/>
                <a:cs typeface="Calibri" pitchFamily="34" charset="-120"/>
              </a:rPr>
              <a:t>What a likelihood actually is</a:t>
            </a:r>
            <a:endParaRPr lang="en-US" sz="1700" dirty="0"/>
          </a:p>
        </p:txBody>
      </p:sp>
      <p:pic>
        <p:nvPicPr>
          <p:cNvPr id="6" name="Image 0" descr="eq/lik_full.png"/>
          <p:cNvPicPr>
            <a:picLocks noChangeAspect="1"/>
          </p:cNvPicPr>
          <p:nvPr/>
        </p:nvPicPr>
        <p:blipFill>
          <a:blip r:embed="rId3"/>
          <a:stretch>
            <a:fillRect/>
          </a:stretch>
        </p:blipFill>
        <p:spPr>
          <a:xfrm>
            <a:off x="1901952" y="1956816"/>
            <a:ext cx="4233672" cy="615696"/>
          </a:xfrm>
          <a:prstGeom prst="rect">
            <a:avLst/>
          </a:prstGeom>
        </p:spPr>
      </p:pic>
      <p:sp>
        <p:nvSpPr>
          <p:cNvPr id="7" name="Text 4"/>
          <p:cNvSpPr/>
          <p:nvPr/>
        </p:nvSpPr>
        <p:spPr>
          <a:xfrm>
            <a:off x="822960" y="2578608"/>
            <a:ext cx="6391656" cy="402336"/>
          </a:xfrm>
          <a:prstGeom prst="rect">
            <a:avLst/>
          </a:prstGeom>
          <a:noFill/>
          <a:ln/>
        </p:spPr>
        <p:txBody>
          <a:bodyPr wrap="square" lIns="0" tIns="0" rIns="0" bIns="0" rtlCol="0" anchor="t"/>
          <a:lstStyle/>
          <a:p>
            <a:pPr marL="0" indent="0">
              <a:lnSpc>
                <a:spcPct val="106000"/>
              </a:lnSpc>
              <a:buNone/>
            </a:pPr>
            <a:r>
              <a:rPr lang="en-US" sz="1400" dirty="0">
                <a:solidFill>
                  <a:srgbClr val="6E6E80"/>
                </a:solidFill>
                <a:latin typeface="Calibri" pitchFamily="34" charset="0"/>
                <a:ea typeface="Calibri" pitchFamily="34" charset="-122"/>
                <a:cs typeface="Calibri" pitchFamily="34" charset="-120"/>
              </a:rPr>
              <a:t>A sum over every latent path that could have produced x: nuisance parameters η, and initial conditions and noise ζ.</a:t>
            </a:r>
            <a:endParaRPr lang="en-US" sz="1400" dirty="0"/>
          </a:p>
        </p:txBody>
      </p:sp>
      <p:sp>
        <p:nvSpPr>
          <p:cNvPr id="8" name="Text 5"/>
          <p:cNvSpPr/>
          <p:nvPr/>
        </p:nvSpPr>
        <p:spPr>
          <a:xfrm>
            <a:off x="566928" y="3035808"/>
            <a:ext cx="6903720" cy="274320"/>
          </a:xfrm>
          <a:prstGeom prst="rect">
            <a:avLst/>
          </a:prstGeom>
          <a:noFill/>
          <a:ln/>
        </p:spPr>
        <p:txBody>
          <a:bodyPr wrap="square" lIns="0" tIns="0" rIns="0" bIns="0" rtlCol="0" anchor="ctr"/>
          <a:lstStyle/>
          <a:p>
            <a:pPr marL="0" indent="0" algn="ctr">
              <a:buNone/>
            </a:pPr>
            <a:r>
              <a:rPr lang="en-US" sz="1350" i="1" dirty="0">
                <a:solidFill>
                  <a:srgbClr val="AF6413"/>
                </a:solidFill>
                <a:latin typeface="Calibri" pitchFamily="34" charset="0"/>
                <a:ea typeface="Calibri" pitchFamily="34" charset="-122"/>
                <a:cs typeface="Calibri" pitchFamily="34" charset="-120"/>
              </a:rPr>
              <a:t>if the ζ integral can be done analytically</a:t>
            </a:r>
            <a:endParaRPr lang="en-US" sz="1350" dirty="0"/>
          </a:p>
        </p:txBody>
      </p:sp>
      <p:sp>
        <p:nvSpPr>
          <p:cNvPr id="9" name="Shape 6"/>
          <p:cNvSpPr/>
          <p:nvPr/>
        </p:nvSpPr>
        <p:spPr>
          <a:xfrm>
            <a:off x="566928" y="3346704"/>
            <a:ext cx="6903720" cy="1737360"/>
          </a:xfrm>
          <a:prstGeom prst="roundRect">
            <a:avLst>
              <a:gd name="adj" fmla="val 3158"/>
            </a:avLst>
          </a:prstGeom>
          <a:solidFill>
            <a:srgbClr val="E3F1EE"/>
          </a:solidFill>
          <a:ln/>
        </p:spPr>
        <p:txBody>
          <a:bodyPr/>
          <a:lstStyle/>
          <a:p>
            <a:endParaRPr lang="en-US"/>
          </a:p>
        </p:txBody>
      </p:sp>
      <p:sp>
        <p:nvSpPr>
          <p:cNvPr id="10" name="Text 7"/>
          <p:cNvSpPr/>
          <p:nvPr/>
        </p:nvSpPr>
        <p:spPr>
          <a:xfrm>
            <a:off x="822960" y="3438144"/>
            <a:ext cx="6309360" cy="329184"/>
          </a:xfrm>
          <a:prstGeom prst="rect">
            <a:avLst/>
          </a:prstGeom>
          <a:noFill/>
          <a:ln/>
        </p:spPr>
        <p:txBody>
          <a:bodyPr wrap="square" lIns="0" tIns="0" rIns="0" bIns="0" rtlCol="0" anchor="ctr"/>
          <a:lstStyle/>
          <a:p>
            <a:pPr marL="0" indent="0">
              <a:buNone/>
            </a:pPr>
            <a:r>
              <a:rPr lang="en-US" sz="1700" b="1" dirty="0">
                <a:solidFill>
                  <a:srgbClr val="1F7A6C"/>
                </a:solidFill>
                <a:latin typeface="Calibri" pitchFamily="34" charset="0"/>
                <a:ea typeface="Calibri" pitchFamily="34" charset="-122"/>
                <a:cs typeface="Calibri" pitchFamily="34" charset="-120"/>
              </a:rPr>
              <a:t>What a standard analysis assumes instead</a:t>
            </a:r>
            <a:endParaRPr lang="en-US" sz="1700" dirty="0"/>
          </a:p>
        </p:txBody>
      </p:sp>
      <p:pic>
        <p:nvPicPr>
          <p:cNvPr id="11" name="Image 1" descr="eq/lik_gauss.png"/>
          <p:cNvPicPr>
            <a:picLocks noChangeAspect="1"/>
          </p:cNvPicPr>
          <p:nvPr/>
        </p:nvPicPr>
        <p:blipFill>
          <a:blip r:embed="rId4"/>
          <a:stretch>
            <a:fillRect/>
          </a:stretch>
        </p:blipFill>
        <p:spPr>
          <a:xfrm>
            <a:off x="1636776" y="3877056"/>
            <a:ext cx="4764024" cy="615696"/>
          </a:xfrm>
          <a:prstGeom prst="rect">
            <a:avLst/>
          </a:prstGeom>
        </p:spPr>
      </p:pic>
      <p:pic>
        <p:nvPicPr>
          <p:cNvPr id="12" name="Image 2" descr="eq/mu_def.png"/>
          <p:cNvPicPr>
            <a:picLocks noChangeAspect="1"/>
          </p:cNvPicPr>
          <p:nvPr/>
        </p:nvPicPr>
        <p:blipFill>
          <a:blip r:embed="rId5"/>
          <a:stretch>
            <a:fillRect/>
          </a:stretch>
        </p:blipFill>
        <p:spPr>
          <a:xfrm>
            <a:off x="3017825" y="4517136"/>
            <a:ext cx="2001926" cy="321869"/>
          </a:xfrm>
          <a:prstGeom prst="rect">
            <a:avLst/>
          </a:prstGeom>
        </p:spPr>
      </p:pic>
      <p:sp>
        <p:nvSpPr>
          <p:cNvPr id="13" name="Text 8"/>
          <p:cNvSpPr/>
          <p:nvPr/>
        </p:nvSpPr>
        <p:spPr>
          <a:xfrm>
            <a:off x="822960" y="4791456"/>
            <a:ext cx="6391656" cy="274320"/>
          </a:xfrm>
          <a:prstGeom prst="rect">
            <a:avLst/>
          </a:prstGeom>
          <a:noFill/>
          <a:ln/>
        </p:spPr>
        <p:txBody>
          <a:bodyPr wrap="square" lIns="0" tIns="0" rIns="0" bIns="0" rtlCol="0" anchor="t"/>
          <a:lstStyle/>
          <a:p>
            <a:pPr marL="0" indent="0" algn="ctr">
              <a:lnSpc>
                <a:spcPct val="106000"/>
              </a:lnSpc>
              <a:buNone/>
            </a:pPr>
            <a:r>
              <a:rPr lang="en-US" sz="1400" dirty="0">
                <a:solidFill>
                  <a:srgbClr val="6E6E80"/>
                </a:solidFill>
                <a:latin typeface="Calibri" pitchFamily="34" charset="0"/>
                <a:ea typeface="Calibri" pitchFamily="34" charset="-122"/>
                <a:cs typeface="Calibri" pitchFamily="34" charset="-120"/>
              </a:rPr>
              <a:t>Now η is low-dimensional and MCMC works.</a:t>
            </a:r>
            <a:endParaRPr lang="en-US" sz="1400" dirty="0"/>
          </a:p>
        </p:txBody>
      </p:sp>
      <p:sp>
        <p:nvSpPr>
          <p:cNvPr id="14" name="Text 9"/>
          <p:cNvSpPr/>
          <p:nvPr/>
        </p:nvSpPr>
        <p:spPr>
          <a:xfrm>
            <a:off x="7854696" y="1481328"/>
            <a:ext cx="3770071" cy="329184"/>
          </a:xfrm>
          <a:prstGeom prst="rect">
            <a:avLst/>
          </a:prstGeom>
          <a:noFill/>
          <a:ln/>
        </p:spPr>
        <p:txBody>
          <a:bodyPr wrap="square" lIns="0" tIns="0" rIns="0" bIns="0" rtlCol="0" anchor="ctr"/>
          <a:lstStyle/>
          <a:p>
            <a:pPr marL="0" indent="0">
              <a:buNone/>
            </a:pPr>
            <a:r>
              <a:rPr lang="en-US" sz="1800" b="1" dirty="0">
                <a:solidFill>
                  <a:srgbClr val="B03A5B"/>
                </a:solidFill>
                <a:latin typeface="Calibri" pitchFamily="34" charset="0"/>
                <a:ea typeface="Calibri" pitchFamily="34" charset="-122"/>
                <a:cs typeface="Calibri" pitchFamily="34" charset="-120"/>
              </a:rPr>
              <a:t>When the shortcut fails</a:t>
            </a:r>
            <a:endParaRPr lang="en-US" sz="1800" dirty="0"/>
          </a:p>
        </p:txBody>
      </p:sp>
      <p:sp>
        <p:nvSpPr>
          <p:cNvPr id="15" name="Text 10"/>
          <p:cNvSpPr/>
          <p:nvPr/>
        </p:nvSpPr>
        <p:spPr>
          <a:xfrm>
            <a:off x="7854696" y="1920240"/>
            <a:ext cx="3770071" cy="2468880"/>
          </a:xfrm>
          <a:prstGeom prst="rect">
            <a:avLst/>
          </a:prstGeom>
          <a:noFill/>
          <a:ln/>
        </p:spPr>
        <p:txBody>
          <a:bodyPr wrap="square" lIns="0" tIns="0" rIns="0" bIns="0" rtlCol="0" anchor="t"/>
          <a:lstStyle/>
          <a:p>
            <a:pPr marL="177800" indent="-177800">
              <a:lnSpc>
                <a:spcPct val="102000"/>
              </a:lnSpc>
              <a:spcAft>
                <a:spcPts val="500"/>
              </a:spcAft>
              <a:buSzPct val="100000"/>
              <a:buChar char="•"/>
            </a:pPr>
            <a:r>
              <a:rPr lang="en-US" sz="1450" dirty="0">
                <a:solidFill>
                  <a:srgbClr val="1C1B29"/>
                </a:solidFill>
                <a:latin typeface="Calibri" pitchFamily="34" charset="0"/>
                <a:ea typeface="Calibri" pitchFamily="34" charset="-122"/>
                <a:cs typeface="Calibri" pitchFamily="34" charset="-120"/>
              </a:rPr>
              <a:t>Nonlinear structure formation: the field is not Gaussian.</a:t>
            </a:r>
            <a:endParaRPr lang="en-US" sz="1450" dirty="0"/>
          </a:p>
          <a:p>
            <a:pPr marL="177800" indent="-177800">
              <a:lnSpc>
                <a:spcPct val="102000"/>
              </a:lnSpc>
              <a:spcAft>
                <a:spcPts val="500"/>
              </a:spcAft>
              <a:buSzPct val="100000"/>
              <a:buChar char="•"/>
            </a:pPr>
            <a:r>
              <a:rPr lang="en-US" sz="1450" dirty="0">
                <a:solidFill>
                  <a:srgbClr val="1C1B29"/>
                </a:solidFill>
                <a:latin typeface="Calibri" pitchFamily="34" charset="0"/>
                <a:ea typeface="Calibri" pitchFamily="34" charset="-122"/>
                <a:cs typeface="Calibri" pitchFamily="34" charset="-120"/>
              </a:rPr>
              <a:t>Masks, selection functions and survey geometry.</a:t>
            </a:r>
            <a:endParaRPr lang="en-US" sz="1450" dirty="0"/>
          </a:p>
          <a:p>
            <a:pPr marL="177800" indent="-177800">
              <a:lnSpc>
                <a:spcPct val="102000"/>
              </a:lnSpc>
              <a:spcAft>
                <a:spcPts val="500"/>
              </a:spcAft>
              <a:buSzPct val="100000"/>
              <a:buChar char="•"/>
            </a:pPr>
            <a:r>
              <a:rPr lang="en-US" sz="1450" dirty="0">
                <a:solidFill>
                  <a:srgbClr val="1C1B29"/>
                </a:solidFill>
                <a:latin typeface="Calibri" pitchFamily="34" charset="0"/>
                <a:ea typeface="Calibri" pitchFamily="34" charset="-122"/>
                <a:cs typeface="Calibri" pitchFamily="34" charset="-120"/>
              </a:rPr>
              <a:t>Noise that is not Gaussian and not stationary.</a:t>
            </a:r>
            <a:endParaRPr lang="en-US" sz="1450" dirty="0"/>
          </a:p>
          <a:p>
            <a:pPr marL="177800" indent="-177800">
              <a:lnSpc>
                <a:spcPct val="102000"/>
              </a:lnSpc>
              <a:spcAft>
                <a:spcPts val="500"/>
              </a:spcAft>
              <a:buSzPct val="100000"/>
              <a:buChar char="•"/>
            </a:pPr>
            <a:r>
              <a:rPr lang="en-US" sz="1450" dirty="0">
                <a:solidFill>
                  <a:srgbClr val="1C1B29"/>
                </a:solidFill>
                <a:latin typeface="Calibri" pitchFamily="34" charset="0"/>
                <a:ea typeface="Calibri" pitchFamily="34" charset="-122"/>
                <a:cs typeface="Calibri" pitchFamily="34" charset="-120"/>
              </a:rPr>
              <a:t>Branching or black-box code with no analytic mean.</a:t>
            </a:r>
            <a:endParaRPr lang="en-US" sz="1450" dirty="0"/>
          </a:p>
          <a:p>
            <a:pPr marL="177800" indent="-177800">
              <a:lnSpc>
                <a:spcPct val="102000"/>
              </a:lnSpc>
              <a:spcAft>
                <a:spcPts val="500"/>
              </a:spcAft>
              <a:buSzPct val="100000"/>
              <a:buChar char="•"/>
            </a:pPr>
            <a:r>
              <a:rPr lang="en-US" sz="1450" dirty="0">
                <a:solidFill>
                  <a:srgbClr val="1C1B29"/>
                </a:solidFill>
                <a:latin typeface="Calibri" pitchFamily="34" charset="0"/>
                <a:ea typeface="Calibri" pitchFamily="34" charset="-122"/>
                <a:cs typeface="Calibri" pitchFamily="34" charset="-120"/>
              </a:rPr>
              <a:t>Latent variables numbering in the millions.</a:t>
            </a:r>
            <a:endParaRPr lang="en-US" sz="1450" dirty="0"/>
          </a:p>
        </p:txBody>
      </p:sp>
      <p:sp>
        <p:nvSpPr>
          <p:cNvPr id="16" name="Shape 11"/>
          <p:cNvSpPr/>
          <p:nvPr/>
        </p:nvSpPr>
        <p:spPr>
          <a:xfrm>
            <a:off x="7854696" y="4443984"/>
            <a:ext cx="3770071" cy="1060704"/>
          </a:xfrm>
          <a:prstGeom prst="roundRect">
            <a:avLst>
              <a:gd name="adj" fmla="val 5172"/>
            </a:avLst>
          </a:prstGeom>
          <a:solidFill>
            <a:srgbClr val="FBF0E1"/>
          </a:solidFill>
          <a:ln/>
        </p:spPr>
        <p:txBody>
          <a:bodyPr/>
          <a:lstStyle/>
          <a:p>
            <a:endParaRPr lang="en-US"/>
          </a:p>
        </p:txBody>
      </p:sp>
      <p:sp>
        <p:nvSpPr>
          <p:cNvPr id="17" name="Text 12"/>
          <p:cNvSpPr/>
          <p:nvPr/>
        </p:nvSpPr>
        <p:spPr>
          <a:xfrm>
            <a:off x="8074152" y="4590288"/>
            <a:ext cx="3331159" cy="822960"/>
          </a:xfrm>
          <a:prstGeom prst="rect">
            <a:avLst/>
          </a:prstGeom>
          <a:noFill/>
          <a:ln/>
        </p:spPr>
        <p:txBody>
          <a:bodyPr wrap="square" lIns="0" tIns="0" rIns="0" bIns="0" rtlCol="0" anchor="t"/>
          <a:lstStyle/>
          <a:p>
            <a:pPr marL="0" indent="0">
              <a:lnSpc>
                <a:spcPct val="106000"/>
              </a:lnSpc>
              <a:buNone/>
            </a:pPr>
            <a:r>
              <a:rPr lang="en-US" sz="1400" b="1" dirty="0">
                <a:solidFill>
                  <a:srgbClr val="6E3D06"/>
                </a:solidFill>
                <a:latin typeface="Calibri" pitchFamily="34" charset="0"/>
                <a:ea typeface="Calibri" pitchFamily="34" charset="-122"/>
                <a:cs typeface="Calibri" pitchFamily="34" charset="-120"/>
              </a:rPr>
              <a:t>SBI keeps this expression and never attempts the shortcut — it replaces the integral with samples.</a:t>
            </a:r>
            <a:endParaRPr lang="en-US" sz="1400" dirty="0"/>
          </a:p>
        </p:txBody>
      </p:sp>
      <p:sp>
        <p:nvSpPr>
          <p:cNvPr id="18" name="Text 13"/>
          <p:cNvSpPr/>
          <p:nvPr/>
        </p:nvSpPr>
        <p:spPr>
          <a:xfrm>
            <a:off x="566928" y="5577840"/>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Following Thiele (2026), Eqs. 2–3.</a:t>
            </a:r>
            <a:endParaRPr lang="en-US" sz="1050" dirty="0"/>
          </a:p>
        </p:txBody>
      </p:sp>
      <p:sp>
        <p:nvSpPr>
          <p:cNvPr id="19" name="Shape 14"/>
          <p:cNvSpPr/>
          <p:nvPr/>
        </p:nvSpPr>
        <p:spPr>
          <a:xfrm>
            <a:off x="566928" y="5897880"/>
            <a:ext cx="11057839" cy="502920"/>
          </a:xfrm>
          <a:prstGeom prst="roundRect">
            <a:avLst>
              <a:gd name="adj" fmla="val 10909"/>
            </a:avLst>
          </a:prstGeom>
          <a:solidFill>
            <a:srgbClr val="FBF0E1"/>
          </a:solidFill>
          <a:ln/>
        </p:spPr>
        <p:txBody>
          <a:bodyPr/>
          <a:lstStyle/>
          <a:p>
            <a:endParaRPr lang="en-US"/>
          </a:p>
        </p:txBody>
      </p:sp>
      <p:sp>
        <p:nvSpPr>
          <p:cNvPr id="20" name="Text 15"/>
          <p:cNvSpPr/>
          <p:nvPr/>
        </p:nvSpPr>
        <p:spPr>
          <a:xfrm>
            <a:off x="804672" y="5897880"/>
            <a:ext cx="10600639" cy="502920"/>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“Intractable likelihood” means: I can draw from p(x | θ), but I cannot put a number on it.</a:t>
            </a:r>
            <a:endParaRPr lang="en-US" sz="1550" dirty="0"/>
          </a:p>
        </p:txBody>
      </p:sp>
      <p:sp>
        <p:nvSpPr>
          <p:cNvPr id="21" name="Text 16"/>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 — Motivation</a:t>
            </a:r>
            <a:endParaRPr lang="en-US" sz="950" dirty="0"/>
          </a:p>
        </p:txBody>
      </p:sp>
      <p:sp>
        <p:nvSpPr>
          <p:cNvPr id="22" name="Text 17"/>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WHERE THIS BITES IN ASTRONOMY</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Four places the likelihood is simply not available</a:t>
            </a:r>
            <a:endParaRPr lang="en-US" sz="3000" dirty="0"/>
          </a:p>
        </p:txBody>
      </p:sp>
      <p:sp>
        <p:nvSpPr>
          <p:cNvPr id="4" name="Shape 2"/>
          <p:cNvSpPr/>
          <p:nvPr/>
        </p:nvSpPr>
        <p:spPr>
          <a:xfrm>
            <a:off x="566928" y="1463040"/>
            <a:ext cx="5336896" cy="1783080"/>
          </a:xfrm>
          <a:prstGeom prst="roundRect">
            <a:avLst>
              <a:gd name="adj" fmla="val 3077"/>
            </a:avLst>
          </a:prstGeom>
          <a:solidFill>
            <a:srgbClr val="EDEBF7"/>
          </a:solidFill>
          <a:ln/>
        </p:spPr>
        <p:txBody>
          <a:bodyPr/>
          <a:lstStyle/>
          <a:p>
            <a:endParaRPr lang="en-US"/>
          </a:p>
        </p:txBody>
      </p:sp>
      <p:sp>
        <p:nvSpPr>
          <p:cNvPr id="5" name="Text 3"/>
          <p:cNvSpPr/>
          <p:nvPr/>
        </p:nvSpPr>
        <p:spPr>
          <a:xfrm>
            <a:off x="841248" y="1609344"/>
            <a:ext cx="4788256" cy="365760"/>
          </a:xfrm>
          <a:prstGeom prst="rect">
            <a:avLst/>
          </a:prstGeom>
          <a:noFill/>
          <a:ln/>
        </p:spPr>
        <p:txBody>
          <a:bodyPr wrap="square" lIns="0" tIns="0" rIns="0" bIns="0" rtlCol="0" anchor="ctr"/>
          <a:lstStyle/>
          <a:p>
            <a:pPr marL="0" indent="0">
              <a:buNone/>
            </a:pPr>
            <a:r>
              <a:rPr lang="en-US" sz="1750" b="1" dirty="0">
                <a:solidFill>
                  <a:srgbClr val="4A3F8F"/>
                </a:solidFill>
                <a:latin typeface="Calibri" pitchFamily="34" charset="0"/>
                <a:ea typeface="Calibri" pitchFamily="34" charset="-122"/>
                <a:cs typeface="Calibri" pitchFamily="34" charset="-120"/>
              </a:rPr>
              <a:t>Field-level galaxy clustering</a:t>
            </a:r>
            <a:endParaRPr lang="en-US" sz="1750" dirty="0"/>
          </a:p>
        </p:txBody>
      </p:sp>
      <p:sp>
        <p:nvSpPr>
          <p:cNvPr id="6" name="Text 4"/>
          <p:cNvSpPr/>
          <p:nvPr/>
        </p:nvSpPr>
        <p:spPr>
          <a:xfrm>
            <a:off x="841248" y="2066544"/>
            <a:ext cx="4788256" cy="1051560"/>
          </a:xfrm>
          <a:prstGeom prst="rect">
            <a:avLst/>
          </a:prstGeom>
          <a:noFill/>
          <a:ln/>
        </p:spPr>
        <p:txBody>
          <a:bodyPr wrap="square" lIns="0" tIns="0" rIns="0" bIns="0" rtlCol="0" anchor="t"/>
          <a:lstStyle/>
          <a:p>
            <a:pPr marL="0" indent="0">
              <a:lnSpc>
                <a:spcPct val="106000"/>
              </a:lnSpc>
              <a:buNone/>
            </a:pPr>
            <a:r>
              <a:rPr lang="en-US" sz="1500" dirty="0">
                <a:solidFill>
                  <a:srgbClr val="1C1B29"/>
                </a:solidFill>
                <a:latin typeface="Calibri" pitchFamily="34" charset="0"/>
                <a:ea typeface="Calibri" pitchFamily="34" charset="-122"/>
                <a:cs typeface="Calibri" pitchFamily="34" charset="-120"/>
              </a:rPr>
              <a:t>The likelihood of a 3-D density field after nonlinear growth, galaxy bias, redshift-space distortions and masking has no closed form.</a:t>
            </a:r>
            <a:endParaRPr lang="en-US" sz="1500" dirty="0"/>
          </a:p>
        </p:txBody>
      </p:sp>
      <p:sp>
        <p:nvSpPr>
          <p:cNvPr id="7" name="Shape 5"/>
          <p:cNvSpPr/>
          <p:nvPr/>
        </p:nvSpPr>
        <p:spPr>
          <a:xfrm>
            <a:off x="6287872" y="1463040"/>
            <a:ext cx="5336896" cy="1783080"/>
          </a:xfrm>
          <a:prstGeom prst="roundRect">
            <a:avLst>
              <a:gd name="adj" fmla="val 3077"/>
            </a:avLst>
          </a:prstGeom>
          <a:solidFill>
            <a:srgbClr val="E3F1EE"/>
          </a:solidFill>
          <a:ln/>
        </p:spPr>
        <p:txBody>
          <a:bodyPr/>
          <a:lstStyle/>
          <a:p>
            <a:endParaRPr lang="en-US"/>
          </a:p>
        </p:txBody>
      </p:sp>
      <p:sp>
        <p:nvSpPr>
          <p:cNvPr id="8" name="Text 6"/>
          <p:cNvSpPr/>
          <p:nvPr/>
        </p:nvSpPr>
        <p:spPr>
          <a:xfrm>
            <a:off x="6562192" y="1609344"/>
            <a:ext cx="4788256" cy="365760"/>
          </a:xfrm>
          <a:prstGeom prst="rect">
            <a:avLst/>
          </a:prstGeom>
          <a:noFill/>
          <a:ln/>
        </p:spPr>
        <p:txBody>
          <a:bodyPr wrap="square" lIns="0" tIns="0" rIns="0" bIns="0" rtlCol="0" anchor="ctr"/>
          <a:lstStyle/>
          <a:p>
            <a:pPr marL="0" indent="0">
              <a:buNone/>
            </a:pPr>
            <a:r>
              <a:rPr lang="en-US" sz="1750" b="1" dirty="0">
                <a:solidFill>
                  <a:srgbClr val="1F7A6C"/>
                </a:solidFill>
                <a:latin typeface="Calibri" pitchFamily="34" charset="0"/>
                <a:ea typeface="Calibri" pitchFamily="34" charset="-122"/>
                <a:cs typeface="Calibri" pitchFamily="34" charset="-120"/>
              </a:rPr>
              <a:t>Weak-lensing map statistics</a:t>
            </a:r>
            <a:endParaRPr lang="en-US" sz="1750" dirty="0"/>
          </a:p>
        </p:txBody>
      </p:sp>
      <p:sp>
        <p:nvSpPr>
          <p:cNvPr id="9" name="Text 7"/>
          <p:cNvSpPr/>
          <p:nvPr/>
        </p:nvSpPr>
        <p:spPr>
          <a:xfrm>
            <a:off x="6562192" y="2066544"/>
            <a:ext cx="4788256" cy="1051560"/>
          </a:xfrm>
          <a:prstGeom prst="rect">
            <a:avLst/>
          </a:prstGeom>
          <a:noFill/>
          <a:ln/>
        </p:spPr>
        <p:txBody>
          <a:bodyPr wrap="square" lIns="0" tIns="0" rIns="0" bIns="0" rtlCol="0" anchor="t"/>
          <a:lstStyle/>
          <a:p>
            <a:pPr marL="0" indent="0">
              <a:lnSpc>
                <a:spcPct val="106000"/>
              </a:lnSpc>
              <a:buNone/>
            </a:pPr>
            <a:r>
              <a:rPr lang="en-US" sz="1500" dirty="0">
                <a:solidFill>
                  <a:srgbClr val="1C1B29"/>
                </a:solidFill>
                <a:latin typeface="Calibri" pitchFamily="34" charset="0"/>
                <a:ea typeface="Calibri" pitchFamily="34" charset="-122"/>
                <a:cs typeface="Calibri" pitchFamily="34" charset="-120"/>
              </a:rPr>
              <a:t>Peak counts, wavelet and scattering coefficients are strongly non-Gaussian; only mocks give their sampling distribution.</a:t>
            </a:r>
            <a:endParaRPr lang="en-US" sz="1500" dirty="0"/>
          </a:p>
        </p:txBody>
      </p:sp>
      <p:sp>
        <p:nvSpPr>
          <p:cNvPr id="10" name="Shape 8"/>
          <p:cNvSpPr/>
          <p:nvPr/>
        </p:nvSpPr>
        <p:spPr>
          <a:xfrm>
            <a:off x="566928" y="3593592"/>
            <a:ext cx="5336896" cy="1783080"/>
          </a:xfrm>
          <a:prstGeom prst="roundRect">
            <a:avLst>
              <a:gd name="adj" fmla="val 3077"/>
            </a:avLst>
          </a:prstGeom>
          <a:solidFill>
            <a:srgbClr val="EDEBF7"/>
          </a:solidFill>
          <a:ln/>
        </p:spPr>
        <p:txBody>
          <a:bodyPr/>
          <a:lstStyle/>
          <a:p>
            <a:endParaRPr lang="en-US"/>
          </a:p>
        </p:txBody>
      </p:sp>
      <p:sp>
        <p:nvSpPr>
          <p:cNvPr id="11" name="Text 9"/>
          <p:cNvSpPr/>
          <p:nvPr/>
        </p:nvSpPr>
        <p:spPr>
          <a:xfrm>
            <a:off x="841248" y="3739896"/>
            <a:ext cx="4788256" cy="365760"/>
          </a:xfrm>
          <a:prstGeom prst="rect">
            <a:avLst/>
          </a:prstGeom>
          <a:noFill/>
          <a:ln/>
        </p:spPr>
        <p:txBody>
          <a:bodyPr wrap="square" lIns="0" tIns="0" rIns="0" bIns="0" rtlCol="0" anchor="ctr"/>
          <a:lstStyle/>
          <a:p>
            <a:pPr marL="0" indent="0">
              <a:buNone/>
            </a:pPr>
            <a:r>
              <a:rPr lang="en-US" sz="1750" b="1" dirty="0">
                <a:solidFill>
                  <a:srgbClr val="4A3F8F"/>
                </a:solidFill>
                <a:latin typeface="Calibri" pitchFamily="34" charset="0"/>
                <a:ea typeface="Calibri" pitchFamily="34" charset="-122"/>
                <a:cs typeface="Calibri" pitchFamily="34" charset="-120"/>
              </a:rPr>
              <a:t>Strong-lens substructure</a:t>
            </a:r>
            <a:endParaRPr lang="en-US" sz="1750" dirty="0"/>
          </a:p>
        </p:txBody>
      </p:sp>
      <p:sp>
        <p:nvSpPr>
          <p:cNvPr id="12" name="Text 10"/>
          <p:cNvSpPr/>
          <p:nvPr/>
        </p:nvSpPr>
        <p:spPr>
          <a:xfrm>
            <a:off x="841248" y="4197096"/>
            <a:ext cx="4788256" cy="1051560"/>
          </a:xfrm>
          <a:prstGeom prst="rect">
            <a:avLst/>
          </a:prstGeom>
          <a:noFill/>
          <a:ln/>
        </p:spPr>
        <p:txBody>
          <a:bodyPr wrap="square" lIns="0" tIns="0" rIns="0" bIns="0" rtlCol="0" anchor="t"/>
          <a:lstStyle/>
          <a:p>
            <a:pPr marL="0" indent="0">
              <a:lnSpc>
                <a:spcPct val="106000"/>
              </a:lnSpc>
              <a:buNone/>
            </a:pPr>
            <a:r>
              <a:rPr lang="en-US" sz="1500" dirty="0">
                <a:solidFill>
                  <a:srgbClr val="1C1B29"/>
                </a:solidFill>
                <a:latin typeface="Calibri" pitchFamily="34" charset="0"/>
                <a:ea typeface="Calibri" pitchFamily="34" charset="-122"/>
                <a:cs typeface="Calibri" pitchFamily="34" charset="-120"/>
              </a:rPr>
              <a:t>The dark-matter subhalo population enters through a high-dimensional latent field that must be marginalised over.</a:t>
            </a:r>
            <a:endParaRPr lang="en-US" sz="1500" dirty="0"/>
          </a:p>
        </p:txBody>
      </p:sp>
      <p:sp>
        <p:nvSpPr>
          <p:cNvPr id="13" name="Shape 11"/>
          <p:cNvSpPr/>
          <p:nvPr/>
        </p:nvSpPr>
        <p:spPr>
          <a:xfrm>
            <a:off x="6287872" y="3593592"/>
            <a:ext cx="5336896" cy="1783080"/>
          </a:xfrm>
          <a:prstGeom prst="roundRect">
            <a:avLst>
              <a:gd name="adj" fmla="val 3077"/>
            </a:avLst>
          </a:prstGeom>
          <a:solidFill>
            <a:srgbClr val="E3F1EE"/>
          </a:solidFill>
          <a:ln/>
        </p:spPr>
        <p:txBody>
          <a:bodyPr/>
          <a:lstStyle/>
          <a:p>
            <a:endParaRPr lang="en-US"/>
          </a:p>
        </p:txBody>
      </p:sp>
      <p:sp>
        <p:nvSpPr>
          <p:cNvPr id="14" name="Text 12"/>
          <p:cNvSpPr/>
          <p:nvPr/>
        </p:nvSpPr>
        <p:spPr>
          <a:xfrm>
            <a:off x="6562192" y="3739896"/>
            <a:ext cx="4788256" cy="365760"/>
          </a:xfrm>
          <a:prstGeom prst="rect">
            <a:avLst/>
          </a:prstGeom>
          <a:noFill/>
          <a:ln/>
        </p:spPr>
        <p:txBody>
          <a:bodyPr wrap="square" lIns="0" tIns="0" rIns="0" bIns="0" rtlCol="0" anchor="ctr"/>
          <a:lstStyle/>
          <a:p>
            <a:pPr marL="0" indent="0">
              <a:buNone/>
            </a:pPr>
            <a:r>
              <a:rPr lang="en-US" sz="1750" b="1" dirty="0">
                <a:solidFill>
                  <a:srgbClr val="1F7A6C"/>
                </a:solidFill>
                <a:latin typeface="Calibri" pitchFamily="34" charset="0"/>
                <a:ea typeface="Calibri" pitchFamily="34" charset="-122"/>
                <a:cs typeface="Calibri" pitchFamily="34" charset="-120"/>
              </a:rPr>
              <a:t>Galactic-centre γ-ray excess</a:t>
            </a:r>
            <a:endParaRPr lang="en-US" sz="1750" dirty="0"/>
          </a:p>
        </p:txBody>
      </p:sp>
      <p:sp>
        <p:nvSpPr>
          <p:cNvPr id="15" name="Text 13"/>
          <p:cNvSpPr/>
          <p:nvPr/>
        </p:nvSpPr>
        <p:spPr>
          <a:xfrm>
            <a:off x="6562192" y="4197096"/>
            <a:ext cx="4788256" cy="1051560"/>
          </a:xfrm>
          <a:prstGeom prst="rect">
            <a:avLst/>
          </a:prstGeom>
          <a:noFill/>
          <a:ln/>
        </p:spPr>
        <p:txBody>
          <a:bodyPr wrap="square" lIns="0" tIns="0" rIns="0" bIns="0" rtlCol="0" anchor="t"/>
          <a:lstStyle/>
          <a:p>
            <a:pPr marL="0" indent="0">
              <a:lnSpc>
                <a:spcPct val="106000"/>
              </a:lnSpc>
              <a:buNone/>
            </a:pPr>
            <a:r>
              <a:rPr lang="en-US" sz="1500" dirty="0">
                <a:solidFill>
                  <a:srgbClr val="1C1B29"/>
                </a:solidFill>
                <a:latin typeface="Calibri" pitchFamily="34" charset="0"/>
                <a:ea typeface="Calibri" pitchFamily="34" charset="-122"/>
                <a:cs typeface="Calibri" pitchFamily="34" charset="-120"/>
              </a:rPr>
              <a:t>Unresolved point sources below the detection threshold make the photon-count likelihood intractable.</a:t>
            </a:r>
            <a:endParaRPr lang="en-US" sz="1500" dirty="0"/>
          </a:p>
        </p:txBody>
      </p:sp>
      <p:sp>
        <p:nvSpPr>
          <p:cNvPr id="16" name="Text 14"/>
          <p:cNvSpPr/>
          <p:nvPr/>
        </p:nvSpPr>
        <p:spPr>
          <a:xfrm>
            <a:off x="566928" y="5504688"/>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Application areas as surveyed in Thiele (2026), §4.</a:t>
            </a:r>
            <a:endParaRPr lang="en-US" sz="1050" dirty="0"/>
          </a:p>
        </p:txBody>
      </p:sp>
      <p:sp>
        <p:nvSpPr>
          <p:cNvPr id="17" name="Shape 15"/>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18" name="Text 16"/>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In every case we can generate mocks all day. We just cannot score the one dataset we actually have.</a:t>
            </a:r>
            <a:endParaRPr lang="en-US" sz="1550" dirty="0"/>
          </a:p>
        </p:txBody>
      </p:sp>
      <p:sp>
        <p:nvSpPr>
          <p:cNvPr id="19" name="Text 17"/>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 — Motivation</a:t>
            </a:r>
            <a:endParaRPr lang="en-US" sz="950" dirty="0"/>
          </a:p>
        </p:txBody>
      </p:sp>
      <p:sp>
        <p:nvSpPr>
          <p:cNvPr id="20" name="Text 18"/>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TWO REASONS TO REACH FOR SBI</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Intractable, or merely unaffordable</a:t>
            </a:r>
            <a:endParaRPr lang="en-US" sz="3000" dirty="0"/>
          </a:p>
        </p:txBody>
      </p:sp>
      <p:sp>
        <p:nvSpPr>
          <p:cNvPr id="4" name="Shape 2"/>
          <p:cNvSpPr/>
          <p:nvPr/>
        </p:nvSpPr>
        <p:spPr>
          <a:xfrm>
            <a:off x="566928" y="1444752"/>
            <a:ext cx="5327752" cy="3246120"/>
          </a:xfrm>
          <a:prstGeom prst="roundRect">
            <a:avLst>
              <a:gd name="adj" fmla="val 1690"/>
            </a:avLst>
          </a:prstGeom>
          <a:solidFill>
            <a:srgbClr val="EDEBF7"/>
          </a:solidFill>
          <a:ln/>
        </p:spPr>
        <p:txBody>
          <a:bodyPr/>
          <a:lstStyle/>
          <a:p>
            <a:endParaRPr lang="en-US"/>
          </a:p>
        </p:txBody>
      </p:sp>
      <p:sp>
        <p:nvSpPr>
          <p:cNvPr id="5" name="Shape 3"/>
          <p:cNvSpPr/>
          <p:nvPr/>
        </p:nvSpPr>
        <p:spPr>
          <a:xfrm>
            <a:off x="841248" y="1645920"/>
            <a:ext cx="457200" cy="457200"/>
          </a:xfrm>
          <a:prstGeom prst="ellipse">
            <a:avLst/>
          </a:prstGeom>
          <a:solidFill>
            <a:srgbClr val="4A3F8F"/>
          </a:solidFill>
          <a:ln/>
        </p:spPr>
        <p:txBody>
          <a:bodyPr/>
          <a:lstStyle/>
          <a:p>
            <a:endParaRPr lang="en-US"/>
          </a:p>
        </p:txBody>
      </p:sp>
      <p:sp>
        <p:nvSpPr>
          <p:cNvPr id="6" name="Text 4"/>
          <p:cNvSpPr/>
          <p:nvPr/>
        </p:nvSpPr>
        <p:spPr>
          <a:xfrm>
            <a:off x="841248" y="164592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463040" y="1609344"/>
            <a:ext cx="4139032" cy="548640"/>
          </a:xfrm>
          <a:prstGeom prst="rect">
            <a:avLst/>
          </a:prstGeom>
          <a:noFill/>
          <a:ln/>
        </p:spPr>
        <p:txBody>
          <a:bodyPr wrap="square" lIns="0" tIns="0" rIns="0" bIns="0" rtlCol="0" anchor="ctr"/>
          <a:lstStyle/>
          <a:p>
            <a:pPr marL="0" indent="0">
              <a:buNone/>
            </a:pPr>
            <a:r>
              <a:rPr lang="en-US" sz="1800" b="1" dirty="0">
                <a:solidFill>
                  <a:srgbClr val="4A3F8F"/>
                </a:solidFill>
                <a:latin typeface="Calibri" pitchFamily="34" charset="0"/>
                <a:ea typeface="Calibri" pitchFamily="34" charset="-122"/>
                <a:cs typeface="Calibri" pitchFamily="34" charset="-120"/>
              </a:rPr>
              <a:t>The likelihood does not exist</a:t>
            </a:r>
            <a:endParaRPr lang="en-US" sz="1800" dirty="0"/>
          </a:p>
          <a:p>
            <a:pPr marL="0" indent="0">
              <a:buNone/>
            </a:pPr>
            <a:r>
              <a:rPr lang="en-US" sz="1800" b="1" dirty="0">
                <a:solidFill>
                  <a:srgbClr val="4A3F8F"/>
                </a:solidFill>
                <a:latin typeface="Calibri" pitchFamily="34" charset="0"/>
                <a:ea typeface="Calibri" pitchFamily="34" charset="-122"/>
                <a:cs typeface="Calibri" pitchFamily="34" charset="-120"/>
              </a:rPr>
              <a:t>in closed form</a:t>
            </a:r>
            <a:endParaRPr lang="en-US" sz="1800" dirty="0"/>
          </a:p>
        </p:txBody>
      </p:sp>
      <p:sp>
        <p:nvSpPr>
          <p:cNvPr id="8" name="Text 6"/>
          <p:cNvSpPr/>
          <p:nvPr/>
        </p:nvSpPr>
        <p:spPr>
          <a:xfrm>
            <a:off x="859536" y="2340864"/>
            <a:ext cx="4742536" cy="914400"/>
          </a:xfrm>
          <a:prstGeom prst="rect">
            <a:avLst/>
          </a:prstGeom>
          <a:noFill/>
          <a:ln/>
        </p:spPr>
        <p:txBody>
          <a:bodyPr wrap="square" lIns="0" tIns="0" rIns="0" bIns="0" rtlCol="0" anchor="t"/>
          <a:lstStyle/>
          <a:p>
            <a:pPr marL="0" indent="0">
              <a:lnSpc>
                <a:spcPct val="106000"/>
              </a:lnSpc>
              <a:buNone/>
            </a:pPr>
            <a:r>
              <a:rPr lang="en-US" sz="1550" dirty="0">
                <a:solidFill>
                  <a:srgbClr val="1C1B29"/>
                </a:solidFill>
                <a:latin typeface="Calibri" pitchFamily="34" charset="0"/>
                <a:ea typeface="Calibri" pitchFamily="34" charset="-122"/>
                <a:cs typeface="Calibri" pitchFamily="34" charset="-120"/>
              </a:rPr>
              <a:t>You cannot write down p(x | θ), so MCMC has nothing to sample. The only honest access to the model is running it forwards.</a:t>
            </a:r>
            <a:endParaRPr lang="en-US" sz="1550" dirty="0"/>
          </a:p>
        </p:txBody>
      </p:sp>
      <p:sp>
        <p:nvSpPr>
          <p:cNvPr id="9" name="Text 7"/>
          <p:cNvSpPr/>
          <p:nvPr/>
        </p:nvSpPr>
        <p:spPr>
          <a:xfrm>
            <a:off x="859536" y="3328416"/>
            <a:ext cx="4742536" cy="274320"/>
          </a:xfrm>
          <a:prstGeom prst="rect">
            <a:avLst/>
          </a:prstGeom>
          <a:noFill/>
          <a:ln/>
        </p:spPr>
        <p:txBody>
          <a:bodyPr wrap="square" lIns="0" tIns="0" rIns="0" bIns="0" rtlCol="0" anchor="ctr"/>
          <a:lstStyle/>
          <a:p>
            <a:pPr marL="0" indent="0">
              <a:buNone/>
            </a:pPr>
            <a:r>
              <a:rPr lang="en-US" sz="1400" b="1" dirty="0">
                <a:solidFill>
                  <a:srgbClr val="4A3F8F"/>
                </a:solidFill>
                <a:latin typeface="Calibri" pitchFamily="34" charset="0"/>
                <a:ea typeface="Calibri" pitchFamily="34" charset="-122"/>
                <a:cs typeface="Calibri" pitchFamily="34" charset="-120"/>
              </a:rPr>
              <a:t>Typical of cosmology</a:t>
            </a:r>
            <a:endParaRPr lang="en-US" sz="1400" dirty="0"/>
          </a:p>
        </p:txBody>
      </p:sp>
      <p:sp>
        <p:nvSpPr>
          <p:cNvPr id="10" name="Text 8"/>
          <p:cNvSpPr/>
          <p:nvPr/>
        </p:nvSpPr>
        <p:spPr>
          <a:xfrm>
            <a:off x="859536" y="3675888"/>
            <a:ext cx="4742536" cy="82296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450" dirty="0">
                <a:solidFill>
                  <a:srgbClr val="6E6E80"/>
                </a:solidFill>
                <a:latin typeface="Calibri" pitchFamily="34" charset="0"/>
                <a:ea typeface="Calibri" pitchFamily="34" charset="-122"/>
                <a:cs typeface="Calibri" pitchFamily="34" charset="-120"/>
              </a:rPr>
              <a:t>field-level and higher-order lensing statistics</a:t>
            </a:r>
            <a:endParaRPr lang="en-US" sz="1450" dirty="0"/>
          </a:p>
          <a:p>
            <a:pPr marL="177800" indent="-177800">
              <a:lnSpc>
                <a:spcPct val="102000"/>
              </a:lnSpc>
              <a:spcAft>
                <a:spcPts val="700"/>
              </a:spcAft>
              <a:buSzPct val="100000"/>
              <a:buChar char="•"/>
            </a:pPr>
            <a:r>
              <a:rPr lang="en-US" sz="1450" dirty="0">
                <a:solidFill>
                  <a:srgbClr val="6E6E80"/>
                </a:solidFill>
                <a:latin typeface="Calibri" pitchFamily="34" charset="0"/>
                <a:ea typeface="Calibri" pitchFamily="34" charset="-122"/>
                <a:cs typeface="Calibri" pitchFamily="34" charset="-120"/>
              </a:rPr>
              <a:t>intractable selection and systematics models</a:t>
            </a:r>
            <a:endParaRPr lang="en-US" sz="1450" dirty="0"/>
          </a:p>
        </p:txBody>
      </p:sp>
      <p:sp>
        <p:nvSpPr>
          <p:cNvPr id="11" name="Shape 9"/>
          <p:cNvSpPr/>
          <p:nvPr/>
        </p:nvSpPr>
        <p:spPr>
          <a:xfrm>
            <a:off x="6297016" y="1444752"/>
            <a:ext cx="5327752" cy="3246120"/>
          </a:xfrm>
          <a:prstGeom prst="roundRect">
            <a:avLst>
              <a:gd name="adj" fmla="val 1690"/>
            </a:avLst>
          </a:prstGeom>
          <a:solidFill>
            <a:srgbClr val="E3F1EE"/>
          </a:solidFill>
          <a:ln/>
        </p:spPr>
        <p:txBody>
          <a:bodyPr/>
          <a:lstStyle/>
          <a:p>
            <a:endParaRPr lang="en-US"/>
          </a:p>
        </p:txBody>
      </p:sp>
      <p:sp>
        <p:nvSpPr>
          <p:cNvPr id="12" name="Shape 10"/>
          <p:cNvSpPr/>
          <p:nvPr/>
        </p:nvSpPr>
        <p:spPr>
          <a:xfrm>
            <a:off x="6571336" y="1645920"/>
            <a:ext cx="457200" cy="457200"/>
          </a:xfrm>
          <a:prstGeom prst="ellipse">
            <a:avLst/>
          </a:prstGeom>
          <a:solidFill>
            <a:srgbClr val="1F7A6C"/>
          </a:solidFill>
          <a:ln/>
        </p:spPr>
        <p:txBody>
          <a:bodyPr/>
          <a:lstStyle/>
          <a:p>
            <a:endParaRPr lang="en-US"/>
          </a:p>
        </p:txBody>
      </p:sp>
      <p:sp>
        <p:nvSpPr>
          <p:cNvPr id="13" name="Text 11"/>
          <p:cNvSpPr/>
          <p:nvPr/>
        </p:nvSpPr>
        <p:spPr>
          <a:xfrm>
            <a:off x="6571336" y="164592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4" name="Text 12"/>
          <p:cNvSpPr/>
          <p:nvPr/>
        </p:nvSpPr>
        <p:spPr>
          <a:xfrm>
            <a:off x="7193128" y="1609344"/>
            <a:ext cx="4139032" cy="548640"/>
          </a:xfrm>
          <a:prstGeom prst="rect">
            <a:avLst/>
          </a:prstGeom>
          <a:noFill/>
          <a:ln/>
        </p:spPr>
        <p:txBody>
          <a:bodyPr wrap="square" lIns="0" tIns="0" rIns="0" bIns="0" rtlCol="0" anchor="ctr"/>
          <a:lstStyle/>
          <a:p>
            <a:pPr marL="0" indent="0">
              <a:buNone/>
            </a:pPr>
            <a:r>
              <a:rPr lang="en-US" sz="1800" b="1" dirty="0">
                <a:solidFill>
                  <a:srgbClr val="1F7A6C"/>
                </a:solidFill>
                <a:latin typeface="Calibri" pitchFamily="34" charset="0"/>
                <a:ea typeface="Calibri" pitchFamily="34" charset="-122"/>
                <a:cs typeface="Calibri" pitchFamily="34" charset="-120"/>
              </a:rPr>
              <a:t>The likelihood exists, but you</a:t>
            </a:r>
            <a:endParaRPr lang="en-US" sz="1800" dirty="0"/>
          </a:p>
          <a:p>
            <a:pPr marL="0" indent="0">
              <a:buNone/>
            </a:pPr>
            <a:r>
              <a:rPr lang="en-US" sz="1800" b="1" dirty="0">
                <a:solidFill>
                  <a:srgbClr val="1F7A6C"/>
                </a:solidFill>
                <a:latin typeface="Calibri" pitchFamily="34" charset="0"/>
                <a:ea typeface="Calibri" pitchFamily="34" charset="-122"/>
                <a:cs typeface="Calibri" pitchFamily="34" charset="-120"/>
              </a:rPr>
              <a:t>need the posterior fast, often</a:t>
            </a:r>
            <a:endParaRPr lang="en-US" sz="1800" dirty="0"/>
          </a:p>
        </p:txBody>
      </p:sp>
      <p:sp>
        <p:nvSpPr>
          <p:cNvPr id="15" name="Text 13"/>
          <p:cNvSpPr/>
          <p:nvPr/>
        </p:nvSpPr>
        <p:spPr>
          <a:xfrm>
            <a:off x="6589624" y="2340864"/>
            <a:ext cx="4742536" cy="914400"/>
          </a:xfrm>
          <a:prstGeom prst="rect">
            <a:avLst/>
          </a:prstGeom>
          <a:noFill/>
          <a:ln/>
        </p:spPr>
        <p:txBody>
          <a:bodyPr wrap="square" lIns="0" tIns="0" rIns="0" bIns="0" rtlCol="0" anchor="t"/>
          <a:lstStyle/>
          <a:p>
            <a:pPr marL="0" indent="0">
              <a:lnSpc>
                <a:spcPct val="106000"/>
              </a:lnSpc>
              <a:buNone/>
            </a:pPr>
            <a:r>
              <a:rPr lang="en-US" sz="1550" dirty="0">
                <a:solidFill>
                  <a:srgbClr val="1C1B29"/>
                </a:solidFill>
                <a:latin typeface="Calibri" pitchFamily="34" charset="0"/>
                <a:ea typeface="Calibri" pitchFamily="34" charset="-122"/>
                <a:cs typeface="Calibri" pitchFamily="34" charset="-120"/>
              </a:rPr>
              <a:t>Rerunning a sampler per object is the bottleneck. Train once, then infer in milliseconds — amortisation.</a:t>
            </a:r>
            <a:endParaRPr lang="en-US" sz="1550" dirty="0"/>
          </a:p>
        </p:txBody>
      </p:sp>
      <p:sp>
        <p:nvSpPr>
          <p:cNvPr id="16" name="Text 14"/>
          <p:cNvSpPr/>
          <p:nvPr/>
        </p:nvSpPr>
        <p:spPr>
          <a:xfrm>
            <a:off x="6589624" y="3328416"/>
            <a:ext cx="4742536" cy="274320"/>
          </a:xfrm>
          <a:prstGeom prst="rect">
            <a:avLst/>
          </a:prstGeom>
          <a:noFill/>
          <a:ln/>
        </p:spPr>
        <p:txBody>
          <a:bodyPr wrap="square" lIns="0" tIns="0" rIns="0" bIns="0" rtlCol="0" anchor="ctr"/>
          <a:lstStyle/>
          <a:p>
            <a:pPr marL="0" indent="0">
              <a:buNone/>
            </a:pPr>
            <a:r>
              <a:rPr lang="en-US" sz="1400" b="1" dirty="0">
                <a:solidFill>
                  <a:srgbClr val="1F7A6C"/>
                </a:solidFill>
                <a:latin typeface="Calibri" pitchFamily="34" charset="0"/>
                <a:ea typeface="Calibri" pitchFamily="34" charset="-122"/>
                <a:cs typeface="Calibri" pitchFamily="34" charset="-120"/>
              </a:rPr>
              <a:t>Typical of astrophysics</a:t>
            </a:r>
            <a:endParaRPr lang="en-US" sz="1400" dirty="0"/>
          </a:p>
        </p:txBody>
      </p:sp>
      <p:sp>
        <p:nvSpPr>
          <p:cNvPr id="17" name="Text 15"/>
          <p:cNvSpPr/>
          <p:nvPr/>
        </p:nvSpPr>
        <p:spPr>
          <a:xfrm>
            <a:off x="6589624" y="3675888"/>
            <a:ext cx="4742536" cy="82296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450" dirty="0">
                <a:solidFill>
                  <a:srgbClr val="6E6E80"/>
                </a:solidFill>
                <a:latin typeface="Calibri" pitchFamily="34" charset="0"/>
                <a:ea typeface="Calibri" pitchFamily="34" charset="-122"/>
                <a:cs typeface="Calibri" pitchFamily="34" charset="-120"/>
              </a:rPr>
              <a:t>gravitational-wave events, minutes after the alert</a:t>
            </a:r>
            <a:endParaRPr lang="en-US" sz="1450" dirty="0"/>
          </a:p>
          <a:p>
            <a:pPr marL="177800" indent="-177800">
              <a:lnSpc>
                <a:spcPct val="102000"/>
              </a:lnSpc>
              <a:spcAft>
                <a:spcPts val="700"/>
              </a:spcAft>
              <a:buSzPct val="100000"/>
              <a:buChar char="•"/>
            </a:pPr>
            <a:r>
              <a:rPr lang="en-US" sz="1450" dirty="0">
                <a:solidFill>
                  <a:srgbClr val="6E6E80"/>
                </a:solidFill>
                <a:latin typeface="Calibri" pitchFamily="34" charset="0"/>
                <a:ea typeface="Calibri" pitchFamily="34" charset="-122"/>
                <a:cs typeface="Calibri" pitchFamily="34" charset="-120"/>
              </a:rPr>
              <a:t>photometric redshifts and spectra, catalogue-scale</a:t>
            </a:r>
            <a:endParaRPr lang="en-US" sz="1450" dirty="0"/>
          </a:p>
        </p:txBody>
      </p:sp>
      <p:sp>
        <p:nvSpPr>
          <p:cNvPr id="18" name="Text 16"/>
          <p:cNvSpPr/>
          <p:nvPr/>
        </p:nvSpPr>
        <p:spPr>
          <a:xfrm>
            <a:off x="566928" y="4919472"/>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The cosmology / astrophysics split follows Thiele (2026), §1 and §6.</a:t>
            </a:r>
            <a:endParaRPr lang="en-US" sz="1050" dirty="0"/>
          </a:p>
        </p:txBody>
      </p:sp>
      <p:sp>
        <p:nvSpPr>
          <p:cNvPr id="19" name="Shape 17"/>
          <p:cNvSpPr/>
          <p:nvPr/>
        </p:nvSpPr>
        <p:spPr>
          <a:xfrm>
            <a:off x="566928" y="5303520"/>
            <a:ext cx="11057839" cy="530352"/>
          </a:xfrm>
          <a:prstGeom prst="roundRect">
            <a:avLst>
              <a:gd name="adj" fmla="val 10345"/>
            </a:avLst>
          </a:prstGeom>
          <a:solidFill>
            <a:srgbClr val="FBF0E1"/>
          </a:solidFill>
          <a:ln/>
        </p:spPr>
        <p:txBody>
          <a:bodyPr/>
          <a:lstStyle/>
          <a:p>
            <a:endParaRPr lang="en-US"/>
          </a:p>
        </p:txBody>
      </p:sp>
      <p:sp>
        <p:nvSpPr>
          <p:cNvPr id="20" name="Text 18"/>
          <p:cNvSpPr/>
          <p:nvPr/>
        </p:nvSpPr>
        <p:spPr>
          <a:xfrm>
            <a:off x="804672" y="5303520"/>
            <a:ext cx="10600639" cy="530352"/>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Same machinery either way — but the motivation changes which method you should pick.</a:t>
            </a:r>
            <a:endParaRPr lang="en-US" sz="1550" dirty="0"/>
          </a:p>
        </p:txBody>
      </p:sp>
      <p:sp>
        <p:nvSpPr>
          <p:cNvPr id="21" name="Text 19"/>
          <p:cNvSpPr/>
          <p:nvPr/>
        </p:nvSpPr>
        <p:spPr>
          <a:xfrm>
            <a:off x="566928" y="5989320"/>
            <a:ext cx="11057839" cy="365760"/>
          </a:xfrm>
          <a:prstGeom prst="rect">
            <a:avLst/>
          </a:prstGeom>
          <a:noFill/>
          <a:ln/>
        </p:spPr>
        <p:txBody>
          <a:bodyPr wrap="square" lIns="0" tIns="0" rIns="0" bIns="0" rtlCol="0" anchor="t"/>
          <a:lstStyle/>
          <a:p>
            <a:pPr marL="0" indent="0">
              <a:lnSpc>
                <a:spcPct val="106000"/>
              </a:lnSpc>
              <a:buNone/>
            </a:pPr>
            <a:r>
              <a:rPr lang="en-US" sz="1450" i="1" dirty="0">
                <a:solidFill>
                  <a:srgbClr val="6E6E80"/>
                </a:solidFill>
                <a:latin typeface="Calibri" pitchFamily="34" charset="0"/>
                <a:ea typeface="Calibri" pitchFamily="34" charset="-122"/>
                <a:cs typeface="Calibri" pitchFamily="34" charset="-120"/>
              </a:rPr>
              <a:t>Motivation 1 forces SBI. Motivation 2 chooses it — which means you can often validate against the answer you already trust.</a:t>
            </a:r>
            <a:endParaRPr lang="en-US" sz="1450" dirty="0"/>
          </a:p>
        </p:txBody>
      </p:sp>
      <p:sp>
        <p:nvSpPr>
          <p:cNvPr id="22" name="Text 20"/>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 — Motivation</a:t>
            </a:r>
            <a:endParaRPr lang="en-US" sz="950" dirty="0"/>
          </a:p>
        </p:txBody>
      </p:sp>
      <p:sp>
        <p:nvSpPr>
          <p:cNvPr id="23" name="Text 21"/>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A CONCRETE FORWARD MODEL</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Easy to run forwards, hopeless to marginalise</a:t>
            </a:r>
            <a:endParaRPr lang="en-US" sz="3000" dirty="0"/>
          </a:p>
        </p:txBody>
      </p:sp>
      <p:sp>
        <p:nvSpPr>
          <p:cNvPr id="4" name="Shape 2"/>
          <p:cNvSpPr/>
          <p:nvPr/>
        </p:nvSpPr>
        <p:spPr>
          <a:xfrm>
            <a:off x="566928" y="1664208"/>
            <a:ext cx="1614373" cy="960120"/>
          </a:xfrm>
          <a:prstGeom prst="roundRect">
            <a:avLst>
              <a:gd name="adj" fmla="val 8571"/>
            </a:avLst>
          </a:prstGeom>
          <a:solidFill>
            <a:srgbClr val="EDEBF7"/>
          </a:solidFill>
          <a:ln w="12700">
            <a:solidFill>
              <a:srgbClr val="4A3F8F"/>
            </a:solidFill>
            <a:prstDash val="solid"/>
          </a:ln>
        </p:spPr>
        <p:txBody>
          <a:bodyPr/>
          <a:lstStyle/>
          <a:p>
            <a:endParaRPr lang="en-US"/>
          </a:p>
        </p:txBody>
      </p:sp>
      <p:sp>
        <p:nvSpPr>
          <p:cNvPr id="5" name="Text 3"/>
          <p:cNvSpPr/>
          <p:nvPr/>
        </p:nvSpPr>
        <p:spPr>
          <a:xfrm>
            <a:off x="566928" y="1664208"/>
            <a:ext cx="1614373" cy="960120"/>
          </a:xfrm>
          <a:prstGeom prst="rect">
            <a:avLst/>
          </a:prstGeom>
          <a:noFill/>
          <a:ln/>
        </p:spPr>
        <p:txBody>
          <a:bodyPr wrap="square" lIns="0" tIns="0" rIns="0" bIns="0" rtlCol="0" anchor="ctr"/>
          <a:lstStyle/>
          <a:p>
            <a:pPr marL="0" indent="0" algn="ctr">
              <a:lnSpc>
                <a:spcPct val="100000"/>
              </a:lnSpc>
              <a:buNone/>
            </a:pPr>
            <a:r>
              <a:rPr lang="en-US" sz="1400" b="1" dirty="0">
                <a:solidFill>
                  <a:srgbClr val="3E3379"/>
                </a:solidFill>
                <a:latin typeface="Calibri" pitchFamily="34" charset="0"/>
                <a:ea typeface="Calibri" pitchFamily="34" charset="-122"/>
                <a:cs typeface="Calibri" pitchFamily="34" charset="-120"/>
              </a:rPr>
              <a:t>cosmology θ</a:t>
            </a:r>
            <a:endParaRPr lang="en-US" sz="1400" dirty="0"/>
          </a:p>
          <a:p>
            <a:pPr marL="0" indent="0" algn="ctr">
              <a:lnSpc>
                <a:spcPct val="100000"/>
              </a:lnSpc>
              <a:buNone/>
            </a:pPr>
            <a:r>
              <a:rPr lang="en-US" sz="1400" b="1" dirty="0">
                <a:solidFill>
                  <a:srgbClr val="3E3379"/>
                </a:solidFill>
                <a:latin typeface="Calibri" pitchFamily="34" charset="0"/>
                <a:ea typeface="Calibri" pitchFamily="34" charset="-122"/>
                <a:cs typeface="Calibri" pitchFamily="34" charset="-120"/>
              </a:rPr>
              <a:t>+ nuisance η</a:t>
            </a:r>
            <a:endParaRPr lang="en-US" sz="1400" dirty="0"/>
          </a:p>
        </p:txBody>
      </p:sp>
      <p:sp>
        <p:nvSpPr>
          <p:cNvPr id="6" name="Shape 4"/>
          <p:cNvSpPr/>
          <p:nvPr/>
        </p:nvSpPr>
        <p:spPr>
          <a:xfrm>
            <a:off x="2217877" y="2144268"/>
            <a:ext cx="201168" cy="0"/>
          </a:xfrm>
          <a:prstGeom prst="line">
            <a:avLst/>
          </a:prstGeom>
          <a:noFill/>
          <a:ln w="19050">
            <a:solidFill>
              <a:srgbClr val="6E6E80"/>
            </a:solidFill>
            <a:prstDash val="solid"/>
            <a:tailEnd type="triangle"/>
          </a:ln>
        </p:spPr>
        <p:txBody>
          <a:bodyPr/>
          <a:lstStyle/>
          <a:p>
            <a:endParaRPr lang="en-US"/>
          </a:p>
        </p:txBody>
      </p:sp>
      <p:sp>
        <p:nvSpPr>
          <p:cNvPr id="7" name="Shape 5"/>
          <p:cNvSpPr/>
          <p:nvPr/>
        </p:nvSpPr>
        <p:spPr>
          <a:xfrm>
            <a:off x="2455621" y="1664208"/>
            <a:ext cx="1614373" cy="960120"/>
          </a:xfrm>
          <a:prstGeom prst="roundRect">
            <a:avLst>
              <a:gd name="adj" fmla="val 8571"/>
            </a:avLst>
          </a:prstGeom>
          <a:solidFill>
            <a:srgbClr val="F3F3F8"/>
          </a:solidFill>
          <a:ln w="12700">
            <a:solidFill>
              <a:srgbClr val="DCDCE6"/>
            </a:solidFill>
            <a:prstDash val="solid"/>
          </a:ln>
        </p:spPr>
        <p:txBody>
          <a:bodyPr/>
          <a:lstStyle/>
          <a:p>
            <a:endParaRPr lang="en-US"/>
          </a:p>
        </p:txBody>
      </p:sp>
      <p:sp>
        <p:nvSpPr>
          <p:cNvPr id="8" name="Text 6"/>
          <p:cNvSpPr/>
          <p:nvPr/>
        </p:nvSpPr>
        <p:spPr>
          <a:xfrm>
            <a:off x="2455621" y="1664208"/>
            <a:ext cx="1614373" cy="960120"/>
          </a:xfrm>
          <a:prstGeom prst="rect">
            <a:avLst/>
          </a:prstGeom>
          <a:noFill/>
          <a:ln/>
        </p:spPr>
        <p:txBody>
          <a:bodyPr wrap="square" lIns="0" tIns="0" rIns="0" bIns="0" rtlCol="0" anchor="ctr"/>
          <a:lstStyle/>
          <a:p>
            <a:pPr marL="0" indent="0" algn="ctr">
              <a:lnSpc>
                <a:spcPct val="100000"/>
              </a:lnSpc>
              <a:buNone/>
            </a:pPr>
            <a:r>
              <a:rPr lang="en-US" sz="1400" b="1" dirty="0">
                <a:solidFill>
                  <a:srgbClr val="1C1B29"/>
                </a:solidFill>
                <a:latin typeface="Calibri" pitchFamily="34" charset="0"/>
                <a:ea typeface="Calibri" pitchFamily="34" charset="-122"/>
                <a:cs typeface="Calibri" pitchFamily="34" charset="-120"/>
              </a:rPr>
              <a:t>initial</a:t>
            </a:r>
            <a:endParaRPr lang="en-US" sz="1400" dirty="0"/>
          </a:p>
          <a:p>
            <a:pPr marL="0" indent="0" algn="ctr">
              <a:lnSpc>
                <a:spcPct val="100000"/>
              </a:lnSpc>
              <a:buNone/>
            </a:pPr>
            <a:r>
              <a:rPr lang="en-US" sz="1400" b="1" dirty="0">
                <a:solidFill>
                  <a:srgbClr val="1C1B29"/>
                </a:solidFill>
                <a:latin typeface="Calibri" pitchFamily="34" charset="0"/>
                <a:ea typeface="Calibri" pitchFamily="34" charset="-122"/>
                <a:cs typeface="Calibri" pitchFamily="34" charset="-120"/>
              </a:rPr>
              <a:t>conditions</a:t>
            </a:r>
            <a:endParaRPr lang="en-US" sz="1400" dirty="0"/>
          </a:p>
        </p:txBody>
      </p:sp>
      <p:sp>
        <p:nvSpPr>
          <p:cNvPr id="9" name="Shape 7"/>
          <p:cNvSpPr/>
          <p:nvPr/>
        </p:nvSpPr>
        <p:spPr>
          <a:xfrm>
            <a:off x="4106570" y="2144268"/>
            <a:ext cx="201168" cy="0"/>
          </a:xfrm>
          <a:prstGeom prst="line">
            <a:avLst/>
          </a:prstGeom>
          <a:noFill/>
          <a:ln w="19050">
            <a:solidFill>
              <a:srgbClr val="6E6E80"/>
            </a:solidFill>
            <a:prstDash val="solid"/>
            <a:tailEnd type="triangle"/>
          </a:ln>
        </p:spPr>
        <p:txBody>
          <a:bodyPr/>
          <a:lstStyle/>
          <a:p>
            <a:endParaRPr lang="en-US"/>
          </a:p>
        </p:txBody>
      </p:sp>
      <p:sp>
        <p:nvSpPr>
          <p:cNvPr id="10" name="Text 8"/>
          <p:cNvSpPr/>
          <p:nvPr/>
        </p:nvSpPr>
        <p:spPr>
          <a:xfrm>
            <a:off x="2309317" y="2679192"/>
            <a:ext cx="1906981" cy="475488"/>
          </a:xfrm>
          <a:prstGeom prst="rect">
            <a:avLst/>
          </a:prstGeom>
          <a:noFill/>
          <a:ln/>
        </p:spPr>
        <p:txBody>
          <a:bodyPr wrap="square" lIns="0" tIns="0" rIns="0" bIns="0" rtlCol="0" anchor="ctr"/>
          <a:lstStyle/>
          <a:p>
            <a:pPr marL="0" indent="0" algn="ctr">
              <a:buNone/>
            </a:pPr>
            <a:r>
              <a:rPr lang="en-US" sz="1150" i="1" dirty="0">
                <a:solidFill>
                  <a:srgbClr val="AF6413"/>
                </a:solidFill>
                <a:latin typeface="Calibri" pitchFamily="34" charset="0"/>
                <a:ea typeface="Calibri" pitchFamily="34" charset="-122"/>
                <a:cs typeface="Calibri" pitchFamily="34" charset="-120"/>
              </a:rPr>
              <a:t>10⁶–10⁹ random phases</a:t>
            </a:r>
            <a:endParaRPr lang="en-US" sz="1150" dirty="0"/>
          </a:p>
        </p:txBody>
      </p:sp>
      <p:sp>
        <p:nvSpPr>
          <p:cNvPr id="11" name="Shape 9"/>
          <p:cNvSpPr/>
          <p:nvPr/>
        </p:nvSpPr>
        <p:spPr>
          <a:xfrm>
            <a:off x="4344314" y="1664208"/>
            <a:ext cx="1614373" cy="960120"/>
          </a:xfrm>
          <a:prstGeom prst="roundRect">
            <a:avLst>
              <a:gd name="adj" fmla="val 8571"/>
            </a:avLst>
          </a:prstGeom>
          <a:solidFill>
            <a:srgbClr val="F3F3F8"/>
          </a:solidFill>
          <a:ln w="12700">
            <a:solidFill>
              <a:srgbClr val="DCDCE6"/>
            </a:solidFill>
            <a:prstDash val="solid"/>
          </a:ln>
        </p:spPr>
        <p:txBody>
          <a:bodyPr/>
          <a:lstStyle/>
          <a:p>
            <a:endParaRPr lang="en-US"/>
          </a:p>
        </p:txBody>
      </p:sp>
      <p:sp>
        <p:nvSpPr>
          <p:cNvPr id="12" name="Text 10"/>
          <p:cNvSpPr/>
          <p:nvPr/>
        </p:nvSpPr>
        <p:spPr>
          <a:xfrm>
            <a:off x="4344314" y="1664208"/>
            <a:ext cx="1614373" cy="960120"/>
          </a:xfrm>
          <a:prstGeom prst="rect">
            <a:avLst/>
          </a:prstGeom>
          <a:noFill/>
          <a:ln/>
        </p:spPr>
        <p:txBody>
          <a:bodyPr wrap="square" lIns="0" tIns="0" rIns="0" bIns="0" rtlCol="0" anchor="ctr"/>
          <a:lstStyle/>
          <a:p>
            <a:pPr marL="0" indent="0" algn="ctr">
              <a:lnSpc>
                <a:spcPct val="100000"/>
              </a:lnSpc>
              <a:buNone/>
            </a:pPr>
            <a:r>
              <a:rPr lang="en-US" sz="1400" b="1" dirty="0">
                <a:solidFill>
                  <a:srgbClr val="1C1B29"/>
                </a:solidFill>
                <a:latin typeface="Calibri" pitchFamily="34" charset="0"/>
                <a:ea typeface="Calibri" pitchFamily="34" charset="-122"/>
                <a:cs typeface="Calibri" pitchFamily="34" charset="-120"/>
              </a:rPr>
              <a:t>gravity</a:t>
            </a:r>
            <a:endParaRPr lang="en-US" sz="1400" dirty="0"/>
          </a:p>
          <a:p>
            <a:pPr marL="0" indent="0" algn="ctr">
              <a:lnSpc>
                <a:spcPct val="100000"/>
              </a:lnSpc>
              <a:buNone/>
            </a:pPr>
            <a:r>
              <a:rPr lang="en-US" sz="1400" b="1" dirty="0">
                <a:solidFill>
                  <a:srgbClr val="1C1B29"/>
                </a:solidFill>
                <a:latin typeface="Calibri" pitchFamily="34" charset="0"/>
                <a:ea typeface="Calibri" pitchFamily="34" charset="-122"/>
                <a:cs typeface="Calibri" pitchFamily="34" charset="-120"/>
              </a:rPr>
              <a:t>(N-body)</a:t>
            </a:r>
            <a:endParaRPr lang="en-US" sz="1400" dirty="0"/>
          </a:p>
        </p:txBody>
      </p:sp>
      <p:sp>
        <p:nvSpPr>
          <p:cNvPr id="13" name="Shape 11"/>
          <p:cNvSpPr/>
          <p:nvPr/>
        </p:nvSpPr>
        <p:spPr>
          <a:xfrm>
            <a:off x="5995264" y="2144268"/>
            <a:ext cx="201168" cy="0"/>
          </a:xfrm>
          <a:prstGeom prst="line">
            <a:avLst/>
          </a:prstGeom>
          <a:noFill/>
          <a:ln w="19050">
            <a:solidFill>
              <a:srgbClr val="6E6E80"/>
            </a:solidFill>
            <a:prstDash val="solid"/>
            <a:tailEnd type="triangle"/>
          </a:ln>
        </p:spPr>
        <p:txBody>
          <a:bodyPr/>
          <a:lstStyle/>
          <a:p>
            <a:endParaRPr lang="en-US"/>
          </a:p>
        </p:txBody>
      </p:sp>
      <p:sp>
        <p:nvSpPr>
          <p:cNvPr id="14" name="Shape 12"/>
          <p:cNvSpPr/>
          <p:nvPr/>
        </p:nvSpPr>
        <p:spPr>
          <a:xfrm>
            <a:off x="6233008" y="1664208"/>
            <a:ext cx="1614373" cy="960120"/>
          </a:xfrm>
          <a:prstGeom prst="roundRect">
            <a:avLst>
              <a:gd name="adj" fmla="val 8571"/>
            </a:avLst>
          </a:prstGeom>
          <a:solidFill>
            <a:srgbClr val="F3F3F8"/>
          </a:solidFill>
          <a:ln w="12700">
            <a:solidFill>
              <a:srgbClr val="DCDCE6"/>
            </a:solidFill>
            <a:prstDash val="solid"/>
          </a:ln>
        </p:spPr>
        <p:txBody>
          <a:bodyPr/>
          <a:lstStyle/>
          <a:p>
            <a:endParaRPr lang="en-US"/>
          </a:p>
        </p:txBody>
      </p:sp>
      <p:sp>
        <p:nvSpPr>
          <p:cNvPr id="15" name="Text 13"/>
          <p:cNvSpPr/>
          <p:nvPr/>
        </p:nvSpPr>
        <p:spPr>
          <a:xfrm>
            <a:off x="6233008" y="1664208"/>
            <a:ext cx="1614373" cy="960120"/>
          </a:xfrm>
          <a:prstGeom prst="rect">
            <a:avLst/>
          </a:prstGeom>
          <a:noFill/>
          <a:ln/>
        </p:spPr>
        <p:txBody>
          <a:bodyPr wrap="square" lIns="0" tIns="0" rIns="0" bIns="0" rtlCol="0" anchor="ctr"/>
          <a:lstStyle/>
          <a:p>
            <a:pPr marL="0" indent="0" algn="ctr">
              <a:lnSpc>
                <a:spcPct val="100000"/>
              </a:lnSpc>
              <a:buNone/>
            </a:pPr>
            <a:r>
              <a:rPr lang="en-US" sz="1400" b="1" dirty="0">
                <a:solidFill>
                  <a:srgbClr val="1C1B29"/>
                </a:solidFill>
                <a:latin typeface="Calibri" pitchFamily="34" charset="0"/>
                <a:ea typeface="Calibri" pitchFamily="34" charset="-122"/>
                <a:cs typeface="Calibri" pitchFamily="34" charset="-120"/>
              </a:rPr>
              <a:t>halos +</a:t>
            </a:r>
            <a:endParaRPr lang="en-US" sz="1400" dirty="0"/>
          </a:p>
          <a:p>
            <a:pPr marL="0" indent="0" algn="ctr">
              <a:lnSpc>
                <a:spcPct val="100000"/>
              </a:lnSpc>
              <a:buNone/>
            </a:pPr>
            <a:r>
              <a:rPr lang="en-US" sz="1400" b="1" dirty="0">
                <a:solidFill>
                  <a:srgbClr val="1C1B29"/>
                </a:solidFill>
                <a:latin typeface="Calibri" pitchFamily="34" charset="0"/>
                <a:ea typeface="Calibri" pitchFamily="34" charset="-122"/>
                <a:cs typeface="Calibri" pitchFamily="34" charset="-120"/>
              </a:rPr>
              <a:t>galaxies</a:t>
            </a:r>
            <a:endParaRPr lang="en-US" sz="1400" dirty="0"/>
          </a:p>
        </p:txBody>
      </p:sp>
      <p:sp>
        <p:nvSpPr>
          <p:cNvPr id="16" name="Shape 14"/>
          <p:cNvSpPr/>
          <p:nvPr/>
        </p:nvSpPr>
        <p:spPr>
          <a:xfrm>
            <a:off x="7883957" y="2144268"/>
            <a:ext cx="201168" cy="0"/>
          </a:xfrm>
          <a:prstGeom prst="line">
            <a:avLst/>
          </a:prstGeom>
          <a:noFill/>
          <a:ln w="19050">
            <a:solidFill>
              <a:srgbClr val="6E6E80"/>
            </a:solidFill>
            <a:prstDash val="solid"/>
            <a:tailEnd type="triangle"/>
          </a:ln>
        </p:spPr>
        <p:txBody>
          <a:bodyPr/>
          <a:lstStyle/>
          <a:p>
            <a:endParaRPr lang="en-US"/>
          </a:p>
        </p:txBody>
      </p:sp>
      <p:sp>
        <p:nvSpPr>
          <p:cNvPr id="17" name="Text 15"/>
          <p:cNvSpPr/>
          <p:nvPr/>
        </p:nvSpPr>
        <p:spPr>
          <a:xfrm>
            <a:off x="6086704" y="2679192"/>
            <a:ext cx="1906981" cy="475488"/>
          </a:xfrm>
          <a:prstGeom prst="rect">
            <a:avLst/>
          </a:prstGeom>
          <a:noFill/>
          <a:ln/>
        </p:spPr>
        <p:txBody>
          <a:bodyPr wrap="square" lIns="0" tIns="0" rIns="0" bIns="0" rtlCol="0" anchor="ctr"/>
          <a:lstStyle/>
          <a:p>
            <a:pPr marL="0" indent="0" algn="ctr">
              <a:buNone/>
            </a:pPr>
            <a:r>
              <a:rPr lang="en-US" sz="1150" i="1" dirty="0">
                <a:solidFill>
                  <a:srgbClr val="AF6413"/>
                </a:solidFill>
                <a:latin typeface="Calibri" pitchFamily="34" charset="0"/>
                <a:ea typeface="Calibri" pitchFamily="34" charset="-122"/>
                <a:cs typeface="Calibri" pitchFamily="34" charset="-120"/>
              </a:rPr>
              <a:t>HOD scatter</a:t>
            </a:r>
            <a:endParaRPr lang="en-US" sz="1150" dirty="0"/>
          </a:p>
        </p:txBody>
      </p:sp>
      <p:sp>
        <p:nvSpPr>
          <p:cNvPr id="18" name="Shape 16"/>
          <p:cNvSpPr/>
          <p:nvPr/>
        </p:nvSpPr>
        <p:spPr>
          <a:xfrm>
            <a:off x="8121701" y="1664208"/>
            <a:ext cx="1614373" cy="960120"/>
          </a:xfrm>
          <a:prstGeom prst="roundRect">
            <a:avLst>
              <a:gd name="adj" fmla="val 8571"/>
            </a:avLst>
          </a:prstGeom>
          <a:solidFill>
            <a:srgbClr val="F3F3F8"/>
          </a:solidFill>
          <a:ln w="12700">
            <a:solidFill>
              <a:srgbClr val="DCDCE6"/>
            </a:solidFill>
            <a:prstDash val="solid"/>
          </a:ln>
        </p:spPr>
        <p:txBody>
          <a:bodyPr/>
          <a:lstStyle/>
          <a:p>
            <a:endParaRPr lang="en-US"/>
          </a:p>
        </p:txBody>
      </p:sp>
      <p:sp>
        <p:nvSpPr>
          <p:cNvPr id="19" name="Text 17"/>
          <p:cNvSpPr/>
          <p:nvPr/>
        </p:nvSpPr>
        <p:spPr>
          <a:xfrm>
            <a:off x="8121701" y="1664208"/>
            <a:ext cx="1614373" cy="960120"/>
          </a:xfrm>
          <a:prstGeom prst="rect">
            <a:avLst/>
          </a:prstGeom>
          <a:noFill/>
          <a:ln/>
        </p:spPr>
        <p:txBody>
          <a:bodyPr wrap="square" lIns="0" tIns="0" rIns="0" bIns="0" rtlCol="0" anchor="ctr"/>
          <a:lstStyle/>
          <a:p>
            <a:pPr marL="0" indent="0" algn="ctr">
              <a:lnSpc>
                <a:spcPct val="100000"/>
              </a:lnSpc>
              <a:buNone/>
            </a:pPr>
            <a:r>
              <a:rPr lang="en-US" sz="1400" b="1" dirty="0">
                <a:solidFill>
                  <a:srgbClr val="1C1B29"/>
                </a:solidFill>
                <a:latin typeface="Calibri" pitchFamily="34" charset="0"/>
                <a:ea typeface="Calibri" pitchFamily="34" charset="-122"/>
                <a:cs typeface="Calibri" pitchFamily="34" charset="-120"/>
              </a:rPr>
              <a:t>survey</a:t>
            </a:r>
            <a:endParaRPr lang="en-US" sz="1400" dirty="0"/>
          </a:p>
          <a:p>
            <a:pPr marL="0" indent="0" algn="ctr">
              <a:lnSpc>
                <a:spcPct val="100000"/>
              </a:lnSpc>
              <a:buNone/>
            </a:pPr>
            <a:r>
              <a:rPr lang="en-US" sz="1400" b="1" dirty="0">
                <a:solidFill>
                  <a:srgbClr val="1C1B29"/>
                </a:solidFill>
                <a:latin typeface="Calibri" pitchFamily="34" charset="0"/>
                <a:ea typeface="Calibri" pitchFamily="34" charset="-122"/>
                <a:cs typeface="Calibri" pitchFamily="34" charset="-120"/>
              </a:rPr>
              <a:t>realism</a:t>
            </a:r>
            <a:endParaRPr lang="en-US" sz="1400" dirty="0"/>
          </a:p>
        </p:txBody>
      </p:sp>
      <p:sp>
        <p:nvSpPr>
          <p:cNvPr id="20" name="Shape 18"/>
          <p:cNvSpPr/>
          <p:nvPr/>
        </p:nvSpPr>
        <p:spPr>
          <a:xfrm>
            <a:off x="9772650" y="2144268"/>
            <a:ext cx="201168" cy="0"/>
          </a:xfrm>
          <a:prstGeom prst="line">
            <a:avLst/>
          </a:prstGeom>
          <a:noFill/>
          <a:ln w="19050">
            <a:solidFill>
              <a:srgbClr val="6E6E80"/>
            </a:solidFill>
            <a:prstDash val="solid"/>
            <a:tailEnd type="triangle"/>
          </a:ln>
        </p:spPr>
        <p:txBody>
          <a:bodyPr/>
          <a:lstStyle/>
          <a:p>
            <a:endParaRPr lang="en-US"/>
          </a:p>
        </p:txBody>
      </p:sp>
      <p:sp>
        <p:nvSpPr>
          <p:cNvPr id="21" name="Text 19"/>
          <p:cNvSpPr/>
          <p:nvPr/>
        </p:nvSpPr>
        <p:spPr>
          <a:xfrm>
            <a:off x="7975397" y="2679192"/>
            <a:ext cx="1906981" cy="475488"/>
          </a:xfrm>
          <a:prstGeom prst="rect">
            <a:avLst/>
          </a:prstGeom>
          <a:noFill/>
          <a:ln/>
        </p:spPr>
        <p:txBody>
          <a:bodyPr wrap="square" lIns="0" tIns="0" rIns="0" bIns="0" rtlCol="0" anchor="ctr"/>
          <a:lstStyle/>
          <a:p>
            <a:pPr marL="0" indent="0" algn="ctr">
              <a:buNone/>
            </a:pPr>
            <a:r>
              <a:rPr lang="en-US" sz="1150" i="1" dirty="0">
                <a:solidFill>
                  <a:srgbClr val="AF6413"/>
                </a:solidFill>
                <a:latin typeface="Calibri" pitchFamily="34" charset="0"/>
                <a:ea typeface="Calibri" pitchFamily="34" charset="-122"/>
                <a:cs typeface="Calibri" pitchFamily="34" charset="-120"/>
              </a:rPr>
              <a:t>mask, selection, noise</a:t>
            </a:r>
            <a:endParaRPr lang="en-US" sz="1150" dirty="0"/>
          </a:p>
        </p:txBody>
      </p:sp>
      <p:sp>
        <p:nvSpPr>
          <p:cNvPr id="22" name="Shape 20"/>
          <p:cNvSpPr/>
          <p:nvPr/>
        </p:nvSpPr>
        <p:spPr>
          <a:xfrm>
            <a:off x="10010394" y="1664208"/>
            <a:ext cx="1614373" cy="960120"/>
          </a:xfrm>
          <a:prstGeom prst="roundRect">
            <a:avLst>
              <a:gd name="adj" fmla="val 8571"/>
            </a:avLst>
          </a:prstGeom>
          <a:solidFill>
            <a:srgbClr val="E3F1EE"/>
          </a:solidFill>
          <a:ln w="12700">
            <a:solidFill>
              <a:srgbClr val="1F7A6C"/>
            </a:solidFill>
            <a:prstDash val="solid"/>
          </a:ln>
        </p:spPr>
        <p:txBody>
          <a:bodyPr/>
          <a:lstStyle/>
          <a:p>
            <a:endParaRPr lang="en-US"/>
          </a:p>
        </p:txBody>
      </p:sp>
      <p:sp>
        <p:nvSpPr>
          <p:cNvPr id="23" name="Text 21"/>
          <p:cNvSpPr/>
          <p:nvPr/>
        </p:nvSpPr>
        <p:spPr>
          <a:xfrm>
            <a:off x="10010394" y="1664208"/>
            <a:ext cx="1614373" cy="960120"/>
          </a:xfrm>
          <a:prstGeom prst="rect">
            <a:avLst/>
          </a:prstGeom>
          <a:noFill/>
          <a:ln/>
        </p:spPr>
        <p:txBody>
          <a:bodyPr wrap="square" lIns="0" tIns="0" rIns="0" bIns="0" rtlCol="0" anchor="ctr"/>
          <a:lstStyle/>
          <a:p>
            <a:pPr marL="0" indent="0" algn="ctr">
              <a:lnSpc>
                <a:spcPct val="100000"/>
              </a:lnSpc>
              <a:buNone/>
            </a:pPr>
            <a:r>
              <a:rPr lang="en-US" sz="1400" b="1" dirty="0">
                <a:solidFill>
                  <a:srgbClr val="1F7A6C"/>
                </a:solidFill>
                <a:latin typeface="Calibri" pitchFamily="34" charset="0"/>
                <a:ea typeface="Calibri" pitchFamily="34" charset="-122"/>
                <a:cs typeface="Calibri" pitchFamily="34" charset="-120"/>
              </a:rPr>
              <a:t>mock field</a:t>
            </a:r>
            <a:endParaRPr lang="en-US" sz="1400" dirty="0"/>
          </a:p>
          <a:p>
            <a:pPr marL="0" indent="0" algn="ctr">
              <a:lnSpc>
                <a:spcPct val="100000"/>
              </a:lnSpc>
              <a:buNone/>
            </a:pPr>
            <a:r>
              <a:rPr lang="en-US" sz="1400" b="1" dirty="0">
                <a:solidFill>
                  <a:srgbClr val="1F7A6C"/>
                </a:solidFill>
                <a:latin typeface="Calibri" pitchFamily="34" charset="0"/>
                <a:ea typeface="Calibri" pitchFamily="34" charset="-122"/>
                <a:cs typeface="Calibri" pitchFamily="34" charset="-120"/>
              </a:rPr>
              <a:t>or catalogue</a:t>
            </a:r>
            <a:endParaRPr lang="en-US" sz="1400" dirty="0"/>
          </a:p>
        </p:txBody>
      </p:sp>
      <p:sp>
        <p:nvSpPr>
          <p:cNvPr id="24" name="Text 22"/>
          <p:cNvSpPr/>
          <p:nvPr/>
        </p:nvSpPr>
        <p:spPr>
          <a:xfrm>
            <a:off x="566928" y="3218688"/>
            <a:ext cx="11057839" cy="256032"/>
          </a:xfrm>
          <a:prstGeom prst="rect">
            <a:avLst/>
          </a:prstGeom>
          <a:noFill/>
          <a:ln/>
        </p:spPr>
        <p:txBody>
          <a:bodyPr wrap="square" lIns="0" tIns="0" rIns="0" bIns="0" rtlCol="0" anchor="ctr"/>
          <a:lstStyle/>
          <a:p>
            <a:pPr marL="0" indent="0" algn="ctr">
              <a:buNone/>
            </a:pPr>
            <a:r>
              <a:rPr lang="en-US" sz="1250" b="1" dirty="0">
                <a:solidFill>
                  <a:srgbClr val="AF6413"/>
                </a:solidFill>
                <a:latin typeface="Calibri" pitchFamily="34" charset="0"/>
                <a:ea typeface="Calibri" pitchFamily="34" charset="-122"/>
                <a:cs typeface="Calibri" pitchFamily="34" charset="-120"/>
              </a:rPr>
              <a:t>latent variables injected at each stage</a:t>
            </a:r>
            <a:endParaRPr lang="en-US" sz="1250" dirty="0"/>
          </a:p>
        </p:txBody>
      </p:sp>
      <p:sp>
        <p:nvSpPr>
          <p:cNvPr id="25" name="Shape 23"/>
          <p:cNvSpPr/>
          <p:nvPr/>
        </p:nvSpPr>
        <p:spPr>
          <a:xfrm>
            <a:off x="566928" y="3621024"/>
            <a:ext cx="11057839" cy="1481328"/>
          </a:xfrm>
          <a:prstGeom prst="roundRect">
            <a:avLst>
              <a:gd name="adj" fmla="val 3704"/>
            </a:avLst>
          </a:prstGeom>
          <a:solidFill>
            <a:srgbClr val="F3F3F8"/>
          </a:solidFill>
          <a:ln/>
        </p:spPr>
        <p:txBody>
          <a:bodyPr/>
          <a:lstStyle/>
          <a:p>
            <a:endParaRPr lang="en-US"/>
          </a:p>
        </p:txBody>
      </p:sp>
      <p:pic>
        <p:nvPicPr>
          <p:cNvPr id="26" name="Image 0" descr="eq/lik_full.png"/>
          <p:cNvPicPr>
            <a:picLocks noChangeAspect="1"/>
          </p:cNvPicPr>
          <p:nvPr/>
        </p:nvPicPr>
        <p:blipFill>
          <a:blip r:embed="rId3"/>
          <a:stretch>
            <a:fillRect/>
          </a:stretch>
        </p:blipFill>
        <p:spPr>
          <a:xfrm>
            <a:off x="3767328" y="3803904"/>
            <a:ext cx="4657039" cy="677266"/>
          </a:xfrm>
          <a:prstGeom prst="rect">
            <a:avLst/>
          </a:prstGeom>
        </p:spPr>
      </p:pic>
      <p:sp>
        <p:nvSpPr>
          <p:cNvPr id="27" name="Text 24"/>
          <p:cNvSpPr/>
          <p:nvPr/>
        </p:nvSpPr>
        <p:spPr>
          <a:xfrm>
            <a:off x="932688" y="4553712"/>
            <a:ext cx="10326319" cy="457200"/>
          </a:xfrm>
          <a:prstGeom prst="rect">
            <a:avLst/>
          </a:prstGeom>
          <a:noFill/>
          <a:ln/>
        </p:spPr>
        <p:txBody>
          <a:bodyPr wrap="square" lIns="0" tIns="0" rIns="0" bIns="0" rtlCol="0" anchor="t"/>
          <a:lstStyle/>
          <a:p>
            <a:pPr marL="0" indent="0" algn="ctr">
              <a:lnSpc>
                <a:spcPct val="106000"/>
              </a:lnSpc>
              <a:buNone/>
            </a:pPr>
            <a:r>
              <a:rPr lang="en-US" sz="1550" dirty="0">
                <a:solidFill>
                  <a:srgbClr val="6E6E80"/>
                </a:solidFill>
                <a:latin typeface="Calibri" pitchFamily="34" charset="0"/>
                <a:ea typeface="Calibri" pitchFamily="34" charset="-122"/>
                <a:cs typeface="Calibri" pitchFamily="34" charset="-120"/>
              </a:rPr>
              <a:t>The ζ integral runs over every random number the chain ever drew. There is no closed form, and no sampler can march through it.</a:t>
            </a:r>
            <a:endParaRPr lang="en-US" sz="1550" dirty="0"/>
          </a:p>
        </p:txBody>
      </p:sp>
      <p:sp>
        <p:nvSpPr>
          <p:cNvPr id="28" name="Shape 25"/>
          <p:cNvSpPr/>
          <p:nvPr/>
        </p:nvSpPr>
        <p:spPr>
          <a:xfrm>
            <a:off x="566928" y="5358384"/>
            <a:ext cx="11057839" cy="566928"/>
          </a:xfrm>
          <a:prstGeom prst="roundRect">
            <a:avLst>
              <a:gd name="adj" fmla="val 9677"/>
            </a:avLst>
          </a:prstGeom>
          <a:solidFill>
            <a:srgbClr val="FBF0E1"/>
          </a:solidFill>
          <a:ln/>
        </p:spPr>
        <p:txBody>
          <a:bodyPr/>
          <a:lstStyle/>
          <a:p>
            <a:endParaRPr lang="en-US"/>
          </a:p>
        </p:txBody>
      </p:sp>
      <p:sp>
        <p:nvSpPr>
          <p:cNvPr id="29" name="Text 26"/>
          <p:cNvSpPr/>
          <p:nvPr/>
        </p:nvSpPr>
        <p:spPr>
          <a:xfrm>
            <a:off x="804672" y="5358384"/>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One run of this chain is a sample from p(x | θ). Nothing in it ever gives you the value of p(xₒ | θ).</a:t>
            </a:r>
            <a:endParaRPr lang="en-US" sz="1550" dirty="0"/>
          </a:p>
        </p:txBody>
      </p:sp>
      <p:sp>
        <p:nvSpPr>
          <p:cNvPr id="30" name="Text 27"/>
          <p:cNvSpPr/>
          <p:nvPr/>
        </p:nvSpPr>
        <p:spPr>
          <a:xfrm>
            <a:off x="566928" y="6053328"/>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Hierarchical simulators like this also let you reuse one expensive gravity run with many cheap galaxy realisations — Thiele (2026), §2.</a:t>
            </a:r>
            <a:endParaRPr lang="en-US" sz="1050" dirty="0"/>
          </a:p>
        </p:txBody>
      </p:sp>
      <p:sp>
        <p:nvSpPr>
          <p:cNvPr id="31" name="Text 28"/>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 — Motivation</a:t>
            </a:r>
            <a:endParaRPr lang="en-US" sz="950" dirty="0"/>
          </a:p>
        </p:txBody>
      </p:sp>
      <p:sp>
        <p:nvSpPr>
          <p:cNvPr id="32" name="Text 29"/>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91A2E"/>
        </a:solidFill>
        <a:effectLst/>
      </p:bgPr>
    </p:bg>
    <p:spTree>
      <p:nvGrpSpPr>
        <p:cNvPr id="1" name=""/>
        <p:cNvGrpSpPr/>
        <p:nvPr/>
      </p:nvGrpSpPr>
      <p:grpSpPr>
        <a:xfrm>
          <a:off x="0" y="0"/>
          <a:ext cx="0" cy="0"/>
          <a:chOff x="0" y="0"/>
          <a:chExt cx="0" cy="0"/>
        </a:xfrm>
      </p:grpSpPr>
      <p:sp>
        <p:nvSpPr>
          <p:cNvPr id="2" name="Text 0"/>
          <p:cNvSpPr/>
          <p:nvPr/>
        </p:nvSpPr>
        <p:spPr>
          <a:xfrm>
            <a:off x="566928" y="1993392"/>
            <a:ext cx="11057839" cy="292608"/>
          </a:xfrm>
          <a:prstGeom prst="rect">
            <a:avLst/>
          </a:prstGeom>
          <a:noFill/>
          <a:ln/>
        </p:spPr>
        <p:txBody>
          <a:bodyPr wrap="square" lIns="0" tIns="0" rIns="0" bIns="0" rtlCol="0" anchor="ctr"/>
          <a:lstStyle/>
          <a:p>
            <a:pPr marL="0" indent="0">
              <a:buNone/>
            </a:pPr>
            <a:r>
              <a:rPr lang="en-US" sz="1400" b="1" kern="0" spc="240" dirty="0">
                <a:solidFill>
                  <a:srgbClr val="B9B1E0"/>
                </a:solidFill>
                <a:latin typeface="Calibri" pitchFamily="34" charset="0"/>
                <a:ea typeface="Calibri" pitchFamily="34" charset="-122"/>
                <a:cs typeface="Calibri" pitchFamily="34" charset="-120"/>
              </a:rPr>
              <a:t>PART II</a:t>
            </a:r>
            <a:endParaRPr lang="en-US" sz="1400" dirty="0"/>
          </a:p>
        </p:txBody>
      </p:sp>
      <p:sp>
        <p:nvSpPr>
          <p:cNvPr id="3" name="Text 1"/>
          <p:cNvSpPr/>
          <p:nvPr/>
        </p:nvSpPr>
        <p:spPr>
          <a:xfrm>
            <a:off x="566928" y="2395728"/>
            <a:ext cx="10058400" cy="13716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One table of simulations</a:t>
            </a:r>
            <a:endParaRPr lang="en-US" sz="4000" dirty="0"/>
          </a:p>
        </p:txBody>
      </p:sp>
      <p:sp>
        <p:nvSpPr>
          <p:cNvPr id="4" name="Text 2"/>
          <p:cNvSpPr/>
          <p:nvPr/>
        </p:nvSpPr>
        <p:spPr>
          <a:xfrm>
            <a:off x="566928" y="3767328"/>
            <a:ext cx="8778240" cy="640080"/>
          </a:xfrm>
          <a:prstGeom prst="rect">
            <a:avLst/>
          </a:prstGeom>
          <a:noFill/>
          <a:ln/>
        </p:spPr>
        <p:txBody>
          <a:bodyPr wrap="square" lIns="0" tIns="0" rIns="0" bIns="0" rtlCol="0" anchor="ctr"/>
          <a:lstStyle/>
          <a:p>
            <a:pPr marL="0" indent="0">
              <a:lnSpc>
                <a:spcPct val="110000"/>
              </a:lnSpc>
              <a:buNone/>
            </a:pPr>
            <a:r>
              <a:rPr lang="en-US" sz="1800" dirty="0">
                <a:solidFill>
                  <a:srgbClr val="CFCAE8"/>
                </a:solidFill>
                <a:latin typeface="Calibri" pitchFamily="34" charset="0"/>
                <a:ea typeface="Calibri" pitchFamily="34" charset="-122"/>
                <a:cs typeface="Calibri" pitchFamily="34" charset="-120"/>
              </a:rPr>
              <a:t>Every SBI method starts from the same thing. The classical one throws most of it away.</a:t>
            </a:r>
            <a:endParaRPr lang="en-US" sz="1800" dirty="0"/>
          </a:p>
        </p:txBody>
      </p:sp>
      <p:pic>
        <p:nvPicPr>
          <p:cNvPr id="5" name="Image 0" descr="eq/d_cut.png"/>
          <p:cNvPicPr>
            <a:picLocks noChangeAspect="1"/>
          </p:cNvPicPr>
          <p:nvPr/>
        </p:nvPicPr>
        <p:blipFill>
          <a:blip r:embed="rId3"/>
          <a:stretch>
            <a:fillRect/>
          </a:stretch>
        </p:blipFill>
        <p:spPr>
          <a:xfrm>
            <a:off x="566928" y="4773168"/>
            <a:ext cx="3003499" cy="396240"/>
          </a:xfrm>
          <a:prstGeom prst="rect">
            <a:avLst/>
          </a:prstGeom>
        </p:spPr>
      </p:pic>
      <p:sp>
        <p:nvSpPr>
          <p:cNvPr id="6" name="Text 3"/>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A6A8C"/>
                </a:solidFill>
                <a:latin typeface="Calibri" pitchFamily="34" charset="0"/>
                <a:ea typeface="Calibri" pitchFamily="34" charset="-122"/>
                <a:cs typeface="Calibri" pitchFamily="34" charset="-120"/>
              </a:rPr>
              <a:t>Simulation-Based Inference  ·  Part II — From the joint to ABC</a:t>
            </a:r>
            <a:endParaRPr lang="en-US" sz="950" dirty="0"/>
          </a:p>
        </p:txBody>
      </p:sp>
      <p:sp>
        <p:nvSpPr>
          <p:cNvPr id="7" name="Text 4"/>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A6A8C"/>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THE ONE INGREDIENT EVERY METHOD SHARES</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Simulate a table of parameter–data pairs</a:t>
            </a:r>
            <a:endParaRPr lang="en-US" sz="3000" dirty="0"/>
          </a:p>
        </p:txBody>
      </p:sp>
      <p:sp>
        <p:nvSpPr>
          <p:cNvPr id="4" name="Shape 2"/>
          <p:cNvSpPr/>
          <p:nvPr/>
        </p:nvSpPr>
        <p:spPr>
          <a:xfrm>
            <a:off x="566928" y="1517904"/>
            <a:ext cx="384048" cy="384048"/>
          </a:xfrm>
          <a:prstGeom prst="ellipse">
            <a:avLst/>
          </a:prstGeom>
          <a:solidFill>
            <a:srgbClr val="4A3F8F"/>
          </a:solidFill>
          <a:ln/>
        </p:spPr>
        <p:txBody>
          <a:bodyPr/>
          <a:lstStyle/>
          <a:p>
            <a:endParaRPr lang="en-US"/>
          </a:p>
        </p:txBody>
      </p:sp>
      <p:sp>
        <p:nvSpPr>
          <p:cNvPr id="5" name="Text 3"/>
          <p:cNvSpPr/>
          <p:nvPr/>
        </p:nvSpPr>
        <p:spPr>
          <a:xfrm>
            <a:off x="566928" y="151790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33856" y="1463040"/>
            <a:ext cx="4023360" cy="457200"/>
          </a:xfrm>
          <a:prstGeom prst="rect">
            <a:avLst/>
          </a:prstGeom>
          <a:noFill/>
          <a:ln/>
        </p:spPr>
        <p:txBody>
          <a:bodyPr wrap="square" lIns="0" tIns="0" rIns="0" bIns="0" rtlCol="0" anchor="ctr"/>
          <a:lstStyle/>
          <a:p>
            <a:pPr marL="0" indent="0">
              <a:buNone/>
            </a:pPr>
            <a:r>
              <a:rPr lang="en-US" sz="1650" b="1" dirty="0">
                <a:solidFill>
                  <a:srgbClr val="1C1B29"/>
                </a:solidFill>
                <a:latin typeface="Calibri" pitchFamily="34" charset="0"/>
                <a:ea typeface="Calibri" pitchFamily="34" charset="-122"/>
                <a:cs typeface="Calibri" pitchFamily="34" charset="-120"/>
              </a:rPr>
              <a:t>Draw parameters from the prior</a:t>
            </a:r>
            <a:endParaRPr lang="en-US" sz="1650" dirty="0"/>
          </a:p>
        </p:txBody>
      </p:sp>
      <p:sp>
        <p:nvSpPr>
          <p:cNvPr id="7" name="Text 5"/>
          <p:cNvSpPr/>
          <p:nvPr/>
        </p:nvSpPr>
        <p:spPr>
          <a:xfrm>
            <a:off x="5093208" y="1463040"/>
            <a:ext cx="1920240" cy="457200"/>
          </a:xfrm>
          <a:prstGeom prst="rect">
            <a:avLst/>
          </a:prstGeom>
          <a:noFill/>
          <a:ln/>
        </p:spPr>
        <p:txBody>
          <a:bodyPr wrap="square" lIns="0" tIns="0" rIns="0" bIns="0" rtlCol="0" anchor="ctr"/>
          <a:lstStyle/>
          <a:p>
            <a:pPr marL="0" indent="0">
              <a:buNone/>
            </a:pPr>
            <a:r>
              <a:rPr lang="en-US" sz="1650" b="1" dirty="0">
                <a:solidFill>
                  <a:srgbClr val="1F7A6C"/>
                </a:solidFill>
                <a:latin typeface="Calibri" pitchFamily="34" charset="0"/>
                <a:ea typeface="Calibri" pitchFamily="34" charset="-122"/>
                <a:cs typeface="Calibri" pitchFamily="34" charset="-120"/>
              </a:rPr>
              <a:t>θᵢ ~ p(θ)</a:t>
            </a:r>
            <a:endParaRPr lang="en-US" sz="1650" dirty="0"/>
          </a:p>
        </p:txBody>
      </p:sp>
      <p:sp>
        <p:nvSpPr>
          <p:cNvPr id="8" name="Shape 6"/>
          <p:cNvSpPr/>
          <p:nvPr/>
        </p:nvSpPr>
        <p:spPr>
          <a:xfrm>
            <a:off x="566928" y="2121408"/>
            <a:ext cx="384048" cy="384048"/>
          </a:xfrm>
          <a:prstGeom prst="ellipse">
            <a:avLst/>
          </a:prstGeom>
          <a:solidFill>
            <a:srgbClr val="4A3F8F"/>
          </a:solidFill>
          <a:ln/>
        </p:spPr>
        <p:txBody>
          <a:bodyPr/>
          <a:lstStyle/>
          <a:p>
            <a:endParaRPr lang="en-US"/>
          </a:p>
        </p:txBody>
      </p:sp>
      <p:sp>
        <p:nvSpPr>
          <p:cNvPr id="9" name="Text 7"/>
          <p:cNvSpPr/>
          <p:nvPr/>
        </p:nvSpPr>
        <p:spPr>
          <a:xfrm>
            <a:off x="566928" y="212140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33856" y="2066544"/>
            <a:ext cx="4023360" cy="457200"/>
          </a:xfrm>
          <a:prstGeom prst="rect">
            <a:avLst/>
          </a:prstGeom>
          <a:noFill/>
          <a:ln/>
        </p:spPr>
        <p:txBody>
          <a:bodyPr wrap="square" lIns="0" tIns="0" rIns="0" bIns="0" rtlCol="0" anchor="ctr"/>
          <a:lstStyle/>
          <a:p>
            <a:pPr marL="0" indent="0">
              <a:buNone/>
            </a:pPr>
            <a:r>
              <a:rPr lang="en-US" sz="1650" b="1" dirty="0">
                <a:solidFill>
                  <a:srgbClr val="1C1B29"/>
                </a:solidFill>
                <a:latin typeface="Calibri" pitchFamily="34" charset="0"/>
                <a:ea typeface="Calibri" pitchFamily="34" charset="-122"/>
                <a:cs typeface="Calibri" pitchFamily="34" charset="-120"/>
              </a:rPr>
              <a:t>Run the simulator once for each</a:t>
            </a:r>
            <a:endParaRPr lang="en-US" sz="1650" dirty="0"/>
          </a:p>
        </p:txBody>
      </p:sp>
      <p:sp>
        <p:nvSpPr>
          <p:cNvPr id="11" name="Text 9"/>
          <p:cNvSpPr/>
          <p:nvPr/>
        </p:nvSpPr>
        <p:spPr>
          <a:xfrm>
            <a:off x="5093208" y="2066544"/>
            <a:ext cx="1920240" cy="457200"/>
          </a:xfrm>
          <a:prstGeom prst="rect">
            <a:avLst/>
          </a:prstGeom>
          <a:noFill/>
          <a:ln/>
        </p:spPr>
        <p:txBody>
          <a:bodyPr wrap="square" lIns="0" tIns="0" rIns="0" bIns="0" rtlCol="0" anchor="ctr"/>
          <a:lstStyle/>
          <a:p>
            <a:pPr marL="0" indent="0">
              <a:buNone/>
            </a:pPr>
            <a:r>
              <a:rPr lang="en-US" sz="1650" b="1" dirty="0">
                <a:solidFill>
                  <a:srgbClr val="1F7A6C"/>
                </a:solidFill>
                <a:latin typeface="Calibri" pitchFamily="34" charset="0"/>
                <a:ea typeface="Calibri" pitchFamily="34" charset="-122"/>
                <a:cs typeface="Calibri" pitchFamily="34" charset="-120"/>
              </a:rPr>
              <a:t>xᵢ ~ p(x | θᵢ)</a:t>
            </a:r>
            <a:endParaRPr lang="en-US" sz="1650" dirty="0"/>
          </a:p>
        </p:txBody>
      </p:sp>
      <p:sp>
        <p:nvSpPr>
          <p:cNvPr id="12" name="Shape 10"/>
          <p:cNvSpPr/>
          <p:nvPr/>
        </p:nvSpPr>
        <p:spPr>
          <a:xfrm>
            <a:off x="566928" y="2724912"/>
            <a:ext cx="384048" cy="384048"/>
          </a:xfrm>
          <a:prstGeom prst="ellipse">
            <a:avLst/>
          </a:prstGeom>
          <a:solidFill>
            <a:srgbClr val="4A3F8F"/>
          </a:solidFill>
          <a:ln/>
        </p:spPr>
        <p:txBody>
          <a:bodyPr/>
          <a:lstStyle/>
          <a:p>
            <a:endParaRPr lang="en-US"/>
          </a:p>
        </p:txBody>
      </p:sp>
      <p:sp>
        <p:nvSpPr>
          <p:cNvPr id="13" name="Text 11"/>
          <p:cNvSpPr/>
          <p:nvPr/>
        </p:nvSpPr>
        <p:spPr>
          <a:xfrm>
            <a:off x="566928" y="272491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33856" y="2670048"/>
            <a:ext cx="4023360" cy="457200"/>
          </a:xfrm>
          <a:prstGeom prst="rect">
            <a:avLst/>
          </a:prstGeom>
          <a:noFill/>
          <a:ln/>
        </p:spPr>
        <p:txBody>
          <a:bodyPr wrap="square" lIns="0" tIns="0" rIns="0" bIns="0" rtlCol="0" anchor="ctr"/>
          <a:lstStyle/>
          <a:p>
            <a:pPr marL="0" indent="0">
              <a:buNone/>
            </a:pPr>
            <a:r>
              <a:rPr lang="en-US" sz="1650" b="1" dirty="0">
                <a:solidFill>
                  <a:srgbClr val="1C1B29"/>
                </a:solidFill>
                <a:latin typeface="Calibri" pitchFamily="34" charset="0"/>
                <a:ea typeface="Calibri" pitchFamily="34" charset="-122"/>
                <a:cs typeface="Calibri" pitchFamily="34" charset="-120"/>
              </a:rPr>
              <a:t>Keep the pair</a:t>
            </a:r>
            <a:endParaRPr lang="en-US" sz="1650" dirty="0"/>
          </a:p>
        </p:txBody>
      </p:sp>
      <p:sp>
        <p:nvSpPr>
          <p:cNvPr id="15" name="Text 13"/>
          <p:cNvSpPr/>
          <p:nvPr/>
        </p:nvSpPr>
        <p:spPr>
          <a:xfrm>
            <a:off x="5093208" y="2670048"/>
            <a:ext cx="1920240" cy="457200"/>
          </a:xfrm>
          <a:prstGeom prst="rect">
            <a:avLst/>
          </a:prstGeom>
          <a:noFill/>
          <a:ln/>
        </p:spPr>
        <p:txBody>
          <a:bodyPr wrap="square" lIns="0" tIns="0" rIns="0" bIns="0" rtlCol="0" anchor="ctr"/>
          <a:lstStyle/>
          <a:p>
            <a:pPr marL="0" indent="0">
              <a:buNone/>
            </a:pPr>
            <a:r>
              <a:rPr lang="en-US" sz="1650" b="1" dirty="0">
                <a:solidFill>
                  <a:srgbClr val="1F7A6C"/>
                </a:solidFill>
                <a:latin typeface="Calibri" pitchFamily="34" charset="0"/>
                <a:ea typeface="Calibri" pitchFamily="34" charset="-122"/>
                <a:cs typeface="Calibri" pitchFamily="34" charset="-120"/>
              </a:rPr>
              <a:t>(θᵢ , xᵢ)</a:t>
            </a:r>
            <a:endParaRPr lang="en-US" sz="1650" dirty="0"/>
          </a:p>
        </p:txBody>
      </p:sp>
      <p:pic>
        <p:nvPicPr>
          <p:cNvPr id="16" name="Image 0" descr="eq/training_set.png"/>
          <p:cNvPicPr>
            <a:picLocks noChangeAspect="1"/>
          </p:cNvPicPr>
          <p:nvPr/>
        </p:nvPicPr>
        <p:blipFill>
          <a:blip r:embed="rId3"/>
          <a:stretch>
            <a:fillRect/>
          </a:stretch>
        </p:blipFill>
        <p:spPr>
          <a:xfrm>
            <a:off x="566928" y="3364992"/>
            <a:ext cx="6218834" cy="299009"/>
          </a:xfrm>
          <a:prstGeom prst="rect">
            <a:avLst/>
          </a:prstGeom>
        </p:spPr>
      </p:pic>
      <p:sp>
        <p:nvSpPr>
          <p:cNvPr id="17" name="Text 14"/>
          <p:cNvSpPr/>
          <p:nvPr/>
        </p:nvSpPr>
        <p:spPr>
          <a:xfrm>
            <a:off x="566928" y="3931920"/>
            <a:ext cx="6400800" cy="640080"/>
          </a:xfrm>
          <a:prstGeom prst="rect">
            <a:avLst/>
          </a:prstGeom>
          <a:noFill/>
          <a:ln/>
        </p:spPr>
        <p:txBody>
          <a:bodyPr wrap="square" lIns="0" tIns="0" rIns="0" bIns="0" rtlCol="0" anchor="t"/>
          <a:lstStyle/>
          <a:p>
            <a:pPr marL="0" indent="0">
              <a:lnSpc>
                <a:spcPct val="106000"/>
              </a:lnSpc>
              <a:buNone/>
            </a:pPr>
            <a:r>
              <a:rPr lang="en-US" sz="1550" dirty="0">
                <a:solidFill>
                  <a:srgbClr val="1C1B29"/>
                </a:solidFill>
                <a:latin typeface="Calibri" pitchFamily="34" charset="0"/>
                <a:ea typeface="Calibri" pitchFamily="34" charset="-122"/>
                <a:cs typeface="Calibri" pitchFamily="34" charset="-120"/>
              </a:rPr>
              <a:t>These pairs are draws from the joint distribution p(θ, x) = p(θ) p(x | θ). That table is the only thing any SBI method ever sees.</a:t>
            </a:r>
            <a:endParaRPr lang="en-US" sz="1550" dirty="0"/>
          </a:p>
        </p:txBody>
      </p:sp>
      <p:sp>
        <p:nvSpPr>
          <p:cNvPr id="18" name="Shape 15"/>
          <p:cNvSpPr/>
          <p:nvPr/>
        </p:nvSpPr>
        <p:spPr>
          <a:xfrm>
            <a:off x="566928" y="4681728"/>
            <a:ext cx="6400800" cy="932688"/>
          </a:xfrm>
          <a:prstGeom prst="roundRect">
            <a:avLst>
              <a:gd name="adj" fmla="val 5882"/>
            </a:avLst>
          </a:prstGeom>
          <a:solidFill>
            <a:srgbClr val="FBF0E1"/>
          </a:solidFill>
          <a:ln/>
        </p:spPr>
        <p:txBody>
          <a:bodyPr/>
          <a:lstStyle/>
          <a:p>
            <a:endParaRPr lang="en-US"/>
          </a:p>
        </p:txBody>
      </p:sp>
      <p:sp>
        <p:nvSpPr>
          <p:cNvPr id="19" name="Text 16"/>
          <p:cNvSpPr/>
          <p:nvPr/>
        </p:nvSpPr>
        <p:spPr>
          <a:xfrm>
            <a:off x="804672" y="4773168"/>
            <a:ext cx="5943600" cy="777240"/>
          </a:xfrm>
          <a:prstGeom prst="rect">
            <a:avLst/>
          </a:prstGeom>
          <a:noFill/>
          <a:ln/>
        </p:spPr>
        <p:txBody>
          <a:bodyPr wrap="square" lIns="0" tIns="0" rIns="0" bIns="0" rtlCol="0" anchor="t"/>
          <a:lstStyle/>
          <a:p>
            <a:pPr marL="0" indent="0">
              <a:lnSpc>
                <a:spcPct val="106000"/>
              </a:lnSpc>
              <a:buNone/>
            </a:pPr>
            <a:r>
              <a:rPr lang="en-US" sz="1350" dirty="0">
                <a:solidFill>
                  <a:srgbClr val="6E3D06"/>
                </a:solidFill>
                <a:latin typeface="Calibri" pitchFamily="34" charset="0"/>
                <a:ea typeface="Calibri" pitchFamily="34" charset="-122"/>
                <a:cs typeface="Calibri" pitchFamily="34" charset="-120"/>
              </a:rPr>
              <a:t>The draws need not be i.i.d. from the prior: quasi-random sequences (Latin hypercube, Sobol) give lower-variance loss estimates, and one expensive gravity run can carry many cheap galaxy realisations.</a:t>
            </a:r>
            <a:endParaRPr lang="en-US" sz="1350" dirty="0"/>
          </a:p>
        </p:txBody>
      </p:sp>
      <p:pic>
        <p:nvPicPr>
          <p:cNvPr id="20" name="Image 1" descr="figs/fig_nre_scatter.png"/>
          <p:cNvPicPr>
            <a:picLocks noChangeAspect="1"/>
          </p:cNvPicPr>
          <p:nvPr/>
        </p:nvPicPr>
        <p:blipFill>
          <a:blip r:embed="rId4"/>
          <a:stretch>
            <a:fillRect/>
          </a:stretch>
        </p:blipFill>
        <p:spPr>
          <a:xfrm>
            <a:off x="7223760" y="1572768"/>
            <a:ext cx="4434840" cy="2011680"/>
          </a:xfrm>
          <a:prstGeom prst="rect">
            <a:avLst/>
          </a:prstGeom>
        </p:spPr>
      </p:pic>
      <p:sp>
        <p:nvSpPr>
          <p:cNvPr id="21" name="Shape 17"/>
          <p:cNvSpPr/>
          <p:nvPr/>
        </p:nvSpPr>
        <p:spPr>
          <a:xfrm>
            <a:off x="9528048" y="1572768"/>
            <a:ext cx="2130552" cy="2011680"/>
          </a:xfrm>
          <a:prstGeom prst="rect">
            <a:avLst/>
          </a:prstGeom>
          <a:solidFill>
            <a:srgbClr val="FFFFFF"/>
          </a:solidFill>
          <a:ln/>
        </p:spPr>
        <p:txBody>
          <a:bodyPr/>
          <a:lstStyle/>
          <a:p>
            <a:endParaRPr lang="en-US"/>
          </a:p>
        </p:txBody>
      </p:sp>
      <p:sp>
        <p:nvSpPr>
          <p:cNvPr id="22" name="Text 18"/>
          <p:cNvSpPr/>
          <p:nvPr/>
        </p:nvSpPr>
        <p:spPr>
          <a:xfrm>
            <a:off x="7223760" y="3675888"/>
            <a:ext cx="4434840" cy="640080"/>
          </a:xfrm>
          <a:prstGeom prst="rect">
            <a:avLst/>
          </a:prstGeom>
          <a:noFill/>
          <a:ln/>
        </p:spPr>
        <p:txBody>
          <a:bodyPr wrap="square" lIns="0" tIns="0" rIns="0" bIns="0" rtlCol="0" anchor="t"/>
          <a:lstStyle/>
          <a:p>
            <a:pPr marL="0" indent="0">
              <a:lnSpc>
                <a:spcPct val="106000"/>
              </a:lnSpc>
              <a:buNone/>
            </a:pPr>
            <a:r>
              <a:rPr lang="en-US" sz="1450" i="1" dirty="0">
                <a:solidFill>
                  <a:srgbClr val="6E6E80"/>
                </a:solidFill>
                <a:latin typeface="Calibri" pitchFamily="34" charset="0"/>
                <a:ea typeface="Calibri" pitchFamily="34" charset="-122"/>
                <a:cs typeface="Calibri" pitchFamily="34" charset="-120"/>
              </a:rPr>
              <a:t>A table of 900 pairs, plotted. Structure in this cloud is the only information any method has about θ.</a:t>
            </a:r>
            <a:endParaRPr lang="en-US" sz="1450" dirty="0"/>
          </a:p>
        </p:txBody>
      </p:sp>
      <p:sp>
        <p:nvSpPr>
          <p:cNvPr id="23" name="Text 19"/>
          <p:cNvSpPr/>
          <p:nvPr/>
        </p:nvSpPr>
        <p:spPr>
          <a:xfrm>
            <a:off x="7223760" y="5394960"/>
            <a:ext cx="4434840"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Thiele (2026), §2.</a:t>
            </a:r>
            <a:endParaRPr lang="en-US" sz="1050" dirty="0"/>
          </a:p>
        </p:txBody>
      </p:sp>
      <p:sp>
        <p:nvSpPr>
          <p:cNvPr id="24" name="Shape 20"/>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25" name="Text 21"/>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ABC, NPE, NLE and NRE all consume this same table. They differ only in what they do with it.</a:t>
            </a:r>
            <a:endParaRPr lang="en-US" sz="1550" dirty="0"/>
          </a:p>
        </p:txBody>
      </p:sp>
      <p:sp>
        <p:nvSpPr>
          <p:cNvPr id="26" name="Text 22"/>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 — From the joint to ABC</a:t>
            </a:r>
            <a:endParaRPr lang="en-US" sz="950" dirty="0"/>
          </a:p>
        </p:txBody>
      </p:sp>
      <p:sp>
        <p:nvSpPr>
          <p:cNvPr id="27" name="Text 23"/>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THE KEY PICTURE</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The posterior is a horizontal cut through the joint</a:t>
            </a:r>
            <a:endParaRPr lang="en-US" sz="3000" dirty="0"/>
          </a:p>
        </p:txBody>
      </p:sp>
      <p:pic>
        <p:nvPicPr>
          <p:cNvPr id="4" name="Image 0" descr="figs/fig_ballthrow.png"/>
          <p:cNvPicPr>
            <a:picLocks noChangeAspect="1"/>
          </p:cNvPicPr>
          <p:nvPr/>
        </p:nvPicPr>
        <p:blipFill>
          <a:blip r:embed="rId3"/>
          <a:stretch>
            <a:fillRect/>
          </a:stretch>
        </p:blipFill>
        <p:spPr>
          <a:xfrm>
            <a:off x="457200" y="1444752"/>
            <a:ext cx="5623560" cy="3895344"/>
          </a:xfrm>
          <a:prstGeom prst="rect">
            <a:avLst/>
          </a:prstGeom>
        </p:spPr>
      </p:pic>
      <p:sp>
        <p:nvSpPr>
          <p:cNvPr id="5" name="Text 2"/>
          <p:cNvSpPr/>
          <p:nvPr/>
        </p:nvSpPr>
        <p:spPr>
          <a:xfrm>
            <a:off x="6446520" y="1463040"/>
            <a:ext cx="5178247" cy="329184"/>
          </a:xfrm>
          <a:prstGeom prst="rect">
            <a:avLst/>
          </a:prstGeom>
          <a:noFill/>
          <a:ln/>
        </p:spPr>
        <p:txBody>
          <a:bodyPr wrap="square" lIns="0" tIns="0" rIns="0" bIns="0" rtlCol="0" anchor="ctr"/>
          <a:lstStyle/>
          <a:p>
            <a:pPr marL="0" indent="0">
              <a:buNone/>
            </a:pPr>
            <a:r>
              <a:rPr lang="en-US" sz="1750" b="1" dirty="0">
                <a:solidFill>
                  <a:srgbClr val="4A3F8F"/>
                </a:solidFill>
                <a:latin typeface="Calibri" pitchFamily="34" charset="0"/>
                <a:ea typeface="Calibri" pitchFamily="34" charset="-122"/>
                <a:cs typeface="Calibri" pitchFamily="34" charset="-120"/>
              </a:rPr>
              <a:t>A simulator you can hold in your head</a:t>
            </a:r>
            <a:endParaRPr lang="en-US" sz="1750" dirty="0"/>
          </a:p>
        </p:txBody>
      </p:sp>
      <p:sp>
        <p:nvSpPr>
          <p:cNvPr id="6" name="Text 3"/>
          <p:cNvSpPr/>
          <p:nvPr/>
        </p:nvSpPr>
        <p:spPr>
          <a:xfrm>
            <a:off x="6446520" y="1865376"/>
            <a:ext cx="5178247" cy="841248"/>
          </a:xfrm>
          <a:prstGeom prst="rect">
            <a:avLst/>
          </a:prstGeom>
          <a:noFill/>
          <a:ln/>
        </p:spPr>
        <p:txBody>
          <a:bodyPr wrap="square" lIns="0" tIns="0" rIns="0" bIns="0" rtlCol="0" anchor="t"/>
          <a:lstStyle/>
          <a:p>
            <a:pPr marL="0" indent="0">
              <a:lnSpc>
                <a:spcPct val="106000"/>
              </a:lnSpc>
              <a:buNone/>
            </a:pPr>
            <a:r>
              <a:rPr lang="en-US" sz="1550" dirty="0">
                <a:solidFill>
                  <a:srgbClr val="1C1B29"/>
                </a:solidFill>
                <a:latin typeface="Calibri" pitchFamily="34" charset="0"/>
                <a:ea typeface="Calibri" pitchFamily="34" charset="-122"/>
                <a:cs typeface="Calibri" pitchFamily="34" charset="-120"/>
              </a:rPr>
              <a:t>Throw a ball at angle θ with a fixed force. A random tailwind and measurement error make it stochastic. Record only the distance x.</a:t>
            </a:r>
            <a:endParaRPr lang="en-US" sz="1550" dirty="0"/>
          </a:p>
        </p:txBody>
      </p:sp>
      <p:sp>
        <p:nvSpPr>
          <p:cNvPr id="7" name="Text 4"/>
          <p:cNvSpPr/>
          <p:nvPr/>
        </p:nvSpPr>
        <p:spPr>
          <a:xfrm>
            <a:off x="6446520" y="2816352"/>
            <a:ext cx="5178247" cy="192024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550" dirty="0">
                <a:solidFill>
                  <a:srgbClr val="1C1B29"/>
                </a:solidFill>
                <a:latin typeface="Calibri" pitchFamily="34" charset="0"/>
                <a:ea typeface="Calibri" pitchFamily="34" charset="-122"/>
                <a:cs typeface="Calibri" pitchFamily="34" charset="-120"/>
              </a:rPr>
              <a:t>Simulate a few thousand throws.</a:t>
            </a:r>
            <a:endParaRPr lang="en-US" sz="1550" dirty="0"/>
          </a:p>
          <a:p>
            <a:pPr marL="177800" indent="-177800">
              <a:lnSpc>
                <a:spcPct val="102000"/>
              </a:lnSpc>
              <a:spcAft>
                <a:spcPts val="900"/>
              </a:spcAft>
              <a:buSzPct val="100000"/>
              <a:buChar char="•"/>
            </a:pPr>
            <a:r>
              <a:rPr lang="en-US" sz="1550" dirty="0">
                <a:solidFill>
                  <a:srgbClr val="1C1B29"/>
                </a:solidFill>
                <a:latin typeface="Calibri" pitchFamily="34" charset="0"/>
                <a:ea typeface="Calibri" pitchFamily="34" charset="-122"/>
                <a:cs typeface="Calibri" pitchFamily="34" charset="-120"/>
              </a:rPr>
              <a:t>Keep the ones that landed at xₒ = 13 m.</a:t>
            </a:r>
            <a:endParaRPr lang="en-US" sz="1550" dirty="0"/>
          </a:p>
          <a:p>
            <a:pPr marL="177800" indent="-177800">
              <a:lnSpc>
                <a:spcPct val="102000"/>
              </a:lnSpc>
              <a:spcAft>
                <a:spcPts val="900"/>
              </a:spcAft>
              <a:buSzPct val="100000"/>
              <a:buChar char="•"/>
            </a:pPr>
            <a:r>
              <a:rPr lang="en-US" sz="1550" dirty="0">
                <a:solidFill>
                  <a:srgbClr val="1C1B29"/>
                </a:solidFill>
                <a:latin typeface="Calibri" pitchFamily="34" charset="0"/>
                <a:ea typeface="Calibri" pitchFamily="34" charset="-122"/>
                <a:cs typeface="Calibri" pitchFamily="34" charset="-120"/>
              </a:rPr>
              <a:t>The angles of those throws are the posterior.</a:t>
            </a:r>
            <a:endParaRPr lang="en-US" sz="1550" dirty="0"/>
          </a:p>
          <a:p>
            <a:pPr marL="177800" indent="-177800">
              <a:lnSpc>
                <a:spcPct val="102000"/>
              </a:lnSpc>
              <a:spcAft>
                <a:spcPts val="900"/>
              </a:spcAft>
              <a:buSzPct val="100000"/>
              <a:buChar char="•"/>
            </a:pPr>
            <a:r>
              <a:rPr lang="en-US" sz="1550" dirty="0">
                <a:solidFill>
                  <a:srgbClr val="1C1B29"/>
                </a:solidFill>
                <a:latin typeface="Calibri" pitchFamily="34" charset="0"/>
                <a:ea typeface="Calibri" pitchFamily="34" charset="-122"/>
                <a:cs typeface="Calibri" pitchFamily="34" charset="-120"/>
              </a:rPr>
              <a:t>It is bimodal: a low flat throw and a high lofted throw both travel 13 m.</a:t>
            </a:r>
            <a:endParaRPr lang="en-US" sz="1550" dirty="0"/>
          </a:p>
        </p:txBody>
      </p:sp>
      <p:pic>
        <p:nvPicPr>
          <p:cNvPr id="8" name="Image 1" descr="eq/posterior_cut.png"/>
          <p:cNvPicPr>
            <a:picLocks noChangeAspect="1"/>
          </p:cNvPicPr>
          <p:nvPr/>
        </p:nvPicPr>
        <p:blipFill>
          <a:blip r:embed="rId4"/>
          <a:stretch>
            <a:fillRect/>
          </a:stretch>
        </p:blipFill>
        <p:spPr>
          <a:xfrm>
            <a:off x="6446520" y="4828032"/>
            <a:ext cx="4810963" cy="351130"/>
          </a:xfrm>
          <a:prstGeom prst="rect">
            <a:avLst/>
          </a:prstGeom>
        </p:spPr>
      </p:pic>
      <p:sp>
        <p:nvSpPr>
          <p:cNvPr id="9" name="Text 5"/>
          <p:cNvSpPr/>
          <p:nvPr/>
        </p:nvSpPr>
        <p:spPr>
          <a:xfrm>
            <a:off x="566928" y="5394960"/>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Ball-throw example after Deistler et al. (2025), Fig. 2; figure computed here from 4 million simulated throws.</a:t>
            </a:r>
            <a:endParaRPr lang="en-US" sz="1050" dirty="0"/>
          </a:p>
        </p:txBody>
      </p:sp>
      <p:sp>
        <p:nvSpPr>
          <p:cNvPr id="10" name="Shape 6"/>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11" name="Text 7"/>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A best-fit angle with a Gaussian error bar would have been simply wrong. The shape of the posterior is the result.</a:t>
            </a:r>
            <a:endParaRPr lang="en-US" sz="1550" dirty="0"/>
          </a:p>
        </p:txBody>
      </p:sp>
      <p:sp>
        <p:nvSpPr>
          <p:cNvPr id="12" name="Text 8"/>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 — From the joint to ABC</a:t>
            </a:r>
            <a:endParaRPr lang="en-US" sz="950" dirty="0"/>
          </a:p>
        </p:txBody>
      </p:sp>
      <p:sp>
        <p:nvSpPr>
          <p:cNvPr id="13" name="Text 9"/>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APPROXIMATE BAYESIAN COMPUTATION</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No simulation lands exactly on xₒ — so widen the cut</a:t>
            </a:r>
            <a:endParaRPr lang="en-US" sz="3000" dirty="0"/>
          </a:p>
        </p:txBody>
      </p:sp>
      <p:pic>
        <p:nvPicPr>
          <p:cNvPr id="4" name="Image 0" descr="figs/fig_abc.png"/>
          <p:cNvPicPr>
            <a:picLocks noChangeAspect="1"/>
          </p:cNvPicPr>
          <p:nvPr/>
        </p:nvPicPr>
        <p:blipFill>
          <a:blip r:embed="rId3"/>
          <a:stretch>
            <a:fillRect/>
          </a:stretch>
        </p:blipFill>
        <p:spPr>
          <a:xfrm>
            <a:off x="438912" y="1737360"/>
            <a:ext cx="6675120" cy="2935224"/>
          </a:xfrm>
          <a:prstGeom prst="rect">
            <a:avLst/>
          </a:prstGeom>
        </p:spPr>
      </p:pic>
      <p:sp>
        <p:nvSpPr>
          <p:cNvPr id="5" name="Text 2"/>
          <p:cNvSpPr/>
          <p:nvPr/>
        </p:nvSpPr>
        <p:spPr>
          <a:xfrm>
            <a:off x="7406640" y="1463040"/>
            <a:ext cx="4218127" cy="310896"/>
          </a:xfrm>
          <a:prstGeom prst="rect">
            <a:avLst/>
          </a:prstGeom>
          <a:noFill/>
          <a:ln/>
        </p:spPr>
        <p:txBody>
          <a:bodyPr wrap="square" lIns="0" tIns="0" rIns="0" bIns="0" rtlCol="0" anchor="ctr"/>
          <a:lstStyle/>
          <a:p>
            <a:pPr marL="0" indent="0">
              <a:buNone/>
            </a:pPr>
            <a:r>
              <a:rPr lang="en-US" sz="1750" b="1" dirty="0">
                <a:solidFill>
                  <a:srgbClr val="4A3F8F"/>
                </a:solidFill>
                <a:latin typeface="Calibri" pitchFamily="34" charset="0"/>
                <a:ea typeface="Calibri" pitchFamily="34" charset="-122"/>
                <a:cs typeface="Calibri" pitchFamily="34" charset="-120"/>
              </a:rPr>
              <a:t>The algorithm</a:t>
            </a:r>
            <a:endParaRPr lang="en-US" sz="1750" dirty="0"/>
          </a:p>
        </p:txBody>
      </p:sp>
      <p:sp>
        <p:nvSpPr>
          <p:cNvPr id="6" name="Shape 3"/>
          <p:cNvSpPr/>
          <p:nvPr/>
        </p:nvSpPr>
        <p:spPr>
          <a:xfrm>
            <a:off x="7406640" y="1883664"/>
            <a:ext cx="310896" cy="310896"/>
          </a:xfrm>
          <a:prstGeom prst="ellipse">
            <a:avLst/>
          </a:prstGeom>
          <a:solidFill>
            <a:srgbClr val="B9B1E0"/>
          </a:solidFill>
          <a:ln/>
        </p:spPr>
        <p:txBody>
          <a:bodyPr/>
          <a:lstStyle/>
          <a:p>
            <a:endParaRPr lang="en-US"/>
          </a:p>
        </p:txBody>
      </p:sp>
      <p:sp>
        <p:nvSpPr>
          <p:cNvPr id="7" name="Text 4"/>
          <p:cNvSpPr/>
          <p:nvPr/>
        </p:nvSpPr>
        <p:spPr>
          <a:xfrm>
            <a:off x="7406640" y="1883664"/>
            <a:ext cx="310896" cy="310896"/>
          </a:xfrm>
          <a:prstGeom prst="rect">
            <a:avLst/>
          </a:prstGeom>
          <a:noFill/>
          <a:ln/>
        </p:spPr>
        <p:txBody>
          <a:bodyPr wrap="square" lIns="0" tIns="0" rIns="0" bIns="0" rtlCol="0" anchor="ctr"/>
          <a:lstStyle/>
          <a:p>
            <a:pPr marL="0" indent="0" algn="ctr">
              <a:buNone/>
            </a:pPr>
            <a:r>
              <a:rPr lang="en-US" sz="1200" b="1" dirty="0">
                <a:solidFill>
                  <a:srgbClr val="3E3379"/>
                </a:solidFill>
                <a:latin typeface="Calibri" pitchFamily="34" charset="0"/>
                <a:ea typeface="Calibri" pitchFamily="34" charset="-122"/>
                <a:cs typeface="Calibri" pitchFamily="34" charset="-120"/>
              </a:rPr>
              <a:t>1</a:t>
            </a:r>
            <a:endParaRPr lang="en-US" sz="1200" dirty="0"/>
          </a:p>
        </p:txBody>
      </p:sp>
      <p:sp>
        <p:nvSpPr>
          <p:cNvPr id="8" name="Text 5"/>
          <p:cNvSpPr/>
          <p:nvPr/>
        </p:nvSpPr>
        <p:spPr>
          <a:xfrm>
            <a:off x="7845552" y="1865376"/>
            <a:ext cx="3779215" cy="402336"/>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draw θ from the prior</a:t>
            </a:r>
            <a:endParaRPr lang="en-US" sz="1450" dirty="0"/>
          </a:p>
        </p:txBody>
      </p:sp>
      <p:sp>
        <p:nvSpPr>
          <p:cNvPr id="9" name="Shape 6"/>
          <p:cNvSpPr/>
          <p:nvPr/>
        </p:nvSpPr>
        <p:spPr>
          <a:xfrm>
            <a:off x="7406640" y="2340864"/>
            <a:ext cx="310896" cy="310896"/>
          </a:xfrm>
          <a:prstGeom prst="ellipse">
            <a:avLst/>
          </a:prstGeom>
          <a:solidFill>
            <a:srgbClr val="B9B1E0"/>
          </a:solidFill>
          <a:ln/>
        </p:spPr>
        <p:txBody>
          <a:bodyPr/>
          <a:lstStyle/>
          <a:p>
            <a:endParaRPr lang="en-US"/>
          </a:p>
        </p:txBody>
      </p:sp>
      <p:sp>
        <p:nvSpPr>
          <p:cNvPr id="10" name="Text 7"/>
          <p:cNvSpPr/>
          <p:nvPr/>
        </p:nvSpPr>
        <p:spPr>
          <a:xfrm>
            <a:off x="7406640" y="2340864"/>
            <a:ext cx="310896" cy="310896"/>
          </a:xfrm>
          <a:prstGeom prst="rect">
            <a:avLst/>
          </a:prstGeom>
          <a:noFill/>
          <a:ln/>
        </p:spPr>
        <p:txBody>
          <a:bodyPr wrap="square" lIns="0" tIns="0" rIns="0" bIns="0" rtlCol="0" anchor="ctr"/>
          <a:lstStyle/>
          <a:p>
            <a:pPr marL="0" indent="0" algn="ctr">
              <a:buNone/>
            </a:pPr>
            <a:r>
              <a:rPr lang="en-US" sz="1200" b="1" dirty="0">
                <a:solidFill>
                  <a:srgbClr val="3E3379"/>
                </a:solidFill>
                <a:latin typeface="Calibri" pitchFamily="34" charset="0"/>
                <a:ea typeface="Calibri" pitchFamily="34" charset="-122"/>
                <a:cs typeface="Calibri" pitchFamily="34" charset="-120"/>
              </a:rPr>
              <a:t>2</a:t>
            </a:r>
            <a:endParaRPr lang="en-US" sz="1200" dirty="0"/>
          </a:p>
        </p:txBody>
      </p:sp>
      <p:sp>
        <p:nvSpPr>
          <p:cNvPr id="11" name="Text 8"/>
          <p:cNvSpPr/>
          <p:nvPr/>
        </p:nvSpPr>
        <p:spPr>
          <a:xfrm>
            <a:off x="7845552" y="2322576"/>
            <a:ext cx="3779215" cy="402336"/>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run the simulator to get x</a:t>
            </a:r>
            <a:endParaRPr lang="en-US" sz="1450" dirty="0"/>
          </a:p>
        </p:txBody>
      </p:sp>
      <p:sp>
        <p:nvSpPr>
          <p:cNvPr id="12" name="Shape 9"/>
          <p:cNvSpPr/>
          <p:nvPr/>
        </p:nvSpPr>
        <p:spPr>
          <a:xfrm>
            <a:off x="7406640" y="2798064"/>
            <a:ext cx="310896" cy="310896"/>
          </a:xfrm>
          <a:prstGeom prst="ellipse">
            <a:avLst/>
          </a:prstGeom>
          <a:solidFill>
            <a:srgbClr val="B9B1E0"/>
          </a:solidFill>
          <a:ln/>
        </p:spPr>
        <p:txBody>
          <a:bodyPr/>
          <a:lstStyle/>
          <a:p>
            <a:endParaRPr lang="en-US"/>
          </a:p>
        </p:txBody>
      </p:sp>
      <p:sp>
        <p:nvSpPr>
          <p:cNvPr id="13" name="Text 10"/>
          <p:cNvSpPr/>
          <p:nvPr/>
        </p:nvSpPr>
        <p:spPr>
          <a:xfrm>
            <a:off x="7406640" y="2798064"/>
            <a:ext cx="310896" cy="310896"/>
          </a:xfrm>
          <a:prstGeom prst="rect">
            <a:avLst/>
          </a:prstGeom>
          <a:noFill/>
          <a:ln/>
        </p:spPr>
        <p:txBody>
          <a:bodyPr wrap="square" lIns="0" tIns="0" rIns="0" bIns="0" rtlCol="0" anchor="ctr"/>
          <a:lstStyle/>
          <a:p>
            <a:pPr marL="0" indent="0" algn="ctr">
              <a:buNone/>
            </a:pPr>
            <a:r>
              <a:rPr lang="en-US" sz="1200" b="1" dirty="0">
                <a:solidFill>
                  <a:srgbClr val="3E3379"/>
                </a:solidFill>
                <a:latin typeface="Calibri" pitchFamily="34" charset="0"/>
                <a:ea typeface="Calibri" pitchFamily="34" charset="-122"/>
                <a:cs typeface="Calibri" pitchFamily="34" charset="-120"/>
              </a:rPr>
              <a:t>3</a:t>
            </a:r>
            <a:endParaRPr lang="en-US" sz="1200" dirty="0"/>
          </a:p>
        </p:txBody>
      </p:sp>
      <p:sp>
        <p:nvSpPr>
          <p:cNvPr id="14" name="Text 11"/>
          <p:cNvSpPr/>
          <p:nvPr/>
        </p:nvSpPr>
        <p:spPr>
          <a:xfrm>
            <a:off x="7845552" y="2779776"/>
            <a:ext cx="3779215" cy="402336"/>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compress both to a summary s(·)</a:t>
            </a:r>
            <a:endParaRPr lang="en-US" sz="1450" dirty="0"/>
          </a:p>
        </p:txBody>
      </p:sp>
      <p:sp>
        <p:nvSpPr>
          <p:cNvPr id="15" name="Shape 12"/>
          <p:cNvSpPr/>
          <p:nvPr/>
        </p:nvSpPr>
        <p:spPr>
          <a:xfrm>
            <a:off x="7406640" y="3255264"/>
            <a:ext cx="310896" cy="310896"/>
          </a:xfrm>
          <a:prstGeom prst="ellipse">
            <a:avLst/>
          </a:prstGeom>
          <a:solidFill>
            <a:srgbClr val="B9B1E0"/>
          </a:solidFill>
          <a:ln/>
        </p:spPr>
        <p:txBody>
          <a:bodyPr/>
          <a:lstStyle/>
          <a:p>
            <a:endParaRPr lang="en-US"/>
          </a:p>
        </p:txBody>
      </p:sp>
      <p:sp>
        <p:nvSpPr>
          <p:cNvPr id="16" name="Text 13"/>
          <p:cNvSpPr/>
          <p:nvPr/>
        </p:nvSpPr>
        <p:spPr>
          <a:xfrm>
            <a:off x="7406640" y="3255264"/>
            <a:ext cx="310896" cy="310896"/>
          </a:xfrm>
          <a:prstGeom prst="rect">
            <a:avLst/>
          </a:prstGeom>
          <a:noFill/>
          <a:ln/>
        </p:spPr>
        <p:txBody>
          <a:bodyPr wrap="square" lIns="0" tIns="0" rIns="0" bIns="0" rtlCol="0" anchor="ctr"/>
          <a:lstStyle/>
          <a:p>
            <a:pPr marL="0" indent="0" algn="ctr">
              <a:buNone/>
            </a:pPr>
            <a:r>
              <a:rPr lang="en-US" sz="1200" b="1" dirty="0">
                <a:solidFill>
                  <a:srgbClr val="3E3379"/>
                </a:solidFill>
                <a:latin typeface="Calibri" pitchFamily="34" charset="0"/>
                <a:ea typeface="Calibri" pitchFamily="34" charset="-122"/>
                <a:cs typeface="Calibri" pitchFamily="34" charset="-120"/>
              </a:rPr>
              <a:t>4</a:t>
            </a:r>
            <a:endParaRPr lang="en-US" sz="1200" dirty="0"/>
          </a:p>
        </p:txBody>
      </p:sp>
      <p:sp>
        <p:nvSpPr>
          <p:cNvPr id="17" name="Text 14"/>
          <p:cNvSpPr/>
          <p:nvPr/>
        </p:nvSpPr>
        <p:spPr>
          <a:xfrm>
            <a:off x="7845552" y="3236976"/>
            <a:ext cx="3779215" cy="402336"/>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keep θ if s(x) is within ε of s(xₒ)</a:t>
            </a:r>
            <a:endParaRPr lang="en-US" sz="1450" dirty="0"/>
          </a:p>
        </p:txBody>
      </p:sp>
      <p:pic>
        <p:nvPicPr>
          <p:cNvPr id="18" name="Image 1" descr="eq/abc_accept.png"/>
          <p:cNvPicPr>
            <a:picLocks noChangeAspect="1"/>
          </p:cNvPicPr>
          <p:nvPr/>
        </p:nvPicPr>
        <p:blipFill>
          <a:blip r:embed="rId4"/>
          <a:stretch>
            <a:fillRect/>
          </a:stretch>
        </p:blipFill>
        <p:spPr>
          <a:xfrm>
            <a:off x="7406640" y="3803904"/>
            <a:ext cx="4041038" cy="249631"/>
          </a:xfrm>
          <a:prstGeom prst="rect">
            <a:avLst/>
          </a:prstGeom>
        </p:spPr>
      </p:pic>
      <p:sp>
        <p:nvSpPr>
          <p:cNvPr id="19" name="Shape 15"/>
          <p:cNvSpPr/>
          <p:nvPr/>
        </p:nvSpPr>
        <p:spPr>
          <a:xfrm>
            <a:off x="7406640" y="4224528"/>
            <a:ext cx="4218127" cy="1188720"/>
          </a:xfrm>
          <a:prstGeom prst="roundRect">
            <a:avLst>
              <a:gd name="adj" fmla="val 4615"/>
            </a:avLst>
          </a:prstGeom>
          <a:solidFill>
            <a:srgbClr val="F3F3F8"/>
          </a:solidFill>
          <a:ln/>
        </p:spPr>
        <p:txBody>
          <a:bodyPr/>
          <a:lstStyle/>
          <a:p>
            <a:endParaRPr lang="en-US"/>
          </a:p>
        </p:txBody>
      </p:sp>
      <p:pic>
        <p:nvPicPr>
          <p:cNvPr id="20" name="Image 2" descr="eq/abc_post.png"/>
          <p:cNvPicPr>
            <a:picLocks noChangeAspect="1"/>
          </p:cNvPicPr>
          <p:nvPr/>
        </p:nvPicPr>
        <p:blipFill>
          <a:blip r:embed="rId5"/>
          <a:stretch>
            <a:fillRect/>
          </a:stretch>
        </p:blipFill>
        <p:spPr>
          <a:xfrm>
            <a:off x="7306513" y="4352544"/>
            <a:ext cx="4418381" cy="590093"/>
          </a:xfrm>
          <a:prstGeom prst="rect">
            <a:avLst/>
          </a:prstGeom>
        </p:spPr>
      </p:pic>
      <p:sp>
        <p:nvSpPr>
          <p:cNvPr id="21" name="Text 16"/>
          <p:cNvSpPr/>
          <p:nvPr/>
        </p:nvSpPr>
        <p:spPr>
          <a:xfrm>
            <a:off x="7406640" y="5084064"/>
            <a:ext cx="4218127" cy="274320"/>
          </a:xfrm>
          <a:prstGeom prst="rect">
            <a:avLst/>
          </a:prstGeom>
          <a:noFill/>
          <a:ln/>
        </p:spPr>
        <p:txBody>
          <a:bodyPr wrap="square" lIns="0" tIns="0" rIns="0" bIns="0" rtlCol="0" anchor="t"/>
          <a:lstStyle/>
          <a:p>
            <a:pPr marL="0" indent="0" algn="ctr">
              <a:lnSpc>
                <a:spcPct val="106000"/>
              </a:lnSpc>
              <a:buNone/>
            </a:pPr>
            <a:r>
              <a:rPr lang="en-US" sz="1350" i="1" dirty="0">
                <a:solidFill>
                  <a:srgbClr val="6E6E80"/>
                </a:solidFill>
                <a:latin typeface="Calibri" pitchFamily="34" charset="0"/>
                <a:ea typeface="Calibri" pitchFamily="34" charset="-122"/>
                <a:cs typeface="Calibri" pitchFamily="34" charset="-120"/>
              </a:rPr>
              <a:t>exact as ε → 0</a:t>
            </a:r>
            <a:endParaRPr lang="en-US" sz="1350" dirty="0"/>
          </a:p>
        </p:txBody>
      </p:sp>
      <p:sp>
        <p:nvSpPr>
          <p:cNvPr id="22" name="Text 17"/>
          <p:cNvSpPr/>
          <p:nvPr/>
        </p:nvSpPr>
        <p:spPr>
          <a:xfrm>
            <a:off x="438912" y="4828032"/>
            <a:ext cx="6675120"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After Anau Montel (2025), Eq. 3 and Fig. 2; accepted count from this bank.</a:t>
            </a:r>
            <a:endParaRPr lang="en-US" sz="1050" dirty="0"/>
          </a:p>
        </p:txBody>
      </p:sp>
      <p:sp>
        <p:nvSpPr>
          <p:cNvPr id="23" name="Shape 18"/>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24" name="Text 19"/>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Any ε &gt; 0 broadens the posterior. ABC is therefore conservative — but only if your summary is informative.</a:t>
            </a:r>
            <a:endParaRPr lang="en-US" sz="1550" dirty="0"/>
          </a:p>
        </p:txBody>
      </p:sp>
      <p:sp>
        <p:nvSpPr>
          <p:cNvPr id="25" name="Text 20"/>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 — From the joint to ABC</a:t>
            </a:r>
            <a:endParaRPr lang="en-US" sz="950" dirty="0"/>
          </a:p>
        </p:txBody>
      </p:sp>
      <p:sp>
        <p:nvSpPr>
          <p:cNvPr id="26" name="Text 21"/>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THE TOLERANCE TRADE-OFF</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Accuracy and cost pull in opposite directions</a:t>
            </a:r>
            <a:endParaRPr lang="en-US" sz="3000" dirty="0"/>
          </a:p>
        </p:txBody>
      </p:sp>
      <p:pic>
        <p:nvPicPr>
          <p:cNvPr id="4" name="Image 0" descr="figs/fig_eps_tradeoff.png"/>
          <p:cNvPicPr>
            <a:picLocks noChangeAspect="1"/>
          </p:cNvPicPr>
          <p:nvPr/>
        </p:nvPicPr>
        <p:blipFill>
          <a:blip r:embed="rId3"/>
          <a:stretch>
            <a:fillRect/>
          </a:stretch>
        </p:blipFill>
        <p:spPr>
          <a:xfrm>
            <a:off x="438912" y="1572768"/>
            <a:ext cx="7452360" cy="3282696"/>
          </a:xfrm>
          <a:prstGeom prst="rect">
            <a:avLst/>
          </a:prstGeom>
        </p:spPr>
      </p:pic>
      <p:sp>
        <p:nvSpPr>
          <p:cNvPr id="15" name="Text 12"/>
          <p:cNvSpPr/>
          <p:nvPr/>
        </p:nvSpPr>
        <p:spPr>
          <a:xfrm>
            <a:off x="566928" y="5468112"/>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Numbers from the BayesFlow tutorial “From ABC to BayesFlow” (pyABC chemical-reaction example).</a:t>
            </a:r>
            <a:endParaRPr lang="en-US" sz="1050" dirty="0"/>
          </a:p>
        </p:txBody>
      </p:sp>
      <p:sp>
        <p:nvSpPr>
          <p:cNvPr id="16" name="Shape 13"/>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17" name="Text 14"/>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ABC pays the full price again for every new observation. Nothing is reusable.</a:t>
            </a:r>
            <a:endParaRPr lang="en-US" sz="1550" dirty="0"/>
          </a:p>
        </p:txBody>
      </p:sp>
      <p:sp>
        <p:nvSpPr>
          <p:cNvPr id="18" name="Text 15"/>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 — From the joint to ABC</a:t>
            </a:r>
            <a:endParaRPr lang="en-US" sz="950" dirty="0"/>
          </a:p>
        </p:txBody>
      </p:sp>
      <p:sp>
        <p:nvSpPr>
          <p:cNvPr id="19" name="Text 16"/>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WHY ABC STOPS SCALING</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Two problems you cannot tune away</a:t>
            </a:r>
            <a:endParaRPr lang="en-US" sz="3000" dirty="0"/>
          </a:p>
        </p:txBody>
      </p:sp>
      <p:sp>
        <p:nvSpPr>
          <p:cNvPr id="4" name="Shape 2"/>
          <p:cNvSpPr/>
          <p:nvPr/>
        </p:nvSpPr>
        <p:spPr>
          <a:xfrm>
            <a:off x="566928" y="1444752"/>
            <a:ext cx="5532120" cy="3291840"/>
          </a:xfrm>
          <a:prstGeom prst="roundRect">
            <a:avLst>
              <a:gd name="adj" fmla="val 1667"/>
            </a:avLst>
          </a:prstGeom>
          <a:solidFill>
            <a:srgbClr val="EDEBF7"/>
          </a:solidFill>
          <a:ln/>
        </p:spPr>
        <p:txBody>
          <a:bodyPr/>
          <a:lstStyle/>
          <a:p>
            <a:endParaRPr lang="en-US"/>
          </a:p>
        </p:txBody>
      </p:sp>
      <p:sp>
        <p:nvSpPr>
          <p:cNvPr id="5" name="Shape 3"/>
          <p:cNvSpPr/>
          <p:nvPr/>
        </p:nvSpPr>
        <p:spPr>
          <a:xfrm>
            <a:off x="841248" y="1609344"/>
            <a:ext cx="457200" cy="457200"/>
          </a:xfrm>
          <a:prstGeom prst="ellipse">
            <a:avLst/>
          </a:prstGeom>
          <a:solidFill>
            <a:srgbClr val="4A3F8F"/>
          </a:solidFill>
          <a:ln/>
        </p:spPr>
        <p:txBody>
          <a:bodyPr/>
          <a:lstStyle/>
          <a:p>
            <a:endParaRPr lang="en-US"/>
          </a:p>
        </p:txBody>
      </p:sp>
      <p:sp>
        <p:nvSpPr>
          <p:cNvPr id="6" name="Text 4"/>
          <p:cNvSpPr/>
          <p:nvPr/>
        </p:nvSpPr>
        <p:spPr>
          <a:xfrm>
            <a:off x="841248" y="1609344"/>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444752" y="1627632"/>
            <a:ext cx="4572000" cy="384048"/>
          </a:xfrm>
          <a:prstGeom prst="rect">
            <a:avLst/>
          </a:prstGeom>
          <a:noFill/>
          <a:ln/>
        </p:spPr>
        <p:txBody>
          <a:bodyPr wrap="square" lIns="0" tIns="0" rIns="0" bIns="0" rtlCol="0" anchor="ctr"/>
          <a:lstStyle/>
          <a:p>
            <a:pPr marL="0" indent="0">
              <a:buNone/>
            </a:pPr>
            <a:r>
              <a:rPr lang="en-US" sz="1750" b="1" dirty="0">
                <a:solidFill>
                  <a:srgbClr val="4A3F8F"/>
                </a:solidFill>
                <a:latin typeface="Calibri" pitchFamily="34" charset="0"/>
                <a:ea typeface="Calibri" pitchFamily="34" charset="-122"/>
                <a:cs typeface="Calibri" pitchFamily="34" charset="-120"/>
              </a:rPr>
              <a:t>You must hand-craft the distance</a:t>
            </a:r>
            <a:endParaRPr lang="en-US" sz="1750" dirty="0"/>
          </a:p>
        </p:txBody>
      </p:sp>
      <p:sp>
        <p:nvSpPr>
          <p:cNvPr id="8" name="Text 6"/>
          <p:cNvSpPr/>
          <p:nvPr/>
        </p:nvSpPr>
        <p:spPr>
          <a:xfrm>
            <a:off x="859536" y="2139696"/>
            <a:ext cx="4946904" cy="1234440"/>
          </a:xfrm>
          <a:prstGeom prst="rect">
            <a:avLst/>
          </a:prstGeom>
          <a:noFill/>
          <a:ln/>
        </p:spPr>
        <p:txBody>
          <a:bodyPr wrap="square" lIns="0" tIns="0" rIns="0" bIns="0" rtlCol="0" anchor="t"/>
          <a:lstStyle/>
          <a:p>
            <a:pPr marL="0" indent="0">
              <a:lnSpc>
                <a:spcPct val="106000"/>
              </a:lnSpc>
              <a:buNone/>
            </a:pPr>
            <a:r>
              <a:rPr lang="en-US" sz="1550" dirty="0">
                <a:solidFill>
                  <a:srgbClr val="1C1B29"/>
                </a:solidFill>
                <a:latin typeface="Calibri" pitchFamily="34" charset="0"/>
                <a:ea typeface="Calibri" pitchFamily="34" charset="-122"/>
                <a:cs typeface="Calibri" pitchFamily="34" charset="-120"/>
              </a:rPr>
              <a:t>ABC never compares x to xₒ. It compares summaries s(x). Whatever information about θ your summary discards is gone — it caps the posterior you can ever recover, and you usually cannot tell how much you lost.</a:t>
            </a:r>
            <a:endParaRPr lang="en-US" sz="1550" dirty="0"/>
          </a:p>
        </p:txBody>
      </p:sp>
      <p:sp>
        <p:nvSpPr>
          <p:cNvPr id="9" name="Shape 7"/>
          <p:cNvSpPr/>
          <p:nvPr/>
        </p:nvSpPr>
        <p:spPr>
          <a:xfrm>
            <a:off x="859536" y="3456432"/>
            <a:ext cx="4946904" cy="1115568"/>
          </a:xfrm>
          <a:prstGeom prst="roundRect">
            <a:avLst>
              <a:gd name="adj" fmla="val 4918"/>
            </a:avLst>
          </a:prstGeom>
          <a:solidFill>
            <a:srgbClr val="FFFFFF"/>
          </a:solidFill>
          <a:ln/>
        </p:spPr>
        <p:txBody>
          <a:bodyPr/>
          <a:lstStyle/>
          <a:p>
            <a:endParaRPr lang="en-US"/>
          </a:p>
        </p:txBody>
      </p:sp>
      <p:sp>
        <p:nvSpPr>
          <p:cNvPr id="10" name="Text 8"/>
          <p:cNvSpPr/>
          <p:nvPr/>
        </p:nvSpPr>
        <p:spPr>
          <a:xfrm>
            <a:off x="1042416" y="3584448"/>
            <a:ext cx="4581144" cy="914400"/>
          </a:xfrm>
          <a:prstGeom prst="rect">
            <a:avLst/>
          </a:prstGeom>
          <a:noFill/>
          <a:ln/>
        </p:spPr>
        <p:txBody>
          <a:bodyPr wrap="square" lIns="0" tIns="0" rIns="0" bIns="0" rtlCol="0" anchor="t"/>
          <a:lstStyle/>
          <a:p>
            <a:pPr marL="0" indent="0">
              <a:lnSpc>
                <a:spcPct val="106000"/>
              </a:lnSpc>
              <a:buNone/>
            </a:pPr>
            <a:r>
              <a:rPr lang="en-US" sz="1450" i="1" dirty="0">
                <a:solidFill>
                  <a:srgbClr val="6E6E80"/>
                </a:solidFill>
                <a:latin typeface="Calibri" pitchFamily="34" charset="0"/>
                <a:ea typeface="Calibri" pitchFamily="34" charset="-122"/>
                <a:cs typeface="Calibri" pitchFamily="34" charset="-120"/>
              </a:rPr>
              <a:t>In cosmology this is the familiar question of which statistic to measure — except here it is also a hard ceiling on the inference.</a:t>
            </a:r>
            <a:endParaRPr lang="en-US" sz="1450" dirty="0"/>
          </a:p>
        </p:txBody>
      </p:sp>
      <p:sp>
        <p:nvSpPr>
          <p:cNvPr id="11" name="Shape 9"/>
          <p:cNvSpPr/>
          <p:nvPr/>
        </p:nvSpPr>
        <p:spPr>
          <a:xfrm>
            <a:off x="6483096" y="1481328"/>
            <a:ext cx="457200" cy="457200"/>
          </a:xfrm>
          <a:prstGeom prst="ellipse">
            <a:avLst/>
          </a:prstGeom>
          <a:solidFill>
            <a:srgbClr val="AF6413"/>
          </a:solidFill>
          <a:ln/>
        </p:spPr>
        <p:txBody>
          <a:bodyPr/>
          <a:lstStyle/>
          <a:p>
            <a:endParaRPr lang="en-US"/>
          </a:p>
        </p:txBody>
      </p:sp>
      <p:sp>
        <p:nvSpPr>
          <p:cNvPr id="12" name="Text 10"/>
          <p:cNvSpPr/>
          <p:nvPr/>
        </p:nvSpPr>
        <p:spPr>
          <a:xfrm>
            <a:off x="6483096" y="1481328"/>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3" name="Text 11"/>
          <p:cNvSpPr/>
          <p:nvPr/>
        </p:nvSpPr>
        <p:spPr>
          <a:xfrm>
            <a:off x="7086600" y="1499616"/>
            <a:ext cx="4501591" cy="384048"/>
          </a:xfrm>
          <a:prstGeom prst="rect">
            <a:avLst/>
          </a:prstGeom>
          <a:noFill/>
          <a:ln/>
        </p:spPr>
        <p:txBody>
          <a:bodyPr wrap="square" lIns="0" tIns="0" rIns="0" bIns="0" rtlCol="0" anchor="ctr"/>
          <a:lstStyle/>
          <a:p>
            <a:pPr marL="0" indent="0">
              <a:buNone/>
            </a:pPr>
            <a:r>
              <a:rPr lang="en-US" sz="1750" b="1" dirty="0">
                <a:solidFill>
                  <a:srgbClr val="AF6413"/>
                </a:solidFill>
                <a:latin typeface="Calibri" pitchFamily="34" charset="0"/>
                <a:ea typeface="Calibri" pitchFamily="34" charset="-122"/>
                <a:cs typeface="Calibri" pitchFamily="34" charset="-120"/>
              </a:rPr>
              <a:t>The curse of dimensionality</a:t>
            </a:r>
            <a:endParaRPr lang="en-US" sz="1750" dirty="0"/>
          </a:p>
        </p:txBody>
      </p:sp>
      <p:pic>
        <p:nvPicPr>
          <p:cNvPr id="14" name="Image 0" descr="figs/fig_curse.png"/>
          <p:cNvPicPr>
            <a:picLocks noChangeAspect="1"/>
          </p:cNvPicPr>
          <p:nvPr/>
        </p:nvPicPr>
        <p:blipFill>
          <a:blip r:embed="rId3"/>
          <a:stretch>
            <a:fillRect/>
          </a:stretch>
        </p:blipFill>
        <p:spPr>
          <a:xfrm>
            <a:off x="6665976" y="1993392"/>
            <a:ext cx="4617720" cy="2852928"/>
          </a:xfrm>
          <a:prstGeom prst="rect">
            <a:avLst/>
          </a:prstGeom>
        </p:spPr>
      </p:pic>
      <p:pic>
        <p:nvPicPr>
          <p:cNvPr id="15" name="Image 1" descr="eq/curse.png"/>
          <p:cNvPicPr>
            <a:picLocks noChangeAspect="1"/>
          </p:cNvPicPr>
          <p:nvPr/>
        </p:nvPicPr>
        <p:blipFill>
          <a:blip r:embed="rId4"/>
          <a:stretch>
            <a:fillRect/>
          </a:stretch>
        </p:blipFill>
        <p:spPr>
          <a:xfrm>
            <a:off x="6665976" y="4882896"/>
            <a:ext cx="2387194" cy="292608"/>
          </a:xfrm>
          <a:prstGeom prst="rect">
            <a:avLst/>
          </a:prstGeom>
        </p:spPr>
      </p:pic>
      <p:sp>
        <p:nvSpPr>
          <p:cNvPr id="16" name="Shape 12"/>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17" name="Text 13"/>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Both problems come from throwing simulations away. Neural SBI keeps every single one.</a:t>
            </a:r>
            <a:endParaRPr lang="en-US" sz="1550" dirty="0"/>
          </a:p>
        </p:txBody>
      </p:sp>
      <p:sp>
        <p:nvSpPr>
          <p:cNvPr id="18" name="Text 14"/>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 — From the joint to ABC</a:t>
            </a:r>
            <a:endParaRPr lang="en-US" sz="950" dirty="0"/>
          </a:p>
        </p:txBody>
      </p:sp>
      <p:sp>
        <p:nvSpPr>
          <p:cNvPr id="19" name="Text 15"/>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91A2E"/>
        </a:solidFill>
        <a:effectLst/>
      </p:bgPr>
    </p:bg>
    <p:spTree>
      <p:nvGrpSpPr>
        <p:cNvPr id="1" name=""/>
        <p:cNvGrpSpPr/>
        <p:nvPr/>
      </p:nvGrpSpPr>
      <p:grpSpPr>
        <a:xfrm>
          <a:off x="0" y="0"/>
          <a:ext cx="0" cy="0"/>
          <a:chOff x="0" y="0"/>
          <a:chExt cx="0" cy="0"/>
        </a:xfrm>
      </p:grpSpPr>
      <p:sp>
        <p:nvSpPr>
          <p:cNvPr id="2" name="Text 0"/>
          <p:cNvSpPr/>
          <p:nvPr/>
        </p:nvSpPr>
        <p:spPr>
          <a:xfrm>
            <a:off x="566928" y="1993392"/>
            <a:ext cx="11057839" cy="292608"/>
          </a:xfrm>
          <a:prstGeom prst="rect">
            <a:avLst/>
          </a:prstGeom>
          <a:noFill/>
          <a:ln/>
        </p:spPr>
        <p:txBody>
          <a:bodyPr wrap="square" lIns="0" tIns="0" rIns="0" bIns="0" rtlCol="0" anchor="ctr"/>
          <a:lstStyle/>
          <a:p>
            <a:pPr marL="0" indent="0">
              <a:buNone/>
            </a:pPr>
            <a:r>
              <a:rPr lang="en-US" sz="1400" b="1" kern="0" spc="240" dirty="0">
                <a:solidFill>
                  <a:srgbClr val="B9B1E0"/>
                </a:solidFill>
                <a:latin typeface="Calibri" pitchFamily="34" charset="0"/>
                <a:ea typeface="Calibri" pitchFamily="34" charset="-122"/>
                <a:cs typeface="Calibri" pitchFamily="34" charset="-120"/>
              </a:rPr>
              <a:t>PART III</a:t>
            </a:r>
            <a:endParaRPr lang="en-US" sz="1400" dirty="0"/>
          </a:p>
        </p:txBody>
      </p:sp>
      <p:sp>
        <p:nvSpPr>
          <p:cNvPr id="3" name="Text 1"/>
          <p:cNvSpPr/>
          <p:nvPr/>
        </p:nvSpPr>
        <p:spPr>
          <a:xfrm>
            <a:off x="566928" y="2395728"/>
            <a:ext cx="10058400" cy="13716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Neural simulation-based inference</a:t>
            </a:r>
            <a:endParaRPr lang="en-US" sz="4000" dirty="0"/>
          </a:p>
        </p:txBody>
      </p:sp>
      <p:sp>
        <p:nvSpPr>
          <p:cNvPr id="4" name="Text 2"/>
          <p:cNvSpPr/>
          <p:nvPr/>
        </p:nvSpPr>
        <p:spPr>
          <a:xfrm>
            <a:off x="566928" y="3767328"/>
            <a:ext cx="8778240" cy="640080"/>
          </a:xfrm>
          <a:prstGeom prst="rect">
            <a:avLst/>
          </a:prstGeom>
          <a:noFill/>
          <a:ln/>
        </p:spPr>
        <p:txBody>
          <a:bodyPr wrap="square" lIns="0" tIns="0" rIns="0" bIns="0" rtlCol="0" anchor="ctr"/>
          <a:lstStyle/>
          <a:p>
            <a:pPr marL="0" indent="0">
              <a:lnSpc>
                <a:spcPct val="110000"/>
              </a:lnSpc>
              <a:buNone/>
            </a:pPr>
            <a:r>
              <a:rPr lang="en-US" sz="1800" dirty="0">
                <a:solidFill>
                  <a:srgbClr val="CFCAE8"/>
                </a:solidFill>
                <a:latin typeface="Calibri" pitchFamily="34" charset="0"/>
                <a:ea typeface="Calibri" pitchFamily="34" charset="-122"/>
                <a:cs typeface="Calibri" pitchFamily="34" charset="-120"/>
              </a:rPr>
              <a:t>Stop rejecting simulations. Fit a flexible model to all of them.</a:t>
            </a:r>
            <a:endParaRPr lang="en-US" sz="1800" dirty="0"/>
          </a:p>
        </p:txBody>
      </p:sp>
      <p:pic>
        <p:nvPicPr>
          <p:cNvPr id="5" name="Image 0" descr="eq/d_three.png"/>
          <p:cNvPicPr>
            <a:picLocks noChangeAspect="1"/>
          </p:cNvPicPr>
          <p:nvPr/>
        </p:nvPicPr>
        <p:blipFill>
          <a:blip r:embed="rId3"/>
          <a:stretch>
            <a:fillRect/>
          </a:stretch>
        </p:blipFill>
        <p:spPr>
          <a:xfrm>
            <a:off x="566928" y="4773168"/>
            <a:ext cx="5159045" cy="408127"/>
          </a:xfrm>
          <a:prstGeom prst="rect">
            <a:avLst/>
          </a:prstGeom>
        </p:spPr>
      </p:pic>
      <p:sp>
        <p:nvSpPr>
          <p:cNvPr id="6" name="Text 3"/>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A6A8C"/>
                </a:solidFill>
                <a:latin typeface="Calibri" pitchFamily="34" charset="0"/>
                <a:ea typeface="Calibri" pitchFamily="34" charset="-122"/>
                <a:cs typeface="Calibri" pitchFamily="34" charset="-120"/>
              </a:rPr>
              <a:t>Simulation-Based Inference  ·  Part III — Neural SBI</a:t>
            </a:r>
            <a:endParaRPr lang="en-US" sz="950" dirty="0"/>
          </a:p>
        </p:txBody>
      </p:sp>
      <p:sp>
        <p:nvSpPr>
          <p:cNvPr id="7" name="Text 4"/>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A6A8C"/>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READING BAYES' THEOREM AS A MENU</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Three quantities you can learn from the same table</a:t>
            </a:r>
            <a:endParaRPr lang="en-US" sz="3000" dirty="0"/>
          </a:p>
        </p:txBody>
      </p:sp>
      <p:pic>
        <p:nvPicPr>
          <p:cNvPr id="4" name="Image 0" descr="eq/three_targets.png"/>
          <p:cNvPicPr>
            <a:picLocks noChangeAspect="1"/>
          </p:cNvPicPr>
          <p:nvPr/>
        </p:nvPicPr>
        <p:blipFill>
          <a:blip r:embed="rId3"/>
          <a:stretch>
            <a:fillRect/>
          </a:stretch>
        </p:blipFill>
        <p:spPr>
          <a:xfrm>
            <a:off x="3246577" y="1408176"/>
            <a:ext cx="5698541" cy="1225296"/>
          </a:xfrm>
          <a:prstGeom prst="rect">
            <a:avLst/>
          </a:prstGeom>
        </p:spPr>
      </p:pic>
      <p:pic>
        <p:nvPicPr>
          <p:cNvPr id="5" name="Image 1" descr="figs/fig_three_objects.png"/>
          <p:cNvPicPr>
            <a:picLocks noChangeAspect="1"/>
          </p:cNvPicPr>
          <p:nvPr/>
        </p:nvPicPr>
        <p:blipFill>
          <a:blip r:embed="rId4"/>
          <a:stretch>
            <a:fillRect/>
          </a:stretch>
        </p:blipFill>
        <p:spPr>
          <a:xfrm>
            <a:off x="886968" y="2761488"/>
            <a:ext cx="10424160" cy="3145536"/>
          </a:xfrm>
          <a:prstGeom prst="rect">
            <a:avLst/>
          </a:prstGeom>
        </p:spPr>
      </p:pic>
      <p:sp>
        <p:nvSpPr>
          <p:cNvPr id="6" name="Text 2"/>
          <p:cNvSpPr/>
          <p:nvPr/>
        </p:nvSpPr>
        <p:spPr>
          <a:xfrm>
            <a:off x="566928" y="5998464"/>
            <a:ext cx="11057839" cy="219456"/>
          </a:xfrm>
          <a:prstGeom prst="rect">
            <a:avLst/>
          </a:prstGeom>
          <a:noFill/>
          <a:ln/>
        </p:spPr>
        <p:txBody>
          <a:bodyPr wrap="square" lIns="0" tIns="0" rIns="0" bIns="0" rtlCol="0" anchor="ctr"/>
          <a:lstStyle/>
          <a:p>
            <a:pPr marL="0" indent="0" algn="ctr">
              <a:buNone/>
            </a:pPr>
            <a:r>
              <a:rPr lang="en-US" sz="1050" i="1" dirty="0">
                <a:solidFill>
                  <a:srgbClr val="6E6E80"/>
                </a:solidFill>
                <a:latin typeface="Calibri" pitchFamily="34" charset="0"/>
                <a:ea typeface="Calibri" pitchFamily="34" charset="-122"/>
                <a:cs typeface="Calibri" pitchFamily="34" charset="-120"/>
              </a:rPr>
              <a:t>All three panels computed from one bank of ball-throw simulations. Scheme after Thiele (2026), Figs. 2–4.</a:t>
            </a:r>
            <a:endParaRPr lang="en-US" sz="1050" dirty="0"/>
          </a:p>
        </p:txBody>
      </p:sp>
      <p:sp>
        <p:nvSpPr>
          <p:cNvPr id="7" name="Text 3"/>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III — Neural SBI</a:t>
            </a:r>
            <a:endParaRPr lang="en-US" sz="950" dirty="0"/>
          </a:p>
        </p:txBody>
      </p:sp>
      <p:sp>
        <p:nvSpPr>
          <p:cNvPr id="8" name="Text 4"/>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THE TOOL: CONDITIONAL DENSITY ESTIMATION</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A network that outputs a distribution, not a number</a:t>
            </a:r>
            <a:endParaRPr lang="en-US" sz="3000" dirty="0"/>
          </a:p>
        </p:txBody>
      </p:sp>
      <p:pic>
        <p:nvPicPr>
          <p:cNvPr id="4" name="Image 0" descr="figs/fig_densities.png"/>
          <p:cNvPicPr>
            <a:picLocks noChangeAspect="1"/>
          </p:cNvPicPr>
          <p:nvPr/>
        </p:nvPicPr>
        <p:blipFill>
          <a:blip r:embed="rId3"/>
          <a:stretch>
            <a:fillRect/>
          </a:stretch>
        </p:blipFill>
        <p:spPr>
          <a:xfrm>
            <a:off x="475488" y="1755648"/>
            <a:ext cx="7315200" cy="2633472"/>
          </a:xfrm>
          <a:prstGeom prst="rect">
            <a:avLst/>
          </a:prstGeom>
        </p:spPr>
      </p:pic>
      <p:sp>
        <p:nvSpPr>
          <p:cNvPr id="5" name="Text 2"/>
          <p:cNvSpPr/>
          <p:nvPr/>
        </p:nvSpPr>
        <p:spPr>
          <a:xfrm>
            <a:off x="8092440" y="1481328"/>
            <a:ext cx="3532327" cy="329184"/>
          </a:xfrm>
          <a:prstGeom prst="rect">
            <a:avLst/>
          </a:prstGeom>
          <a:noFill/>
          <a:ln/>
        </p:spPr>
        <p:txBody>
          <a:bodyPr wrap="square" lIns="0" tIns="0" rIns="0" bIns="0" rtlCol="0" anchor="ctr"/>
          <a:lstStyle/>
          <a:p>
            <a:pPr marL="0" indent="0">
              <a:buNone/>
            </a:pPr>
            <a:r>
              <a:rPr lang="en-US" sz="1700" b="1" dirty="0">
                <a:solidFill>
                  <a:srgbClr val="4A3F8F"/>
                </a:solidFill>
                <a:latin typeface="Calibri" pitchFamily="34" charset="0"/>
                <a:ea typeface="Calibri" pitchFamily="34" charset="-122"/>
                <a:cs typeface="Calibri" pitchFamily="34" charset="-120"/>
              </a:rPr>
              <a:t>What the network returns</a:t>
            </a:r>
            <a:endParaRPr lang="en-US" sz="1700" dirty="0"/>
          </a:p>
        </p:txBody>
      </p:sp>
      <p:sp>
        <p:nvSpPr>
          <p:cNvPr id="6" name="Text 3"/>
          <p:cNvSpPr/>
          <p:nvPr/>
        </p:nvSpPr>
        <p:spPr>
          <a:xfrm>
            <a:off x="8092440" y="1901952"/>
            <a:ext cx="3532327" cy="237744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500" dirty="0">
                <a:solidFill>
                  <a:srgbClr val="1C1B29"/>
                </a:solidFill>
                <a:latin typeface="Calibri" pitchFamily="34" charset="0"/>
                <a:ea typeface="Calibri" pitchFamily="34" charset="-122"/>
                <a:cs typeface="Calibri" pitchFamily="34" charset="-120"/>
              </a:rPr>
              <a:t>Not a point estimate — the shape of a whole density.</a:t>
            </a:r>
            <a:endParaRPr lang="en-US" sz="1500" dirty="0"/>
          </a:p>
          <a:p>
            <a:pPr marL="177800" indent="-177800">
              <a:lnSpc>
                <a:spcPct val="102000"/>
              </a:lnSpc>
              <a:spcAft>
                <a:spcPts val="1000"/>
              </a:spcAft>
              <a:buSzPct val="100000"/>
              <a:buChar char="•"/>
            </a:pPr>
            <a:r>
              <a:rPr lang="en-US" sz="1500" dirty="0">
                <a:solidFill>
                  <a:srgbClr val="1C1B29"/>
                </a:solidFill>
                <a:latin typeface="Calibri" pitchFamily="34" charset="0"/>
                <a:ea typeface="Calibri" pitchFamily="34" charset="-122"/>
                <a:cs typeface="Calibri" pitchFamily="34" charset="-120"/>
              </a:rPr>
              <a:t>It must be normalised and cheap to sample from.</a:t>
            </a:r>
            <a:endParaRPr lang="en-US" sz="1500" dirty="0"/>
          </a:p>
          <a:p>
            <a:pPr marL="177800" indent="-177800">
              <a:lnSpc>
                <a:spcPct val="102000"/>
              </a:lnSpc>
              <a:spcAft>
                <a:spcPts val="1000"/>
              </a:spcAft>
              <a:buSzPct val="100000"/>
              <a:buChar char="•"/>
            </a:pPr>
            <a:r>
              <a:rPr lang="en-US" sz="1500" dirty="0">
                <a:solidFill>
                  <a:srgbClr val="1C1B29"/>
                </a:solidFill>
                <a:latin typeface="Calibri" pitchFamily="34" charset="0"/>
                <a:ea typeface="Calibri" pitchFamily="34" charset="-122"/>
                <a:cs typeface="Calibri" pitchFamily="34" charset="-120"/>
              </a:rPr>
              <a:t>Mixture density networks: a Gaussian mixture.</a:t>
            </a:r>
            <a:endParaRPr lang="en-US" sz="1500" dirty="0"/>
          </a:p>
          <a:p>
            <a:pPr marL="177800" indent="-177800">
              <a:lnSpc>
                <a:spcPct val="102000"/>
              </a:lnSpc>
              <a:spcAft>
                <a:spcPts val="1000"/>
              </a:spcAft>
              <a:buSzPct val="100000"/>
              <a:buChar char="•"/>
            </a:pPr>
            <a:r>
              <a:rPr lang="en-US" sz="1500" dirty="0">
                <a:solidFill>
                  <a:srgbClr val="1C1B29"/>
                </a:solidFill>
                <a:latin typeface="Calibri" pitchFamily="34" charset="0"/>
                <a:ea typeface="Calibri" pitchFamily="34" charset="-122"/>
                <a:cs typeface="Calibri" pitchFamily="34" charset="-120"/>
              </a:rPr>
              <a:t>Normalising flows: the modern default.</a:t>
            </a:r>
            <a:endParaRPr lang="en-US" sz="1500" dirty="0"/>
          </a:p>
        </p:txBody>
      </p:sp>
      <p:sp>
        <p:nvSpPr>
          <p:cNvPr id="7" name="Shape 4"/>
          <p:cNvSpPr/>
          <p:nvPr/>
        </p:nvSpPr>
        <p:spPr>
          <a:xfrm>
            <a:off x="475488" y="4590288"/>
            <a:ext cx="7315200" cy="932688"/>
          </a:xfrm>
          <a:prstGeom prst="roundRect">
            <a:avLst>
              <a:gd name="adj" fmla="val 5882"/>
            </a:avLst>
          </a:prstGeom>
          <a:solidFill>
            <a:srgbClr val="FBF0E1"/>
          </a:solidFill>
          <a:ln/>
        </p:spPr>
        <p:txBody>
          <a:bodyPr/>
          <a:lstStyle/>
          <a:p>
            <a:endParaRPr lang="en-US"/>
          </a:p>
        </p:txBody>
      </p:sp>
      <p:sp>
        <p:nvSpPr>
          <p:cNvPr id="8" name="Text 5"/>
          <p:cNvSpPr/>
          <p:nvPr/>
        </p:nvSpPr>
        <p:spPr>
          <a:xfrm>
            <a:off x="694944" y="4700016"/>
            <a:ext cx="6903720" cy="731520"/>
          </a:xfrm>
          <a:prstGeom prst="rect">
            <a:avLst/>
          </a:prstGeom>
          <a:noFill/>
          <a:ln/>
        </p:spPr>
        <p:txBody>
          <a:bodyPr wrap="square" lIns="0" tIns="0" rIns="0" bIns="0" rtlCol="0" anchor="t"/>
          <a:lstStyle/>
          <a:p>
            <a:pPr marL="0" indent="0">
              <a:lnSpc>
                <a:spcPct val="106000"/>
              </a:lnSpc>
              <a:buNone/>
            </a:pPr>
            <a:r>
              <a:rPr lang="en-US" sz="1450" b="1" dirty="0">
                <a:solidFill>
                  <a:srgbClr val="6E3D06"/>
                </a:solidFill>
                <a:latin typeface="Calibri" pitchFamily="34" charset="0"/>
                <a:ea typeface="Calibri" pitchFamily="34" charset="-122"/>
                <a:cs typeface="Calibri" pitchFamily="34" charset="-120"/>
              </a:rPr>
              <a:t>Expressive is not the same as correct. Flexibility lets the model represent a complicated posterior; it is never evidence that the model found the right one.</a:t>
            </a:r>
            <a:endParaRPr lang="en-US" sz="1450" dirty="0"/>
          </a:p>
        </p:txBody>
      </p:sp>
      <p:sp>
        <p:nvSpPr>
          <p:cNvPr id="9" name="Text 6"/>
          <p:cNvSpPr/>
          <p:nvPr/>
        </p:nvSpPr>
        <p:spPr>
          <a:xfrm>
            <a:off x="8092440" y="4754880"/>
            <a:ext cx="3532327"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Anau Montel (2025), §3.1.1.</a:t>
            </a:r>
            <a:endParaRPr lang="en-US" sz="1050" dirty="0"/>
          </a:p>
        </p:txBody>
      </p:sp>
      <p:sp>
        <p:nvSpPr>
          <p:cNvPr id="10" name="Shape 7"/>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11" name="Text 8"/>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The model class decides what shapes are reachable. The loss decides which shape you actually get.</a:t>
            </a:r>
            <a:endParaRPr lang="en-US" sz="1550" dirty="0"/>
          </a:p>
        </p:txBody>
      </p:sp>
      <p:sp>
        <p:nvSpPr>
          <p:cNvPr id="12" name="Text 9"/>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III — Neural SBI</a:t>
            </a:r>
            <a:endParaRPr lang="en-US" sz="950" dirty="0"/>
          </a:p>
        </p:txBody>
      </p:sp>
      <p:sp>
        <p:nvSpPr>
          <p:cNvPr id="13" name="Text 10"/>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NORMALISING FLOWS IN ONE SLIDE</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Deform a Gaussian until it fits</a:t>
            </a:r>
            <a:endParaRPr lang="en-US" sz="3000" dirty="0"/>
          </a:p>
        </p:txBody>
      </p:sp>
      <p:pic>
        <p:nvPicPr>
          <p:cNvPr id="5" name="Image 1" descr="eq/flow_map.png"/>
          <p:cNvPicPr>
            <a:picLocks noChangeAspect="1"/>
          </p:cNvPicPr>
          <p:nvPr/>
        </p:nvPicPr>
        <p:blipFill>
          <a:blip r:embed="rId3"/>
          <a:stretch>
            <a:fillRect/>
          </a:stretch>
        </p:blipFill>
        <p:spPr>
          <a:xfrm>
            <a:off x="566928" y="4169664"/>
            <a:ext cx="3413760" cy="243840"/>
          </a:xfrm>
          <a:prstGeom prst="rect">
            <a:avLst/>
          </a:prstGeom>
        </p:spPr>
      </p:pic>
      <p:pic>
        <p:nvPicPr>
          <p:cNvPr id="6" name="Image 2" descr="eq/flow_density.png"/>
          <p:cNvPicPr>
            <a:picLocks noChangeAspect="1"/>
          </p:cNvPicPr>
          <p:nvPr/>
        </p:nvPicPr>
        <p:blipFill>
          <a:blip r:embed="rId4"/>
          <a:stretch>
            <a:fillRect/>
          </a:stretch>
        </p:blipFill>
        <p:spPr>
          <a:xfrm>
            <a:off x="566928" y="4572000"/>
            <a:ext cx="4153052" cy="717652"/>
          </a:xfrm>
          <a:prstGeom prst="rect">
            <a:avLst/>
          </a:prstGeom>
        </p:spPr>
      </p:pic>
      <p:sp>
        <p:nvSpPr>
          <p:cNvPr id="7" name="Text 2"/>
          <p:cNvSpPr/>
          <p:nvPr/>
        </p:nvSpPr>
        <p:spPr>
          <a:xfrm>
            <a:off x="7845552" y="1572768"/>
            <a:ext cx="3779215" cy="329184"/>
          </a:xfrm>
          <a:prstGeom prst="rect">
            <a:avLst/>
          </a:prstGeom>
          <a:noFill/>
          <a:ln/>
        </p:spPr>
        <p:txBody>
          <a:bodyPr wrap="square" lIns="0" tIns="0" rIns="0" bIns="0" rtlCol="0" anchor="ctr"/>
          <a:lstStyle/>
          <a:p>
            <a:pPr marL="0" indent="0">
              <a:buNone/>
            </a:pPr>
            <a:r>
              <a:rPr lang="en-US" sz="1700" b="1" dirty="0">
                <a:solidFill>
                  <a:srgbClr val="4A3F8F"/>
                </a:solidFill>
                <a:latin typeface="Calibri" pitchFamily="34" charset="0"/>
                <a:ea typeface="Calibri" pitchFamily="34" charset="-122"/>
                <a:cs typeface="Calibri" pitchFamily="34" charset="-120"/>
              </a:rPr>
              <a:t>Why flows dominate</a:t>
            </a:r>
            <a:endParaRPr lang="en-US" sz="1700" dirty="0"/>
          </a:p>
        </p:txBody>
      </p:sp>
      <p:sp>
        <p:nvSpPr>
          <p:cNvPr id="8" name="Text 3"/>
          <p:cNvSpPr/>
          <p:nvPr/>
        </p:nvSpPr>
        <p:spPr>
          <a:xfrm>
            <a:off x="7845552" y="1993392"/>
            <a:ext cx="3779215" cy="265176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500" dirty="0">
                <a:solidFill>
                  <a:srgbClr val="1C1B29"/>
                </a:solidFill>
                <a:latin typeface="Calibri" pitchFamily="34" charset="0"/>
                <a:ea typeface="Calibri" pitchFamily="34" charset="-122"/>
                <a:cs typeface="Calibri" pitchFamily="34" charset="-120"/>
              </a:rPr>
              <a:t>Chain invertible maps with cheap Jacobian determinants.</a:t>
            </a:r>
            <a:endParaRPr lang="en-US" sz="1500" dirty="0"/>
          </a:p>
          <a:p>
            <a:pPr marL="177800" indent="-177800">
              <a:lnSpc>
                <a:spcPct val="102000"/>
              </a:lnSpc>
              <a:spcAft>
                <a:spcPts val="1000"/>
              </a:spcAft>
              <a:buSzPct val="100000"/>
              <a:buChar char="•"/>
            </a:pPr>
            <a:r>
              <a:rPr lang="en-US" sz="1500" dirty="0">
                <a:solidFill>
                  <a:srgbClr val="1C1B29"/>
                </a:solidFill>
                <a:latin typeface="Calibri" pitchFamily="34" charset="0"/>
                <a:ea typeface="Calibri" pitchFamily="34" charset="-122"/>
                <a:cs typeface="Calibri" pitchFamily="34" charset="-120"/>
              </a:rPr>
              <a:t>To sample: draw z₀ and push it forward.</a:t>
            </a:r>
            <a:endParaRPr lang="en-US" sz="1500" dirty="0"/>
          </a:p>
          <a:p>
            <a:pPr marL="177800" indent="-177800">
              <a:lnSpc>
                <a:spcPct val="102000"/>
              </a:lnSpc>
              <a:spcAft>
                <a:spcPts val="1000"/>
              </a:spcAft>
              <a:buSzPct val="100000"/>
              <a:buChar char="•"/>
            </a:pPr>
            <a:r>
              <a:rPr lang="en-US" sz="1500" dirty="0">
                <a:solidFill>
                  <a:srgbClr val="1C1B29"/>
                </a:solidFill>
                <a:latin typeface="Calibri" pitchFamily="34" charset="0"/>
                <a:ea typeface="Calibri" pitchFamily="34" charset="-122"/>
                <a:cs typeface="Calibri" pitchFamily="34" charset="-120"/>
              </a:rPr>
              <a:t>To evaluate the density: push back, track the volume change.</a:t>
            </a:r>
            <a:endParaRPr lang="en-US" sz="1500" dirty="0"/>
          </a:p>
          <a:p>
            <a:pPr marL="177800" indent="-177800">
              <a:lnSpc>
                <a:spcPct val="102000"/>
              </a:lnSpc>
              <a:spcAft>
                <a:spcPts val="1000"/>
              </a:spcAft>
              <a:buSzPct val="100000"/>
              <a:buChar char="•"/>
            </a:pPr>
            <a:r>
              <a:rPr lang="en-US" sz="1500" dirty="0">
                <a:solidFill>
                  <a:srgbClr val="1C1B29"/>
                </a:solidFill>
                <a:latin typeface="Calibri" pitchFamily="34" charset="0"/>
                <a:ea typeface="Calibri" pitchFamily="34" charset="-122"/>
                <a:cs typeface="Calibri" pitchFamily="34" charset="-120"/>
              </a:rPr>
              <a:t>Both directions exact — that is what NPE and NLE need.</a:t>
            </a:r>
            <a:endParaRPr lang="en-US" sz="1500" dirty="0"/>
          </a:p>
        </p:txBody>
      </p:sp>
      <p:sp>
        <p:nvSpPr>
          <p:cNvPr id="9" name="Text 4"/>
          <p:cNvSpPr/>
          <p:nvPr/>
        </p:nvSpPr>
        <p:spPr>
          <a:xfrm>
            <a:off x="566928" y="5431536"/>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Figure computed from an explicit two-map flow; scheme after Anau Montel (2025), Fig. 4.</a:t>
            </a:r>
            <a:endParaRPr lang="en-US" sz="1050" dirty="0"/>
          </a:p>
        </p:txBody>
      </p:sp>
      <p:sp>
        <p:nvSpPr>
          <p:cNvPr id="10" name="Shape 5"/>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11" name="Text 6"/>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A flow is only a flexible shape. What makes it a posterior is the objective it is trained on.</a:t>
            </a:r>
            <a:endParaRPr lang="en-US" sz="1550" dirty="0"/>
          </a:p>
        </p:txBody>
      </p:sp>
      <p:sp>
        <p:nvSpPr>
          <p:cNvPr id="12" name="Text 7"/>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III — Neural SBI</a:t>
            </a:r>
            <a:endParaRPr lang="en-US" sz="950" dirty="0"/>
          </a:p>
        </p:txBody>
      </p:sp>
      <p:sp>
        <p:nvSpPr>
          <p:cNvPr id="13" name="Text 8"/>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20</a:t>
            </a:r>
            <a:endParaRPr lang="en-US" sz="950" dirty="0"/>
          </a:p>
        </p:txBody>
      </p:sp>
      <p:pic>
        <p:nvPicPr>
          <p:cNvPr id="15" name="Picture 14" descr="A red dots on a white background&#10;&#10;AI-generated content may be incorrect.">
            <a:extLst>
              <a:ext uri="{FF2B5EF4-FFF2-40B4-BE49-F238E27FC236}">
                <a16:creationId xmlns:a16="http://schemas.microsoft.com/office/drawing/2014/main" id="{C10DCDDF-EA78-7DBB-6BFC-35232E61A70D}"/>
              </a:ext>
            </a:extLst>
          </p:cNvPr>
          <p:cNvPicPr>
            <a:picLocks noChangeAspect="1"/>
          </p:cNvPicPr>
          <p:nvPr/>
        </p:nvPicPr>
        <p:blipFill>
          <a:blip r:embed="rId5"/>
          <a:stretch>
            <a:fillRect/>
          </a:stretch>
        </p:blipFill>
        <p:spPr>
          <a:xfrm>
            <a:off x="1282504" y="1066097"/>
            <a:ext cx="4630616" cy="308707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NEURAL POSTERIOR ESTIMATION</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NPE learns the posterior directly</a:t>
            </a:r>
            <a:endParaRPr lang="en-US" sz="3000" dirty="0"/>
          </a:p>
        </p:txBody>
      </p:sp>
      <p:sp>
        <p:nvSpPr>
          <p:cNvPr id="4" name="Text 2"/>
          <p:cNvSpPr/>
          <p:nvPr/>
        </p:nvSpPr>
        <p:spPr>
          <a:xfrm>
            <a:off x="566928" y="1444752"/>
            <a:ext cx="5989320" cy="310896"/>
          </a:xfrm>
          <a:prstGeom prst="rect">
            <a:avLst/>
          </a:prstGeom>
          <a:noFill/>
          <a:ln/>
        </p:spPr>
        <p:txBody>
          <a:bodyPr wrap="square" lIns="0" tIns="0" rIns="0" bIns="0" rtlCol="0" anchor="ctr"/>
          <a:lstStyle/>
          <a:p>
            <a:pPr marL="0" indent="0">
              <a:buNone/>
            </a:pPr>
            <a:r>
              <a:rPr lang="en-US" sz="1700" b="1" dirty="0">
                <a:solidFill>
                  <a:srgbClr val="4A3F8F"/>
                </a:solidFill>
                <a:latin typeface="Calibri" pitchFamily="34" charset="0"/>
                <a:ea typeface="Calibri" pitchFamily="34" charset="-122"/>
                <a:cs typeface="Calibri" pitchFamily="34" charset="-120"/>
              </a:rPr>
              <a:t>The pipeline</a:t>
            </a:r>
            <a:endParaRPr lang="en-US" sz="1700" dirty="0"/>
          </a:p>
        </p:txBody>
      </p:sp>
      <p:sp>
        <p:nvSpPr>
          <p:cNvPr id="5" name="Shape 3"/>
          <p:cNvSpPr/>
          <p:nvPr/>
        </p:nvSpPr>
        <p:spPr>
          <a:xfrm>
            <a:off x="566928" y="1847088"/>
            <a:ext cx="1813560" cy="868680"/>
          </a:xfrm>
          <a:prstGeom prst="roundRect">
            <a:avLst>
              <a:gd name="adj" fmla="val 9474"/>
            </a:avLst>
          </a:prstGeom>
          <a:solidFill>
            <a:srgbClr val="F3F3F8"/>
          </a:solidFill>
          <a:ln w="12700">
            <a:solidFill>
              <a:srgbClr val="DCDCE6"/>
            </a:solidFill>
            <a:prstDash val="solid"/>
          </a:ln>
        </p:spPr>
        <p:txBody>
          <a:bodyPr/>
          <a:lstStyle/>
          <a:p>
            <a:endParaRPr lang="en-US"/>
          </a:p>
        </p:txBody>
      </p:sp>
      <p:sp>
        <p:nvSpPr>
          <p:cNvPr id="6" name="Text 4"/>
          <p:cNvSpPr/>
          <p:nvPr/>
        </p:nvSpPr>
        <p:spPr>
          <a:xfrm>
            <a:off x="566928" y="1847088"/>
            <a:ext cx="1813560" cy="868680"/>
          </a:xfrm>
          <a:prstGeom prst="rect">
            <a:avLst/>
          </a:prstGeom>
          <a:noFill/>
          <a:ln/>
        </p:spPr>
        <p:txBody>
          <a:bodyPr wrap="square" lIns="0" tIns="0" rIns="0" bIns="0" rtlCol="0" anchor="ctr"/>
          <a:lstStyle/>
          <a:p>
            <a:pPr marL="0" indent="0" algn="ctr">
              <a:buNone/>
            </a:pPr>
            <a:r>
              <a:rPr lang="en-US" sz="1350" b="1" dirty="0">
                <a:solidFill>
                  <a:srgbClr val="1C1B29"/>
                </a:solidFill>
                <a:latin typeface="Calibri" pitchFamily="34" charset="0"/>
                <a:ea typeface="Calibri" pitchFamily="34" charset="-122"/>
                <a:cs typeface="Calibri" pitchFamily="34" charset="-120"/>
              </a:rPr>
              <a:t>simulated pairs</a:t>
            </a:r>
            <a:endParaRPr lang="en-US" sz="1350" dirty="0"/>
          </a:p>
          <a:p>
            <a:pPr marL="0" indent="0" algn="ctr">
              <a:buNone/>
            </a:pPr>
            <a:r>
              <a:rPr lang="en-US" sz="1350" b="1" dirty="0">
                <a:solidFill>
                  <a:srgbClr val="1C1B29"/>
                </a:solidFill>
                <a:latin typeface="Calibri" pitchFamily="34" charset="0"/>
                <a:ea typeface="Calibri" pitchFamily="34" charset="-122"/>
                <a:cs typeface="Calibri" pitchFamily="34" charset="-120"/>
              </a:rPr>
              <a:t>(θ, x)</a:t>
            </a:r>
            <a:endParaRPr lang="en-US" sz="1350" dirty="0"/>
          </a:p>
        </p:txBody>
      </p:sp>
      <p:sp>
        <p:nvSpPr>
          <p:cNvPr id="7" name="Shape 5"/>
          <p:cNvSpPr/>
          <p:nvPr/>
        </p:nvSpPr>
        <p:spPr>
          <a:xfrm>
            <a:off x="2407920" y="2281428"/>
            <a:ext cx="219456" cy="0"/>
          </a:xfrm>
          <a:prstGeom prst="line">
            <a:avLst/>
          </a:prstGeom>
          <a:noFill/>
          <a:ln w="19050">
            <a:solidFill>
              <a:srgbClr val="6E6E80"/>
            </a:solidFill>
            <a:prstDash val="solid"/>
            <a:tailEnd type="triangle"/>
          </a:ln>
        </p:spPr>
        <p:txBody>
          <a:bodyPr/>
          <a:lstStyle/>
          <a:p>
            <a:endParaRPr lang="en-US"/>
          </a:p>
        </p:txBody>
      </p:sp>
      <p:sp>
        <p:nvSpPr>
          <p:cNvPr id="8" name="Shape 6"/>
          <p:cNvSpPr/>
          <p:nvPr/>
        </p:nvSpPr>
        <p:spPr>
          <a:xfrm>
            <a:off x="2654808" y="1847088"/>
            <a:ext cx="1813560" cy="868680"/>
          </a:xfrm>
          <a:prstGeom prst="roundRect">
            <a:avLst>
              <a:gd name="adj" fmla="val 9474"/>
            </a:avLst>
          </a:prstGeom>
          <a:solidFill>
            <a:srgbClr val="EDEBF7"/>
          </a:solidFill>
          <a:ln w="12700">
            <a:solidFill>
              <a:srgbClr val="4A3F8F"/>
            </a:solidFill>
            <a:prstDash val="solid"/>
          </a:ln>
        </p:spPr>
        <p:txBody>
          <a:bodyPr/>
          <a:lstStyle/>
          <a:p>
            <a:endParaRPr lang="en-US"/>
          </a:p>
        </p:txBody>
      </p:sp>
      <p:sp>
        <p:nvSpPr>
          <p:cNvPr id="9" name="Text 7"/>
          <p:cNvSpPr/>
          <p:nvPr/>
        </p:nvSpPr>
        <p:spPr>
          <a:xfrm>
            <a:off x="2654808" y="1847088"/>
            <a:ext cx="1813560" cy="868680"/>
          </a:xfrm>
          <a:prstGeom prst="rect">
            <a:avLst/>
          </a:prstGeom>
          <a:noFill/>
          <a:ln/>
        </p:spPr>
        <p:txBody>
          <a:bodyPr wrap="square" lIns="0" tIns="0" rIns="0" bIns="0" rtlCol="0" anchor="ctr"/>
          <a:lstStyle/>
          <a:p>
            <a:pPr marL="0" indent="0" algn="ctr">
              <a:buNone/>
            </a:pPr>
            <a:r>
              <a:rPr lang="en-US" sz="1350" b="1" dirty="0">
                <a:solidFill>
                  <a:srgbClr val="3E3379"/>
                </a:solidFill>
                <a:latin typeface="Calibri" pitchFamily="34" charset="0"/>
                <a:ea typeface="Calibri" pitchFamily="34" charset="-122"/>
                <a:cs typeface="Calibri" pitchFamily="34" charset="-120"/>
              </a:rPr>
              <a:t>conditional density</a:t>
            </a:r>
            <a:endParaRPr lang="en-US" sz="1350" dirty="0"/>
          </a:p>
          <a:p>
            <a:pPr marL="0" indent="0" algn="ctr">
              <a:buNone/>
            </a:pPr>
            <a:r>
              <a:rPr lang="en-US" sz="1350" b="1" dirty="0">
                <a:solidFill>
                  <a:srgbClr val="3E3379"/>
                </a:solidFill>
                <a:latin typeface="Calibri" pitchFamily="34" charset="0"/>
                <a:ea typeface="Calibri" pitchFamily="34" charset="-122"/>
                <a:cs typeface="Calibri" pitchFamily="34" charset="-120"/>
              </a:rPr>
              <a:t>qϕ(θ | x)</a:t>
            </a:r>
            <a:endParaRPr lang="en-US" sz="1350" dirty="0"/>
          </a:p>
        </p:txBody>
      </p:sp>
      <p:sp>
        <p:nvSpPr>
          <p:cNvPr id="10" name="Shape 8"/>
          <p:cNvSpPr/>
          <p:nvPr/>
        </p:nvSpPr>
        <p:spPr>
          <a:xfrm>
            <a:off x="4495800" y="2281428"/>
            <a:ext cx="219456" cy="0"/>
          </a:xfrm>
          <a:prstGeom prst="line">
            <a:avLst/>
          </a:prstGeom>
          <a:noFill/>
          <a:ln w="19050">
            <a:solidFill>
              <a:srgbClr val="6E6E80"/>
            </a:solidFill>
            <a:prstDash val="solid"/>
            <a:tailEnd type="triangle"/>
          </a:ln>
        </p:spPr>
        <p:txBody>
          <a:bodyPr/>
          <a:lstStyle/>
          <a:p>
            <a:endParaRPr lang="en-US"/>
          </a:p>
        </p:txBody>
      </p:sp>
      <p:sp>
        <p:nvSpPr>
          <p:cNvPr id="11" name="Shape 9"/>
          <p:cNvSpPr/>
          <p:nvPr/>
        </p:nvSpPr>
        <p:spPr>
          <a:xfrm>
            <a:off x="4742688" y="1847088"/>
            <a:ext cx="1813560" cy="868680"/>
          </a:xfrm>
          <a:prstGeom prst="roundRect">
            <a:avLst>
              <a:gd name="adj" fmla="val 9474"/>
            </a:avLst>
          </a:prstGeom>
          <a:solidFill>
            <a:srgbClr val="E3F1EE"/>
          </a:solidFill>
          <a:ln w="12700">
            <a:solidFill>
              <a:srgbClr val="1F7A6C"/>
            </a:solidFill>
            <a:prstDash val="solid"/>
          </a:ln>
        </p:spPr>
        <p:txBody>
          <a:bodyPr/>
          <a:lstStyle/>
          <a:p>
            <a:endParaRPr lang="en-US"/>
          </a:p>
        </p:txBody>
      </p:sp>
      <p:sp>
        <p:nvSpPr>
          <p:cNvPr id="12" name="Text 10"/>
          <p:cNvSpPr/>
          <p:nvPr/>
        </p:nvSpPr>
        <p:spPr>
          <a:xfrm>
            <a:off x="4742688" y="1847088"/>
            <a:ext cx="1813560" cy="868680"/>
          </a:xfrm>
          <a:prstGeom prst="rect">
            <a:avLst/>
          </a:prstGeom>
          <a:noFill/>
          <a:ln/>
        </p:spPr>
        <p:txBody>
          <a:bodyPr wrap="square" lIns="0" tIns="0" rIns="0" bIns="0" rtlCol="0" anchor="ctr"/>
          <a:lstStyle/>
          <a:p>
            <a:pPr marL="0" indent="0" algn="ctr">
              <a:buNone/>
            </a:pPr>
            <a:r>
              <a:rPr lang="en-US" sz="1350" b="1" dirty="0">
                <a:solidFill>
                  <a:srgbClr val="1F7A6C"/>
                </a:solidFill>
                <a:latin typeface="Calibri" pitchFamily="34" charset="0"/>
                <a:ea typeface="Calibri" pitchFamily="34" charset="-122"/>
                <a:cs typeface="Calibri" pitchFamily="34" charset="-120"/>
              </a:rPr>
              <a:t>samples at</a:t>
            </a:r>
            <a:endParaRPr lang="en-US" sz="1350" dirty="0"/>
          </a:p>
          <a:p>
            <a:pPr marL="0" indent="0" algn="ctr">
              <a:buNone/>
            </a:pPr>
            <a:r>
              <a:rPr lang="en-US" sz="1350" b="1" dirty="0">
                <a:solidFill>
                  <a:srgbClr val="1F7A6C"/>
                </a:solidFill>
                <a:latin typeface="Calibri" pitchFamily="34" charset="0"/>
                <a:ea typeface="Calibri" pitchFamily="34" charset="-122"/>
                <a:cs typeface="Calibri" pitchFamily="34" charset="-120"/>
              </a:rPr>
              <a:t>x = xₒ</a:t>
            </a:r>
            <a:endParaRPr lang="en-US" sz="1350" dirty="0"/>
          </a:p>
        </p:txBody>
      </p:sp>
      <p:pic>
        <p:nvPicPr>
          <p:cNvPr id="13" name="Image 0" descr="eq/npe_loss.png"/>
          <p:cNvPicPr>
            <a:picLocks noChangeAspect="1"/>
          </p:cNvPicPr>
          <p:nvPr/>
        </p:nvPicPr>
        <p:blipFill>
          <a:blip r:embed="rId3"/>
          <a:stretch>
            <a:fillRect/>
          </a:stretch>
        </p:blipFill>
        <p:spPr>
          <a:xfrm>
            <a:off x="1353312" y="3035808"/>
            <a:ext cx="4416552" cy="509016"/>
          </a:xfrm>
          <a:prstGeom prst="rect">
            <a:avLst/>
          </a:prstGeom>
        </p:spPr>
      </p:pic>
      <p:sp>
        <p:nvSpPr>
          <p:cNvPr id="14" name="Text 11"/>
          <p:cNvSpPr/>
          <p:nvPr/>
        </p:nvSpPr>
        <p:spPr>
          <a:xfrm>
            <a:off x="566928" y="3712464"/>
            <a:ext cx="5989320" cy="603504"/>
          </a:xfrm>
          <a:prstGeom prst="rect">
            <a:avLst/>
          </a:prstGeom>
          <a:noFill/>
          <a:ln/>
        </p:spPr>
        <p:txBody>
          <a:bodyPr wrap="square" lIns="0" tIns="0" rIns="0" bIns="0" rtlCol="0" anchor="t"/>
          <a:lstStyle/>
          <a:p>
            <a:pPr marL="0" indent="0">
              <a:lnSpc>
                <a:spcPct val="106000"/>
              </a:lnSpc>
              <a:buNone/>
            </a:pPr>
            <a:r>
              <a:rPr lang="en-US" sz="1550" dirty="0">
                <a:solidFill>
                  <a:srgbClr val="1C1B29"/>
                </a:solidFill>
                <a:latin typeface="Calibri" pitchFamily="34" charset="0"/>
                <a:ea typeface="Calibri" pitchFamily="34" charset="-122"/>
                <a:cs typeface="Calibri" pitchFamily="34" charset="-120"/>
              </a:rPr>
              <a:t>In words: make the model assign high probability to the parameters that actually produced each simulated dataset.</a:t>
            </a:r>
            <a:endParaRPr lang="en-US" sz="1550" dirty="0"/>
          </a:p>
        </p:txBody>
      </p:sp>
      <p:sp>
        <p:nvSpPr>
          <p:cNvPr id="15" name="Shape 12"/>
          <p:cNvSpPr/>
          <p:nvPr/>
        </p:nvSpPr>
        <p:spPr>
          <a:xfrm>
            <a:off x="566928" y="4443984"/>
            <a:ext cx="5989320" cy="932688"/>
          </a:xfrm>
          <a:prstGeom prst="roundRect">
            <a:avLst>
              <a:gd name="adj" fmla="val 5882"/>
            </a:avLst>
          </a:prstGeom>
          <a:solidFill>
            <a:srgbClr val="F3F3F8"/>
          </a:solidFill>
          <a:ln/>
        </p:spPr>
        <p:txBody>
          <a:bodyPr/>
          <a:lstStyle/>
          <a:p>
            <a:endParaRPr lang="en-US"/>
          </a:p>
        </p:txBody>
      </p:sp>
      <p:sp>
        <p:nvSpPr>
          <p:cNvPr id="16" name="Text 13"/>
          <p:cNvSpPr/>
          <p:nvPr/>
        </p:nvSpPr>
        <p:spPr>
          <a:xfrm>
            <a:off x="786384" y="4553712"/>
            <a:ext cx="5550408" cy="731520"/>
          </a:xfrm>
          <a:prstGeom prst="rect">
            <a:avLst/>
          </a:prstGeom>
          <a:noFill/>
          <a:ln/>
        </p:spPr>
        <p:txBody>
          <a:bodyPr wrap="square" lIns="0" tIns="0" rIns="0" bIns="0" rtlCol="0" anchor="t"/>
          <a:lstStyle/>
          <a:p>
            <a:pPr marL="0" indent="0">
              <a:lnSpc>
                <a:spcPct val="106000"/>
              </a:lnSpc>
              <a:buNone/>
            </a:pPr>
            <a:r>
              <a:rPr lang="en-US" sz="1450" dirty="0">
                <a:solidFill>
                  <a:srgbClr val="6E6E80"/>
                </a:solidFill>
                <a:latin typeface="Calibri" pitchFamily="34" charset="0"/>
                <a:ea typeface="Calibri" pitchFamily="34" charset="-122"/>
                <a:cs typeface="Calibri" pitchFamily="34" charset="-120"/>
              </a:rPr>
              <a:t>No likelihood is ever evaluated. The simulator enters only through the pairs sitting in the training set.</a:t>
            </a:r>
            <a:endParaRPr lang="en-US" sz="1450" dirty="0"/>
          </a:p>
        </p:txBody>
      </p:sp>
      <p:sp>
        <p:nvSpPr>
          <p:cNvPr id="17" name="Shape 14"/>
          <p:cNvSpPr/>
          <p:nvPr/>
        </p:nvSpPr>
        <p:spPr>
          <a:xfrm>
            <a:off x="6940296" y="1444752"/>
            <a:ext cx="4684471" cy="3931920"/>
          </a:xfrm>
          <a:prstGeom prst="roundRect">
            <a:avLst>
              <a:gd name="adj" fmla="val 1395"/>
            </a:avLst>
          </a:prstGeom>
          <a:solidFill>
            <a:srgbClr val="EDEBF7"/>
          </a:solidFill>
          <a:ln/>
        </p:spPr>
        <p:txBody>
          <a:bodyPr/>
          <a:lstStyle/>
          <a:p>
            <a:endParaRPr lang="en-US"/>
          </a:p>
        </p:txBody>
      </p:sp>
      <p:sp>
        <p:nvSpPr>
          <p:cNvPr id="18" name="Text 15"/>
          <p:cNvSpPr/>
          <p:nvPr/>
        </p:nvSpPr>
        <p:spPr>
          <a:xfrm>
            <a:off x="7196328" y="1554480"/>
            <a:ext cx="4172407" cy="329184"/>
          </a:xfrm>
          <a:prstGeom prst="rect">
            <a:avLst/>
          </a:prstGeom>
          <a:noFill/>
          <a:ln/>
        </p:spPr>
        <p:txBody>
          <a:bodyPr wrap="square" lIns="0" tIns="0" rIns="0" bIns="0" rtlCol="0" anchor="ctr"/>
          <a:lstStyle/>
          <a:p>
            <a:pPr marL="0" indent="0">
              <a:buNone/>
            </a:pPr>
            <a:r>
              <a:rPr lang="en-US" sz="1700" b="1" dirty="0">
                <a:solidFill>
                  <a:srgbClr val="3E3379"/>
                </a:solidFill>
                <a:latin typeface="Calibri" pitchFamily="34" charset="0"/>
                <a:ea typeface="Calibri" pitchFamily="34" charset="-122"/>
                <a:cs typeface="Calibri" pitchFamily="34" charset="-120"/>
              </a:rPr>
              <a:t>Why that loss gives the posterior</a:t>
            </a:r>
            <a:endParaRPr lang="en-US" sz="1700" dirty="0"/>
          </a:p>
        </p:txBody>
      </p:sp>
      <p:sp>
        <p:nvSpPr>
          <p:cNvPr id="19" name="Text 16"/>
          <p:cNvSpPr/>
          <p:nvPr/>
        </p:nvSpPr>
        <p:spPr>
          <a:xfrm>
            <a:off x="7196328" y="1920240"/>
            <a:ext cx="4172407" cy="438912"/>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Add and subtract the entropy of the true posterior:</a:t>
            </a:r>
            <a:endParaRPr lang="en-US" sz="1450" dirty="0"/>
          </a:p>
        </p:txBody>
      </p:sp>
      <p:pic>
        <p:nvPicPr>
          <p:cNvPr id="20" name="Image 1" descr="eq/npe_kl.png"/>
          <p:cNvPicPr>
            <a:picLocks noChangeAspect="1"/>
          </p:cNvPicPr>
          <p:nvPr/>
        </p:nvPicPr>
        <p:blipFill>
          <a:blip r:embed="rId4"/>
          <a:stretch>
            <a:fillRect/>
          </a:stretch>
        </p:blipFill>
        <p:spPr>
          <a:xfrm>
            <a:off x="7069684" y="2414016"/>
            <a:ext cx="4425696" cy="308610"/>
          </a:xfrm>
          <a:prstGeom prst="rect">
            <a:avLst/>
          </a:prstGeom>
        </p:spPr>
      </p:pic>
      <p:sp>
        <p:nvSpPr>
          <p:cNvPr id="21" name="Text 17"/>
          <p:cNvSpPr/>
          <p:nvPr/>
        </p:nvSpPr>
        <p:spPr>
          <a:xfrm>
            <a:off x="7196328" y="2834640"/>
            <a:ext cx="4172407" cy="914400"/>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The constant does not depend on ϕ. So minimising the loss minimises the expected KL divergence between the true posterior and the model, and at the optimum</a:t>
            </a:r>
            <a:endParaRPr lang="en-US" sz="1450" dirty="0"/>
          </a:p>
        </p:txBody>
      </p:sp>
      <p:pic>
        <p:nvPicPr>
          <p:cNvPr id="22" name="Image 2" descr="eq/npe_opt.png"/>
          <p:cNvPicPr>
            <a:picLocks noChangeAspect="1"/>
          </p:cNvPicPr>
          <p:nvPr/>
        </p:nvPicPr>
        <p:blipFill>
          <a:blip r:embed="rId5"/>
          <a:stretch>
            <a:fillRect/>
          </a:stretch>
        </p:blipFill>
        <p:spPr>
          <a:xfrm>
            <a:off x="7595921" y="3822192"/>
            <a:ext cx="3373222" cy="266852"/>
          </a:xfrm>
          <a:prstGeom prst="rect">
            <a:avLst/>
          </a:prstGeom>
        </p:spPr>
      </p:pic>
      <p:sp>
        <p:nvSpPr>
          <p:cNvPr id="23" name="Text 18"/>
          <p:cNvSpPr/>
          <p:nvPr/>
        </p:nvSpPr>
        <p:spPr>
          <a:xfrm>
            <a:off x="7196328" y="4224528"/>
            <a:ext cx="4172407" cy="914400"/>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for every x — not only for the one you happen to have observed. That is amortisation, and it falls out of the loss for free.</a:t>
            </a:r>
            <a:endParaRPr lang="en-US" sz="1450" dirty="0"/>
          </a:p>
        </p:txBody>
      </p:sp>
      <p:sp>
        <p:nvSpPr>
          <p:cNvPr id="24" name="Text 19"/>
          <p:cNvSpPr/>
          <p:nvPr/>
        </p:nvSpPr>
        <p:spPr>
          <a:xfrm>
            <a:off x="566928" y="5486400"/>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Derivation as in Anau Montel (2025), §3.1 and Thiele (2026), Eq. 7.</a:t>
            </a:r>
            <a:endParaRPr lang="en-US" sz="1050" dirty="0"/>
          </a:p>
        </p:txBody>
      </p:sp>
      <p:sp>
        <p:nvSpPr>
          <p:cNvPr id="25" name="Shape 20"/>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26" name="Text 21"/>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One objective, one training run, and the likelihood is never touched.</a:t>
            </a:r>
            <a:endParaRPr lang="en-US" sz="1550" dirty="0"/>
          </a:p>
        </p:txBody>
      </p:sp>
      <p:sp>
        <p:nvSpPr>
          <p:cNvPr id="27" name="Text 22"/>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III — Neural SBI</a:t>
            </a:r>
            <a:endParaRPr lang="en-US" sz="950" dirty="0"/>
          </a:p>
        </p:txBody>
      </p:sp>
      <p:sp>
        <p:nvSpPr>
          <p:cNvPr id="28" name="Text 23"/>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AMORTISED INFERENCE</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Pay once in training, then infer in milliseconds</a:t>
            </a:r>
            <a:endParaRPr lang="en-US" sz="3000" dirty="0"/>
          </a:p>
        </p:txBody>
      </p:sp>
      <p:pic>
        <p:nvPicPr>
          <p:cNvPr id="4" name="Image 0" descr="figs/fig_amortize.png"/>
          <p:cNvPicPr>
            <a:picLocks noChangeAspect="1"/>
          </p:cNvPicPr>
          <p:nvPr/>
        </p:nvPicPr>
        <p:blipFill>
          <a:blip r:embed="rId3"/>
          <a:stretch>
            <a:fillRect/>
          </a:stretch>
        </p:blipFill>
        <p:spPr>
          <a:xfrm>
            <a:off x="457200" y="1554480"/>
            <a:ext cx="7040880" cy="2724912"/>
          </a:xfrm>
          <a:prstGeom prst="rect">
            <a:avLst/>
          </a:prstGeom>
        </p:spPr>
      </p:pic>
      <p:sp>
        <p:nvSpPr>
          <p:cNvPr id="5" name="Text 2"/>
          <p:cNvSpPr/>
          <p:nvPr/>
        </p:nvSpPr>
        <p:spPr>
          <a:xfrm>
            <a:off x="457200" y="4352544"/>
            <a:ext cx="7040880"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Posteriors computed by conditioning the same simulation bank on three different observations.</a:t>
            </a:r>
            <a:endParaRPr lang="en-US" sz="1050" dirty="0"/>
          </a:p>
        </p:txBody>
      </p:sp>
      <p:pic>
        <p:nvPicPr>
          <p:cNvPr id="6" name="Image 1" descr="figs/fig_runtime.png"/>
          <p:cNvPicPr>
            <a:picLocks noChangeAspect="1"/>
          </p:cNvPicPr>
          <p:nvPr/>
        </p:nvPicPr>
        <p:blipFill>
          <a:blip r:embed="rId4"/>
          <a:stretch>
            <a:fillRect/>
          </a:stretch>
        </p:blipFill>
        <p:spPr>
          <a:xfrm>
            <a:off x="7726680" y="1719072"/>
            <a:ext cx="3886200" cy="1865376"/>
          </a:xfrm>
          <a:prstGeom prst="rect">
            <a:avLst/>
          </a:prstGeom>
        </p:spPr>
      </p:pic>
      <p:sp>
        <p:nvSpPr>
          <p:cNvPr id="7" name="Text 3"/>
          <p:cNvSpPr/>
          <p:nvPr/>
        </p:nvSpPr>
        <p:spPr>
          <a:xfrm>
            <a:off x="7726680" y="3712464"/>
            <a:ext cx="3886200" cy="1005840"/>
          </a:xfrm>
          <a:prstGeom prst="rect">
            <a:avLst/>
          </a:prstGeom>
          <a:noFill/>
          <a:ln/>
        </p:spPr>
        <p:txBody>
          <a:bodyPr wrap="square" lIns="0" tIns="0" rIns="0" bIns="0" rtlCol="0" anchor="t"/>
          <a:lstStyle/>
          <a:p>
            <a:pPr marL="0" indent="0">
              <a:lnSpc>
                <a:spcPct val="106000"/>
              </a:lnSpc>
              <a:buNone/>
            </a:pPr>
            <a:r>
              <a:rPr lang="en-US" sz="1400" dirty="0">
                <a:solidFill>
                  <a:srgbClr val="1C1B29"/>
                </a:solidFill>
                <a:latin typeface="Calibri" pitchFamily="34" charset="0"/>
                <a:ea typeface="Calibri" pitchFamily="34" charset="-122"/>
                <a:cs typeface="Calibri" pitchFamily="34" charset="-120"/>
              </a:rPr>
              <a:t>NPE draws posterior samples with a single forward pass. NLE and NRE must run a sampler for every observation — seconds to minutes, with convergence to check each time.</a:t>
            </a:r>
            <a:endParaRPr lang="en-US" sz="1400" dirty="0"/>
          </a:p>
        </p:txBody>
      </p:sp>
      <p:sp>
        <p:nvSpPr>
          <p:cNvPr id="8" name="Shape 4"/>
          <p:cNvSpPr/>
          <p:nvPr/>
        </p:nvSpPr>
        <p:spPr>
          <a:xfrm>
            <a:off x="566928" y="4700016"/>
            <a:ext cx="3503066" cy="914400"/>
          </a:xfrm>
          <a:prstGeom prst="roundRect">
            <a:avLst>
              <a:gd name="adj" fmla="val 6000"/>
            </a:avLst>
          </a:prstGeom>
          <a:solidFill>
            <a:srgbClr val="EDEBF7"/>
          </a:solidFill>
          <a:ln/>
        </p:spPr>
        <p:txBody>
          <a:bodyPr/>
          <a:lstStyle/>
          <a:p>
            <a:endParaRPr lang="en-US"/>
          </a:p>
        </p:txBody>
      </p:sp>
      <p:sp>
        <p:nvSpPr>
          <p:cNvPr id="9" name="Text 5"/>
          <p:cNvSpPr/>
          <p:nvPr/>
        </p:nvSpPr>
        <p:spPr>
          <a:xfrm>
            <a:off x="786384" y="4754880"/>
            <a:ext cx="1371600" cy="457200"/>
          </a:xfrm>
          <a:prstGeom prst="rect">
            <a:avLst/>
          </a:prstGeom>
          <a:noFill/>
          <a:ln/>
        </p:spPr>
        <p:txBody>
          <a:bodyPr wrap="square" lIns="0" tIns="0" rIns="0" bIns="0" rtlCol="0" anchor="ctr"/>
          <a:lstStyle/>
          <a:p>
            <a:pPr marL="0" indent="0">
              <a:buNone/>
            </a:pPr>
            <a:r>
              <a:rPr lang="en-US" sz="2600" b="1" dirty="0">
                <a:solidFill>
                  <a:srgbClr val="3E3379"/>
                </a:solidFill>
                <a:latin typeface="Cambria" pitchFamily="34" charset="0"/>
                <a:ea typeface="Cambria" pitchFamily="34" charset="-122"/>
                <a:cs typeface="Cambria" pitchFamily="34" charset="-120"/>
              </a:rPr>
              <a:t>once</a:t>
            </a:r>
            <a:endParaRPr lang="en-US" sz="2600" dirty="0"/>
          </a:p>
        </p:txBody>
      </p:sp>
      <p:sp>
        <p:nvSpPr>
          <p:cNvPr id="10" name="Text 6"/>
          <p:cNvSpPr/>
          <p:nvPr/>
        </p:nvSpPr>
        <p:spPr>
          <a:xfrm>
            <a:off x="2212848" y="4773168"/>
            <a:ext cx="1628546" cy="777240"/>
          </a:xfrm>
          <a:prstGeom prst="rect">
            <a:avLst/>
          </a:prstGeom>
          <a:noFill/>
          <a:ln/>
        </p:spPr>
        <p:txBody>
          <a:bodyPr wrap="square" lIns="0" tIns="0" rIns="0" bIns="0" rtlCol="0" anchor="t"/>
          <a:lstStyle/>
          <a:p>
            <a:pPr marL="0" indent="0">
              <a:lnSpc>
                <a:spcPct val="106000"/>
              </a:lnSpc>
              <a:buNone/>
            </a:pPr>
            <a:r>
              <a:rPr lang="en-US" sz="1300" dirty="0">
                <a:solidFill>
                  <a:srgbClr val="3E3379"/>
                </a:solidFill>
                <a:latin typeface="Calibri" pitchFamily="34" charset="0"/>
                <a:ea typeface="Calibri" pitchFamily="34" charset="-122"/>
                <a:cs typeface="Calibri" pitchFamily="34" charset="-120"/>
              </a:rPr>
              <a:t>training run — then the network is frozen</a:t>
            </a:r>
            <a:endParaRPr lang="en-US" sz="1300" dirty="0"/>
          </a:p>
        </p:txBody>
      </p:sp>
      <p:sp>
        <p:nvSpPr>
          <p:cNvPr id="11" name="Shape 7"/>
          <p:cNvSpPr/>
          <p:nvPr/>
        </p:nvSpPr>
        <p:spPr>
          <a:xfrm>
            <a:off x="4344314" y="4700016"/>
            <a:ext cx="3503066" cy="914400"/>
          </a:xfrm>
          <a:prstGeom prst="roundRect">
            <a:avLst>
              <a:gd name="adj" fmla="val 6000"/>
            </a:avLst>
          </a:prstGeom>
          <a:solidFill>
            <a:srgbClr val="EDEBF7"/>
          </a:solidFill>
          <a:ln/>
        </p:spPr>
        <p:txBody>
          <a:bodyPr/>
          <a:lstStyle/>
          <a:p>
            <a:endParaRPr lang="en-US"/>
          </a:p>
        </p:txBody>
      </p:sp>
      <p:sp>
        <p:nvSpPr>
          <p:cNvPr id="12" name="Text 8"/>
          <p:cNvSpPr/>
          <p:nvPr/>
        </p:nvSpPr>
        <p:spPr>
          <a:xfrm>
            <a:off x="4563770" y="4754880"/>
            <a:ext cx="1371600" cy="457200"/>
          </a:xfrm>
          <a:prstGeom prst="rect">
            <a:avLst/>
          </a:prstGeom>
          <a:noFill/>
          <a:ln/>
        </p:spPr>
        <p:txBody>
          <a:bodyPr wrap="square" lIns="0" tIns="0" rIns="0" bIns="0" rtlCol="0" anchor="ctr"/>
          <a:lstStyle/>
          <a:p>
            <a:pPr marL="0" indent="0">
              <a:buNone/>
            </a:pPr>
            <a:r>
              <a:rPr lang="en-US" sz="2600" b="1" dirty="0">
                <a:solidFill>
                  <a:srgbClr val="3E3379"/>
                </a:solidFill>
                <a:latin typeface="Cambria" pitchFamily="34" charset="0"/>
                <a:ea typeface="Cambria" pitchFamily="34" charset="-122"/>
                <a:cs typeface="Cambria" pitchFamily="34" charset="-120"/>
              </a:rPr>
              <a:t>ms</a:t>
            </a:r>
            <a:endParaRPr lang="en-US" sz="2600" dirty="0"/>
          </a:p>
        </p:txBody>
      </p:sp>
      <p:sp>
        <p:nvSpPr>
          <p:cNvPr id="13" name="Text 9"/>
          <p:cNvSpPr/>
          <p:nvPr/>
        </p:nvSpPr>
        <p:spPr>
          <a:xfrm>
            <a:off x="5990234" y="4773168"/>
            <a:ext cx="1628546" cy="777240"/>
          </a:xfrm>
          <a:prstGeom prst="rect">
            <a:avLst/>
          </a:prstGeom>
          <a:noFill/>
          <a:ln/>
        </p:spPr>
        <p:txBody>
          <a:bodyPr wrap="square" lIns="0" tIns="0" rIns="0" bIns="0" rtlCol="0" anchor="t"/>
          <a:lstStyle/>
          <a:p>
            <a:pPr marL="0" indent="0">
              <a:lnSpc>
                <a:spcPct val="106000"/>
              </a:lnSpc>
              <a:buNone/>
            </a:pPr>
            <a:r>
              <a:rPr lang="en-US" sz="1300" dirty="0">
                <a:solidFill>
                  <a:srgbClr val="3E3379"/>
                </a:solidFill>
                <a:latin typeface="Calibri" pitchFamily="34" charset="0"/>
                <a:ea typeface="Calibri" pitchFamily="34" charset="-122"/>
                <a:cs typeface="Calibri" pitchFamily="34" charset="-120"/>
              </a:rPr>
              <a:t>per new observation, per posterior</a:t>
            </a:r>
            <a:endParaRPr lang="en-US" sz="1300" dirty="0"/>
          </a:p>
        </p:txBody>
      </p:sp>
      <p:sp>
        <p:nvSpPr>
          <p:cNvPr id="14" name="Shape 10"/>
          <p:cNvSpPr/>
          <p:nvPr/>
        </p:nvSpPr>
        <p:spPr>
          <a:xfrm>
            <a:off x="8121701" y="4700016"/>
            <a:ext cx="3503066" cy="914400"/>
          </a:xfrm>
          <a:prstGeom prst="roundRect">
            <a:avLst>
              <a:gd name="adj" fmla="val 6000"/>
            </a:avLst>
          </a:prstGeom>
          <a:solidFill>
            <a:srgbClr val="FBF0E1"/>
          </a:solidFill>
          <a:ln/>
        </p:spPr>
        <p:txBody>
          <a:bodyPr/>
          <a:lstStyle/>
          <a:p>
            <a:endParaRPr lang="en-US"/>
          </a:p>
        </p:txBody>
      </p:sp>
      <p:sp>
        <p:nvSpPr>
          <p:cNvPr id="15" name="Text 11"/>
          <p:cNvSpPr/>
          <p:nvPr/>
        </p:nvSpPr>
        <p:spPr>
          <a:xfrm>
            <a:off x="8341157" y="4754880"/>
            <a:ext cx="1371600" cy="457200"/>
          </a:xfrm>
          <a:prstGeom prst="rect">
            <a:avLst/>
          </a:prstGeom>
          <a:noFill/>
          <a:ln/>
        </p:spPr>
        <p:txBody>
          <a:bodyPr wrap="square" lIns="0" tIns="0" rIns="0" bIns="0" rtlCol="0" anchor="ctr"/>
          <a:lstStyle/>
          <a:p>
            <a:pPr marL="0" indent="0">
              <a:buNone/>
            </a:pPr>
            <a:r>
              <a:rPr lang="en-US" sz="2600" b="1" dirty="0">
                <a:solidFill>
                  <a:srgbClr val="6E3D06"/>
                </a:solidFill>
                <a:latin typeface="Cambria" pitchFamily="34" charset="0"/>
                <a:ea typeface="Cambria" pitchFamily="34" charset="-122"/>
                <a:cs typeface="Cambria" pitchFamily="34" charset="-120"/>
              </a:rPr>
              <a:t>10³</a:t>
            </a:r>
            <a:endParaRPr lang="en-US" sz="2600" dirty="0"/>
          </a:p>
        </p:txBody>
      </p:sp>
      <p:sp>
        <p:nvSpPr>
          <p:cNvPr id="16" name="Text 12"/>
          <p:cNvSpPr/>
          <p:nvPr/>
        </p:nvSpPr>
        <p:spPr>
          <a:xfrm>
            <a:off x="9767621" y="4773168"/>
            <a:ext cx="1628546" cy="777240"/>
          </a:xfrm>
          <a:prstGeom prst="rect">
            <a:avLst/>
          </a:prstGeom>
          <a:noFill/>
          <a:ln/>
        </p:spPr>
        <p:txBody>
          <a:bodyPr wrap="square" lIns="0" tIns="0" rIns="0" bIns="0" rtlCol="0" anchor="t"/>
          <a:lstStyle/>
          <a:p>
            <a:pPr marL="0" indent="0">
              <a:lnSpc>
                <a:spcPct val="106000"/>
              </a:lnSpc>
              <a:buNone/>
            </a:pPr>
            <a:r>
              <a:rPr lang="en-US" sz="1300" dirty="0">
                <a:solidFill>
                  <a:srgbClr val="6E3D06"/>
                </a:solidFill>
                <a:latin typeface="Calibri" pitchFamily="34" charset="0"/>
                <a:ea typeface="Calibri" pitchFamily="34" charset="-122"/>
                <a:cs typeface="Calibri" pitchFamily="34" charset="-120"/>
              </a:rPr>
              <a:t>calibration inferences become affordable</a:t>
            </a:r>
            <a:endParaRPr lang="en-US" sz="1300" dirty="0"/>
          </a:p>
        </p:txBody>
      </p:sp>
      <p:sp>
        <p:nvSpPr>
          <p:cNvPr id="17" name="Shape 13"/>
          <p:cNvSpPr/>
          <p:nvPr/>
        </p:nvSpPr>
        <p:spPr>
          <a:xfrm>
            <a:off x="566928" y="5779008"/>
            <a:ext cx="11057839" cy="512064"/>
          </a:xfrm>
          <a:prstGeom prst="roundRect">
            <a:avLst>
              <a:gd name="adj" fmla="val 10714"/>
            </a:avLst>
          </a:prstGeom>
          <a:solidFill>
            <a:srgbClr val="FBF0E1"/>
          </a:solidFill>
          <a:ln/>
        </p:spPr>
        <p:txBody>
          <a:bodyPr/>
          <a:lstStyle/>
          <a:p>
            <a:endParaRPr lang="en-US"/>
          </a:p>
        </p:txBody>
      </p:sp>
      <p:sp>
        <p:nvSpPr>
          <p:cNvPr id="18" name="Text 14"/>
          <p:cNvSpPr/>
          <p:nvPr/>
        </p:nvSpPr>
        <p:spPr>
          <a:xfrm>
            <a:off x="804672" y="5779008"/>
            <a:ext cx="10600639" cy="512064"/>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Amortisation is not only convenience: it is what makes thorough validation affordable at all.</a:t>
            </a:r>
            <a:endParaRPr lang="en-US" sz="1550" dirty="0"/>
          </a:p>
        </p:txBody>
      </p:sp>
      <p:sp>
        <p:nvSpPr>
          <p:cNvPr id="19" name="Text 15"/>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III — Neural SBI</a:t>
            </a:r>
            <a:endParaRPr lang="en-US" sz="950" dirty="0"/>
          </a:p>
        </p:txBody>
      </p:sp>
      <p:sp>
        <p:nvSpPr>
          <p:cNvPr id="20" name="Text 16"/>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NEURAL LIKELIHOOD ESTIMATION</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NLE learns the simulator's likelihood instead</a:t>
            </a:r>
            <a:endParaRPr lang="en-US" sz="3000" dirty="0"/>
          </a:p>
        </p:txBody>
      </p:sp>
      <p:sp>
        <p:nvSpPr>
          <p:cNvPr id="4" name="Text 2"/>
          <p:cNvSpPr/>
          <p:nvPr/>
        </p:nvSpPr>
        <p:spPr>
          <a:xfrm>
            <a:off x="566928" y="1444752"/>
            <a:ext cx="5440680" cy="310896"/>
          </a:xfrm>
          <a:prstGeom prst="rect">
            <a:avLst/>
          </a:prstGeom>
          <a:noFill/>
          <a:ln/>
        </p:spPr>
        <p:txBody>
          <a:bodyPr wrap="square" lIns="0" tIns="0" rIns="0" bIns="0" rtlCol="0" anchor="ctr"/>
          <a:lstStyle/>
          <a:p>
            <a:pPr marL="0" indent="0">
              <a:buNone/>
            </a:pPr>
            <a:r>
              <a:rPr lang="en-US" sz="1700" b="1" dirty="0">
                <a:solidFill>
                  <a:srgbClr val="1F7A6C"/>
                </a:solidFill>
                <a:latin typeface="Calibri" pitchFamily="34" charset="0"/>
                <a:ea typeface="Calibri" pitchFamily="34" charset="-122"/>
                <a:cs typeface="Calibri" pitchFamily="34" charset="-120"/>
              </a:rPr>
              <a:t>What it learns</a:t>
            </a:r>
            <a:endParaRPr lang="en-US" sz="1700" dirty="0"/>
          </a:p>
        </p:txBody>
      </p:sp>
      <p:pic>
        <p:nvPicPr>
          <p:cNvPr id="5" name="Image 0" descr="eq/nle_loss.png"/>
          <p:cNvPicPr>
            <a:picLocks noChangeAspect="1"/>
          </p:cNvPicPr>
          <p:nvPr/>
        </p:nvPicPr>
        <p:blipFill>
          <a:blip r:embed="rId3"/>
          <a:stretch>
            <a:fillRect/>
          </a:stretch>
        </p:blipFill>
        <p:spPr>
          <a:xfrm>
            <a:off x="1193749" y="1828800"/>
            <a:ext cx="4187038" cy="483565"/>
          </a:xfrm>
          <a:prstGeom prst="rect">
            <a:avLst/>
          </a:prstGeom>
        </p:spPr>
      </p:pic>
      <p:sp>
        <p:nvSpPr>
          <p:cNvPr id="6" name="Text 3"/>
          <p:cNvSpPr/>
          <p:nvPr/>
        </p:nvSpPr>
        <p:spPr>
          <a:xfrm>
            <a:off x="566928" y="2432304"/>
            <a:ext cx="5440680" cy="365760"/>
          </a:xfrm>
          <a:prstGeom prst="rect">
            <a:avLst/>
          </a:prstGeom>
          <a:noFill/>
          <a:ln/>
        </p:spPr>
        <p:txBody>
          <a:bodyPr wrap="square" lIns="0" tIns="0" rIns="0" bIns="0" rtlCol="0" anchor="t"/>
          <a:lstStyle/>
          <a:p>
            <a:pPr marL="0" indent="0">
              <a:lnSpc>
                <a:spcPct val="106000"/>
              </a:lnSpc>
              <a:buNone/>
            </a:pPr>
            <a:r>
              <a:rPr lang="en-US" sz="1500" dirty="0">
                <a:solidFill>
                  <a:srgbClr val="1C1B29"/>
                </a:solidFill>
                <a:latin typeface="Calibri" pitchFamily="34" charset="0"/>
                <a:ea typeface="Calibri" pitchFamily="34" charset="-122"/>
                <a:cs typeface="Calibri" pitchFamily="34" charset="-120"/>
              </a:rPr>
              <a:t>The same objective as NPE, with θ and x exchanged.</a:t>
            </a:r>
            <a:endParaRPr lang="en-US" sz="1500" dirty="0"/>
          </a:p>
        </p:txBody>
      </p:sp>
      <p:sp>
        <p:nvSpPr>
          <p:cNvPr id="7" name="Text 4"/>
          <p:cNvSpPr/>
          <p:nvPr/>
        </p:nvSpPr>
        <p:spPr>
          <a:xfrm>
            <a:off x="566928" y="2889504"/>
            <a:ext cx="5440680" cy="310896"/>
          </a:xfrm>
          <a:prstGeom prst="rect">
            <a:avLst/>
          </a:prstGeom>
          <a:noFill/>
          <a:ln/>
        </p:spPr>
        <p:txBody>
          <a:bodyPr wrap="square" lIns="0" tIns="0" rIns="0" bIns="0" rtlCol="0" anchor="ctr"/>
          <a:lstStyle/>
          <a:p>
            <a:pPr marL="0" indent="0">
              <a:buNone/>
            </a:pPr>
            <a:r>
              <a:rPr lang="en-US" sz="1700" b="1" dirty="0">
                <a:solidFill>
                  <a:srgbClr val="1F7A6C"/>
                </a:solidFill>
                <a:latin typeface="Calibri" pitchFamily="34" charset="0"/>
                <a:ea typeface="Calibri" pitchFamily="34" charset="-122"/>
                <a:cs typeface="Calibri" pitchFamily="34" charset="-120"/>
              </a:rPr>
              <a:t>Then there is still work to do</a:t>
            </a:r>
            <a:endParaRPr lang="en-US" sz="1700" dirty="0"/>
          </a:p>
        </p:txBody>
      </p:sp>
      <p:pic>
        <p:nvPicPr>
          <p:cNvPr id="8" name="Image 1" descr="eq/nle_post.png"/>
          <p:cNvPicPr>
            <a:picLocks noChangeAspect="1"/>
          </p:cNvPicPr>
          <p:nvPr/>
        </p:nvPicPr>
        <p:blipFill>
          <a:blip r:embed="rId4"/>
          <a:stretch>
            <a:fillRect/>
          </a:stretch>
        </p:blipFill>
        <p:spPr>
          <a:xfrm>
            <a:off x="1083793" y="3291840"/>
            <a:ext cx="4406951" cy="266852"/>
          </a:xfrm>
          <a:prstGeom prst="rect">
            <a:avLst/>
          </a:prstGeom>
        </p:spPr>
      </p:pic>
      <p:sp>
        <p:nvSpPr>
          <p:cNvPr id="9" name="Text 5"/>
          <p:cNvSpPr/>
          <p:nvPr/>
        </p:nvSpPr>
        <p:spPr>
          <a:xfrm>
            <a:off x="566928" y="3675888"/>
            <a:ext cx="5440680" cy="640080"/>
          </a:xfrm>
          <a:prstGeom prst="rect">
            <a:avLst/>
          </a:prstGeom>
          <a:noFill/>
          <a:ln/>
        </p:spPr>
        <p:txBody>
          <a:bodyPr wrap="square" lIns="0" tIns="0" rIns="0" bIns="0" rtlCol="0" anchor="t"/>
          <a:lstStyle/>
          <a:p>
            <a:pPr marL="0" indent="0">
              <a:lnSpc>
                <a:spcPct val="106000"/>
              </a:lnSpc>
              <a:buNone/>
            </a:pPr>
            <a:r>
              <a:rPr lang="en-US" sz="1500" dirty="0">
                <a:solidFill>
                  <a:srgbClr val="1C1B29"/>
                </a:solidFill>
                <a:latin typeface="Calibri" pitchFamily="34" charset="0"/>
                <a:ea typeface="Calibri" pitchFamily="34" charset="-122"/>
                <a:cs typeface="Calibri" pitchFamily="34" charset="-120"/>
              </a:rPr>
              <a:t>Multiply by the prior and run MCMC or variational inference — separately for every observation.</a:t>
            </a:r>
            <a:endParaRPr lang="en-US" sz="1500" dirty="0"/>
          </a:p>
        </p:txBody>
      </p:sp>
      <p:sp>
        <p:nvSpPr>
          <p:cNvPr id="10" name="Text 6"/>
          <p:cNvSpPr/>
          <p:nvPr/>
        </p:nvSpPr>
        <p:spPr>
          <a:xfrm>
            <a:off x="566928" y="4407408"/>
            <a:ext cx="5440680"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Anau Montel (2025), §3.2; Deistler et al. (2025), §3.2.</a:t>
            </a:r>
            <a:endParaRPr lang="en-US" sz="1050" dirty="0"/>
          </a:p>
        </p:txBody>
      </p:sp>
      <p:sp>
        <p:nvSpPr>
          <p:cNvPr id="11" name="Shape 7"/>
          <p:cNvSpPr/>
          <p:nvPr/>
        </p:nvSpPr>
        <p:spPr>
          <a:xfrm>
            <a:off x="6391656" y="1444752"/>
            <a:ext cx="5233111" cy="3246120"/>
          </a:xfrm>
          <a:prstGeom prst="roundRect">
            <a:avLst>
              <a:gd name="adj" fmla="val 1690"/>
            </a:avLst>
          </a:prstGeom>
          <a:solidFill>
            <a:srgbClr val="E3F1EE"/>
          </a:solidFill>
          <a:ln/>
        </p:spPr>
        <p:txBody>
          <a:bodyPr/>
          <a:lstStyle/>
          <a:p>
            <a:endParaRPr lang="en-US"/>
          </a:p>
        </p:txBody>
      </p:sp>
      <p:sp>
        <p:nvSpPr>
          <p:cNvPr id="12" name="Text 8"/>
          <p:cNvSpPr/>
          <p:nvPr/>
        </p:nvSpPr>
        <p:spPr>
          <a:xfrm>
            <a:off x="6647688" y="1554480"/>
            <a:ext cx="4721047" cy="329184"/>
          </a:xfrm>
          <a:prstGeom prst="rect">
            <a:avLst/>
          </a:prstGeom>
          <a:noFill/>
          <a:ln/>
        </p:spPr>
        <p:txBody>
          <a:bodyPr wrap="square" lIns="0" tIns="0" rIns="0" bIns="0" rtlCol="0" anchor="ctr"/>
          <a:lstStyle/>
          <a:p>
            <a:pPr marL="0" indent="0">
              <a:buNone/>
            </a:pPr>
            <a:r>
              <a:rPr lang="en-US" sz="1700" b="1" dirty="0">
                <a:solidFill>
                  <a:srgbClr val="1F7A6C"/>
                </a:solidFill>
                <a:latin typeface="Calibri" pitchFamily="34" charset="0"/>
                <a:ea typeface="Calibri" pitchFamily="34" charset="-122"/>
                <a:cs typeface="Calibri" pitchFamily="34" charset="-120"/>
              </a:rPr>
              <a:t>Where NLE clearly wins</a:t>
            </a:r>
            <a:endParaRPr lang="en-US" sz="1700" dirty="0"/>
          </a:p>
        </p:txBody>
      </p:sp>
      <p:sp>
        <p:nvSpPr>
          <p:cNvPr id="13" name="Text 9"/>
          <p:cNvSpPr/>
          <p:nvPr/>
        </p:nvSpPr>
        <p:spPr>
          <a:xfrm>
            <a:off x="6647688" y="1938528"/>
            <a:ext cx="4721047" cy="310896"/>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Many independent measurements of the same kind:</a:t>
            </a:r>
            <a:endParaRPr lang="en-US" sz="1450" dirty="0"/>
          </a:p>
        </p:txBody>
      </p:sp>
      <p:pic>
        <p:nvPicPr>
          <p:cNvPr id="14" name="Image 2" descr="eq/nle_iid.png"/>
          <p:cNvPicPr>
            <a:picLocks noChangeAspect="1"/>
          </p:cNvPicPr>
          <p:nvPr/>
        </p:nvPicPr>
        <p:blipFill>
          <a:blip r:embed="rId5"/>
          <a:stretch>
            <a:fillRect/>
          </a:stretch>
        </p:blipFill>
        <p:spPr>
          <a:xfrm>
            <a:off x="7208901" y="2304288"/>
            <a:ext cx="3598621" cy="712470"/>
          </a:xfrm>
          <a:prstGeom prst="rect">
            <a:avLst/>
          </a:prstGeom>
        </p:spPr>
      </p:pic>
      <p:sp>
        <p:nvSpPr>
          <p:cNvPr id="15" name="Text 10"/>
          <p:cNvSpPr/>
          <p:nvPr/>
        </p:nvSpPr>
        <p:spPr>
          <a:xfrm>
            <a:off x="6647688" y="3127248"/>
            <a:ext cx="4721047" cy="1280160"/>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Train on single trials, then infer from any number of them — the likelihood simply factorises. NPE would have to be trained on N-observation inputs, needing N simulations per parameter set.</a:t>
            </a:r>
            <a:endParaRPr lang="en-US" sz="1450" dirty="0"/>
          </a:p>
        </p:txBody>
      </p:sp>
      <p:sp>
        <p:nvSpPr>
          <p:cNvPr id="16" name="Shape 11"/>
          <p:cNvSpPr/>
          <p:nvPr/>
        </p:nvSpPr>
        <p:spPr>
          <a:xfrm>
            <a:off x="566928" y="4864608"/>
            <a:ext cx="11057839" cy="749808"/>
          </a:xfrm>
          <a:prstGeom prst="roundRect">
            <a:avLst>
              <a:gd name="adj" fmla="val 7317"/>
            </a:avLst>
          </a:prstGeom>
          <a:solidFill>
            <a:srgbClr val="F3F3F8"/>
          </a:solidFill>
          <a:ln/>
        </p:spPr>
        <p:txBody>
          <a:bodyPr/>
          <a:lstStyle/>
          <a:p>
            <a:endParaRPr lang="en-US"/>
          </a:p>
        </p:txBody>
      </p:sp>
      <p:sp>
        <p:nvSpPr>
          <p:cNvPr id="17" name="Text 12"/>
          <p:cNvSpPr/>
          <p:nvPr/>
        </p:nvSpPr>
        <p:spPr>
          <a:xfrm>
            <a:off x="804672" y="4956048"/>
            <a:ext cx="10582351" cy="594360"/>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The price: a sampler runs for every observation, and it brings its own failure modes. A perfectly trained network still returns a wrong posterior if the chain has not converged.</a:t>
            </a:r>
            <a:endParaRPr lang="en-US" sz="1450" dirty="0"/>
          </a:p>
        </p:txBody>
      </p:sp>
      <p:sp>
        <p:nvSpPr>
          <p:cNvPr id="18" name="Shape 13"/>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19" name="Text 14"/>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Choose NLE when your data are many independent measurements — not because it sounds more principled.</a:t>
            </a:r>
            <a:endParaRPr lang="en-US" sz="1550" dirty="0"/>
          </a:p>
        </p:txBody>
      </p:sp>
      <p:sp>
        <p:nvSpPr>
          <p:cNvPr id="20" name="Text 15"/>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III — Neural SBI</a:t>
            </a:r>
            <a:endParaRPr lang="en-US" sz="950" dirty="0"/>
          </a:p>
        </p:txBody>
      </p:sp>
      <p:sp>
        <p:nvSpPr>
          <p:cNvPr id="21" name="Text 16"/>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NEURAL RATIO ESTIMATION</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Turn inference into a classification problem</a:t>
            </a:r>
            <a:endParaRPr lang="en-US" sz="3000" dirty="0"/>
          </a:p>
        </p:txBody>
      </p:sp>
      <p:pic>
        <p:nvPicPr>
          <p:cNvPr id="4" name="Image 0" descr="figs/fig_nre_scatter.png"/>
          <p:cNvPicPr>
            <a:picLocks noChangeAspect="1"/>
          </p:cNvPicPr>
          <p:nvPr/>
        </p:nvPicPr>
        <p:blipFill>
          <a:blip r:embed="rId3"/>
          <a:stretch>
            <a:fillRect/>
          </a:stretch>
        </p:blipFill>
        <p:spPr>
          <a:xfrm>
            <a:off x="457200" y="1691640"/>
            <a:ext cx="5577840" cy="2532888"/>
          </a:xfrm>
          <a:prstGeom prst="rect">
            <a:avLst/>
          </a:prstGeom>
        </p:spPr>
      </p:pic>
      <p:pic>
        <p:nvPicPr>
          <p:cNvPr id="5" name="Image 1" descr="eq/nre_classes.png"/>
          <p:cNvPicPr>
            <a:picLocks noChangeAspect="1"/>
          </p:cNvPicPr>
          <p:nvPr/>
        </p:nvPicPr>
        <p:blipFill>
          <a:blip r:embed="rId4"/>
          <a:stretch>
            <a:fillRect/>
          </a:stretch>
        </p:blipFill>
        <p:spPr>
          <a:xfrm>
            <a:off x="566928" y="4352544"/>
            <a:ext cx="4401617" cy="213360"/>
          </a:xfrm>
          <a:prstGeom prst="rect">
            <a:avLst/>
          </a:prstGeom>
        </p:spPr>
      </p:pic>
      <p:sp>
        <p:nvSpPr>
          <p:cNvPr id="6" name="Text 2"/>
          <p:cNvSpPr/>
          <p:nvPr/>
        </p:nvSpPr>
        <p:spPr>
          <a:xfrm>
            <a:off x="566928" y="4700016"/>
            <a:ext cx="5440680" cy="822960"/>
          </a:xfrm>
          <a:prstGeom prst="rect">
            <a:avLst/>
          </a:prstGeom>
          <a:noFill/>
          <a:ln/>
        </p:spPr>
        <p:txBody>
          <a:bodyPr wrap="square" lIns="0" tIns="0" rIns="0" bIns="0" rtlCol="0" anchor="t"/>
          <a:lstStyle/>
          <a:p>
            <a:pPr marL="0" indent="0">
              <a:lnSpc>
                <a:spcPct val="106000"/>
              </a:lnSpc>
              <a:buNone/>
            </a:pPr>
            <a:r>
              <a:rPr lang="en-US" sz="1450" dirty="0">
                <a:solidFill>
                  <a:srgbClr val="6E6E80"/>
                </a:solidFill>
                <a:latin typeface="Calibri" pitchFamily="34" charset="0"/>
                <a:ea typeface="Calibri" pitchFamily="34" charset="-122"/>
                <a:cs typeface="Calibri" pitchFamily="34" charset="-120"/>
              </a:rPr>
              <a:t>Shuffling the table breaks the link between parameters and data while leaving both marginals untouched. A classifier that can tell the two apart has learned that link.</a:t>
            </a:r>
            <a:endParaRPr lang="en-US" sz="1450" dirty="0"/>
          </a:p>
        </p:txBody>
      </p:sp>
      <p:sp>
        <p:nvSpPr>
          <p:cNvPr id="7" name="Text 3"/>
          <p:cNvSpPr/>
          <p:nvPr/>
        </p:nvSpPr>
        <p:spPr>
          <a:xfrm>
            <a:off x="6446520" y="1444752"/>
            <a:ext cx="5178247" cy="310896"/>
          </a:xfrm>
          <a:prstGeom prst="rect">
            <a:avLst/>
          </a:prstGeom>
          <a:noFill/>
          <a:ln/>
        </p:spPr>
        <p:txBody>
          <a:bodyPr wrap="square" lIns="0" tIns="0" rIns="0" bIns="0" rtlCol="0" anchor="ctr"/>
          <a:lstStyle/>
          <a:p>
            <a:pPr marL="0" indent="0">
              <a:buNone/>
            </a:pPr>
            <a:r>
              <a:rPr lang="en-US" sz="1700" b="1" dirty="0">
                <a:solidFill>
                  <a:srgbClr val="AF6413"/>
                </a:solidFill>
                <a:latin typeface="Calibri" pitchFamily="34" charset="0"/>
                <a:ea typeface="Calibri" pitchFamily="34" charset="-122"/>
                <a:cs typeface="Calibri" pitchFamily="34" charset="-120"/>
              </a:rPr>
              <a:t>The likelihood-ratio trick</a:t>
            </a:r>
            <a:endParaRPr lang="en-US" sz="1700" dirty="0"/>
          </a:p>
        </p:txBody>
      </p:sp>
      <p:sp>
        <p:nvSpPr>
          <p:cNvPr id="8" name="Text 4"/>
          <p:cNvSpPr/>
          <p:nvPr/>
        </p:nvSpPr>
        <p:spPr>
          <a:xfrm>
            <a:off x="6446520" y="1847088"/>
            <a:ext cx="5178247" cy="173736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500" dirty="0">
                <a:solidFill>
                  <a:srgbClr val="1C1B29"/>
                </a:solidFill>
                <a:latin typeface="Calibri" pitchFamily="34" charset="0"/>
                <a:ea typeface="Calibri" pitchFamily="34" charset="-122"/>
                <a:cs typeface="Calibri" pitchFamily="34" charset="-120"/>
              </a:rPr>
              <a:t>Label real simulator pairs C = 1 and shuffled pairs C = 0.</a:t>
            </a:r>
            <a:endParaRPr lang="en-US" sz="1500" dirty="0"/>
          </a:p>
          <a:p>
            <a:pPr marL="177800" indent="-177800">
              <a:lnSpc>
                <a:spcPct val="102000"/>
              </a:lnSpc>
              <a:spcAft>
                <a:spcPts val="1000"/>
              </a:spcAft>
              <a:buSzPct val="100000"/>
              <a:buChar char="•"/>
            </a:pPr>
            <a:r>
              <a:rPr lang="en-US" sz="1500" dirty="0">
                <a:solidFill>
                  <a:srgbClr val="1C1B29"/>
                </a:solidFill>
                <a:latin typeface="Calibri" pitchFamily="34" charset="0"/>
                <a:ea typeface="Calibri" pitchFamily="34" charset="-122"/>
                <a:cs typeface="Calibri" pitchFamily="34" charset="-120"/>
              </a:rPr>
              <a:t>Train a binary classifier with cross-entropy loss.</a:t>
            </a:r>
            <a:endParaRPr lang="en-US" sz="1500" dirty="0"/>
          </a:p>
          <a:p>
            <a:pPr marL="177800" indent="-177800">
              <a:lnSpc>
                <a:spcPct val="102000"/>
              </a:lnSpc>
              <a:spcAft>
                <a:spcPts val="1000"/>
              </a:spcAft>
              <a:buSzPct val="100000"/>
              <a:buChar char="•"/>
            </a:pPr>
            <a:r>
              <a:rPr lang="en-US" sz="1500" dirty="0">
                <a:solidFill>
                  <a:srgbClr val="1C1B29"/>
                </a:solidFill>
                <a:latin typeface="Calibri" pitchFamily="34" charset="0"/>
                <a:ea typeface="Calibri" pitchFamily="34" charset="-122"/>
                <a:cs typeface="Calibri" pitchFamily="34" charset="-120"/>
              </a:rPr>
              <a:t>The Bayes-optimal classifier is the sigmoid of the log ratio, so the ratio comes straight out of it.</a:t>
            </a:r>
            <a:endParaRPr lang="en-US" sz="1500" dirty="0"/>
          </a:p>
        </p:txBody>
      </p:sp>
      <p:pic>
        <p:nvPicPr>
          <p:cNvPr id="9" name="Image 2" descr="eq/nre_sigmoid.png"/>
          <p:cNvPicPr>
            <a:picLocks noChangeAspect="1"/>
          </p:cNvPicPr>
          <p:nvPr/>
        </p:nvPicPr>
        <p:blipFill>
          <a:blip r:embed="rId5"/>
          <a:stretch>
            <a:fillRect/>
          </a:stretch>
        </p:blipFill>
        <p:spPr>
          <a:xfrm>
            <a:off x="6446520" y="3639312"/>
            <a:ext cx="4823460" cy="340614"/>
          </a:xfrm>
          <a:prstGeom prst="rect">
            <a:avLst/>
          </a:prstGeom>
        </p:spPr>
      </p:pic>
      <p:pic>
        <p:nvPicPr>
          <p:cNvPr id="10" name="Image 3" descr="eq/nre_post.png"/>
          <p:cNvPicPr>
            <a:picLocks noChangeAspect="1"/>
          </p:cNvPicPr>
          <p:nvPr/>
        </p:nvPicPr>
        <p:blipFill>
          <a:blip r:embed="rId6"/>
          <a:stretch>
            <a:fillRect/>
          </a:stretch>
        </p:blipFill>
        <p:spPr>
          <a:xfrm>
            <a:off x="7887538" y="4169664"/>
            <a:ext cx="2296211" cy="289560"/>
          </a:xfrm>
          <a:prstGeom prst="rect">
            <a:avLst/>
          </a:prstGeom>
        </p:spPr>
      </p:pic>
      <p:sp>
        <p:nvSpPr>
          <p:cNvPr id="11" name="Shape 5"/>
          <p:cNvSpPr/>
          <p:nvPr/>
        </p:nvSpPr>
        <p:spPr>
          <a:xfrm>
            <a:off x="6446520" y="4663440"/>
            <a:ext cx="5178247" cy="859536"/>
          </a:xfrm>
          <a:prstGeom prst="roundRect">
            <a:avLst>
              <a:gd name="adj" fmla="val 6383"/>
            </a:avLst>
          </a:prstGeom>
          <a:solidFill>
            <a:srgbClr val="EDEBF7"/>
          </a:solidFill>
          <a:ln/>
        </p:spPr>
        <p:txBody>
          <a:bodyPr/>
          <a:lstStyle/>
          <a:p>
            <a:endParaRPr lang="en-US"/>
          </a:p>
        </p:txBody>
      </p:sp>
      <p:sp>
        <p:nvSpPr>
          <p:cNvPr id="12" name="Text 6"/>
          <p:cNvSpPr/>
          <p:nvPr/>
        </p:nvSpPr>
        <p:spPr>
          <a:xfrm>
            <a:off x="6665976" y="4754880"/>
            <a:ext cx="4739335" cy="713232"/>
          </a:xfrm>
          <a:prstGeom prst="rect">
            <a:avLst/>
          </a:prstGeom>
          <a:noFill/>
          <a:ln/>
        </p:spPr>
        <p:txBody>
          <a:bodyPr wrap="square" lIns="0" tIns="0" rIns="0" bIns="0" rtlCol="0" anchor="t"/>
          <a:lstStyle/>
          <a:p>
            <a:pPr marL="0" indent="0">
              <a:lnSpc>
                <a:spcPct val="106000"/>
              </a:lnSpc>
              <a:buNone/>
            </a:pPr>
            <a:r>
              <a:rPr lang="en-US" sz="1400" dirty="0">
                <a:solidFill>
                  <a:srgbClr val="3E3379"/>
                </a:solidFill>
                <a:latin typeface="Calibri" pitchFamily="34" charset="0"/>
                <a:ea typeface="Calibri" pitchFamily="34" charset="-122"/>
                <a:cs typeface="Calibri" pitchFamily="34" charset="-120"/>
              </a:rPr>
              <a:t>No flow is needed, so any architecture will do. It still needs MCMC or prior reweighting to produce samples.</a:t>
            </a:r>
            <a:endParaRPr lang="en-US" sz="1400" dirty="0"/>
          </a:p>
        </p:txBody>
      </p:sp>
      <p:sp>
        <p:nvSpPr>
          <p:cNvPr id="13" name="Text 7"/>
          <p:cNvSpPr/>
          <p:nvPr/>
        </p:nvSpPr>
        <p:spPr>
          <a:xfrm>
            <a:off x="566928" y="5577840"/>
            <a:ext cx="5440680"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Anau Montel (2025), §3.3; Thiele (2026), §2.3.</a:t>
            </a:r>
            <a:endParaRPr lang="en-US" sz="1050" dirty="0"/>
          </a:p>
        </p:txBody>
      </p:sp>
      <p:sp>
        <p:nvSpPr>
          <p:cNvPr id="14" name="Shape 8"/>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15" name="Text 9"/>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The classifier's probability is not the posterior. The ratio built from it is.</a:t>
            </a:r>
            <a:endParaRPr lang="en-US" sz="1550" dirty="0"/>
          </a:p>
        </p:txBody>
      </p:sp>
      <p:sp>
        <p:nvSpPr>
          <p:cNvPr id="16" name="Text 10"/>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III — Neural SBI</a:t>
            </a:r>
            <a:endParaRPr lang="en-US" sz="950" dirty="0"/>
          </a:p>
        </p:txBody>
      </p:sp>
      <p:sp>
        <p:nvSpPr>
          <p:cNvPr id="17" name="Text 11"/>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NPE VS NLE VS NRE</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What you learn decides what you pay for later</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11057839" cy="3639312"/>
        </p:xfrm>
        <a:graphic>
          <a:graphicData uri="http://schemas.openxmlformats.org/drawingml/2006/table">
            <a:tbl>
              <a:tblPr/>
              <a:tblGrid>
                <a:gridCol w="28346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36799">
                  <a:extLst>
                    <a:ext uri="{9D8B030D-6E8A-4147-A177-3AD203B41FA5}">
                      <a16:colId xmlns:a16="http://schemas.microsoft.com/office/drawing/2014/main" val="20003"/>
                    </a:ext>
                  </a:extLst>
                </a:gridCol>
              </a:tblGrid>
              <a:tr h="438912">
                <a:tc>
                  <a:txBody>
                    <a:bodyPr/>
                    <a:lstStyle/>
                    <a:p>
                      <a:pPr marL="0" indent="0" algn="l">
                        <a:buNone/>
                      </a:pPr>
                      <a:endParaRPr lang="en-US" sz="160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3E3379"/>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NPE</a:t>
                      </a:r>
                      <a:endParaRPr lang="en-US" sz="160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3E3379"/>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NLE</a:t>
                      </a:r>
                      <a:endParaRPr lang="en-US" sz="160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3E3379"/>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NRE</a:t>
                      </a:r>
                      <a:endParaRPr lang="en-US" sz="160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3E3379"/>
                    </a:solidFill>
                  </a:tcPr>
                </a:tc>
                <a:extLst>
                  <a:ext uri="{0D108BD9-81ED-4DB2-BD59-A6C34878D82A}">
                    <a16:rowId xmlns:a16="http://schemas.microsoft.com/office/drawing/2014/main" val="10000"/>
                  </a:ext>
                </a:extLst>
              </a:tr>
              <a:tr h="475488">
                <a:tc>
                  <a:txBody>
                    <a:bodyPr/>
                    <a:lstStyle/>
                    <a:p>
                      <a:pPr marL="0" indent="0" algn="l">
                        <a:buNone/>
                      </a:pPr>
                      <a:r>
                        <a:rPr lang="en-US" sz="1350" b="1" dirty="0">
                          <a:solidFill>
                            <a:srgbClr val="3E3379"/>
                          </a:solidFill>
                          <a:latin typeface="Calibri" pitchFamily="34" charset="0"/>
                          <a:ea typeface="Calibri" pitchFamily="34" charset="-122"/>
                          <a:cs typeface="Calibri" pitchFamily="34" charset="-120"/>
                        </a:rPr>
                        <a:t>learns</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tc>
                  <a:txBody>
                    <a:bodyPr/>
                    <a:lstStyle/>
                    <a:p>
                      <a:pPr marL="0" indent="0" algn="ctr">
                        <a:buNone/>
                      </a:pPr>
                      <a:r>
                        <a:rPr lang="en-US" sz="1350" dirty="0">
                          <a:solidFill>
                            <a:srgbClr val="1C1B29"/>
                          </a:solidFill>
                          <a:latin typeface="Calibri" pitchFamily="34" charset="0"/>
                          <a:ea typeface="Calibri" pitchFamily="34" charset="-122"/>
                          <a:cs typeface="Calibri" pitchFamily="34" charset="-120"/>
                        </a:rPr>
                        <a:t>qϕ(θ | x)</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tc>
                  <a:txBody>
                    <a:bodyPr/>
                    <a:lstStyle/>
                    <a:p>
                      <a:pPr marL="0" indent="0" algn="ctr">
                        <a:buNone/>
                      </a:pPr>
                      <a:r>
                        <a:rPr lang="en-US" sz="1350" dirty="0">
                          <a:solidFill>
                            <a:srgbClr val="1C1B29"/>
                          </a:solidFill>
                          <a:latin typeface="Calibri" pitchFamily="34" charset="0"/>
                          <a:ea typeface="Calibri" pitchFamily="34" charset="-122"/>
                          <a:cs typeface="Calibri" pitchFamily="34" charset="-120"/>
                        </a:rPr>
                        <a:t>qϕ(x | θ)</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tc>
                  <a:txBody>
                    <a:bodyPr/>
                    <a:lstStyle/>
                    <a:p>
                      <a:pPr marL="0" indent="0" algn="ctr">
                        <a:buNone/>
                      </a:pPr>
                      <a:r>
                        <a:rPr lang="en-US" sz="1350" dirty="0">
                          <a:solidFill>
                            <a:srgbClr val="1C1B29"/>
                          </a:solidFill>
                          <a:latin typeface="Calibri" pitchFamily="34" charset="0"/>
                          <a:ea typeface="Calibri" pitchFamily="34" charset="-122"/>
                          <a:cs typeface="Calibri" pitchFamily="34" charset="-120"/>
                        </a:rPr>
                        <a:t>r(θ, x)</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extLst>
                  <a:ext uri="{0D108BD9-81ED-4DB2-BD59-A6C34878D82A}">
                    <a16:rowId xmlns:a16="http://schemas.microsoft.com/office/drawing/2014/main" val="10001"/>
                  </a:ext>
                </a:extLst>
              </a:tr>
              <a:tr h="566928">
                <a:tc>
                  <a:txBody>
                    <a:bodyPr/>
                    <a:lstStyle/>
                    <a:p>
                      <a:pPr marL="0" indent="0" algn="l">
                        <a:buNone/>
                      </a:pPr>
                      <a:r>
                        <a:rPr lang="en-US" sz="1350" b="1" dirty="0">
                          <a:solidFill>
                            <a:srgbClr val="3E3379"/>
                          </a:solidFill>
                          <a:latin typeface="Calibri" pitchFamily="34" charset="0"/>
                          <a:ea typeface="Calibri" pitchFamily="34" charset="-122"/>
                          <a:cs typeface="Calibri" pitchFamily="34" charset="-120"/>
                        </a:rPr>
                        <a:t>posterior samples</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C1B29"/>
                          </a:solidFill>
                          <a:latin typeface="Calibri" pitchFamily="34" charset="0"/>
                          <a:ea typeface="Calibri" pitchFamily="34" charset="-122"/>
                          <a:cs typeface="Calibri" pitchFamily="34" charset="-120"/>
                        </a:rPr>
                        <a:t>one forward pass, ms</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C1B29"/>
                          </a:solidFill>
                          <a:latin typeface="Calibri" pitchFamily="34" charset="0"/>
                          <a:ea typeface="Calibri" pitchFamily="34" charset="-122"/>
                          <a:cs typeface="Calibri" pitchFamily="34" charset="-120"/>
                        </a:rPr>
                        <a:t>MCMC or VI, per observation</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C1B29"/>
                          </a:solidFill>
                          <a:latin typeface="Calibri" pitchFamily="34" charset="0"/>
                          <a:ea typeface="Calibri" pitchFamily="34" charset="-122"/>
                          <a:cs typeface="Calibri" pitchFamily="34" charset="-120"/>
                        </a:rPr>
                        <a:t>MCMC or reweighting</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350" b="1" dirty="0">
                          <a:solidFill>
                            <a:srgbClr val="3E3379"/>
                          </a:solidFill>
                          <a:latin typeface="Calibri" pitchFamily="34" charset="0"/>
                          <a:ea typeface="Calibri" pitchFamily="34" charset="-122"/>
                          <a:cs typeface="Calibri" pitchFamily="34" charset="-120"/>
                        </a:rPr>
                        <a:t>high-dimensional x</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tc>
                  <a:txBody>
                    <a:bodyPr/>
                    <a:lstStyle/>
                    <a:p>
                      <a:pPr marL="0" indent="0" algn="ctr">
                        <a:buNone/>
                      </a:pPr>
                      <a:r>
                        <a:rPr lang="en-US" sz="1350" dirty="0">
                          <a:solidFill>
                            <a:srgbClr val="1C1B29"/>
                          </a:solidFill>
                          <a:latin typeface="Calibri" pitchFamily="34" charset="0"/>
                          <a:ea typeface="Calibri" pitchFamily="34" charset="-122"/>
                          <a:cs typeface="Calibri" pitchFamily="34" charset="-120"/>
                        </a:rPr>
                        <a:t>natural, via embedding net</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tc>
                  <a:txBody>
                    <a:bodyPr/>
                    <a:lstStyle/>
                    <a:p>
                      <a:pPr marL="0" indent="0" algn="ctr">
                        <a:buNone/>
                      </a:pPr>
                      <a:r>
                        <a:rPr lang="en-US" sz="1350" dirty="0">
                          <a:solidFill>
                            <a:srgbClr val="1C1B29"/>
                          </a:solidFill>
                          <a:latin typeface="Calibri" pitchFamily="34" charset="0"/>
                          <a:ea typeface="Calibri" pitchFamily="34" charset="-122"/>
                          <a:cs typeface="Calibri" pitchFamily="34" charset="-120"/>
                        </a:rPr>
                        <a:t>awkward — x is the output</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tc>
                  <a:txBody>
                    <a:bodyPr/>
                    <a:lstStyle/>
                    <a:p>
                      <a:pPr marL="0" indent="0" algn="ctr">
                        <a:buNone/>
                      </a:pPr>
                      <a:r>
                        <a:rPr lang="en-US" sz="1350" dirty="0">
                          <a:solidFill>
                            <a:srgbClr val="1C1B29"/>
                          </a:solidFill>
                          <a:latin typeface="Calibri" pitchFamily="34" charset="0"/>
                          <a:ea typeface="Calibri" pitchFamily="34" charset="-122"/>
                          <a:cs typeface="Calibri" pitchFamily="34" charset="-120"/>
                        </a:rPr>
                        <a:t>natural, via embedding net</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extLst>
                  <a:ext uri="{0D108BD9-81ED-4DB2-BD59-A6C34878D82A}">
                    <a16:rowId xmlns:a16="http://schemas.microsoft.com/office/drawing/2014/main" val="10003"/>
                  </a:ext>
                </a:extLst>
              </a:tr>
              <a:tr h="530352">
                <a:tc>
                  <a:txBody>
                    <a:bodyPr/>
                    <a:lstStyle/>
                    <a:p>
                      <a:pPr marL="0" indent="0" algn="l">
                        <a:buNone/>
                      </a:pPr>
                      <a:r>
                        <a:rPr lang="en-US" sz="1350" b="1" dirty="0">
                          <a:solidFill>
                            <a:srgbClr val="3E3379"/>
                          </a:solidFill>
                          <a:latin typeface="Calibri" pitchFamily="34" charset="0"/>
                          <a:ea typeface="Calibri" pitchFamily="34" charset="-122"/>
                          <a:cs typeface="Calibri" pitchFamily="34" charset="-120"/>
                        </a:rPr>
                        <a:t>many i.i.d. observations</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C1B29"/>
                          </a:solidFill>
                          <a:latin typeface="Calibri" pitchFamily="34" charset="0"/>
                          <a:ea typeface="Calibri" pitchFamily="34" charset="-122"/>
                          <a:cs typeface="Calibri" pitchFamily="34" charset="-120"/>
                        </a:rPr>
                        <a:t>must retrain for N</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C1B29"/>
                          </a:solidFill>
                          <a:latin typeface="Calibri" pitchFamily="34" charset="0"/>
                          <a:ea typeface="Calibri" pitchFamily="34" charset="-122"/>
                          <a:cs typeface="Calibri" pitchFamily="34" charset="-120"/>
                        </a:rPr>
                        <a:t>factorises for free</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C1B29"/>
                          </a:solidFill>
                          <a:latin typeface="Calibri" pitchFamily="34" charset="0"/>
                          <a:ea typeface="Calibri" pitchFamily="34" charset="-122"/>
                          <a:cs typeface="Calibri" pitchFamily="34" charset="-120"/>
                        </a:rPr>
                        <a:t>factorises for free</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lgn="l">
                        <a:buNone/>
                      </a:pPr>
                      <a:r>
                        <a:rPr lang="en-US" sz="1350" b="1" dirty="0">
                          <a:solidFill>
                            <a:srgbClr val="3E3379"/>
                          </a:solidFill>
                          <a:latin typeface="Calibri" pitchFamily="34" charset="0"/>
                          <a:ea typeface="Calibri" pitchFamily="34" charset="-122"/>
                          <a:cs typeface="Calibri" pitchFamily="34" charset="-120"/>
                        </a:rPr>
                        <a:t>embedding trained end-to-end</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tc>
                  <a:txBody>
                    <a:bodyPr/>
                    <a:lstStyle/>
                    <a:p>
                      <a:pPr marL="0" indent="0" algn="ctr">
                        <a:buNone/>
                      </a:pPr>
                      <a:r>
                        <a:rPr lang="en-US" sz="1350" dirty="0">
                          <a:solidFill>
                            <a:srgbClr val="1F7A6C"/>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tc>
                  <a:txBody>
                    <a:bodyPr/>
                    <a:lstStyle/>
                    <a:p>
                      <a:pPr marL="0" indent="0" algn="ctr">
                        <a:buNone/>
                      </a:pPr>
                      <a:r>
                        <a:rPr lang="en-US" sz="1350" dirty="0">
                          <a:solidFill>
                            <a:srgbClr val="B03A5B"/>
                          </a:solidFill>
                          <a:latin typeface="Calibri" pitchFamily="34" charset="0"/>
                          <a:ea typeface="Calibri" pitchFamily="34" charset="-122"/>
                          <a:cs typeface="Calibri" pitchFamily="34" charset="-120"/>
                        </a:rPr>
                        <a:t>no</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tc>
                  <a:txBody>
                    <a:bodyPr/>
                    <a:lstStyle/>
                    <a:p>
                      <a:pPr marL="0" indent="0" algn="ctr">
                        <a:buNone/>
                      </a:pPr>
                      <a:r>
                        <a:rPr lang="en-US" sz="1350" dirty="0">
                          <a:solidFill>
                            <a:srgbClr val="1F7A6C"/>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3F3F8"/>
                    </a:solidFill>
                  </a:tcPr>
                </a:tc>
                <a:extLst>
                  <a:ext uri="{0D108BD9-81ED-4DB2-BD59-A6C34878D82A}">
                    <a16:rowId xmlns:a16="http://schemas.microsoft.com/office/drawing/2014/main" val="10005"/>
                  </a:ext>
                </a:extLst>
              </a:tr>
              <a:tr h="621792">
                <a:tc>
                  <a:txBody>
                    <a:bodyPr/>
                    <a:lstStyle/>
                    <a:p>
                      <a:pPr marL="0" indent="0" algn="l">
                        <a:buNone/>
                      </a:pPr>
                      <a:r>
                        <a:rPr lang="en-US" sz="1350" b="1" dirty="0">
                          <a:solidFill>
                            <a:srgbClr val="3E3379"/>
                          </a:solidFill>
                          <a:latin typeface="Calibri" pitchFamily="34" charset="0"/>
                          <a:ea typeface="Calibri" pitchFamily="34" charset="-122"/>
                          <a:cs typeface="Calibri" pitchFamily="34" charset="-120"/>
                        </a:rPr>
                        <a:t>typical failure mode</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C1B29"/>
                          </a:solidFill>
                          <a:latin typeface="Calibri" pitchFamily="34" charset="0"/>
                          <a:ea typeface="Calibri" pitchFamily="34" charset="-122"/>
                          <a:cs typeface="Calibri" pitchFamily="34" charset="-120"/>
                        </a:rPr>
                        <a:t>silently miscalibrated density</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C1B29"/>
                          </a:solidFill>
                          <a:latin typeface="Calibri" pitchFamily="34" charset="0"/>
                          <a:ea typeface="Calibri" pitchFamily="34" charset="-122"/>
                          <a:cs typeface="Calibri" pitchFamily="34" charset="-120"/>
                        </a:rPr>
                        <a:t>sampler failure on top of density error</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C1B29"/>
                          </a:solidFill>
                          <a:latin typeface="Calibri" pitchFamily="34" charset="0"/>
                          <a:ea typeface="Calibri" pitchFamily="34" charset="-122"/>
                          <a:cs typeface="Calibri" pitchFamily="34" charset="-120"/>
                        </a:rPr>
                        <a:t>poorly calibrated ratio</a:t>
                      </a:r>
                      <a:endParaRPr lang="en-US" sz="1350" dirty="0">
                        <a:latin typeface="Calibri" charset="0"/>
                        <a:ea typeface="Calibri" charset="0"/>
                        <a:cs typeface="Calibri" charset="0"/>
                      </a:endParaRPr>
                    </a:p>
                  </a:txBody>
                  <a:tcPr marT="27432" marB="27432" anchor="ctr">
                    <a:lnL w="9525" cap="flat" cmpd="sng" algn="ctr">
                      <a:solidFill>
                        <a:srgbClr val="DDDDE8"/>
                      </a:solidFill>
                      <a:prstDash val="solid"/>
                      <a:round/>
                      <a:headEnd type="none" w="med" len="med"/>
                      <a:tailEnd type="none" w="med" len="med"/>
                    </a:lnL>
                    <a:lnR w="9525" cap="flat" cmpd="sng" algn="ctr">
                      <a:solidFill>
                        <a:srgbClr val="DDDDE8"/>
                      </a:solidFill>
                      <a:prstDash val="solid"/>
                      <a:round/>
                      <a:headEnd type="none" w="med" len="med"/>
                      <a:tailEnd type="none" w="med" len="med"/>
                    </a:lnR>
                    <a:lnT w="9525" cap="flat" cmpd="sng" algn="ctr">
                      <a:solidFill>
                        <a:srgbClr val="DDDDE8"/>
                      </a:solidFill>
                      <a:prstDash val="solid"/>
                      <a:round/>
                      <a:headEnd type="none" w="med" len="med"/>
                      <a:tailEnd type="none" w="med" len="med"/>
                    </a:lnT>
                    <a:lnB w="9525" cap="flat" cmpd="sng" algn="ctr">
                      <a:solidFill>
                        <a:srgbClr val="DDDD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p:nvPr/>
        </p:nvSpPr>
        <p:spPr>
          <a:xfrm>
            <a:off x="566928" y="5413248"/>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Synthesised from Anau Montel (2025), §8.2; Thiele (2026), §2.7; Deistler et al. (2025), §3.</a:t>
            </a:r>
            <a:endParaRPr lang="en-US" sz="1050" dirty="0"/>
          </a:p>
        </p:txBody>
      </p:sp>
      <p:sp>
        <p:nvSpPr>
          <p:cNvPr id="6" name="Shape 3"/>
          <p:cNvSpPr/>
          <p:nvPr/>
        </p:nvSpPr>
        <p:spPr>
          <a:xfrm>
            <a:off x="566928" y="5760720"/>
            <a:ext cx="11057839" cy="530352"/>
          </a:xfrm>
          <a:prstGeom prst="roundRect">
            <a:avLst>
              <a:gd name="adj" fmla="val 10345"/>
            </a:avLst>
          </a:prstGeom>
          <a:solidFill>
            <a:srgbClr val="FBF0E1"/>
          </a:solidFill>
          <a:ln/>
        </p:spPr>
        <p:txBody>
          <a:bodyPr/>
          <a:lstStyle/>
          <a:p>
            <a:endParaRPr lang="en-US"/>
          </a:p>
        </p:txBody>
      </p:sp>
      <p:sp>
        <p:nvSpPr>
          <p:cNvPr id="7" name="Text 4"/>
          <p:cNvSpPr/>
          <p:nvPr/>
        </p:nvSpPr>
        <p:spPr>
          <a:xfrm>
            <a:off x="804672" y="5760720"/>
            <a:ext cx="10600639" cy="530352"/>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All three are amortised. They differ in what happens after training — and that is usually what decides the project.</a:t>
            </a:r>
            <a:endParaRPr lang="en-US" sz="1550" dirty="0"/>
          </a:p>
        </p:txBody>
      </p:sp>
      <p:sp>
        <p:nvSpPr>
          <p:cNvPr id="8" name="Text 5"/>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III — Neural SBI</a:t>
            </a:r>
            <a:endParaRPr lang="en-US" sz="950" dirty="0"/>
          </a:p>
        </p:txBody>
      </p:sp>
      <p:sp>
        <p:nvSpPr>
          <p:cNvPr id="9" name="Text 6"/>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A FIRST-PASS DECISION GUIDE</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Start with NPE; deviate only for a stated reason</a:t>
            </a:r>
            <a:endParaRPr lang="en-US" sz="3000" dirty="0"/>
          </a:p>
        </p:txBody>
      </p:sp>
      <p:sp>
        <p:nvSpPr>
          <p:cNvPr id="4" name="Shape 2"/>
          <p:cNvSpPr/>
          <p:nvPr/>
        </p:nvSpPr>
        <p:spPr>
          <a:xfrm>
            <a:off x="566928" y="1444752"/>
            <a:ext cx="11057839" cy="512064"/>
          </a:xfrm>
          <a:prstGeom prst="roundRect">
            <a:avLst>
              <a:gd name="adj" fmla="val 10714"/>
            </a:avLst>
          </a:prstGeom>
          <a:solidFill>
            <a:srgbClr val="F3F3F8"/>
          </a:solidFill>
          <a:ln/>
        </p:spPr>
        <p:txBody>
          <a:bodyPr/>
          <a:lstStyle/>
          <a:p>
            <a:endParaRPr lang="en-US"/>
          </a:p>
        </p:txBody>
      </p:sp>
      <p:sp>
        <p:nvSpPr>
          <p:cNvPr id="5" name="Text 3"/>
          <p:cNvSpPr/>
          <p:nvPr/>
        </p:nvSpPr>
        <p:spPr>
          <a:xfrm>
            <a:off x="804672" y="1444752"/>
            <a:ext cx="5852160" cy="512064"/>
          </a:xfrm>
          <a:prstGeom prst="rect">
            <a:avLst/>
          </a:prstGeom>
          <a:noFill/>
          <a:ln/>
        </p:spPr>
        <p:txBody>
          <a:bodyPr wrap="square" lIns="0" tIns="0" rIns="0" bIns="0" rtlCol="0" anchor="t"/>
          <a:lstStyle/>
          <a:p>
            <a:pPr marL="0" indent="0">
              <a:lnSpc>
                <a:spcPct val="106000"/>
              </a:lnSpc>
              <a:buNone/>
            </a:pPr>
            <a:r>
              <a:rPr lang="en-US" sz="1550" dirty="0">
                <a:solidFill>
                  <a:srgbClr val="1C1B29"/>
                </a:solidFill>
                <a:latin typeface="Calibri" pitchFamily="34" charset="0"/>
                <a:ea typeface="Calibri" pitchFamily="34" charset="-122"/>
                <a:cs typeface="Calibri" pitchFamily="34" charset="-120"/>
              </a:rPr>
              <a:t>No special structure; you want speed and simplicity</a:t>
            </a:r>
            <a:endParaRPr lang="en-US" sz="1550" dirty="0"/>
          </a:p>
        </p:txBody>
      </p:sp>
      <p:sp>
        <p:nvSpPr>
          <p:cNvPr id="6" name="Shape 4"/>
          <p:cNvSpPr/>
          <p:nvPr/>
        </p:nvSpPr>
        <p:spPr>
          <a:xfrm>
            <a:off x="6830568" y="1700784"/>
            <a:ext cx="502920" cy="0"/>
          </a:xfrm>
          <a:prstGeom prst="line">
            <a:avLst/>
          </a:prstGeom>
          <a:noFill/>
          <a:ln w="19050">
            <a:solidFill>
              <a:srgbClr val="6E6E80"/>
            </a:solidFill>
            <a:prstDash val="solid"/>
            <a:tailEnd type="triangle"/>
          </a:ln>
        </p:spPr>
        <p:txBody>
          <a:bodyPr/>
          <a:lstStyle/>
          <a:p>
            <a:endParaRPr lang="en-US"/>
          </a:p>
        </p:txBody>
      </p:sp>
      <p:sp>
        <p:nvSpPr>
          <p:cNvPr id="7" name="Text 5"/>
          <p:cNvSpPr/>
          <p:nvPr/>
        </p:nvSpPr>
        <p:spPr>
          <a:xfrm>
            <a:off x="7516368" y="1444752"/>
            <a:ext cx="3879799" cy="512064"/>
          </a:xfrm>
          <a:prstGeom prst="rect">
            <a:avLst/>
          </a:prstGeom>
          <a:noFill/>
          <a:ln/>
        </p:spPr>
        <p:txBody>
          <a:bodyPr wrap="square" lIns="0" tIns="0" rIns="0" bIns="0" rtlCol="0" anchor="ctr"/>
          <a:lstStyle/>
          <a:p>
            <a:pPr marL="0" indent="0">
              <a:buNone/>
            </a:pPr>
            <a:r>
              <a:rPr lang="en-US" sz="1550" b="1" dirty="0">
                <a:solidFill>
                  <a:srgbClr val="4A3F8F"/>
                </a:solidFill>
                <a:latin typeface="Calibri" pitchFamily="34" charset="0"/>
                <a:ea typeface="Calibri" pitchFamily="34" charset="-122"/>
                <a:cs typeface="Calibri" pitchFamily="34" charset="-120"/>
              </a:rPr>
              <a:t>NPE</a:t>
            </a:r>
            <a:endParaRPr lang="en-US" sz="1550" dirty="0"/>
          </a:p>
        </p:txBody>
      </p:sp>
      <p:sp>
        <p:nvSpPr>
          <p:cNvPr id="8" name="Shape 6"/>
          <p:cNvSpPr/>
          <p:nvPr/>
        </p:nvSpPr>
        <p:spPr>
          <a:xfrm>
            <a:off x="566928" y="2048256"/>
            <a:ext cx="11057839" cy="512064"/>
          </a:xfrm>
          <a:prstGeom prst="roundRect">
            <a:avLst>
              <a:gd name="adj" fmla="val 10714"/>
            </a:avLst>
          </a:prstGeom>
          <a:solidFill>
            <a:srgbClr val="FFFFFF"/>
          </a:solidFill>
          <a:ln/>
        </p:spPr>
        <p:txBody>
          <a:bodyPr/>
          <a:lstStyle/>
          <a:p>
            <a:endParaRPr lang="en-US"/>
          </a:p>
        </p:txBody>
      </p:sp>
      <p:sp>
        <p:nvSpPr>
          <p:cNvPr id="9" name="Text 7"/>
          <p:cNvSpPr/>
          <p:nvPr/>
        </p:nvSpPr>
        <p:spPr>
          <a:xfrm>
            <a:off x="804672" y="2048256"/>
            <a:ext cx="5852160" cy="512064"/>
          </a:xfrm>
          <a:prstGeom prst="rect">
            <a:avLst/>
          </a:prstGeom>
          <a:noFill/>
          <a:ln/>
        </p:spPr>
        <p:txBody>
          <a:bodyPr wrap="square" lIns="0" tIns="0" rIns="0" bIns="0" rtlCol="0" anchor="t"/>
          <a:lstStyle/>
          <a:p>
            <a:pPr marL="0" indent="0">
              <a:lnSpc>
                <a:spcPct val="106000"/>
              </a:lnSpc>
              <a:buNone/>
            </a:pPr>
            <a:r>
              <a:rPr lang="en-US" sz="1550" dirty="0">
                <a:solidFill>
                  <a:srgbClr val="1C1B29"/>
                </a:solidFill>
                <a:latin typeface="Calibri" pitchFamily="34" charset="0"/>
                <a:ea typeface="Calibri" pitchFamily="34" charset="-122"/>
                <a:cs typeface="Calibri" pitchFamily="34" charset="-120"/>
              </a:rPr>
              <a:t>Many independent observations of the same kind per object</a:t>
            </a:r>
            <a:endParaRPr lang="en-US" sz="1550" dirty="0"/>
          </a:p>
        </p:txBody>
      </p:sp>
      <p:sp>
        <p:nvSpPr>
          <p:cNvPr id="10" name="Shape 8"/>
          <p:cNvSpPr/>
          <p:nvPr/>
        </p:nvSpPr>
        <p:spPr>
          <a:xfrm>
            <a:off x="6830568" y="2304288"/>
            <a:ext cx="502920" cy="0"/>
          </a:xfrm>
          <a:prstGeom prst="line">
            <a:avLst/>
          </a:prstGeom>
          <a:noFill/>
          <a:ln w="19050">
            <a:solidFill>
              <a:srgbClr val="6E6E80"/>
            </a:solidFill>
            <a:prstDash val="solid"/>
            <a:tailEnd type="triangle"/>
          </a:ln>
        </p:spPr>
        <p:txBody>
          <a:bodyPr/>
          <a:lstStyle/>
          <a:p>
            <a:endParaRPr lang="en-US"/>
          </a:p>
        </p:txBody>
      </p:sp>
      <p:sp>
        <p:nvSpPr>
          <p:cNvPr id="11" name="Text 9"/>
          <p:cNvSpPr/>
          <p:nvPr/>
        </p:nvSpPr>
        <p:spPr>
          <a:xfrm>
            <a:off x="7516368" y="2048256"/>
            <a:ext cx="3879799" cy="512064"/>
          </a:xfrm>
          <a:prstGeom prst="rect">
            <a:avLst/>
          </a:prstGeom>
          <a:noFill/>
          <a:ln/>
        </p:spPr>
        <p:txBody>
          <a:bodyPr wrap="square" lIns="0" tIns="0" rIns="0" bIns="0" rtlCol="0" anchor="ctr"/>
          <a:lstStyle/>
          <a:p>
            <a:pPr marL="0" indent="0">
              <a:buNone/>
            </a:pPr>
            <a:r>
              <a:rPr lang="en-US" sz="1550" b="1" dirty="0">
                <a:solidFill>
                  <a:srgbClr val="1F7A6C"/>
                </a:solidFill>
                <a:latin typeface="Calibri" pitchFamily="34" charset="0"/>
                <a:ea typeface="Calibri" pitchFamily="34" charset="-122"/>
                <a:cs typeface="Calibri" pitchFamily="34" charset="-120"/>
              </a:rPr>
              <a:t>NLE or NRE — they factorise</a:t>
            </a:r>
            <a:endParaRPr lang="en-US" sz="1550" dirty="0"/>
          </a:p>
        </p:txBody>
      </p:sp>
      <p:sp>
        <p:nvSpPr>
          <p:cNvPr id="12" name="Shape 10"/>
          <p:cNvSpPr/>
          <p:nvPr/>
        </p:nvSpPr>
        <p:spPr>
          <a:xfrm>
            <a:off x="566928" y="2651760"/>
            <a:ext cx="11057839" cy="512064"/>
          </a:xfrm>
          <a:prstGeom prst="roundRect">
            <a:avLst>
              <a:gd name="adj" fmla="val 10714"/>
            </a:avLst>
          </a:prstGeom>
          <a:solidFill>
            <a:srgbClr val="F3F3F8"/>
          </a:solidFill>
          <a:ln/>
        </p:spPr>
        <p:txBody>
          <a:bodyPr/>
          <a:lstStyle/>
          <a:p>
            <a:endParaRPr lang="en-US"/>
          </a:p>
        </p:txBody>
      </p:sp>
      <p:sp>
        <p:nvSpPr>
          <p:cNvPr id="13" name="Text 11"/>
          <p:cNvSpPr/>
          <p:nvPr/>
        </p:nvSpPr>
        <p:spPr>
          <a:xfrm>
            <a:off x="804672" y="2651760"/>
            <a:ext cx="5852160" cy="512064"/>
          </a:xfrm>
          <a:prstGeom prst="rect">
            <a:avLst/>
          </a:prstGeom>
          <a:noFill/>
          <a:ln/>
        </p:spPr>
        <p:txBody>
          <a:bodyPr wrap="square" lIns="0" tIns="0" rIns="0" bIns="0" rtlCol="0" anchor="t"/>
          <a:lstStyle/>
          <a:p>
            <a:pPr marL="0" indent="0">
              <a:lnSpc>
                <a:spcPct val="106000"/>
              </a:lnSpc>
              <a:buNone/>
            </a:pPr>
            <a:r>
              <a:rPr lang="en-US" sz="1550" dirty="0">
                <a:solidFill>
                  <a:srgbClr val="1C1B29"/>
                </a:solidFill>
                <a:latin typeface="Calibri" pitchFamily="34" charset="0"/>
                <a:ea typeface="Calibri" pitchFamily="34" charset="-122"/>
                <a:cs typeface="Calibri" pitchFamily="34" charset="-120"/>
              </a:rPr>
              <a:t>Parameter vector larger than the data vector</a:t>
            </a:r>
            <a:endParaRPr lang="en-US" sz="1550" dirty="0"/>
          </a:p>
        </p:txBody>
      </p:sp>
      <p:sp>
        <p:nvSpPr>
          <p:cNvPr id="14" name="Shape 12"/>
          <p:cNvSpPr/>
          <p:nvPr/>
        </p:nvSpPr>
        <p:spPr>
          <a:xfrm>
            <a:off x="6830568" y="2907792"/>
            <a:ext cx="502920" cy="0"/>
          </a:xfrm>
          <a:prstGeom prst="line">
            <a:avLst/>
          </a:prstGeom>
          <a:noFill/>
          <a:ln w="19050">
            <a:solidFill>
              <a:srgbClr val="6E6E80"/>
            </a:solidFill>
            <a:prstDash val="solid"/>
            <a:tailEnd type="triangle"/>
          </a:ln>
        </p:spPr>
        <p:txBody>
          <a:bodyPr/>
          <a:lstStyle/>
          <a:p>
            <a:endParaRPr lang="en-US"/>
          </a:p>
        </p:txBody>
      </p:sp>
      <p:sp>
        <p:nvSpPr>
          <p:cNvPr id="15" name="Text 13"/>
          <p:cNvSpPr/>
          <p:nvPr/>
        </p:nvSpPr>
        <p:spPr>
          <a:xfrm>
            <a:off x="7516368" y="2651760"/>
            <a:ext cx="3879799" cy="512064"/>
          </a:xfrm>
          <a:prstGeom prst="rect">
            <a:avLst/>
          </a:prstGeom>
          <a:noFill/>
          <a:ln/>
        </p:spPr>
        <p:txBody>
          <a:bodyPr wrap="square" lIns="0" tIns="0" rIns="0" bIns="0" rtlCol="0" anchor="ctr"/>
          <a:lstStyle/>
          <a:p>
            <a:pPr marL="0" indent="0">
              <a:buNone/>
            </a:pPr>
            <a:r>
              <a:rPr lang="en-US" sz="1550" b="1" dirty="0">
                <a:solidFill>
                  <a:srgbClr val="1F7A6C"/>
                </a:solidFill>
                <a:latin typeface="Calibri" pitchFamily="34" charset="0"/>
                <a:ea typeface="Calibri" pitchFamily="34" charset="-122"/>
                <a:cs typeface="Calibri" pitchFamily="34" charset="-120"/>
              </a:rPr>
              <a:t>NLE</a:t>
            </a:r>
            <a:endParaRPr lang="en-US" sz="1550" dirty="0"/>
          </a:p>
        </p:txBody>
      </p:sp>
      <p:sp>
        <p:nvSpPr>
          <p:cNvPr id="16" name="Shape 14"/>
          <p:cNvSpPr/>
          <p:nvPr/>
        </p:nvSpPr>
        <p:spPr>
          <a:xfrm>
            <a:off x="566928" y="3255264"/>
            <a:ext cx="11057839" cy="512064"/>
          </a:xfrm>
          <a:prstGeom prst="roundRect">
            <a:avLst>
              <a:gd name="adj" fmla="val 10714"/>
            </a:avLst>
          </a:prstGeom>
          <a:solidFill>
            <a:srgbClr val="FFFFFF"/>
          </a:solidFill>
          <a:ln/>
        </p:spPr>
        <p:txBody>
          <a:bodyPr/>
          <a:lstStyle/>
          <a:p>
            <a:endParaRPr lang="en-US"/>
          </a:p>
        </p:txBody>
      </p:sp>
      <p:sp>
        <p:nvSpPr>
          <p:cNvPr id="17" name="Text 15"/>
          <p:cNvSpPr/>
          <p:nvPr/>
        </p:nvSpPr>
        <p:spPr>
          <a:xfrm>
            <a:off x="804672" y="3255264"/>
            <a:ext cx="5852160" cy="512064"/>
          </a:xfrm>
          <a:prstGeom prst="rect">
            <a:avLst/>
          </a:prstGeom>
          <a:noFill/>
          <a:ln/>
        </p:spPr>
        <p:txBody>
          <a:bodyPr wrap="square" lIns="0" tIns="0" rIns="0" bIns="0" rtlCol="0" anchor="t"/>
          <a:lstStyle/>
          <a:p>
            <a:pPr marL="0" indent="0">
              <a:lnSpc>
                <a:spcPct val="106000"/>
              </a:lnSpc>
              <a:buNone/>
            </a:pPr>
            <a:r>
              <a:rPr lang="en-US" sz="1550" dirty="0">
                <a:solidFill>
                  <a:srgbClr val="1C1B29"/>
                </a:solidFill>
                <a:latin typeface="Calibri" pitchFamily="34" charset="0"/>
                <a:ea typeface="Calibri" pitchFamily="34" charset="-122"/>
                <a:cs typeface="Calibri" pitchFamily="34" charset="-120"/>
              </a:rPr>
              <a:t>A normalising flow is awkward or too expensive</a:t>
            </a:r>
            <a:endParaRPr lang="en-US" sz="1550" dirty="0"/>
          </a:p>
        </p:txBody>
      </p:sp>
      <p:sp>
        <p:nvSpPr>
          <p:cNvPr id="18" name="Shape 16"/>
          <p:cNvSpPr/>
          <p:nvPr/>
        </p:nvSpPr>
        <p:spPr>
          <a:xfrm>
            <a:off x="6830568" y="3511296"/>
            <a:ext cx="502920" cy="0"/>
          </a:xfrm>
          <a:prstGeom prst="line">
            <a:avLst/>
          </a:prstGeom>
          <a:noFill/>
          <a:ln w="19050">
            <a:solidFill>
              <a:srgbClr val="6E6E80"/>
            </a:solidFill>
            <a:prstDash val="solid"/>
            <a:tailEnd type="triangle"/>
          </a:ln>
        </p:spPr>
        <p:txBody>
          <a:bodyPr/>
          <a:lstStyle/>
          <a:p>
            <a:endParaRPr lang="en-US"/>
          </a:p>
        </p:txBody>
      </p:sp>
      <p:sp>
        <p:nvSpPr>
          <p:cNvPr id="19" name="Text 17"/>
          <p:cNvSpPr/>
          <p:nvPr/>
        </p:nvSpPr>
        <p:spPr>
          <a:xfrm>
            <a:off x="7516368" y="3255264"/>
            <a:ext cx="3879799" cy="512064"/>
          </a:xfrm>
          <a:prstGeom prst="rect">
            <a:avLst/>
          </a:prstGeom>
          <a:noFill/>
          <a:ln/>
        </p:spPr>
        <p:txBody>
          <a:bodyPr wrap="square" lIns="0" tIns="0" rIns="0" bIns="0" rtlCol="0" anchor="ctr"/>
          <a:lstStyle/>
          <a:p>
            <a:pPr marL="0" indent="0">
              <a:buNone/>
            </a:pPr>
            <a:r>
              <a:rPr lang="en-US" sz="1550" b="1" dirty="0">
                <a:solidFill>
                  <a:srgbClr val="AF6413"/>
                </a:solidFill>
                <a:latin typeface="Calibri" pitchFamily="34" charset="0"/>
                <a:ea typeface="Calibri" pitchFamily="34" charset="-122"/>
                <a:cs typeface="Calibri" pitchFamily="34" charset="-120"/>
              </a:rPr>
              <a:t>NRE</a:t>
            </a:r>
            <a:endParaRPr lang="en-US" sz="1550" dirty="0"/>
          </a:p>
        </p:txBody>
      </p:sp>
      <p:sp>
        <p:nvSpPr>
          <p:cNvPr id="20" name="Shape 18"/>
          <p:cNvSpPr/>
          <p:nvPr/>
        </p:nvSpPr>
        <p:spPr>
          <a:xfrm>
            <a:off x="566928" y="3858768"/>
            <a:ext cx="11057839" cy="512064"/>
          </a:xfrm>
          <a:prstGeom prst="roundRect">
            <a:avLst>
              <a:gd name="adj" fmla="val 10714"/>
            </a:avLst>
          </a:prstGeom>
          <a:solidFill>
            <a:srgbClr val="F3F3F8"/>
          </a:solidFill>
          <a:ln/>
        </p:spPr>
        <p:txBody>
          <a:bodyPr/>
          <a:lstStyle/>
          <a:p>
            <a:endParaRPr lang="en-US"/>
          </a:p>
        </p:txBody>
      </p:sp>
      <p:sp>
        <p:nvSpPr>
          <p:cNvPr id="21" name="Text 19"/>
          <p:cNvSpPr/>
          <p:nvPr/>
        </p:nvSpPr>
        <p:spPr>
          <a:xfrm>
            <a:off x="804672" y="3858768"/>
            <a:ext cx="5852160" cy="512064"/>
          </a:xfrm>
          <a:prstGeom prst="rect">
            <a:avLst/>
          </a:prstGeom>
          <a:noFill/>
          <a:ln/>
        </p:spPr>
        <p:txBody>
          <a:bodyPr wrap="square" lIns="0" tIns="0" rIns="0" bIns="0" rtlCol="0" anchor="t"/>
          <a:lstStyle/>
          <a:p>
            <a:pPr marL="0" indent="0">
              <a:lnSpc>
                <a:spcPct val="106000"/>
              </a:lnSpc>
              <a:buNone/>
            </a:pPr>
            <a:r>
              <a:rPr lang="en-US" sz="1550" dirty="0">
                <a:solidFill>
                  <a:srgbClr val="1C1B29"/>
                </a:solidFill>
                <a:latin typeface="Calibri" pitchFamily="34" charset="0"/>
                <a:ea typeface="Calibri" pitchFamily="34" charset="-122"/>
                <a:cs typeface="Calibri" pitchFamily="34" charset="-120"/>
              </a:rPr>
              <a:t>One target observation, posterior far tighter than the prior</a:t>
            </a:r>
            <a:endParaRPr lang="en-US" sz="1550" dirty="0"/>
          </a:p>
        </p:txBody>
      </p:sp>
      <p:sp>
        <p:nvSpPr>
          <p:cNvPr id="22" name="Shape 20"/>
          <p:cNvSpPr/>
          <p:nvPr/>
        </p:nvSpPr>
        <p:spPr>
          <a:xfrm>
            <a:off x="6830568" y="4114800"/>
            <a:ext cx="502920" cy="0"/>
          </a:xfrm>
          <a:prstGeom prst="line">
            <a:avLst/>
          </a:prstGeom>
          <a:noFill/>
          <a:ln w="19050">
            <a:solidFill>
              <a:srgbClr val="6E6E80"/>
            </a:solidFill>
            <a:prstDash val="solid"/>
            <a:tailEnd type="triangle"/>
          </a:ln>
        </p:spPr>
        <p:txBody>
          <a:bodyPr/>
          <a:lstStyle/>
          <a:p>
            <a:endParaRPr lang="en-US"/>
          </a:p>
        </p:txBody>
      </p:sp>
      <p:sp>
        <p:nvSpPr>
          <p:cNvPr id="23" name="Text 21"/>
          <p:cNvSpPr/>
          <p:nvPr/>
        </p:nvSpPr>
        <p:spPr>
          <a:xfrm>
            <a:off x="7516368" y="3858768"/>
            <a:ext cx="3879799" cy="512064"/>
          </a:xfrm>
          <a:prstGeom prst="rect">
            <a:avLst/>
          </a:prstGeom>
          <a:noFill/>
          <a:ln/>
        </p:spPr>
        <p:txBody>
          <a:bodyPr wrap="square" lIns="0" tIns="0" rIns="0" bIns="0" rtlCol="0" anchor="ctr"/>
          <a:lstStyle/>
          <a:p>
            <a:pPr marL="0" indent="0">
              <a:buNone/>
            </a:pPr>
            <a:r>
              <a:rPr lang="en-US" sz="1550" b="1" dirty="0">
                <a:solidFill>
                  <a:srgbClr val="B03A5B"/>
                </a:solidFill>
                <a:latin typeface="Calibri" pitchFamily="34" charset="0"/>
                <a:ea typeface="Calibri" pitchFamily="34" charset="-122"/>
                <a:cs typeface="Calibri" pitchFamily="34" charset="-120"/>
              </a:rPr>
              <a:t>sequential — at the cost of the standard checks</a:t>
            </a:r>
            <a:endParaRPr lang="en-US" sz="1550" dirty="0"/>
          </a:p>
        </p:txBody>
      </p:sp>
      <p:sp>
        <p:nvSpPr>
          <p:cNvPr id="24" name="Shape 22"/>
          <p:cNvSpPr/>
          <p:nvPr/>
        </p:nvSpPr>
        <p:spPr>
          <a:xfrm>
            <a:off x="566928" y="4498848"/>
            <a:ext cx="11057839" cy="822960"/>
          </a:xfrm>
          <a:prstGeom prst="roundRect">
            <a:avLst>
              <a:gd name="adj" fmla="val 6667"/>
            </a:avLst>
          </a:prstGeom>
          <a:solidFill>
            <a:srgbClr val="FBF0E1"/>
          </a:solidFill>
          <a:ln/>
        </p:spPr>
        <p:txBody>
          <a:bodyPr/>
          <a:lstStyle/>
          <a:p>
            <a:endParaRPr lang="en-US"/>
          </a:p>
        </p:txBody>
      </p:sp>
      <p:sp>
        <p:nvSpPr>
          <p:cNvPr id="25" name="Text 23"/>
          <p:cNvSpPr/>
          <p:nvPr/>
        </p:nvSpPr>
        <p:spPr>
          <a:xfrm>
            <a:off x="804672" y="4590288"/>
            <a:ext cx="10582351" cy="658368"/>
          </a:xfrm>
          <a:prstGeom prst="rect">
            <a:avLst/>
          </a:prstGeom>
          <a:noFill/>
          <a:ln/>
        </p:spPr>
        <p:txBody>
          <a:bodyPr wrap="square" lIns="0" tIns="0" rIns="0" bIns="0" rtlCol="0" anchor="t"/>
          <a:lstStyle/>
          <a:p>
            <a:pPr marL="0" indent="0">
              <a:lnSpc>
                <a:spcPct val="106000"/>
              </a:lnSpc>
              <a:buNone/>
            </a:pPr>
            <a:r>
              <a:rPr lang="en-US" sz="1450" dirty="0">
                <a:solidFill>
                  <a:srgbClr val="6E3D06"/>
                </a:solidFill>
                <a:latin typeface="Calibri" pitchFamily="34" charset="0"/>
                <a:ea typeface="Calibri" pitchFamily="34" charset="-122"/>
                <a:cs typeface="Calibri" pitchFamily="34" charset="-120"/>
              </a:rPr>
              <a:t>One trap worth naming: do not multiply NPE posteriors over i.i.d. observations. NPE already contains the prior, so the factors do not combine correctly — and small approximation errors near sharp prior edges compound with every factor you add.</a:t>
            </a:r>
            <a:endParaRPr lang="en-US" sz="1450" dirty="0"/>
          </a:p>
        </p:txBody>
      </p:sp>
      <p:sp>
        <p:nvSpPr>
          <p:cNvPr id="26" name="Shape 24"/>
          <p:cNvSpPr/>
          <p:nvPr/>
        </p:nvSpPr>
        <p:spPr>
          <a:xfrm>
            <a:off x="566928" y="5486400"/>
            <a:ext cx="11057839" cy="530352"/>
          </a:xfrm>
          <a:prstGeom prst="roundRect">
            <a:avLst>
              <a:gd name="adj" fmla="val 10345"/>
            </a:avLst>
          </a:prstGeom>
          <a:solidFill>
            <a:srgbClr val="FBF0E1"/>
          </a:solidFill>
          <a:ln/>
        </p:spPr>
        <p:txBody>
          <a:bodyPr/>
          <a:lstStyle/>
          <a:p>
            <a:endParaRPr lang="en-US"/>
          </a:p>
        </p:txBody>
      </p:sp>
      <p:sp>
        <p:nvSpPr>
          <p:cNvPr id="27" name="Text 25"/>
          <p:cNvSpPr/>
          <p:nvPr/>
        </p:nvSpPr>
        <p:spPr>
          <a:xfrm>
            <a:off x="804672" y="5486400"/>
            <a:ext cx="10600639" cy="530352"/>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These are heuristics. Diagnostics, not method labels, decide whether an analysis is sound.</a:t>
            </a:r>
            <a:endParaRPr lang="en-US" sz="1550" dirty="0"/>
          </a:p>
        </p:txBody>
      </p:sp>
      <p:sp>
        <p:nvSpPr>
          <p:cNvPr id="28" name="Text 26"/>
          <p:cNvSpPr/>
          <p:nvPr/>
        </p:nvSpPr>
        <p:spPr>
          <a:xfrm>
            <a:off x="566928" y="6089904"/>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Guidance after Thiele (2026), §2.7 and Fig. 5; Anau Montel (2025), §8.2.</a:t>
            </a:r>
            <a:endParaRPr lang="en-US" sz="1050" dirty="0"/>
          </a:p>
        </p:txBody>
      </p:sp>
      <p:sp>
        <p:nvSpPr>
          <p:cNvPr id="29" name="Text 27"/>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III — Neural SBI</a:t>
            </a:r>
            <a:endParaRPr lang="en-US" sz="950" dirty="0"/>
          </a:p>
        </p:txBody>
      </p:sp>
      <p:sp>
        <p:nvSpPr>
          <p:cNvPr id="30" name="Text 28"/>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DATA COMPRESSION</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You will almost always have to compress x first</a:t>
            </a:r>
            <a:endParaRPr lang="en-US" sz="3000" dirty="0"/>
          </a:p>
        </p:txBody>
      </p:sp>
      <p:pic>
        <p:nvPicPr>
          <p:cNvPr id="4" name="Image 0" descr="eq/compress.png"/>
          <p:cNvPicPr>
            <a:picLocks noChangeAspect="1"/>
          </p:cNvPicPr>
          <p:nvPr/>
        </p:nvPicPr>
        <p:blipFill>
          <a:blip r:embed="rId3"/>
          <a:stretch>
            <a:fillRect/>
          </a:stretch>
        </p:blipFill>
        <p:spPr>
          <a:xfrm>
            <a:off x="3063088" y="1408176"/>
            <a:ext cx="6065520" cy="356616"/>
          </a:xfrm>
          <a:prstGeom prst="rect">
            <a:avLst/>
          </a:prstGeom>
        </p:spPr>
      </p:pic>
      <p:sp>
        <p:nvSpPr>
          <p:cNvPr id="5" name="Shape 2"/>
          <p:cNvSpPr/>
          <p:nvPr/>
        </p:nvSpPr>
        <p:spPr>
          <a:xfrm>
            <a:off x="566928" y="1920240"/>
            <a:ext cx="3442106" cy="2651760"/>
          </a:xfrm>
          <a:prstGeom prst="roundRect">
            <a:avLst>
              <a:gd name="adj" fmla="val 2069"/>
            </a:avLst>
          </a:prstGeom>
          <a:solidFill>
            <a:srgbClr val="F3F3F8"/>
          </a:solidFill>
          <a:ln/>
        </p:spPr>
        <p:txBody>
          <a:bodyPr/>
          <a:lstStyle/>
          <a:p>
            <a:endParaRPr lang="en-US"/>
          </a:p>
        </p:txBody>
      </p:sp>
      <p:sp>
        <p:nvSpPr>
          <p:cNvPr id="6" name="Shape 3"/>
          <p:cNvSpPr/>
          <p:nvPr/>
        </p:nvSpPr>
        <p:spPr>
          <a:xfrm>
            <a:off x="804672" y="2084832"/>
            <a:ext cx="402336" cy="402336"/>
          </a:xfrm>
          <a:prstGeom prst="ellipse">
            <a:avLst/>
          </a:prstGeom>
          <a:solidFill>
            <a:srgbClr val="6E6E80"/>
          </a:solidFill>
          <a:ln/>
        </p:spPr>
        <p:txBody>
          <a:bodyPr/>
          <a:lstStyle/>
          <a:p>
            <a:endParaRPr lang="en-US"/>
          </a:p>
        </p:txBody>
      </p:sp>
      <p:sp>
        <p:nvSpPr>
          <p:cNvPr id="7" name="Text 4"/>
          <p:cNvSpPr/>
          <p:nvPr/>
        </p:nvSpPr>
        <p:spPr>
          <a:xfrm>
            <a:off x="804672" y="208483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316736" y="2084832"/>
            <a:ext cx="2481986" cy="402336"/>
          </a:xfrm>
          <a:prstGeom prst="rect">
            <a:avLst/>
          </a:prstGeom>
          <a:noFill/>
          <a:ln/>
        </p:spPr>
        <p:txBody>
          <a:bodyPr wrap="square" lIns="0" tIns="0" rIns="0" bIns="0" rtlCol="0" anchor="ctr"/>
          <a:lstStyle/>
          <a:p>
            <a:pPr marL="0" indent="0">
              <a:buNone/>
            </a:pPr>
            <a:r>
              <a:rPr lang="en-US" sz="1650" b="1" dirty="0">
                <a:solidFill>
                  <a:srgbClr val="1C1B29"/>
                </a:solidFill>
                <a:latin typeface="Calibri" pitchFamily="34" charset="0"/>
                <a:ea typeface="Calibri" pitchFamily="34" charset="-122"/>
                <a:cs typeface="Calibri" pitchFamily="34" charset="-120"/>
              </a:rPr>
              <a:t>Hand-crafted summaries</a:t>
            </a:r>
            <a:endParaRPr lang="en-US" sz="1650" dirty="0"/>
          </a:p>
        </p:txBody>
      </p:sp>
      <p:sp>
        <p:nvSpPr>
          <p:cNvPr id="9" name="Text 6"/>
          <p:cNvSpPr/>
          <p:nvPr/>
        </p:nvSpPr>
        <p:spPr>
          <a:xfrm>
            <a:off x="804672" y="2651760"/>
            <a:ext cx="2966618" cy="1783080"/>
          </a:xfrm>
          <a:prstGeom prst="rect">
            <a:avLst/>
          </a:prstGeom>
          <a:noFill/>
          <a:ln/>
        </p:spPr>
        <p:txBody>
          <a:bodyPr wrap="square" lIns="0" tIns="0" rIns="0" bIns="0" rtlCol="0" anchor="t"/>
          <a:lstStyle/>
          <a:p>
            <a:pPr marL="0" indent="0">
              <a:lnSpc>
                <a:spcPct val="106000"/>
              </a:lnSpc>
              <a:buNone/>
            </a:pPr>
            <a:r>
              <a:rPr lang="en-US" sz="1400" dirty="0">
                <a:solidFill>
                  <a:srgbClr val="1C1B29"/>
                </a:solidFill>
                <a:latin typeface="Calibri" pitchFamily="34" charset="0"/>
                <a:ea typeface="Calibri" pitchFamily="34" charset="-122"/>
                <a:cs typeface="Calibri" pitchFamily="34" charset="-120"/>
              </a:rPr>
              <a:t>Power spectra, peak counts, correlation functions. Interpretable and physically motivated — and lossy unless they happen to be sufficient.</a:t>
            </a:r>
            <a:endParaRPr lang="en-US" sz="1400" dirty="0"/>
          </a:p>
        </p:txBody>
      </p:sp>
      <p:sp>
        <p:nvSpPr>
          <p:cNvPr id="10" name="Shape 7"/>
          <p:cNvSpPr/>
          <p:nvPr/>
        </p:nvSpPr>
        <p:spPr>
          <a:xfrm>
            <a:off x="4374794" y="1920240"/>
            <a:ext cx="3442106" cy="2651760"/>
          </a:xfrm>
          <a:prstGeom prst="roundRect">
            <a:avLst>
              <a:gd name="adj" fmla="val 2069"/>
            </a:avLst>
          </a:prstGeom>
          <a:solidFill>
            <a:srgbClr val="E3F1EE"/>
          </a:solidFill>
          <a:ln/>
        </p:spPr>
        <p:txBody>
          <a:bodyPr/>
          <a:lstStyle/>
          <a:p>
            <a:endParaRPr lang="en-US"/>
          </a:p>
        </p:txBody>
      </p:sp>
      <p:sp>
        <p:nvSpPr>
          <p:cNvPr id="11" name="Shape 8"/>
          <p:cNvSpPr/>
          <p:nvPr/>
        </p:nvSpPr>
        <p:spPr>
          <a:xfrm>
            <a:off x="4612538" y="2084832"/>
            <a:ext cx="402336" cy="402336"/>
          </a:xfrm>
          <a:prstGeom prst="ellipse">
            <a:avLst/>
          </a:prstGeom>
          <a:solidFill>
            <a:srgbClr val="1F7A6C"/>
          </a:solidFill>
          <a:ln/>
        </p:spPr>
        <p:txBody>
          <a:bodyPr/>
          <a:lstStyle/>
          <a:p>
            <a:endParaRPr lang="en-US"/>
          </a:p>
        </p:txBody>
      </p:sp>
      <p:sp>
        <p:nvSpPr>
          <p:cNvPr id="12" name="Text 9"/>
          <p:cNvSpPr/>
          <p:nvPr/>
        </p:nvSpPr>
        <p:spPr>
          <a:xfrm>
            <a:off x="4612538" y="208483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p:nvPr/>
        </p:nvSpPr>
        <p:spPr>
          <a:xfrm>
            <a:off x="5124602" y="2084832"/>
            <a:ext cx="2481986" cy="402336"/>
          </a:xfrm>
          <a:prstGeom prst="rect">
            <a:avLst/>
          </a:prstGeom>
          <a:noFill/>
          <a:ln/>
        </p:spPr>
        <p:txBody>
          <a:bodyPr wrap="square" lIns="0" tIns="0" rIns="0" bIns="0" rtlCol="0" anchor="ctr"/>
          <a:lstStyle/>
          <a:p>
            <a:pPr marL="0" indent="0">
              <a:buNone/>
            </a:pPr>
            <a:r>
              <a:rPr lang="en-US" sz="1650" b="1" dirty="0">
                <a:solidFill>
                  <a:srgbClr val="1F7A6C"/>
                </a:solidFill>
                <a:latin typeface="Calibri" pitchFamily="34" charset="0"/>
                <a:ea typeface="Calibri" pitchFamily="34" charset="-122"/>
                <a:cs typeface="Calibri" pitchFamily="34" charset="-120"/>
              </a:rPr>
              <a:t>Information-theoretic</a:t>
            </a:r>
            <a:endParaRPr lang="en-US" sz="1650" dirty="0"/>
          </a:p>
        </p:txBody>
      </p:sp>
      <p:sp>
        <p:nvSpPr>
          <p:cNvPr id="14" name="Text 11"/>
          <p:cNvSpPr/>
          <p:nvPr/>
        </p:nvSpPr>
        <p:spPr>
          <a:xfrm>
            <a:off x="4612538" y="2651760"/>
            <a:ext cx="2966618" cy="1783080"/>
          </a:xfrm>
          <a:prstGeom prst="rect">
            <a:avLst/>
          </a:prstGeom>
          <a:noFill/>
          <a:ln/>
        </p:spPr>
        <p:txBody>
          <a:bodyPr wrap="square" lIns="0" tIns="0" rIns="0" bIns="0" rtlCol="0" anchor="t"/>
          <a:lstStyle/>
          <a:p>
            <a:pPr marL="0" indent="0">
              <a:lnSpc>
                <a:spcPct val="106000"/>
              </a:lnSpc>
              <a:buNone/>
            </a:pPr>
            <a:r>
              <a:rPr lang="en-US" sz="1400" dirty="0">
                <a:solidFill>
                  <a:srgbClr val="1C1B29"/>
                </a:solidFill>
                <a:latin typeface="Calibri" pitchFamily="34" charset="0"/>
                <a:ea typeface="Calibri" pitchFamily="34" charset="-122"/>
                <a:cs typeface="Calibri" pitchFamily="34" charset="-120"/>
              </a:rPr>
              <a:t>MOPED, score compression, information-maximising neural networks. Near-optimal for the Fisher information; needs derivatives at a fiducial point.</a:t>
            </a:r>
            <a:endParaRPr lang="en-US" sz="1400" dirty="0"/>
          </a:p>
        </p:txBody>
      </p:sp>
      <p:sp>
        <p:nvSpPr>
          <p:cNvPr id="15" name="Shape 12"/>
          <p:cNvSpPr/>
          <p:nvPr/>
        </p:nvSpPr>
        <p:spPr>
          <a:xfrm>
            <a:off x="8182661" y="1920240"/>
            <a:ext cx="3442106" cy="2651760"/>
          </a:xfrm>
          <a:prstGeom prst="roundRect">
            <a:avLst>
              <a:gd name="adj" fmla="val 2069"/>
            </a:avLst>
          </a:prstGeom>
          <a:solidFill>
            <a:srgbClr val="EDEBF7"/>
          </a:solidFill>
          <a:ln/>
        </p:spPr>
        <p:txBody>
          <a:bodyPr/>
          <a:lstStyle/>
          <a:p>
            <a:endParaRPr lang="en-US"/>
          </a:p>
        </p:txBody>
      </p:sp>
      <p:sp>
        <p:nvSpPr>
          <p:cNvPr id="16" name="Shape 13"/>
          <p:cNvSpPr/>
          <p:nvPr/>
        </p:nvSpPr>
        <p:spPr>
          <a:xfrm>
            <a:off x="8420405" y="2084832"/>
            <a:ext cx="402336" cy="402336"/>
          </a:xfrm>
          <a:prstGeom prst="ellipse">
            <a:avLst/>
          </a:prstGeom>
          <a:solidFill>
            <a:srgbClr val="4A3F8F"/>
          </a:solidFill>
          <a:ln/>
        </p:spPr>
        <p:txBody>
          <a:bodyPr/>
          <a:lstStyle/>
          <a:p>
            <a:endParaRPr lang="en-US"/>
          </a:p>
        </p:txBody>
      </p:sp>
      <p:sp>
        <p:nvSpPr>
          <p:cNvPr id="17" name="Text 14"/>
          <p:cNvSpPr/>
          <p:nvPr/>
        </p:nvSpPr>
        <p:spPr>
          <a:xfrm>
            <a:off x="8420405" y="208483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5"/>
          <p:cNvSpPr/>
          <p:nvPr/>
        </p:nvSpPr>
        <p:spPr>
          <a:xfrm>
            <a:off x="8932469" y="2084832"/>
            <a:ext cx="2481986" cy="402336"/>
          </a:xfrm>
          <a:prstGeom prst="rect">
            <a:avLst/>
          </a:prstGeom>
          <a:noFill/>
          <a:ln/>
        </p:spPr>
        <p:txBody>
          <a:bodyPr wrap="square" lIns="0" tIns="0" rIns="0" bIns="0" rtlCol="0" anchor="ctr"/>
          <a:lstStyle/>
          <a:p>
            <a:pPr marL="0" indent="0">
              <a:buNone/>
            </a:pPr>
            <a:r>
              <a:rPr lang="en-US" sz="1650" b="1" dirty="0">
                <a:solidFill>
                  <a:srgbClr val="4A3F8F"/>
                </a:solidFill>
                <a:latin typeface="Calibri" pitchFamily="34" charset="0"/>
                <a:ea typeface="Calibri" pitchFamily="34" charset="-122"/>
                <a:cs typeface="Calibri" pitchFamily="34" charset="-120"/>
              </a:rPr>
              <a:t>Learned embeddings</a:t>
            </a:r>
            <a:endParaRPr lang="en-US" sz="1650" dirty="0"/>
          </a:p>
        </p:txBody>
      </p:sp>
      <p:sp>
        <p:nvSpPr>
          <p:cNvPr id="19" name="Text 16"/>
          <p:cNvSpPr/>
          <p:nvPr/>
        </p:nvSpPr>
        <p:spPr>
          <a:xfrm>
            <a:off x="8420405" y="2651760"/>
            <a:ext cx="2966618" cy="1783080"/>
          </a:xfrm>
          <a:prstGeom prst="rect">
            <a:avLst/>
          </a:prstGeom>
          <a:noFill/>
          <a:ln/>
        </p:spPr>
        <p:txBody>
          <a:bodyPr wrap="square" lIns="0" tIns="0" rIns="0" bIns="0" rtlCol="0" anchor="t"/>
          <a:lstStyle/>
          <a:p>
            <a:pPr marL="0" indent="0">
              <a:lnSpc>
                <a:spcPct val="106000"/>
              </a:lnSpc>
              <a:buNone/>
            </a:pPr>
            <a:r>
              <a:rPr lang="en-US" sz="1400" dirty="0">
                <a:solidFill>
                  <a:srgbClr val="1C1B29"/>
                </a:solidFill>
                <a:latin typeface="Calibri" pitchFamily="34" charset="0"/>
                <a:ea typeface="Calibri" pitchFamily="34" charset="-122"/>
                <a:cs typeface="Calibri" pitchFamily="34" charset="-120"/>
              </a:rPr>
              <a:t>A CNN for fields, a permutation-invariant set network for catalogues — trained end-to-end with the inference network, so the features are chosen for the inference.</a:t>
            </a:r>
            <a:endParaRPr lang="en-US" sz="1400" dirty="0"/>
          </a:p>
        </p:txBody>
      </p:sp>
      <p:sp>
        <p:nvSpPr>
          <p:cNvPr id="20" name="Shape 17"/>
          <p:cNvSpPr/>
          <p:nvPr/>
        </p:nvSpPr>
        <p:spPr>
          <a:xfrm>
            <a:off x="566928" y="4700016"/>
            <a:ext cx="11057839" cy="777240"/>
          </a:xfrm>
          <a:prstGeom prst="roundRect">
            <a:avLst>
              <a:gd name="adj" fmla="val 7059"/>
            </a:avLst>
          </a:prstGeom>
          <a:solidFill>
            <a:srgbClr val="FBF0E1"/>
          </a:solidFill>
          <a:ln/>
        </p:spPr>
        <p:txBody>
          <a:bodyPr/>
          <a:lstStyle/>
          <a:p>
            <a:endParaRPr lang="en-US"/>
          </a:p>
        </p:txBody>
      </p:sp>
      <p:sp>
        <p:nvSpPr>
          <p:cNvPr id="21" name="Text 18"/>
          <p:cNvSpPr/>
          <p:nvPr/>
        </p:nvSpPr>
        <p:spPr>
          <a:xfrm>
            <a:off x="804672" y="4791456"/>
            <a:ext cx="10582351" cy="621792"/>
          </a:xfrm>
          <a:prstGeom prst="rect">
            <a:avLst/>
          </a:prstGeom>
          <a:noFill/>
          <a:ln/>
        </p:spPr>
        <p:txBody>
          <a:bodyPr wrap="square" lIns="0" tIns="0" rIns="0" bIns="0" rtlCol="0" anchor="t"/>
          <a:lstStyle/>
          <a:p>
            <a:pPr marL="0" indent="0">
              <a:lnSpc>
                <a:spcPct val="106000"/>
              </a:lnSpc>
              <a:buNone/>
            </a:pPr>
            <a:r>
              <a:rPr lang="en-US" sz="1450" dirty="0">
                <a:solidFill>
                  <a:srgbClr val="6E3D06"/>
                </a:solidFill>
                <a:latin typeface="Calibri" pitchFamily="34" charset="0"/>
                <a:ea typeface="Calibri" pitchFamily="34" charset="-122"/>
                <a:cs typeface="Calibri" pitchFamily="34" charset="-120"/>
              </a:rPr>
              <a:t>NLE cannot train an embedding end-to-end: its density lives in data space and has to stay invertible. NPE and NRE can — which is often the deciding argument for field-level analyses.</a:t>
            </a:r>
            <a:endParaRPr lang="en-US" sz="1450" dirty="0"/>
          </a:p>
        </p:txBody>
      </p:sp>
      <p:sp>
        <p:nvSpPr>
          <p:cNvPr id="22" name="Text 19"/>
          <p:cNvSpPr/>
          <p:nvPr/>
        </p:nvSpPr>
        <p:spPr>
          <a:xfrm>
            <a:off x="566928" y="5522976"/>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Thiele (2026), §2.6; Anau Montel (2025), §4.</a:t>
            </a:r>
            <a:endParaRPr lang="en-US" sz="1050" dirty="0"/>
          </a:p>
        </p:txBody>
      </p:sp>
      <p:sp>
        <p:nvSpPr>
          <p:cNvPr id="23" name="Shape 20"/>
          <p:cNvSpPr/>
          <p:nvPr/>
        </p:nvSpPr>
        <p:spPr>
          <a:xfrm>
            <a:off x="566928" y="5815584"/>
            <a:ext cx="11057839" cy="512064"/>
          </a:xfrm>
          <a:prstGeom prst="roundRect">
            <a:avLst>
              <a:gd name="adj" fmla="val 10714"/>
            </a:avLst>
          </a:prstGeom>
          <a:solidFill>
            <a:srgbClr val="FBF0E1"/>
          </a:solidFill>
          <a:ln/>
        </p:spPr>
        <p:txBody>
          <a:bodyPr/>
          <a:lstStyle/>
          <a:p>
            <a:endParaRPr lang="en-US"/>
          </a:p>
        </p:txBody>
      </p:sp>
      <p:sp>
        <p:nvSpPr>
          <p:cNvPr id="24" name="Text 21"/>
          <p:cNvSpPr/>
          <p:nvPr/>
        </p:nvSpPr>
        <p:spPr>
          <a:xfrm>
            <a:off x="804672" y="5815584"/>
            <a:ext cx="10600639" cy="512064"/>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Compression is where information is lost — and where most of the physics judgement lives.</a:t>
            </a:r>
            <a:endParaRPr lang="en-US" sz="1550" dirty="0"/>
          </a:p>
        </p:txBody>
      </p:sp>
      <p:sp>
        <p:nvSpPr>
          <p:cNvPr id="25" name="Text 22"/>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III — Neural SBI</a:t>
            </a:r>
            <a:endParaRPr lang="en-US" sz="950" dirty="0"/>
          </a:p>
        </p:txBody>
      </p:sp>
      <p:sp>
        <p:nvSpPr>
          <p:cNvPr id="26" name="Text 23"/>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NUISANCE PARAMETERS</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SBI marginalises them for free</a:t>
            </a:r>
            <a:endParaRPr lang="en-US" sz="3000" dirty="0"/>
          </a:p>
        </p:txBody>
      </p:sp>
      <p:sp>
        <p:nvSpPr>
          <p:cNvPr id="4" name="Text 2"/>
          <p:cNvSpPr/>
          <p:nvPr/>
        </p:nvSpPr>
        <p:spPr>
          <a:xfrm>
            <a:off x="566928" y="1444752"/>
            <a:ext cx="5394960" cy="310896"/>
          </a:xfrm>
          <a:prstGeom prst="rect">
            <a:avLst/>
          </a:prstGeom>
          <a:noFill/>
          <a:ln/>
        </p:spPr>
        <p:txBody>
          <a:bodyPr wrap="square" lIns="0" tIns="0" rIns="0" bIns="0" rtlCol="0" anchor="ctr"/>
          <a:lstStyle/>
          <a:p>
            <a:pPr marL="0" indent="0">
              <a:buNone/>
            </a:pPr>
            <a:r>
              <a:rPr lang="en-US" sz="1700" b="1" dirty="0">
                <a:solidFill>
                  <a:srgbClr val="B03A5B"/>
                </a:solidFill>
                <a:latin typeface="Calibri" pitchFamily="34" charset="0"/>
                <a:ea typeface="Calibri" pitchFamily="34" charset="-122"/>
                <a:cs typeface="Calibri" pitchFamily="34" charset="-120"/>
              </a:rPr>
              <a:t>The integral you usually dread</a:t>
            </a:r>
            <a:endParaRPr lang="en-US" sz="1700" dirty="0"/>
          </a:p>
        </p:txBody>
      </p:sp>
      <p:pic>
        <p:nvPicPr>
          <p:cNvPr id="5" name="Image 0" descr="eq/marginal.png"/>
          <p:cNvPicPr>
            <a:picLocks noChangeAspect="1"/>
          </p:cNvPicPr>
          <p:nvPr/>
        </p:nvPicPr>
        <p:blipFill>
          <a:blip r:embed="rId3"/>
          <a:stretch>
            <a:fillRect/>
          </a:stretch>
        </p:blipFill>
        <p:spPr>
          <a:xfrm>
            <a:off x="1812646" y="1847088"/>
            <a:ext cx="2903525" cy="677266"/>
          </a:xfrm>
          <a:prstGeom prst="rect">
            <a:avLst/>
          </a:prstGeom>
        </p:spPr>
      </p:pic>
      <p:sp>
        <p:nvSpPr>
          <p:cNvPr id="6" name="Text 3"/>
          <p:cNvSpPr/>
          <p:nvPr/>
        </p:nvSpPr>
        <p:spPr>
          <a:xfrm>
            <a:off x="566928" y="2670048"/>
            <a:ext cx="5394960" cy="1188720"/>
          </a:xfrm>
          <a:prstGeom prst="rect">
            <a:avLst/>
          </a:prstGeom>
          <a:noFill/>
          <a:ln/>
        </p:spPr>
        <p:txBody>
          <a:bodyPr wrap="square" lIns="0" tIns="0" rIns="0" bIns="0" rtlCol="0" anchor="t"/>
          <a:lstStyle/>
          <a:p>
            <a:pPr marL="0" indent="0">
              <a:lnSpc>
                <a:spcPct val="106000"/>
              </a:lnSpc>
              <a:buNone/>
            </a:pPr>
            <a:r>
              <a:rPr lang="en-US" sz="1550" dirty="0">
                <a:solidFill>
                  <a:srgbClr val="1C1B29"/>
                </a:solidFill>
                <a:latin typeface="Calibri" pitchFamily="34" charset="0"/>
                <a:ea typeface="Calibri" pitchFamily="34" charset="-122"/>
                <a:cs typeface="Calibri" pitchFamily="34" charset="-120"/>
              </a:rPr>
              <a:t>In likelihood-based inference this is the bottleneck. Every extra nuisance parameter added for realism is another sampler dimension, and the cost grows fast enough to limit how realistic your model is allowed to be.</a:t>
            </a:r>
            <a:endParaRPr lang="en-US" sz="1550" dirty="0"/>
          </a:p>
        </p:txBody>
      </p:sp>
      <p:sp>
        <p:nvSpPr>
          <p:cNvPr id="7" name="Shape 4"/>
          <p:cNvSpPr/>
          <p:nvPr/>
        </p:nvSpPr>
        <p:spPr>
          <a:xfrm>
            <a:off x="6345936" y="1444752"/>
            <a:ext cx="5278831" cy="3035808"/>
          </a:xfrm>
          <a:prstGeom prst="roundRect">
            <a:avLst>
              <a:gd name="adj" fmla="val 1807"/>
            </a:avLst>
          </a:prstGeom>
          <a:solidFill>
            <a:srgbClr val="EDEBF7"/>
          </a:solidFill>
          <a:ln/>
        </p:spPr>
        <p:txBody>
          <a:bodyPr/>
          <a:lstStyle/>
          <a:p>
            <a:endParaRPr lang="en-US"/>
          </a:p>
        </p:txBody>
      </p:sp>
      <p:sp>
        <p:nvSpPr>
          <p:cNvPr id="8" name="Text 5"/>
          <p:cNvSpPr/>
          <p:nvPr/>
        </p:nvSpPr>
        <p:spPr>
          <a:xfrm>
            <a:off x="6601968" y="1536192"/>
            <a:ext cx="4766767" cy="310896"/>
          </a:xfrm>
          <a:prstGeom prst="rect">
            <a:avLst/>
          </a:prstGeom>
          <a:noFill/>
          <a:ln/>
        </p:spPr>
        <p:txBody>
          <a:bodyPr wrap="square" lIns="0" tIns="0" rIns="0" bIns="0" rtlCol="0" anchor="ctr"/>
          <a:lstStyle/>
          <a:p>
            <a:pPr marL="0" indent="0">
              <a:buNone/>
            </a:pPr>
            <a:r>
              <a:rPr lang="en-US" sz="1700" b="1" dirty="0">
                <a:solidFill>
                  <a:srgbClr val="3E3379"/>
                </a:solidFill>
                <a:latin typeface="Calibri" pitchFamily="34" charset="0"/>
                <a:ea typeface="Calibri" pitchFamily="34" charset="-122"/>
                <a:cs typeface="Calibri" pitchFamily="34" charset="-120"/>
              </a:rPr>
              <a:t>The SBI recipe</a:t>
            </a:r>
            <a:endParaRPr lang="en-US" sz="1700" dirty="0"/>
          </a:p>
        </p:txBody>
      </p:sp>
      <p:pic>
        <p:nvPicPr>
          <p:cNvPr id="9" name="Image 1" descr="eq/marginal_trick.png"/>
          <p:cNvPicPr>
            <a:picLocks noChangeAspect="1"/>
          </p:cNvPicPr>
          <p:nvPr/>
        </p:nvPicPr>
        <p:blipFill>
          <a:blip r:embed="rId4"/>
          <a:stretch>
            <a:fillRect/>
          </a:stretch>
        </p:blipFill>
        <p:spPr>
          <a:xfrm>
            <a:off x="6985864" y="1920240"/>
            <a:ext cx="3998976" cy="243840"/>
          </a:xfrm>
          <a:prstGeom prst="rect">
            <a:avLst/>
          </a:prstGeom>
        </p:spPr>
      </p:pic>
      <p:sp>
        <p:nvSpPr>
          <p:cNvPr id="10" name="Shape 6"/>
          <p:cNvSpPr/>
          <p:nvPr/>
        </p:nvSpPr>
        <p:spPr>
          <a:xfrm>
            <a:off x="6601968" y="2414016"/>
            <a:ext cx="310896" cy="310896"/>
          </a:xfrm>
          <a:prstGeom prst="ellipse">
            <a:avLst/>
          </a:prstGeom>
          <a:solidFill>
            <a:srgbClr val="B9B1E0"/>
          </a:solidFill>
          <a:ln/>
        </p:spPr>
        <p:txBody>
          <a:bodyPr/>
          <a:lstStyle/>
          <a:p>
            <a:endParaRPr lang="en-US"/>
          </a:p>
        </p:txBody>
      </p:sp>
      <p:sp>
        <p:nvSpPr>
          <p:cNvPr id="11" name="Text 7"/>
          <p:cNvSpPr/>
          <p:nvPr/>
        </p:nvSpPr>
        <p:spPr>
          <a:xfrm>
            <a:off x="6601968" y="2414016"/>
            <a:ext cx="310896" cy="310896"/>
          </a:xfrm>
          <a:prstGeom prst="rect">
            <a:avLst/>
          </a:prstGeom>
          <a:noFill/>
          <a:ln/>
        </p:spPr>
        <p:txBody>
          <a:bodyPr wrap="square" lIns="0" tIns="0" rIns="0" bIns="0" rtlCol="0" anchor="ctr"/>
          <a:lstStyle/>
          <a:p>
            <a:pPr marL="0" indent="0" algn="ctr">
              <a:buNone/>
            </a:pPr>
            <a:r>
              <a:rPr lang="en-US" sz="1200" b="1" dirty="0">
                <a:solidFill>
                  <a:srgbClr val="3E3379"/>
                </a:solidFill>
                <a:latin typeface="Calibri" pitchFamily="34" charset="0"/>
                <a:ea typeface="Calibri" pitchFamily="34" charset="-122"/>
                <a:cs typeface="Calibri" pitchFamily="34" charset="-120"/>
              </a:rPr>
              <a:t>1</a:t>
            </a:r>
            <a:endParaRPr lang="en-US" sz="1200" dirty="0"/>
          </a:p>
        </p:txBody>
      </p:sp>
      <p:sp>
        <p:nvSpPr>
          <p:cNvPr id="12" name="Text 8"/>
          <p:cNvSpPr/>
          <p:nvPr/>
        </p:nvSpPr>
        <p:spPr>
          <a:xfrm>
            <a:off x="7040880" y="2395728"/>
            <a:ext cx="4318711" cy="365760"/>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Draw both θ and η from the joint prior.</a:t>
            </a:r>
            <a:endParaRPr lang="en-US" sz="1450" dirty="0"/>
          </a:p>
        </p:txBody>
      </p:sp>
      <p:sp>
        <p:nvSpPr>
          <p:cNvPr id="13" name="Shape 9"/>
          <p:cNvSpPr/>
          <p:nvPr/>
        </p:nvSpPr>
        <p:spPr>
          <a:xfrm>
            <a:off x="6601968" y="2834640"/>
            <a:ext cx="310896" cy="310896"/>
          </a:xfrm>
          <a:prstGeom prst="ellipse">
            <a:avLst/>
          </a:prstGeom>
          <a:solidFill>
            <a:srgbClr val="B9B1E0"/>
          </a:solidFill>
          <a:ln/>
        </p:spPr>
        <p:txBody>
          <a:bodyPr/>
          <a:lstStyle/>
          <a:p>
            <a:endParaRPr lang="en-US"/>
          </a:p>
        </p:txBody>
      </p:sp>
      <p:sp>
        <p:nvSpPr>
          <p:cNvPr id="14" name="Text 10"/>
          <p:cNvSpPr/>
          <p:nvPr/>
        </p:nvSpPr>
        <p:spPr>
          <a:xfrm>
            <a:off x="6601968" y="2834640"/>
            <a:ext cx="310896" cy="310896"/>
          </a:xfrm>
          <a:prstGeom prst="rect">
            <a:avLst/>
          </a:prstGeom>
          <a:noFill/>
          <a:ln/>
        </p:spPr>
        <p:txBody>
          <a:bodyPr wrap="square" lIns="0" tIns="0" rIns="0" bIns="0" rtlCol="0" anchor="ctr"/>
          <a:lstStyle/>
          <a:p>
            <a:pPr marL="0" indent="0" algn="ctr">
              <a:buNone/>
            </a:pPr>
            <a:r>
              <a:rPr lang="en-US" sz="1200" b="1" dirty="0">
                <a:solidFill>
                  <a:srgbClr val="3E3379"/>
                </a:solidFill>
                <a:latin typeface="Calibri" pitchFamily="34" charset="0"/>
                <a:ea typeface="Calibri" pitchFamily="34" charset="-122"/>
                <a:cs typeface="Calibri" pitchFamily="34" charset="-120"/>
              </a:rPr>
              <a:t>2</a:t>
            </a:r>
            <a:endParaRPr lang="en-US" sz="1200" dirty="0"/>
          </a:p>
        </p:txBody>
      </p:sp>
      <p:sp>
        <p:nvSpPr>
          <p:cNvPr id="15" name="Text 11"/>
          <p:cNvSpPr/>
          <p:nvPr/>
        </p:nvSpPr>
        <p:spPr>
          <a:xfrm>
            <a:off x="7040880" y="2816352"/>
            <a:ext cx="4318711" cy="365760"/>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Simulate — η leaves its imprint on x.</a:t>
            </a:r>
            <a:endParaRPr lang="en-US" sz="1450" dirty="0"/>
          </a:p>
        </p:txBody>
      </p:sp>
      <p:sp>
        <p:nvSpPr>
          <p:cNvPr id="16" name="Shape 12"/>
          <p:cNvSpPr/>
          <p:nvPr/>
        </p:nvSpPr>
        <p:spPr>
          <a:xfrm>
            <a:off x="6601968" y="3255264"/>
            <a:ext cx="310896" cy="310896"/>
          </a:xfrm>
          <a:prstGeom prst="ellipse">
            <a:avLst/>
          </a:prstGeom>
          <a:solidFill>
            <a:srgbClr val="B9B1E0"/>
          </a:solidFill>
          <a:ln/>
        </p:spPr>
        <p:txBody>
          <a:bodyPr/>
          <a:lstStyle/>
          <a:p>
            <a:endParaRPr lang="en-US"/>
          </a:p>
        </p:txBody>
      </p:sp>
      <p:sp>
        <p:nvSpPr>
          <p:cNvPr id="17" name="Text 13"/>
          <p:cNvSpPr/>
          <p:nvPr/>
        </p:nvSpPr>
        <p:spPr>
          <a:xfrm>
            <a:off x="6601968" y="3255264"/>
            <a:ext cx="310896" cy="310896"/>
          </a:xfrm>
          <a:prstGeom prst="rect">
            <a:avLst/>
          </a:prstGeom>
          <a:noFill/>
          <a:ln/>
        </p:spPr>
        <p:txBody>
          <a:bodyPr wrap="square" lIns="0" tIns="0" rIns="0" bIns="0" rtlCol="0" anchor="ctr"/>
          <a:lstStyle/>
          <a:p>
            <a:pPr marL="0" indent="0" algn="ctr">
              <a:buNone/>
            </a:pPr>
            <a:r>
              <a:rPr lang="en-US" sz="1200" b="1" dirty="0">
                <a:solidFill>
                  <a:srgbClr val="3E3379"/>
                </a:solidFill>
                <a:latin typeface="Calibri" pitchFamily="34" charset="0"/>
                <a:ea typeface="Calibri" pitchFamily="34" charset="-122"/>
                <a:cs typeface="Calibri" pitchFamily="34" charset="-120"/>
              </a:rPr>
              <a:t>3</a:t>
            </a:r>
            <a:endParaRPr lang="en-US" sz="1200" dirty="0"/>
          </a:p>
        </p:txBody>
      </p:sp>
      <p:sp>
        <p:nvSpPr>
          <p:cNvPr id="18" name="Text 14"/>
          <p:cNvSpPr/>
          <p:nvPr/>
        </p:nvSpPr>
        <p:spPr>
          <a:xfrm>
            <a:off x="7040880" y="3236976"/>
            <a:ext cx="4318711" cy="365760"/>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Train the network on (θ, x) pairs only.</a:t>
            </a:r>
            <a:endParaRPr lang="en-US" sz="1450" dirty="0"/>
          </a:p>
        </p:txBody>
      </p:sp>
      <p:sp>
        <p:nvSpPr>
          <p:cNvPr id="19" name="Text 15"/>
          <p:cNvSpPr/>
          <p:nvPr/>
        </p:nvSpPr>
        <p:spPr>
          <a:xfrm>
            <a:off x="6601968" y="3712464"/>
            <a:ext cx="4766767" cy="640080"/>
          </a:xfrm>
          <a:prstGeom prst="rect">
            <a:avLst/>
          </a:prstGeom>
          <a:noFill/>
          <a:ln/>
        </p:spPr>
        <p:txBody>
          <a:bodyPr wrap="square" lIns="0" tIns="0" rIns="0" bIns="0" rtlCol="0" anchor="t"/>
          <a:lstStyle/>
          <a:p>
            <a:pPr marL="0" indent="0">
              <a:lnSpc>
                <a:spcPct val="106000"/>
              </a:lnSpc>
              <a:buNone/>
            </a:pPr>
            <a:r>
              <a:rPr lang="en-US" sz="1450" b="1" dirty="0">
                <a:solidFill>
                  <a:srgbClr val="3E3379"/>
                </a:solidFill>
                <a:latin typeface="Calibri" pitchFamily="34" charset="0"/>
                <a:ea typeface="Calibri" pitchFamily="34" charset="-122"/>
                <a:cs typeface="Calibri" pitchFamily="34" charset="-120"/>
              </a:rPr>
              <a:t>The network learns the marginal p(θ | x) directly. The integral was carried out by the training set.</a:t>
            </a:r>
            <a:endParaRPr lang="en-US" sz="1450" dirty="0"/>
          </a:p>
        </p:txBody>
      </p:sp>
      <p:sp>
        <p:nvSpPr>
          <p:cNvPr id="20" name="Shape 16"/>
          <p:cNvSpPr/>
          <p:nvPr/>
        </p:nvSpPr>
        <p:spPr>
          <a:xfrm>
            <a:off x="566928" y="4718304"/>
            <a:ext cx="420624" cy="420624"/>
          </a:xfrm>
          <a:prstGeom prst="roundRect">
            <a:avLst>
              <a:gd name="adj" fmla="val 21739"/>
            </a:avLst>
          </a:prstGeom>
          <a:solidFill>
            <a:srgbClr val="4A3F8F"/>
          </a:solidFill>
          <a:ln w="12700">
            <a:solidFill>
              <a:srgbClr val="4A3F8F"/>
            </a:solidFill>
            <a:prstDash val="solid"/>
          </a:ln>
        </p:spPr>
        <p:txBody>
          <a:bodyPr/>
          <a:lstStyle/>
          <a:p>
            <a:endParaRPr lang="en-US"/>
          </a:p>
        </p:txBody>
      </p:sp>
      <p:sp>
        <p:nvSpPr>
          <p:cNvPr id="21" name="Text 17"/>
          <p:cNvSpPr/>
          <p:nvPr/>
        </p:nvSpPr>
        <p:spPr>
          <a:xfrm>
            <a:off x="566928" y="471830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θ₁</a:t>
            </a:r>
            <a:endParaRPr lang="en-US" sz="1200" dirty="0"/>
          </a:p>
        </p:txBody>
      </p:sp>
      <p:sp>
        <p:nvSpPr>
          <p:cNvPr id="22" name="Shape 18"/>
          <p:cNvSpPr/>
          <p:nvPr/>
        </p:nvSpPr>
        <p:spPr>
          <a:xfrm>
            <a:off x="1051560" y="4718304"/>
            <a:ext cx="420624" cy="420624"/>
          </a:xfrm>
          <a:prstGeom prst="roundRect">
            <a:avLst>
              <a:gd name="adj" fmla="val 21739"/>
            </a:avLst>
          </a:prstGeom>
          <a:solidFill>
            <a:srgbClr val="4A3F8F"/>
          </a:solidFill>
          <a:ln w="12700">
            <a:solidFill>
              <a:srgbClr val="4A3F8F"/>
            </a:solidFill>
            <a:prstDash val="solid"/>
          </a:ln>
        </p:spPr>
        <p:txBody>
          <a:bodyPr/>
          <a:lstStyle/>
          <a:p>
            <a:endParaRPr lang="en-US"/>
          </a:p>
        </p:txBody>
      </p:sp>
      <p:sp>
        <p:nvSpPr>
          <p:cNvPr id="23" name="Text 19"/>
          <p:cNvSpPr/>
          <p:nvPr/>
        </p:nvSpPr>
        <p:spPr>
          <a:xfrm>
            <a:off x="1051560" y="471830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θ₂</a:t>
            </a:r>
            <a:endParaRPr lang="en-US" sz="1200" dirty="0"/>
          </a:p>
        </p:txBody>
      </p:sp>
      <p:sp>
        <p:nvSpPr>
          <p:cNvPr id="24" name="Shape 20"/>
          <p:cNvSpPr/>
          <p:nvPr/>
        </p:nvSpPr>
        <p:spPr>
          <a:xfrm>
            <a:off x="1536192" y="4718304"/>
            <a:ext cx="420624" cy="420624"/>
          </a:xfrm>
          <a:prstGeom prst="roundRect">
            <a:avLst>
              <a:gd name="adj" fmla="val 21739"/>
            </a:avLst>
          </a:prstGeom>
          <a:solidFill>
            <a:srgbClr val="F3F3F8"/>
          </a:solidFill>
          <a:ln w="12700">
            <a:solidFill>
              <a:srgbClr val="DCDCE6"/>
            </a:solidFill>
            <a:prstDash val="solid"/>
          </a:ln>
        </p:spPr>
        <p:txBody>
          <a:bodyPr/>
          <a:lstStyle/>
          <a:p>
            <a:endParaRPr lang="en-US"/>
          </a:p>
        </p:txBody>
      </p:sp>
      <p:sp>
        <p:nvSpPr>
          <p:cNvPr id="25" name="Text 21"/>
          <p:cNvSpPr/>
          <p:nvPr/>
        </p:nvSpPr>
        <p:spPr>
          <a:xfrm>
            <a:off x="1536192" y="4718304"/>
            <a:ext cx="420624" cy="420624"/>
          </a:xfrm>
          <a:prstGeom prst="rect">
            <a:avLst/>
          </a:prstGeom>
          <a:noFill/>
          <a:ln/>
        </p:spPr>
        <p:txBody>
          <a:bodyPr wrap="square" lIns="0" tIns="0" rIns="0" bIns="0" rtlCol="0" anchor="ctr"/>
          <a:lstStyle/>
          <a:p>
            <a:pPr marL="0" indent="0" algn="ctr">
              <a:buNone/>
            </a:pPr>
            <a:r>
              <a:rPr lang="en-US" sz="1200" b="1" dirty="0">
                <a:solidFill>
                  <a:srgbClr val="6E6E80"/>
                </a:solidFill>
                <a:latin typeface="Calibri" pitchFamily="34" charset="0"/>
                <a:ea typeface="Calibri" pitchFamily="34" charset="-122"/>
                <a:cs typeface="Calibri" pitchFamily="34" charset="-120"/>
              </a:rPr>
              <a:t>η₁</a:t>
            </a:r>
            <a:endParaRPr lang="en-US" sz="1200" dirty="0"/>
          </a:p>
        </p:txBody>
      </p:sp>
      <p:sp>
        <p:nvSpPr>
          <p:cNvPr id="26" name="Shape 22"/>
          <p:cNvSpPr/>
          <p:nvPr/>
        </p:nvSpPr>
        <p:spPr>
          <a:xfrm>
            <a:off x="2020824" y="4718304"/>
            <a:ext cx="420624" cy="420624"/>
          </a:xfrm>
          <a:prstGeom prst="roundRect">
            <a:avLst>
              <a:gd name="adj" fmla="val 21739"/>
            </a:avLst>
          </a:prstGeom>
          <a:solidFill>
            <a:srgbClr val="F3F3F8"/>
          </a:solidFill>
          <a:ln w="12700">
            <a:solidFill>
              <a:srgbClr val="DCDCE6"/>
            </a:solidFill>
            <a:prstDash val="solid"/>
          </a:ln>
        </p:spPr>
        <p:txBody>
          <a:bodyPr/>
          <a:lstStyle/>
          <a:p>
            <a:endParaRPr lang="en-US"/>
          </a:p>
        </p:txBody>
      </p:sp>
      <p:sp>
        <p:nvSpPr>
          <p:cNvPr id="27" name="Text 23"/>
          <p:cNvSpPr/>
          <p:nvPr/>
        </p:nvSpPr>
        <p:spPr>
          <a:xfrm>
            <a:off x="2020824" y="4718304"/>
            <a:ext cx="420624" cy="420624"/>
          </a:xfrm>
          <a:prstGeom prst="rect">
            <a:avLst/>
          </a:prstGeom>
          <a:noFill/>
          <a:ln/>
        </p:spPr>
        <p:txBody>
          <a:bodyPr wrap="square" lIns="0" tIns="0" rIns="0" bIns="0" rtlCol="0" anchor="ctr"/>
          <a:lstStyle/>
          <a:p>
            <a:pPr marL="0" indent="0" algn="ctr">
              <a:buNone/>
            </a:pPr>
            <a:r>
              <a:rPr lang="en-US" sz="1200" b="1" dirty="0">
                <a:solidFill>
                  <a:srgbClr val="6E6E80"/>
                </a:solidFill>
                <a:latin typeface="Calibri" pitchFamily="34" charset="0"/>
                <a:ea typeface="Calibri" pitchFamily="34" charset="-122"/>
                <a:cs typeface="Calibri" pitchFamily="34" charset="-120"/>
              </a:rPr>
              <a:t>η₂</a:t>
            </a:r>
            <a:endParaRPr lang="en-US" sz="1200" dirty="0"/>
          </a:p>
        </p:txBody>
      </p:sp>
      <p:sp>
        <p:nvSpPr>
          <p:cNvPr id="28" name="Shape 24"/>
          <p:cNvSpPr/>
          <p:nvPr/>
        </p:nvSpPr>
        <p:spPr>
          <a:xfrm>
            <a:off x="2505456" y="4718304"/>
            <a:ext cx="420624" cy="420624"/>
          </a:xfrm>
          <a:prstGeom prst="roundRect">
            <a:avLst>
              <a:gd name="adj" fmla="val 21739"/>
            </a:avLst>
          </a:prstGeom>
          <a:solidFill>
            <a:srgbClr val="F3F3F8"/>
          </a:solidFill>
          <a:ln w="12700">
            <a:solidFill>
              <a:srgbClr val="DCDCE6"/>
            </a:solidFill>
            <a:prstDash val="solid"/>
          </a:ln>
        </p:spPr>
        <p:txBody>
          <a:bodyPr/>
          <a:lstStyle/>
          <a:p>
            <a:endParaRPr lang="en-US"/>
          </a:p>
        </p:txBody>
      </p:sp>
      <p:sp>
        <p:nvSpPr>
          <p:cNvPr id="29" name="Text 25"/>
          <p:cNvSpPr/>
          <p:nvPr/>
        </p:nvSpPr>
        <p:spPr>
          <a:xfrm>
            <a:off x="2505456" y="4718304"/>
            <a:ext cx="420624" cy="420624"/>
          </a:xfrm>
          <a:prstGeom prst="rect">
            <a:avLst/>
          </a:prstGeom>
          <a:noFill/>
          <a:ln/>
        </p:spPr>
        <p:txBody>
          <a:bodyPr wrap="square" lIns="0" tIns="0" rIns="0" bIns="0" rtlCol="0" anchor="ctr"/>
          <a:lstStyle/>
          <a:p>
            <a:pPr marL="0" indent="0" algn="ctr">
              <a:buNone/>
            </a:pPr>
            <a:r>
              <a:rPr lang="en-US" sz="1200" b="1" dirty="0">
                <a:solidFill>
                  <a:srgbClr val="6E6E80"/>
                </a:solidFill>
                <a:latin typeface="Calibri" pitchFamily="34" charset="0"/>
                <a:ea typeface="Calibri" pitchFamily="34" charset="-122"/>
                <a:cs typeface="Calibri" pitchFamily="34" charset="-120"/>
              </a:rPr>
              <a:t>η₃</a:t>
            </a:r>
            <a:endParaRPr lang="en-US" sz="1200" dirty="0"/>
          </a:p>
        </p:txBody>
      </p:sp>
      <p:sp>
        <p:nvSpPr>
          <p:cNvPr id="30" name="Shape 26"/>
          <p:cNvSpPr/>
          <p:nvPr/>
        </p:nvSpPr>
        <p:spPr>
          <a:xfrm>
            <a:off x="2990088" y="4718304"/>
            <a:ext cx="420624" cy="420624"/>
          </a:xfrm>
          <a:prstGeom prst="roundRect">
            <a:avLst>
              <a:gd name="adj" fmla="val 21739"/>
            </a:avLst>
          </a:prstGeom>
          <a:solidFill>
            <a:srgbClr val="F3F3F8"/>
          </a:solidFill>
          <a:ln w="12700">
            <a:solidFill>
              <a:srgbClr val="DCDCE6"/>
            </a:solidFill>
            <a:prstDash val="solid"/>
          </a:ln>
        </p:spPr>
        <p:txBody>
          <a:bodyPr/>
          <a:lstStyle/>
          <a:p>
            <a:endParaRPr lang="en-US"/>
          </a:p>
        </p:txBody>
      </p:sp>
      <p:sp>
        <p:nvSpPr>
          <p:cNvPr id="31" name="Text 27"/>
          <p:cNvSpPr/>
          <p:nvPr/>
        </p:nvSpPr>
        <p:spPr>
          <a:xfrm>
            <a:off x="2990088" y="4718304"/>
            <a:ext cx="420624" cy="420624"/>
          </a:xfrm>
          <a:prstGeom prst="rect">
            <a:avLst/>
          </a:prstGeom>
          <a:noFill/>
          <a:ln/>
        </p:spPr>
        <p:txBody>
          <a:bodyPr wrap="square" lIns="0" tIns="0" rIns="0" bIns="0" rtlCol="0" anchor="ctr"/>
          <a:lstStyle/>
          <a:p>
            <a:pPr marL="0" indent="0" algn="ctr">
              <a:buNone/>
            </a:pPr>
            <a:r>
              <a:rPr lang="en-US" sz="1200" b="1" dirty="0">
                <a:solidFill>
                  <a:srgbClr val="6E6E80"/>
                </a:solidFill>
                <a:latin typeface="Calibri" pitchFamily="34" charset="0"/>
                <a:ea typeface="Calibri" pitchFamily="34" charset="-122"/>
                <a:cs typeface="Calibri" pitchFamily="34" charset="-120"/>
              </a:rPr>
              <a:t>η₄</a:t>
            </a:r>
            <a:endParaRPr lang="en-US" sz="1200" dirty="0"/>
          </a:p>
        </p:txBody>
      </p:sp>
      <p:sp>
        <p:nvSpPr>
          <p:cNvPr id="32" name="Shape 28"/>
          <p:cNvSpPr/>
          <p:nvPr/>
        </p:nvSpPr>
        <p:spPr>
          <a:xfrm>
            <a:off x="3474720" y="4718304"/>
            <a:ext cx="420624" cy="420624"/>
          </a:xfrm>
          <a:prstGeom prst="roundRect">
            <a:avLst>
              <a:gd name="adj" fmla="val 21739"/>
            </a:avLst>
          </a:prstGeom>
          <a:solidFill>
            <a:srgbClr val="F3F3F8"/>
          </a:solidFill>
          <a:ln w="12700">
            <a:solidFill>
              <a:srgbClr val="DCDCE6"/>
            </a:solidFill>
            <a:prstDash val="solid"/>
          </a:ln>
        </p:spPr>
        <p:txBody>
          <a:bodyPr/>
          <a:lstStyle/>
          <a:p>
            <a:endParaRPr lang="en-US"/>
          </a:p>
        </p:txBody>
      </p:sp>
      <p:sp>
        <p:nvSpPr>
          <p:cNvPr id="33" name="Text 29"/>
          <p:cNvSpPr/>
          <p:nvPr/>
        </p:nvSpPr>
        <p:spPr>
          <a:xfrm>
            <a:off x="3474720" y="4718304"/>
            <a:ext cx="420624" cy="420624"/>
          </a:xfrm>
          <a:prstGeom prst="rect">
            <a:avLst/>
          </a:prstGeom>
          <a:noFill/>
          <a:ln/>
        </p:spPr>
        <p:txBody>
          <a:bodyPr wrap="square" lIns="0" tIns="0" rIns="0" bIns="0" rtlCol="0" anchor="ctr"/>
          <a:lstStyle/>
          <a:p>
            <a:pPr marL="0" indent="0" algn="ctr">
              <a:buNone/>
            </a:pPr>
            <a:r>
              <a:rPr lang="en-US" sz="1200" b="1" dirty="0">
                <a:solidFill>
                  <a:srgbClr val="6E6E80"/>
                </a:solidFill>
                <a:latin typeface="Calibri" pitchFamily="34" charset="0"/>
                <a:ea typeface="Calibri" pitchFamily="34" charset="-122"/>
                <a:cs typeface="Calibri" pitchFamily="34" charset="-120"/>
              </a:rPr>
              <a:t>η₅</a:t>
            </a:r>
            <a:endParaRPr lang="en-US" sz="1200" dirty="0"/>
          </a:p>
        </p:txBody>
      </p:sp>
      <p:sp>
        <p:nvSpPr>
          <p:cNvPr id="34" name="Shape 30"/>
          <p:cNvSpPr/>
          <p:nvPr/>
        </p:nvSpPr>
        <p:spPr>
          <a:xfrm>
            <a:off x="3959352" y="4718304"/>
            <a:ext cx="420624" cy="420624"/>
          </a:xfrm>
          <a:prstGeom prst="roundRect">
            <a:avLst>
              <a:gd name="adj" fmla="val 21739"/>
            </a:avLst>
          </a:prstGeom>
          <a:solidFill>
            <a:srgbClr val="F3F3F8"/>
          </a:solidFill>
          <a:ln w="12700">
            <a:solidFill>
              <a:srgbClr val="DCDCE6"/>
            </a:solidFill>
            <a:prstDash val="solid"/>
          </a:ln>
        </p:spPr>
        <p:txBody>
          <a:bodyPr/>
          <a:lstStyle/>
          <a:p>
            <a:endParaRPr lang="en-US"/>
          </a:p>
        </p:txBody>
      </p:sp>
      <p:sp>
        <p:nvSpPr>
          <p:cNvPr id="35" name="Text 31"/>
          <p:cNvSpPr/>
          <p:nvPr/>
        </p:nvSpPr>
        <p:spPr>
          <a:xfrm>
            <a:off x="3959352" y="4718304"/>
            <a:ext cx="420624" cy="420624"/>
          </a:xfrm>
          <a:prstGeom prst="rect">
            <a:avLst/>
          </a:prstGeom>
          <a:noFill/>
          <a:ln/>
        </p:spPr>
        <p:txBody>
          <a:bodyPr wrap="square" lIns="0" tIns="0" rIns="0" bIns="0" rtlCol="0" anchor="ctr"/>
          <a:lstStyle/>
          <a:p>
            <a:pPr marL="0" indent="0" algn="ctr">
              <a:buNone/>
            </a:pPr>
            <a:r>
              <a:rPr lang="en-US" sz="1200" b="1" dirty="0">
                <a:solidFill>
                  <a:srgbClr val="6E6E80"/>
                </a:solidFill>
                <a:latin typeface="Calibri" pitchFamily="34" charset="0"/>
                <a:ea typeface="Calibri" pitchFamily="34" charset="-122"/>
                <a:cs typeface="Calibri" pitchFamily="34" charset="-120"/>
              </a:rPr>
              <a:t>η₆</a:t>
            </a:r>
            <a:endParaRPr lang="en-US" sz="1200" dirty="0"/>
          </a:p>
        </p:txBody>
      </p:sp>
      <p:sp>
        <p:nvSpPr>
          <p:cNvPr id="36" name="Shape 32"/>
          <p:cNvSpPr/>
          <p:nvPr/>
        </p:nvSpPr>
        <p:spPr>
          <a:xfrm>
            <a:off x="4443984" y="4718304"/>
            <a:ext cx="420624" cy="420624"/>
          </a:xfrm>
          <a:prstGeom prst="roundRect">
            <a:avLst>
              <a:gd name="adj" fmla="val 21739"/>
            </a:avLst>
          </a:prstGeom>
          <a:solidFill>
            <a:srgbClr val="F3F3F8"/>
          </a:solidFill>
          <a:ln w="12700">
            <a:solidFill>
              <a:srgbClr val="DCDCE6"/>
            </a:solidFill>
            <a:prstDash val="solid"/>
          </a:ln>
        </p:spPr>
        <p:txBody>
          <a:bodyPr/>
          <a:lstStyle/>
          <a:p>
            <a:endParaRPr lang="en-US"/>
          </a:p>
        </p:txBody>
      </p:sp>
      <p:sp>
        <p:nvSpPr>
          <p:cNvPr id="37" name="Text 33"/>
          <p:cNvSpPr/>
          <p:nvPr/>
        </p:nvSpPr>
        <p:spPr>
          <a:xfrm>
            <a:off x="4443984" y="4718304"/>
            <a:ext cx="420624" cy="420624"/>
          </a:xfrm>
          <a:prstGeom prst="rect">
            <a:avLst/>
          </a:prstGeom>
          <a:noFill/>
          <a:ln/>
        </p:spPr>
        <p:txBody>
          <a:bodyPr wrap="square" lIns="0" tIns="0" rIns="0" bIns="0" rtlCol="0" anchor="ctr"/>
          <a:lstStyle/>
          <a:p>
            <a:pPr marL="0" indent="0" algn="ctr">
              <a:buNone/>
            </a:pPr>
            <a:r>
              <a:rPr lang="en-US" sz="1200" b="1" dirty="0">
                <a:solidFill>
                  <a:srgbClr val="6E6E80"/>
                </a:solidFill>
                <a:latin typeface="Calibri" pitchFamily="34" charset="0"/>
                <a:ea typeface="Calibri" pitchFamily="34" charset="-122"/>
                <a:cs typeface="Calibri" pitchFamily="34" charset="-120"/>
              </a:rPr>
              <a:t>η₇</a:t>
            </a:r>
            <a:endParaRPr lang="en-US" sz="1200" dirty="0"/>
          </a:p>
        </p:txBody>
      </p:sp>
      <p:sp>
        <p:nvSpPr>
          <p:cNvPr id="38" name="Shape 34"/>
          <p:cNvSpPr/>
          <p:nvPr/>
        </p:nvSpPr>
        <p:spPr>
          <a:xfrm>
            <a:off x="4928616" y="4718304"/>
            <a:ext cx="420624" cy="420624"/>
          </a:xfrm>
          <a:prstGeom prst="roundRect">
            <a:avLst>
              <a:gd name="adj" fmla="val 21739"/>
            </a:avLst>
          </a:prstGeom>
          <a:solidFill>
            <a:srgbClr val="F3F3F8"/>
          </a:solidFill>
          <a:ln w="12700">
            <a:solidFill>
              <a:srgbClr val="DCDCE6"/>
            </a:solidFill>
            <a:prstDash val="solid"/>
          </a:ln>
        </p:spPr>
        <p:txBody>
          <a:bodyPr/>
          <a:lstStyle/>
          <a:p>
            <a:endParaRPr lang="en-US"/>
          </a:p>
        </p:txBody>
      </p:sp>
      <p:sp>
        <p:nvSpPr>
          <p:cNvPr id="39" name="Text 35"/>
          <p:cNvSpPr/>
          <p:nvPr/>
        </p:nvSpPr>
        <p:spPr>
          <a:xfrm>
            <a:off x="4928616" y="4718304"/>
            <a:ext cx="420624" cy="420624"/>
          </a:xfrm>
          <a:prstGeom prst="rect">
            <a:avLst/>
          </a:prstGeom>
          <a:noFill/>
          <a:ln/>
        </p:spPr>
        <p:txBody>
          <a:bodyPr wrap="square" lIns="0" tIns="0" rIns="0" bIns="0" rtlCol="0" anchor="ctr"/>
          <a:lstStyle/>
          <a:p>
            <a:pPr marL="0" indent="0" algn="ctr">
              <a:buNone/>
            </a:pPr>
            <a:r>
              <a:rPr lang="en-US" sz="1200" b="1" dirty="0">
                <a:solidFill>
                  <a:srgbClr val="6E6E80"/>
                </a:solidFill>
                <a:latin typeface="Calibri" pitchFamily="34" charset="0"/>
                <a:ea typeface="Calibri" pitchFamily="34" charset="-122"/>
                <a:cs typeface="Calibri" pitchFamily="34" charset="-120"/>
              </a:rPr>
              <a:t>η₈</a:t>
            </a:r>
            <a:endParaRPr lang="en-US" sz="1200" dirty="0"/>
          </a:p>
        </p:txBody>
      </p:sp>
      <p:sp>
        <p:nvSpPr>
          <p:cNvPr id="40" name="Text 36"/>
          <p:cNvSpPr/>
          <p:nvPr/>
        </p:nvSpPr>
        <p:spPr>
          <a:xfrm>
            <a:off x="566928" y="5175504"/>
            <a:ext cx="4937760" cy="274320"/>
          </a:xfrm>
          <a:prstGeom prst="rect">
            <a:avLst/>
          </a:prstGeom>
          <a:noFill/>
          <a:ln/>
        </p:spPr>
        <p:txBody>
          <a:bodyPr wrap="square" lIns="0" tIns="0" rIns="0" bIns="0" rtlCol="0" anchor="t"/>
          <a:lstStyle/>
          <a:p>
            <a:pPr marL="0" indent="0">
              <a:lnSpc>
                <a:spcPct val="106000"/>
              </a:lnSpc>
              <a:buNone/>
            </a:pPr>
            <a:r>
              <a:rPr lang="en-US" sz="1250" i="1" dirty="0">
                <a:solidFill>
                  <a:srgbClr val="6E6E80"/>
                </a:solidFill>
                <a:latin typeface="Calibri" pitchFamily="34" charset="0"/>
                <a:ea typeface="Calibri" pitchFamily="34" charset="-122"/>
                <a:cs typeface="Calibri" pitchFamily="34" charset="-120"/>
              </a:rPr>
              <a:t>simulate with all of them</a:t>
            </a:r>
            <a:endParaRPr lang="en-US" sz="1250" dirty="0"/>
          </a:p>
        </p:txBody>
      </p:sp>
      <p:sp>
        <p:nvSpPr>
          <p:cNvPr id="41" name="Shape 37"/>
          <p:cNvSpPr/>
          <p:nvPr/>
        </p:nvSpPr>
        <p:spPr>
          <a:xfrm>
            <a:off x="5440680" y="4928616"/>
            <a:ext cx="548640" cy="0"/>
          </a:xfrm>
          <a:prstGeom prst="line">
            <a:avLst/>
          </a:prstGeom>
          <a:noFill/>
          <a:ln w="20320">
            <a:solidFill>
              <a:srgbClr val="6E6E80"/>
            </a:solidFill>
            <a:prstDash val="solid"/>
            <a:tailEnd type="triangle"/>
          </a:ln>
        </p:spPr>
        <p:txBody>
          <a:bodyPr/>
          <a:lstStyle/>
          <a:p>
            <a:endParaRPr lang="en-US"/>
          </a:p>
        </p:txBody>
      </p:sp>
      <p:sp>
        <p:nvSpPr>
          <p:cNvPr id="42" name="Shape 38"/>
          <p:cNvSpPr/>
          <p:nvPr/>
        </p:nvSpPr>
        <p:spPr>
          <a:xfrm>
            <a:off x="6126480" y="4718304"/>
            <a:ext cx="2468880" cy="420624"/>
          </a:xfrm>
          <a:prstGeom prst="roundRect">
            <a:avLst>
              <a:gd name="adj" fmla="val 21739"/>
            </a:avLst>
          </a:prstGeom>
          <a:solidFill>
            <a:srgbClr val="E3F1EE"/>
          </a:solidFill>
          <a:ln w="12700">
            <a:solidFill>
              <a:srgbClr val="1F7A6C"/>
            </a:solidFill>
            <a:prstDash val="solid"/>
          </a:ln>
        </p:spPr>
        <p:txBody>
          <a:bodyPr/>
          <a:lstStyle/>
          <a:p>
            <a:endParaRPr lang="en-US"/>
          </a:p>
        </p:txBody>
      </p:sp>
      <p:sp>
        <p:nvSpPr>
          <p:cNvPr id="43" name="Text 39"/>
          <p:cNvSpPr/>
          <p:nvPr/>
        </p:nvSpPr>
        <p:spPr>
          <a:xfrm>
            <a:off x="6126480" y="4718304"/>
            <a:ext cx="2468880" cy="420624"/>
          </a:xfrm>
          <a:prstGeom prst="rect">
            <a:avLst/>
          </a:prstGeom>
          <a:noFill/>
          <a:ln/>
        </p:spPr>
        <p:txBody>
          <a:bodyPr wrap="square" lIns="0" tIns="0" rIns="0" bIns="0" rtlCol="0" anchor="ctr"/>
          <a:lstStyle/>
          <a:p>
            <a:pPr marL="0" indent="0" algn="ctr">
              <a:buNone/>
            </a:pPr>
            <a:r>
              <a:rPr lang="en-US" sz="1250" b="1" dirty="0">
                <a:solidFill>
                  <a:srgbClr val="1F7A6C"/>
                </a:solidFill>
                <a:latin typeface="Calibri" pitchFamily="34" charset="0"/>
                <a:ea typeface="Calibri" pitchFamily="34" charset="-122"/>
                <a:cs typeface="Calibri" pitchFamily="34" charset="-120"/>
              </a:rPr>
              <a:t>network sees (θ, x)</a:t>
            </a:r>
            <a:endParaRPr lang="en-US" sz="1250" dirty="0"/>
          </a:p>
        </p:txBody>
      </p:sp>
      <p:sp>
        <p:nvSpPr>
          <p:cNvPr id="44" name="Shape 40"/>
          <p:cNvSpPr/>
          <p:nvPr/>
        </p:nvSpPr>
        <p:spPr>
          <a:xfrm>
            <a:off x="8732520" y="4928616"/>
            <a:ext cx="548640" cy="0"/>
          </a:xfrm>
          <a:prstGeom prst="line">
            <a:avLst/>
          </a:prstGeom>
          <a:noFill/>
          <a:ln w="20320">
            <a:solidFill>
              <a:srgbClr val="6E6E80"/>
            </a:solidFill>
            <a:prstDash val="solid"/>
            <a:tailEnd type="triangle"/>
          </a:ln>
        </p:spPr>
        <p:txBody>
          <a:bodyPr/>
          <a:lstStyle/>
          <a:p>
            <a:endParaRPr lang="en-US"/>
          </a:p>
        </p:txBody>
      </p:sp>
      <p:sp>
        <p:nvSpPr>
          <p:cNvPr id="45" name="Shape 41"/>
          <p:cNvSpPr/>
          <p:nvPr/>
        </p:nvSpPr>
        <p:spPr>
          <a:xfrm>
            <a:off x="9418320" y="4718304"/>
            <a:ext cx="420624" cy="420624"/>
          </a:xfrm>
          <a:prstGeom prst="roundRect">
            <a:avLst>
              <a:gd name="adj" fmla="val 21739"/>
            </a:avLst>
          </a:prstGeom>
          <a:solidFill>
            <a:srgbClr val="4A3F8F"/>
          </a:solidFill>
          <a:ln/>
        </p:spPr>
        <p:txBody>
          <a:bodyPr/>
          <a:lstStyle/>
          <a:p>
            <a:endParaRPr lang="en-US"/>
          </a:p>
        </p:txBody>
      </p:sp>
      <p:sp>
        <p:nvSpPr>
          <p:cNvPr id="46" name="Text 42"/>
          <p:cNvSpPr/>
          <p:nvPr/>
        </p:nvSpPr>
        <p:spPr>
          <a:xfrm>
            <a:off x="9418320" y="471830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θ₁</a:t>
            </a:r>
            <a:endParaRPr lang="en-US" sz="1200" dirty="0"/>
          </a:p>
        </p:txBody>
      </p:sp>
      <p:sp>
        <p:nvSpPr>
          <p:cNvPr id="47" name="Shape 43"/>
          <p:cNvSpPr/>
          <p:nvPr/>
        </p:nvSpPr>
        <p:spPr>
          <a:xfrm>
            <a:off x="9902952" y="4718304"/>
            <a:ext cx="420624" cy="420624"/>
          </a:xfrm>
          <a:prstGeom prst="roundRect">
            <a:avLst>
              <a:gd name="adj" fmla="val 21739"/>
            </a:avLst>
          </a:prstGeom>
          <a:solidFill>
            <a:srgbClr val="4A3F8F"/>
          </a:solidFill>
          <a:ln/>
        </p:spPr>
        <p:txBody>
          <a:bodyPr/>
          <a:lstStyle/>
          <a:p>
            <a:endParaRPr lang="en-US"/>
          </a:p>
        </p:txBody>
      </p:sp>
      <p:sp>
        <p:nvSpPr>
          <p:cNvPr id="48" name="Text 44"/>
          <p:cNvSpPr/>
          <p:nvPr/>
        </p:nvSpPr>
        <p:spPr>
          <a:xfrm>
            <a:off x="9902952" y="471830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θ₂</a:t>
            </a:r>
            <a:endParaRPr lang="en-US" sz="1200" dirty="0"/>
          </a:p>
        </p:txBody>
      </p:sp>
      <p:sp>
        <p:nvSpPr>
          <p:cNvPr id="49" name="Text 45"/>
          <p:cNvSpPr/>
          <p:nvPr/>
        </p:nvSpPr>
        <p:spPr>
          <a:xfrm>
            <a:off x="9418320" y="5175504"/>
            <a:ext cx="2194560" cy="274320"/>
          </a:xfrm>
          <a:prstGeom prst="rect">
            <a:avLst/>
          </a:prstGeom>
          <a:noFill/>
          <a:ln/>
        </p:spPr>
        <p:txBody>
          <a:bodyPr wrap="square" lIns="0" tIns="0" rIns="0" bIns="0" rtlCol="0" anchor="t"/>
          <a:lstStyle/>
          <a:p>
            <a:pPr marL="0" indent="0">
              <a:lnSpc>
                <a:spcPct val="106000"/>
              </a:lnSpc>
              <a:buNone/>
            </a:pPr>
            <a:r>
              <a:rPr lang="en-US" sz="1250" i="1" dirty="0">
                <a:solidFill>
                  <a:srgbClr val="6E6E80"/>
                </a:solidFill>
                <a:latin typeface="Calibri" pitchFamily="34" charset="0"/>
                <a:ea typeface="Calibri" pitchFamily="34" charset="-122"/>
                <a:cs typeface="Calibri" pitchFamily="34" charset="-120"/>
              </a:rPr>
              <a:t>marginal posterior</a:t>
            </a:r>
            <a:endParaRPr lang="en-US" sz="1250" dirty="0"/>
          </a:p>
        </p:txBody>
      </p:sp>
      <p:sp>
        <p:nvSpPr>
          <p:cNvPr id="50" name="Text 46"/>
          <p:cNvSpPr/>
          <p:nvPr/>
        </p:nvSpPr>
        <p:spPr>
          <a:xfrm>
            <a:off x="566928" y="5504688"/>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Anau Montel (2025), §5.</a:t>
            </a:r>
            <a:endParaRPr lang="en-US" sz="1050" dirty="0"/>
          </a:p>
        </p:txBody>
      </p:sp>
      <p:sp>
        <p:nvSpPr>
          <p:cNvPr id="51" name="Shape 47"/>
          <p:cNvSpPr/>
          <p:nvPr/>
        </p:nvSpPr>
        <p:spPr>
          <a:xfrm>
            <a:off x="566928" y="5797296"/>
            <a:ext cx="11057839" cy="512064"/>
          </a:xfrm>
          <a:prstGeom prst="roundRect">
            <a:avLst>
              <a:gd name="adj" fmla="val 10714"/>
            </a:avLst>
          </a:prstGeom>
          <a:solidFill>
            <a:srgbClr val="FBF0E1"/>
          </a:solidFill>
          <a:ln/>
        </p:spPr>
        <p:txBody>
          <a:bodyPr/>
          <a:lstStyle/>
          <a:p>
            <a:endParaRPr lang="en-US"/>
          </a:p>
        </p:txBody>
      </p:sp>
      <p:sp>
        <p:nvSpPr>
          <p:cNvPr id="52" name="Text 48"/>
          <p:cNvSpPr/>
          <p:nvPr/>
        </p:nvSpPr>
        <p:spPr>
          <a:xfrm>
            <a:off x="804672" y="5797296"/>
            <a:ext cx="10600639" cy="512064"/>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You can add nuisance parameters for realism without paying for them at inference time.</a:t>
            </a:r>
            <a:endParaRPr lang="en-US" sz="1550" dirty="0"/>
          </a:p>
        </p:txBody>
      </p:sp>
      <p:sp>
        <p:nvSpPr>
          <p:cNvPr id="53" name="Text 49"/>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III — Neural SBI</a:t>
            </a:r>
            <a:endParaRPr lang="en-US" sz="950" dirty="0"/>
          </a:p>
        </p:txBody>
      </p:sp>
      <p:sp>
        <p:nvSpPr>
          <p:cNvPr id="54" name="Text 50"/>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SEQUENTIAL AND TRUNCATED SBI</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Spend simulations where the posterior actually is</a:t>
            </a:r>
            <a:endParaRPr lang="en-US" sz="3000" dirty="0"/>
          </a:p>
        </p:txBody>
      </p:sp>
      <p:pic>
        <p:nvPicPr>
          <p:cNvPr id="4" name="Image 0" descr="figs/fig_sequential.png"/>
          <p:cNvPicPr>
            <a:picLocks noChangeAspect="1"/>
          </p:cNvPicPr>
          <p:nvPr/>
        </p:nvPicPr>
        <p:blipFill>
          <a:blip r:embed="rId3"/>
          <a:stretch>
            <a:fillRect/>
          </a:stretch>
        </p:blipFill>
        <p:spPr>
          <a:xfrm>
            <a:off x="457200" y="1737360"/>
            <a:ext cx="7223760" cy="2752344"/>
          </a:xfrm>
          <a:prstGeom prst="rect">
            <a:avLst/>
          </a:prstGeom>
        </p:spPr>
      </p:pic>
      <p:pic>
        <p:nvPicPr>
          <p:cNvPr id="5" name="Image 1" descr="eq/seq_prop.png"/>
          <p:cNvPicPr>
            <a:picLocks noChangeAspect="1"/>
          </p:cNvPicPr>
          <p:nvPr/>
        </p:nvPicPr>
        <p:blipFill>
          <a:blip r:embed="rId4"/>
          <a:stretch>
            <a:fillRect/>
          </a:stretch>
        </p:blipFill>
        <p:spPr>
          <a:xfrm>
            <a:off x="566928" y="4645152"/>
            <a:ext cx="5610758" cy="341376"/>
          </a:xfrm>
          <a:prstGeom prst="rect">
            <a:avLst/>
          </a:prstGeom>
        </p:spPr>
      </p:pic>
      <p:sp>
        <p:nvSpPr>
          <p:cNvPr id="6" name="Text 2"/>
          <p:cNvSpPr/>
          <p:nvPr/>
        </p:nvSpPr>
        <p:spPr>
          <a:xfrm>
            <a:off x="566928" y="5084064"/>
            <a:ext cx="7040880"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Proposal strategies after Anau Montel (2025), Fig. 6 and §6.</a:t>
            </a:r>
            <a:endParaRPr lang="en-US" sz="1050" dirty="0"/>
          </a:p>
        </p:txBody>
      </p:sp>
      <p:sp>
        <p:nvSpPr>
          <p:cNvPr id="7" name="Text 3"/>
          <p:cNvSpPr/>
          <p:nvPr/>
        </p:nvSpPr>
        <p:spPr>
          <a:xfrm>
            <a:off x="7909560" y="1481328"/>
            <a:ext cx="3715207" cy="310896"/>
          </a:xfrm>
          <a:prstGeom prst="rect">
            <a:avLst/>
          </a:prstGeom>
          <a:noFill/>
          <a:ln/>
        </p:spPr>
        <p:txBody>
          <a:bodyPr wrap="square" lIns="0" tIns="0" rIns="0" bIns="0" rtlCol="0" anchor="ctr"/>
          <a:lstStyle/>
          <a:p>
            <a:pPr marL="0" indent="0">
              <a:buNone/>
            </a:pPr>
            <a:r>
              <a:rPr lang="en-US" sz="1700" b="1" dirty="0">
                <a:solidFill>
                  <a:srgbClr val="4A3F8F"/>
                </a:solidFill>
                <a:latin typeface="Calibri" pitchFamily="34" charset="0"/>
                <a:ea typeface="Calibri" pitchFamily="34" charset="-122"/>
                <a:cs typeface="Calibri" pitchFamily="34" charset="-120"/>
              </a:rPr>
              <a:t>The idea</a:t>
            </a:r>
            <a:endParaRPr lang="en-US" sz="1700" dirty="0"/>
          </a:p>
        </p:txBody>
      </p:sp>
      <p:sp>
        <p:nvSpPr>
          <p:cNvPr id="8" name="Text 4"/>
          <p:cNvSpPr/>
          <p:nvPr/>
        </p:nvSpPr>
        <p:spPr>
          <a:xfrm>
            <a:off x="7909560" y="1883664"/>
            <a:ext cx="3715207" cy="246888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450" dirty="0">
                <a:solidFill>
                  <a:srgbClr val="1C1B29"/>
                </a:solidFill>
                <a:latin typeface="Calibri" pitchFamily="34" charset="0"/>
                <a:ea typeface="Calibri" pitchFamily="34" charset="-122"/>
                <a:cs typeface="Calibri" pitchFamily="34" charset="-120"/>
              </a:rPr>
              <a:t>Round 1: simulate from the prior and fit.</a:t>
            </a:r>
            <a:endParaRPr lang="en-US" sz="1450" dirty="0"/>
          </a:p>
          <a:p>
            <a:pPr marL="177800" indent="-177800">
              <a:lnSpc>
                <a:spcPct val="102000"/>
              </a:lnSpc>
              <a:spcAft>
                <a:spcPts val="900"/>
              </a:spcAft>
              <a:buSzPct val="100000"/>
              <a:buChar char="•"/>
            </a:pPr>
            <a:r>
              <a:rPr lang="en-US" sz="1450" dirty="0">
                <a:solidFill>
                  <a:srgbClr val="1C1B29"/>
                </a:solidFill>
                <a:latin typeface="Calibri" pitchFamily="34" charset="0"/>
                <a:ea typeface="Calibri" pitchFamily="34" charset="-122"/>
                <a:cs typeface="Calibri" pitchFamily="34" charset="-120"/>
              </a:rPr>
              <a:t>Narrow the proposal to where the posterior lives.</a:t>
            </a:r>
            <a:endParaRPr lang="en-US" sz="1450" dirty="0"/>
          </a:p>
          <a:p>
            <a:pPr marL="177800" indent="-177800">
              <a:lnSpc>
                <a:spcPct val="102000"/>
              </a:lnSpc>
              <a:spcAft>
                <a:spcPts val="900"/>
              </a:spcAft>
              <a:buSzPct val="100000"/>
              <a:buChar char="•"/>
            </a:pPr>
            <a:r>
              <a:rPr lang="en-US" sz="1450" dirty="0">
                <a:solidFill>
                  <a:srgbClr val="1C1B29"/>
                </a:solidFill>
                <a:latin typeface="Calibri" pitchFamily="34" charset="0"/>
                <a:ea typeface="Calibri" pitchFamily="34" charset="-122"/>
                <a:cs typeface="Calibri" pitchFamily="34" charset="-120"/>
              </a:rPr>
              <a:t>Repeat. Large savings when the posterior is far tighter than the prior.</a:t>
            </a:r>
            <a:endParaRPr lang="en-US" sz="1450" dirty="0"/>
          </a:p>
          <a:p>
            <a:pPr marL="177800" indent="-177800">
              <a:lnSpc>
                <a:spcPct val="102000"/>
              </a:lnSpc>
              <a:spcAft>
                <a:spcPts val="900"/>
              </a:spcAft>
              <a:buSzPct val="100000"/>
              <a:buChar char="•"/>
            </a:pPr>
            <a:r>
              <a:rPr lang="en-US" sz="1450" dirty="0">
                <a:solidFill>
                  <a:srgbClr val="1C1B29"/>
                </a:solidFill>
                <a:latin typeface="Calibri" pitchFamily="34" charset="0"/>
                <a:ea typeface="Calibri" pitchFamily="34" charset="-122"/>
                <a:cs typeface="Calibri" pitchFamily="34" charset="-120"/>
              </a:rPr>
              <a:t>Cost: the training prior is no longer the prior, so SBC and coverage tests no longer apply directly.</a:t>
            </a:r>
            <a:endParaRPr lang="en-US" sz="1450" dirty="0"/>
          </a:p>
        </p:txBody>
      </p:sp>
      <p:sp>
        <p:nvSpPr>
          <p:cNvPr id="9" name="Shape 5"/>
          <p:cNvSpPr/>
          <p:nvPr/>
        </p:nvSpPr>
        <p:spPr>
          <a:xfrm>
            <a:off x="7909560" y="4425696"/>
            <a:ext cx="3715207" cy="1097280"/>
          </a:xfrm>
          <a:prstGeom prst="roundRect">
            <a:avLst>
              <a:gd name="adj" fmla="val 5000"/>
            </a:avLst>
          </a:prstGeom>
          <a:solidFill>
            <a:srgbClr val="FBF0E1"/>
          </a:solidFill>
          <a:ln/>
        </p:spPr>
        <p:txBody>
          <a:bodyPr/>
          <a:lstStyle/>
          <a:p>
            <a:endParaRPr lang="en-US"/>
          </a:p>
        </p:txBody>
      </p:sp>
      <p:sp>
        <p:nvSpPr>
          <p:cNvPr id="10" name="Text 6"/>
          <p:cNvSpPr/>
          <p:nvPr/>
        </p:nvSpPr>
        <p:spPr>
          <a:xfrm>
            <a:off x="8129016" y="4535424"/>
            <a:ext cx="3276295" cy="914400"/>
          </a:xfrm>
          <a:prstGeom prst="rect">
            <a:avLst/>
          </a:prstGeom>
          <a:noFill/>
          <a:ln/>
        </p:spPr>
        <p:txBody>
          <a:bodyPr wrap="square" lIns="0" tIns="0" rIns="0" bIns="0" rtlCol="0" anchor="t"/>
          <a:lstStyle/>
          <a:p>
            <a:pPr marL="0" indent="0">
              <a:lnSpc>
                <a:spcPct val="106000"/>
              </a:lnSpc>
              <a:buNone/>
            </a:pPr>
            <a:r>
              <a:rPr lang="en-US" sz="1350" dirty="0">
                <a:solidFill>
                  <a:srgbClr val="6E3D06"/>
                </a:solidFill>
                <a:latin typeface="Calibri" pitchFamily="34" charset="0"/>
                <a:ea typeface="Calibri" pitchFamily="34" charset="-122"/>
                <a:cs typeface="Calibri" pitchFamily="34" charset="-120"/>
              </a:rPr>
              <a:t>Truncation keeps local amortisation inside the truncated region, so you can still test there. Proposals shaped like the posterior do not.</a:t>
            </a:r>
            <a:endParaRPr lang="en-US" sz="1350" dirty="0"/>
          </a:p>
        </p:txBody>
      </p:sp>
      <p:sp>
        <p:nvSpPr>
          <p:cNvPr id="11" name="Shape 7"/>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12" name="Text 8"/>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In cosmology the gain over an explicit-likelihood analysis is often modest — keeping the checks is usually worth more.</a:t>
            </a:r>
            <a:endParaRPr lang="en-US" sz="1550" dirty="0"/>
          </a:p>
        </p:txBody>
      </p:sp>
      <p:sp>
        <p:nvSpPr>
          <p:cNvPr id="13" name="Text 9"/>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III — Neural SBI</a:t>
            </a:r>
            <a:endParaRPr lang="en-US" sz="950" dirty="0"/>
          </a:p>
        </p:txBody>
      </p:sp>
      <p:sp>
        <p:nvSpPr>
          <p:cNvPr id="14" name="Text 10"/>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91A2E"/>
        </a:solidFill>
        <a:effectLst/>
      </p:bgPr>
    </p:bg>
    <p:spTree>
      <p:nvGrpSpPr>
        <p:cNvPr id="1" name=""/>
        <p:cNvGrpSpPr/>
        <p:nvPr/>
      </p:nvGrpSpPr>
      <p:grpSpPr>
        <a:xfrm>
          <a:off x="0" y="0"/>
          <a:ext cx="0" cy="0"/>
          <a:chOff x="0" y="0"/>
          <a:chExt cx="0" cy="0"/>
        </a:xfrm>
      </p:grpSpPr>
      <p:sp>
        <p:nvSpPr>
          <p:cNvPr id="2" name="Text 0"/>
          <p:cNvSpPr/>
          <p:nvPr/>
        </p:nvSpPr>
        <p:spPr>
          <a:xfrm>
            <a:off x="566928" y="1993392"/>
            <a:ext cx="11057839" cy="292608"/>
          </a:xfrm>
          <a:prstGeom prst="rect">
            <a:avLst/>
          </a:prstGeom>
          <a:noFill/>
          <a:ln/>
        </p:spPr>
        <p:txBody>
          <a:bodyPr wrap="square" lIns="0" tIns="0" rIns="0" bIns="0" rtlCol="0" anchor="ctr"/>
          <a:lstStyle/>
          <a:p>
            <a:pPr marL="0" indent="0">
              <a:buNone/>
            </a:pPr>
            <a:r>
              <a:rPr lang="en-US" sz="1400" b="1" kern="0" spc="240" dirty="0">
                <a:solidFill>
                  <a:srgbClr val="B9B1E0"/>
                </a:solidFill>
                <a:latin typeface="Calibri" pitchFamily="34" charset="0"/>
                <a:ea typeface="Calibri" pitchFamily="34" charset="-122"/>
                <a:cs typeface="Calibri" pitchFamily="34" charset="-120"/>
              </a:rPr>
              <a:t>PART IV</a:t>
            </a:r>
            <a:endParaRPr lang="en-US" sz="1400" dirty="0"/>
          </a:p>
        </p:txBody>
      </p:sp>
      <p:sp>
        <p:nvSpPr>
          <p:cNvPr id="3" name="Text 1"/>
          <p:cNvSpPr/>
          <p:nvPr/>
        </p:nvSpPr>
        <p:spPr>
          <a:xfrm>
            <a:off x="566928" y="2395728"/>
            <a:ext cx="10058400" cy="13716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Is the posterior trustworthy?</a:t>
            </a:r>
            <a:endParaRPr lang="en-US" sz="4000" dirty="0"/>
          </a:p>
        </p:txBody>
      </p:sp>
      <p:sp>
        <p:nvSpPr>
          <p:cNvPr id="4" name="Text 2"/>
          <p:cNvSpPr/>
          <p:nvPr/>
        </p:nvSpPr>
        <p:spPr>
          <a:xfrm>
            <a:off x="566928" y="3767328"/>
            <a:ext cx="8778240" cy="640080"/>
          </a:xfrm>
          <a:prstGeom prst="rect">
            <a:avLst/>
          </a:prstGeom>
          <a:noFill/>
          <a:ln/>
        </p:spPr>
        <p:txBody>
          <a:bodyPr wrap="square" lIns="0" tIns="0" rIns="0" bIns="0" rtlCol="0" anchor="ctr"/>
          <a:lstStyle/>
          <a:p>
            <a:pPr marL="0" indent="0">
              <a:lnSpc>
                <a:spcPct val="110000"/>
              </a:lnSpc>
              <a:buNone/>
            </a:pPr>
            <a:r>
              <a:rPr lang="en-US" sz="1800" dirty="0">
                <a:solidFill>
                  <a:srgbClr val="CFCAE8"/>
                </a:solidFill>
                <a:latin typeface="Calibri" pitchFamily="34" charset="0"/>
                <a:ea typeface="Calibri" pitchFamily="34" charset="-122"/>
                <a:cs typeface="Calibri" pitchFamily="34" charset="-120"/>
              </a:rPr>
              <a:t>A posterior is a claim about the world. Diagnostics are the evidence for it.</a:t>
            </a:r>
            <a:endParaRPr lang="en-US" sz="1800" dirty="0"/>
          </a:p>
        </p:txBody>
      </p:sp>
      <p:pic>
        <p:nvPicPr>
          <p:cNvPr id="5" name="Image 0" descr="eq/d_trust.png"/>
          <p:cNvPicPr>
            <a:picLocks noChangeAspect="1"/>
          </p:cNvPicPr>
          <p:nvPr/>
        </p:nvPicPr>
        <p:blipFill>
          <a:blip r:embed="rId3"/>
          <a:stretch>
            <a:fillRect/>
          </a:stretch>
        </p:blipFill>
        <p:spPr>
          <a:xfrm>
            <a:off x="566928" y="4773168"/>
            <a:ext cx="2864815" cy="542849"/>
          </a:xfrm>
          <a:prstGeom prst="rect">
            <a:avLst/>
          </a:prstGeom>
        </p:spPr>
      </p:pic>
      <p:sp>
        <p:nvSpPr>
          <p:cNvPr id="6" name="Text 3"/>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A6A8C"/>
                </a:solidFill>
                <a:latin typeface="Calibri" pitchFamily="34" charset="0"/>
                <a:ea typeface="Calibri" pitchFamily="34" charset="-122"/>
                <a:cs typeface="Calibri" pitchFamily="34" charset="-120"/>
              </a:rPr>
              <a:t>Simulation-Based Inference  ·  Part IV — Diagnostics</a:t>
            </a:r>
            <a:endParaRPr lang="en-US" sz="950" dirty="0"/>
          </a:p>
        </p:txBody>
      </p:sp>
      <p:sp>
        <p:nvSpPr>
          <p:cNvPr id="7" name="Text 4"/>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A6A8C"/>
                </a:solidFill>
                <a:latin typeface="Calibri" pitchFamily="34" charset="0"/>
                <a:ea typeface="Calibri" pitchFamily="34" charset="-122"/>
                <a:cs typeface="Calibri" pitchFamily="34" charset="-120"/>
              </a:rPr>
              <a:t>30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TWO WAYS AN SBI RESULT GOES WRONG</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Wrong physics, or a wrong network</a:t>
            </a:r>
            <a:endParaRPr lang="en-US" sz="3000" dirty="0"/>
          </a:p>
        </p:txBody>
      </p:sp>
      <p:pic>
        <p:nvPicPr>
          <p:cNvPr id="4" name="Image 0" descr="figs/fig_misspec.png"/>
          <p:cNvPicPr>
            <a:picLocks noChangeAspect="1"/>
          </p:cNvPicPr>
          <p:nvPr/>
        </p:nvPicPr>
        <p:blipFill>
          <a:blip r:embed="rId3"/>
          <a:stretch>
            <a:fillRect/>
          </a:stretch>
        </p:blipFill>
        <p:spPr>
          <a:xfrm>
            <a:off x="457200" y="1700784"/>
            <a:ext cx="5440680" cy="2971800"/>
          </a:xfrm>
          <a:prstGeom prst="rect">
            <a:avLst/>
          </a:prstGeom>
        </p:spPr>
      </p:pic>
      <p:sp>
        <p:nvSpPr>
          <p:cNvPr id="5" name="Text 2"/>
          <p:cNvSpPr/>
          <p:nvPr/>
        </p:nvSpPr>
        <p:spPr>
          <a:xfrm>
            <a:off x="566928" y="4754880"/>
            <a:ext cx="5257800" cy="640080"/>
          </a:xfrm>
          <a:prstGeom prst="rect">
            <a:avLst/>
          </a:prstGeom>
          <a:noFill/>
          <a:ln/>
        </p:spPr>
        <p:txBody>
          <a:bodyPr wrap="square" lIns="0" tIns="0" rIns="0" bIns="0" rtlCol="0" anchor="t"/>
          <a:lstStyle/>
          <a:p>
            <a:pPr marL="0" indent="0">
              <a:lnSpc>
                <a:spcPct val="106000"/>
              </a:lnSpc>
              <a:buNone/>
            </a:pPr>
            <a:r>
              <a:rPr lang="en-US" sz="1450" i="1" dirty="0">
                <a:solidFill>
                  <a:srgbClr val="6E6E80"/>
                </a:solidFill>
                <a:latin typeface="Calibri" pitchFamily="34" charset="0"/>
                <a:ea typeface="Calibri" pitchFamily="34" charset="-122"/>
                <a:cs typeface="Calibri" pitchFamily="34" charset="-120"/>
              </a:rPr>
              <a:t>The horizontal cut at xₒ is empty: no parameter in the prior, with any noise realisation, reproduces the data.</a:t>
            </a:r>
            <a:endParaRPr lang="en-US" sz="1450" dirty="0"/>
          </a:p>
        </p:txBody>
      </p:sp>
      <p:sp>
        <p:nvSpPr>
          <p:cNvPr id="6" name="Shape 3"/>
          <p:cNvSpPr/>
          <p:nvPr/>
        </p:nvSpPr>
        <p:spPr>
          <a:xfrm>
            <a:off x="6199632" y="1444752"/>
            <a:ext cx="5425135" cy="1609344"/>
          </a:xfrm>
          <a:prstGeom prst="roundRect">
            <a:avLst>
              <a:gd name="adj" fmla="val 3409"/>
            </a:avLst>
          </a:prstGeom>
          <a:solidFill>
            <a:srgbClr val="EDEBF7"/>
          </a:solidFill>
          <a:ln/>
        </p:spPr>
        <p:txBody>
          <a:bodyPr/>
          <a:lstStyle/>
          <a:p>
            <a:endParaRPr lang="en-US"/>
          </a:p>
        </p:txBody>
      </p:sp>
      <p:sp>
        <p:nvSpPr>
          <p:cNvPr id="7" name="Shape 4"/>
          <p:cNvSpPr/>
          <p:nvPr/>
        </p:nvSpPr>
        <p:spPr>
          <a:xfrm>
            <a:off x="6455664" y="1627632"/>
            <a:ext cx="420624" cy="420624"/>
          </a:xfrm>
          <a:prstGeom prst="ellipse">
            <a:avLst/>
          </a:prstGeom>
          <a:solidFill>
            <a:srgbClr val="4A3F8F"/>
          </a:solidFill>
          <a:ln/>
        </p:spPr>
        <p:txBody>
          <a:bodyPr/>
          <a:lstStyle/>
          <a:p>
            <a:endParaRPr lang="en-US"/>
          </a:p>
        </p:txBody>
      </p:sp>
      <p:sp>
        <p:nvSpPr>
          <p:cNvPr id="8" name="Text 5"/>
          <p:cNvSpPr/>
          <p:nvPr/>
        </p:nvSpPr>
        <p:spPr>
          <a:xfrm>
            <a:off x="6455664" y="1627632"/>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p:nvPr/>
        </p:nvSpPr>
        <p:spPr>
          <a:xfrm>
            <a:off x="7004304" y="1627632"/>
            <a:ext cx="4373575" cy="420624"/>
          </a:xfrm>
          <a:prstGeom prst="rect">
            <a:avLst/>
          </a:prstGeom>
          <a:noFill/>
          <a:ln/>
        </p:spPr>
        <p:txBody>
          <a:bodyPr wrap="square" lIns="0" tIns="0" rIns="0" bIns="0" rtlCol="0" anchor="ctr"/>
          <a:lstStyle/>
          <a:p>
            <a:pPr marL="0" indent="0">
              <a:buNone/>
            </a:pPr>
            <a:r>
              <a:rPr lang="en-US" sz="1750" b="1" dirty="0">
                <a:solidFill>
                  <a:srgbClr val="3E3379"/>
                </a:solidFill>
                <a:latin typeface="Calibri" pitchFamily="34" charset="0"/>
                <a:ea typeface="Calibri" pitchFamily="34" charset="-122"/>
                <a:cs typeface="Calibri" pitchFamily="34" charset="-120"/>
              </a:rPr>
              <a:t>Model misspecification</a:t>
            </a:r>
            <a:endParaRPr lang="en-US" sz="1750" dirty="0"/>
          </a:p>
        </p:txBody>
      </p:sp>
      <p:sp>
        <p:nvSpPr>
          <p:cNvPr id="10" name="Text 7"/>
          <p:cNvSpPr/>
          <p:nvPr/>
        </p:nvSpPr>
        <p:spPr>
          <a:xfrm>
            <a:off x="6455664" y="2139696"/>
            <a:ext cx="4913071" cy="841248"/>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xₒ lies outside anything your simulator and prior can produce. SBI does not politely widen the posterior in response — it can return a confident, meaningless answer.</a:t>
            </a:r>
            <a:endParaRPr lang="en-US" sz="1450" dirty="0"/>
          </a:p>
        </p:txBody>
      </p:sp>
      <p:sp>
        <p:nvSpPr>
          <p:cNvPr id="11" name="Shape 8"/>
          <p:cNvSpPr/>
          <p:nvPr/>
        </p:nvSpPr>
        <p:spPr>
          <a:xfrm>
            <a:off x="6199632" y="3200400"/>
            <a:ext cx="5425135" cy="1609344"/>
          </a:xfrm>
          <a:prstGeom prst="roundRect">
            <a:avLst>
              <a:gd name="adj" fmla="val 3409"/>
            </a:avLst>
          </a:prstGeom>
          <a:solidFill>
            <a:srgbClr val="E3F1EE"/>
          </a:solidFill>
          <a:ln/>
        </p:spPr>
        <p:txBody>
          <a:bodyPr/>
          <a:lstStyle/>
          <a:p>
            <a:endParaRPr lang="en-US"/>
          </a:p>
        </p:txBody>
      </p:sp>
      <p:sp>
        <p:nvSpPr>
          <p:cNvPr id="12" name="Shape 9"/>
          <p:cNvSpPr/>
          <p:nvPr/>
        </p:nvSpPr>
        <p:spPr>
          <a:xfrm>
            <a:off x="6455664" y="3383280"/>
            <a:ext cx="420624" cy="420624"/>
          </a:xfrm>
          <a:prstGeom prst="ellipse">
            <a:avLst/>
          </a:prstGeom>
          <a:solidFill>
            <a:srgbClr val="1F7A6C"/>
          </a:solidFill>
          <a:ln/>
        </p:spPr>
        <p:txBody>
          <a:bodyPr/>
          <a:lstStyle/>
          <a:p>
            <a:endParaRPr lang="en-US"/>
          </a:p>
        </p:txBody>
      </p:sp>
      <p:sp>
        <p:nvSpPr>
          <p:cNvPr id="13" name="Text 10"/>
          <p:cNvSpPr/>
          <p:nvPr/>
        </p:nvSpPr>
        <p:spPr>
          <a:xfrm>
            <a:off x="6455664" y="338328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p:nvPr/>
        </p:nvSpPr>
        <p:spPr>
          <a:xfrm>
            <a:off x="7004304" y="3383280"/>
            <a:ext cx="4373575" cy="420624"/>
          </a:xfrm>
          <a:prstGeom prst="rect">
            <a:avLst/>
          </a:prstGeom>
          <a:noFill/>
          <a:ln/>
        </p:spPr>
        <p:txBody>
          <a:bodyPr wrap="square" lIns="0" tIns="0" rIns="0" bIns="0" rtlCol="0" anchor="ctr"/>
          <a:lstStyle/>
          <a:p>
            <a:pPr marL="0" indent="0">
              <a:buNone/>
            </a:pPr>
            <a:r>
              <a:rPr lang="en-US" sz="1750" b="1" dirty="0">
                <a:solidFill>
                  <a:srgbClr val="1F7A6C"/>
                </a:solidFill>
                <a:latin typeface="Calibri" pitchFamily="34" charset="0"/>
                <a:ea typeface="Calibri" pitchFamily="34" charset="-122"/>
                <a:cs typeface="Calibri" pitchFamily="34" charset="-120"/>
              </a:rPr>
              <a:t>An undertrained network</a:t>
            </a:r>
            <a:endParaRPr lang="en-US" sz="1750" dirty="0"/>
          </a:p>
        </p:txBody>
      </p:sp>
      <p:sp>
        <p:nvSpPr>
          <p:cNvPr id="15" name="Text 12"/>
          <p:cNvSpPr/>
          <p:nvPr/>
        </p:nvSpPr>
        <p:spPr>
          <a:xfrm>
            <a:off x="6455664" y="3895344"/>
            <a:ext cx="4913071" cy="841248"/>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The physics is fine, but the learned density is miscalibrated: too few simulations, poor hyperparameters. Silent — the loss curve can look perfectly converged.</a:t>
            </a:r>
            <a:endParaRPr lang="en-US" sz="1450" dirty="0"/>
          </a:p>
        </p:txBody>
      </p:sp>
      <p:sp>
        <p:nvSpPr>
          <p:cNvPr id="16" name="Text 13"/>
          <p:cNvSpPr/>
          <p:nvPr/>
        </p:nvSpPr>
        <p:spPr>
          <a:xfrm>
            <a:off x="566928" y="5394960"/>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Misspecification framing after Deistler et al. (2025), §3.1; Thiele (2026), §3. Envelope computed from 4 million simulations.</a:t>
            </a:r>
            <a:endParaRPr lang="en-US" sz="1050" dirty="0"/>
          </a:p>
        </p:txBody>
      </p:sp>
      <p:sp>
        <p:nvSpPr>
          <p:cNvPr id="17" name="Shape 14"/>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18" name="Text 15"/>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The first is a physics problem, the second a machine-learning problem. Different tests find them.</a:t>
            </a:r>
            <a:endParaRPr lang="en-US" sz="1550" dirty="0"/>
          </a:p>
        </p:txBody>
      </p:sp>
      <p:sp>
        <p:nvSpPr>
          <p:cNvPr id="19" name="Text 16"/>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IV — Diagnostics</a:t>
            </a:r>
            <a:endParaRPr lang="en-US" sz="950" dirty="0"/>
          </a:p>
        </p:txBody>
      </p:sp>
      <p:sp>
        <p:nvSpPr>
          <p:cNvPr id="20" name="Text 17"/>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31</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CHECKS THAT COST ALMOST NOTHING</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Run these before you trust anything</a:t>
            </a:r>
            <a:endParaRPr lang="en-US" sz="3000" dirty="0"/>
          </a:p>
        </p:txBody>
      </p:sp>
      <p:sp>
        <p:nvSpPr>
          <p:cNvPr id="4" name="Shape 2"/>
          <p:cNvSpPr/>
          <p:nvPr/>
        </p:nvSpPr>
        <p:spPr>
          <a:xfrm>
            <a:off x="566928" y="1481328"/>
            <a:ext cx="420624" cy="420624"/>
          </a:xfrm>
          <a:prstGeom prst="ellipse">
            <a:avLst/>
          </a:prstGeom>
          <a:solidFill>
            <a:srgbClr val="4A3F8F"/>
          </a:solidFill>
          <a:ln/>
        </p:spPr>
        <p:txBody>
          <a:bodyPr/>
          <a:lstStyle/>
          <a:p>
            <a:endParaRPr lang="en-US"/>
          </a:p>
        </p:txBody>
      </p:sp>
      <p:sp>
        <p:nvSpPr>
          <p:cNvPr id="5" name="Text 3"/>
          <p:cNvSpPr/>
          <p:nvPr/>
        </p:nvSpPr>
        <p:spPr>
          <a:xfrm>
            <a:off x="566928" y="148132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33856" y="1444752"/>
            <a:ext cx="5120640" cy="384048"/>
          </a:xfrm>
          <a:prstGeom prst="rect">
            <a:avLst/>
          </a:prstGeom>
          <a:noFill/>
          <a:ln/>
        </p:spPr>
        <p:txBody>
          <a:bodyPr wrap="square" lIns="0" tIns="0" rIns="0" bIns="0" rtlCol="0" anchor="ctr"/>
          <a:lstStyle/>
          <a:p>
            <a:pPr marL="0" indent="0">
              <a:buNone/>
            </a:pPr>
            <a:r>
              <a:rPr lang="en-US" sz="1700" b="1" dirty="0">
                <a:solidFill>
                  <a:srgbClr val="3E3379"/>
                </a:solidFill>
                <a:latin typeface="Calibri" pitchFamily="34" charset="0"/>
                <a:ea typeface="Calibri" pitchFamily="34" charset="-122"/>
                <a:cs typeface="Calibri" pitchFamily="34" charset="-120"/>
              </a:rPr>
              <a:t>Prior predictive check</a:t>
            </a:r>
            <a:endParaRPr lang="en-US" sz="1700" dirty="0"/>
          </a:p>
        </p:txBody>
      </p:sp>
      <p:sp>
        <p:nvSpPr>
          <p:cNvPr id="7" name="Text 5"/>
          <p:cNvSpPr/>
          <p:nvPr/>
        </p:nvSpPr>
        <p:spPr>
          <a:xfrm>
            <a:off x="1133856" y="1883664"/>
            <a:ext cx="5074920" cy="786384"/>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Is xₒ inside the cloud of simulated data? Do this before you train anything at all — it is the cheapest test in the whole workflow.</a:t>
            </a:r>
            <a:endParaRPr lang="en-US" sz="1450" dirty="0"/>
          </a:p>
        </p:txBody>
      </p:sp>
      <p:sp>
        <p:nvSpPr>
          <p:cNvPr id="8" name="Shape 6"/>
          <p:cNvSpPr/>
          <p:nvPr/>
        </p:nvSpPr>
        <p:spPr>
          <a:xfrm>
            <a:off x="566928" y="2743200"/>
            <a:ext cx="420624" cy="420624"/>
          </a:xfrm>
          <a:prstGeom prst="ellipse">
            <a:avLst/>
          </a:prstGeom>
          <a:solidFill>
            <a:srgbClr val="4A3F8F"/>
          </a:solidFill>
          <a:ln/>
        </p:spPr>
        <p:txBody>
          <a:bodyPr/>
          <a:lstStyle/>
          <a:p>
            <a:endParaRPr lang="en-US"/>
          </a:p>
        </p:txBody>
      </p:sp>
      <p:sp>
        <p:nvSpPr>
          <p:cNvPr id="9" name="Text 7"/>
          <p:cNvSpPr/>
          <p:nvPr/>
        </p:nvSpPr>
        <p:spPr>
          <a:xfrm>
            <a:off x="566928" y="274320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133856" y="2706624"/>
            <a:ext cx="5120640" cy="384048"/>
          </a:xfrm>
          <a:prstGeom prst="rect">
            <a:avLst/>
          </a:prstGeom>
          <a:noFill/>
          <a:ln/>
        </p:spPr>
        <p:txBody>
          <a:bodyPr wrap="square" lIns="0" tIns="0" rIns="0" bIns="0" rtlCol="0" anchor="ctr"/>
          <a:lstStyle/>
          <a:p>
            <a:pPr marL="0" indent="0">
              <a:buNone/>
            </a:pPr>
            <a:r>
              <a:rPr lang="en-US" sz="1700" b="1" dirty="0">
                <a:solidFill>
                  <a:srgbClr val="3E3379"/>
                </a:solidFill>
                <a:latin typeface="Calibri" pitchFamily="34" charset="0"/>
                <a:ea typeface="Calibri" pitchFamily="34" charset="-122"/>
                <a:cs typeface="Calibri" pitchFamily="34" charset="-120"/>
              </a:rPr>
              <a:t>Data censoring</a:t>
            </a:r>
            <a:endParaRPr lang="en-US" sz="1700" dirty="0"/>
          </a:p>
        </p:txBody>
      </p:sp>
      <p:sp>
        <p:nvSpPr>
          <p:cNvPr id="11" name="Text 9"/>
          <p:cNvSpPr/>
          <p:nvPr/>
        </p:nvSpPr>
        <p:spPr>
          <a:xfrm>
            <a:off x="1133856" y="3145536"/>
            <a:ext cx="5074920" cy="786384"/>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Cut small scales, mask sky patches, drop a band. Does the posterior move the way physics says it should? Compare the response on real and mock data.</a:t>
            </a:r>
            <a:endParaRPr lang="en-US" sz="1450" dirty="0"/>
          </a:p>
        </p:txBody>
      </p:sp>
      <p:sp>
        <p:nvSpPr>
          <p:cNvPr id="12" name="Shape 10"/>
          <p:cNvSpPr/>
          <p:nvPr/>
        </p:nvSpPr>
        <p:spPr>
          <a:xfrm>
            <a:off x="566928" y="4005072"/>
            <a:ext cx="420624" cy="420624"/>
          </a:xfrm>
          <a:prstGeom prst="ellipse">
            <a:avLst/>
          </a:prstGeom>
          <a:solidFill>
            <a:srgbClr val="4A3F8F"/>
          </a:solidFill>
          <a:ln/>
        </p:spPr>
        <p:txBody>
          <a:bodyPr/>
          <a:lstStyle/>
          <a:p>
            <a:endParaRPr lang="en-US"/>
          </a:p>
        </p:txBody>
      </p:sp>
      <p:sp>
        <p:nvSpPr>
          <p:cNvPr id="13" name="Text 11"/>
          <p:cNvSpPr/>
          <p:nvPr/>
        </p:nvSpPr>
        <p:spPr>
          <a:xfrm>
            <a:off x="566928" y="4005072"/>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133856" y="3968496"/>
            <a:ext cx="5120640" cy="384048"/>
          </a:xfrm>
          <a:prstGeom prst="rect">
            <a:avLst/>
          </a:prstGeom>
          <a:noFill/>
          <a:ln/>
        </p:spPr>
        <p:txBody>
          <a:bodyPr wrap="square" lIns="0" tIns="0" rIns="0" bIns="0" rtlCol="0" anchor="ctr"/>
          <a:lstStyle/>
          <a:p>
            <a:pPr marL="0" indent="0">
              <a:buNone/>
            </a:pPr>
            <a:r>
              <a:rPr lang="en-US" sz="1700" b="1" dirty="0">
                <a:solidFill>
                  <a:srgbClr val="3E3379"/>
                </a:solidFill>
                <a:latin typeface="Calibri" pitchFamily="34" charset="0"/>
                <a:ea typeface="Calibri" pitchFamily="34" charset="-122"/>
                <a:cs typeface="Calibri" pitchFamily="34" charset="-120"/>
              </a:rPr>
              <a:t>Posterior predictive check</a:t>
            </a:r>
            <a:endParaRPr lang="en-US" sz="1700" dirty="0"/>
          </a:p>
        </p:txBody>
      </p:sp>
      <p:sp>
        <p:nvSpPr>
          <p:cNvPr id="15" name="Text 13"/>
          <p:cNvSpPr/>
          <p:nvPr/>
        </p:nvSpPr>
        <p:spPr>
          <a:xfrm>
            <a:off x="1133856" y="4407408"/>
            <a:ext cx="5074920" cy="786384"/>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Draw parameters from the posterior, simulate, and check that xₒ looks like a typical member of the resulting ensemble.</a:t>
            </a:r>
            <a:endParaRPr lang="en-US" sz="1450" dirty="0"/>
          </a:p>
        </p:txBody>
      </p:sp>
      <p:pic>
        <p:nvPicPr>
          <p:cNvPr id="16" name="Image 0" descr="figs/fig_ppc.png"/>
          <p:cNvPicPr>
            <a:picLocks noChangeAspect="1"/>
          </p:cNvPicPr>
          <p:nvPr/>
        </p:nvPicPr>
        <p:blipFill>
          <a:blip r:embed="rId3"/>
          <a:stretch>
            <a:fillRect/>
          </a:stretch>
        </p:blipFill>
        <p:spPr>
          <a:xfrm>
            <a:off x="6583680" y="1664208"/>
            <a:ext cx="5029200" cy="2432304"/>
          </a:xfrm>
          <a:prstGeom prst="rect">
            <a:avLst/>
          </a:prstGeom>
        </p:spPr>
      </p:pic>
      <p:pic>
        <p:nvPicPr>
          <p:cNvPr id="17" name="Image 1" descr="eq/ppc.png"/>
          <p:cNvPicPr>
            <a:picLocks noChangeAspect="1"/>
          </p:cNvPicPr>
          <p:nvPr/>
        </p:nvPicPr>
        <p:blipFill>
          <a:blip r:embed="rId4"/>
          <a:stretch>
            <a:fillRect/>
          </a:stretch>
        </p:blipFill>
        <p:spPr>
          <a:xfrm>
            <a:off x="7547000" y="4261104"/>
            <a:ext cx="3102559" cy="554126"/>
          </a:xfrm>
          <a:prstGeom prst="rect">
            <a:avLst/>
          </a:prstGeom>
        </p:spPr>
      </p:pic>
      <p:sp>
        <p:nvSpPr>
          <p:cNvPr id="18" name="Text 14"/>
          <p:cNvSpPr/>
          <p:nvPr/>
        </p:nvSpPr>
        <p:spPr>
          <a:xfrm>
            <a:off x="6583680" y="4974336"/>
            <a:ext cx="5029200"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Re-simulated from the ball-throw posterior at xₒ = 13 m.</a:t>
            </a:r>
            <a:endParaRPr lang="en-US" sz="1050" dirty="0"/>
          </a:p>
        </p:txBody>
      </p:sp>
      <p:sp>
        <p:nvSpPr>
          <p:cNvPr id="19" name="Shape 15"/>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20" name="Text 16"/>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A posterior predictive check is necessary but not sufficient: an uninformative posterior equal to the prior can pass one.</a:t>
            </a:r>
            <a:endParaRPr lang="en-US" sz="1550" dirty="0"/>
          </a:p>
        </p:txBody>
      </p:sp>
      <p:sp>
        <p:nvSpPr>
          <p:cNvPr id="21" name="Text 17"/>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IV — Diagnostics</a:t>
            </a:r>
            <a:endParaRPr lang="en-US" sz="950" dirty="0"/>
          </a:p>
        </p:txBody>
      </p:sp>
      <p:sp>
        <p:nvSpPr>
          <p:cNvPr id="22" name="Text 18"/>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32</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SIMULATION-BASED CALIBRATION</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The ranks of the true parameter must be uniform</a:t>
            </a:r>
            <a:endParaRPr lang="en-US" sz="3000" dirty="0"/>
          </a:p>
        </p:txBody>
      </p:sp>
      <p:pic>
        <p:nvPicPr>
          <p:cNvPr id="4" name="Image 0" descr="figs/fig_sbc.png"/>
          <p:cNvPicPr>
            <a:picLocks noChangeAspect="1"/>
          </p:cNvPicPr>
          <p:nvPr/>
        </p:nvPicPr>
        <p:blipFill>
          <a:blip r:embed="rId3"/>
          <a:stretch>
            <a:fillRect/>
          </a:stretch>
        </p:blipFill>
        <p:spPr>
          <a:xfrm>
            <a:off x="2645394" y="1353312"/>
            <a:ext cx="6900906" cy="2816352"/>
          </a:xfrm>
          <a:prstGeom prst="rect">
            <a:avLst/>
          </a:prstGeom>
        </p:spPr>
      </p:pic>
      <p:pic>
        <p:nvPicPr>
          <p:cNvPr id="5" name="Image 1" descr="eq/sbc_rank.png"/>
          <p:cNvPicPr>
            <a:picLocks noChangeAspect="1"/>
          </p:cNvPicPr>
          <p:nvPr/>
        </p:nvPicPr>
        <p:blipFill>
          <a:blip r:embed="rId4"/>
          <a:stretch>
            <a:fillRect/>
          </a:stretch>
        </p:blipFill>
        <p:spPr>
          <a:xfrm>
            <a:off x="566928" y="4462272"/>
            <a:ext cx="3588258" cy="709879"/>
          </a:xfrm>
          <a:prstGeom prst="rect">
            <a:avLst/>
          </a:prstGeom>
        </p:spPr>
      </p:pic>
      <p:sp>
        <p:nvSpPr>
          <p:cNvPr id="6" name="Text 2"/>
          <p:cNvSpPr/>
          <p:nvPr/>
        </p:nvSpPr>
        <p:spPr>
          <a:xfrm>
            <a:off x="4480560" y="4462272"/>
            <a:ext cx="7132320" cy="914400"/>
          </a:xfrm>
          <a:prstGeom prst="rect">
            <a:avLst/>
          </a:prstGeom>
          <a:noFill/>
          <a:ln/>
        </p:spPr>
        <p:txBody>
          <a:bodyPr wrap="square" lIns="0" tIns="0" rIns="0" bIns="0" rtlCol="0" anchor="t"/>
          <a:lstStyle/>
          <a:p>
            <a:pPr marL="0" indent="0">
              <a:lnSpc>
                <a:spcPct val="106000"/>
              </a:lnSpc>
              <a:buNone/>
            </a:pPr>
            <a:r>
              <a:rPr lang="en-US" sz="1500" dirty="0">
                <a:solidFill>
                  <a:srgbClr val="1C1B29"/>
                </a:solidFill>
                <a:latin typeface="Calibri" pitchFamily="34" charset="0"/>
                <a:ea typeface="Calibri" pitchFamily="34" charset="-122"/>
                <a:cs typeface="Calibri" pitchFamily="34" charset="-120"/>
              </a:rPr>
              <a:t>For each of L held-out pairs (θ*, x): run inference, rank the true value among M posterior draws, then histogram those ranks over the whole calibration set. Uniform means calibrated — and the shape of any deviation names the failure for you.</a:t>
            </a:r>
            <a:endParaRPr lang="en-US" sz="1500" dirty="0"/>
          </a:p>
        </p:txBody>
      </p:sp>
      <p:sp>
        <p:nvSpPr>
          <p:cNvPr id="7" name="Text 3"/>
          <p:cNvSpPr/>
          <p:nvPr/>
        </p:nvSpPr>
        <p:spPr>
          <a:xfrm>
            <a:off x="566928" y="5413248"/>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Ranks test of Talts et al. (2018); failure-mode taxonomy after Anau Montel (2025), Fig. 7. Histograms computed from a linear-Gaussian calibration set.</a:t>
            </a:r>
            <a:endParaRPr lang="en-US" sz="1050" dirty="0"/>
          </a:p>
        </p:txBody>
      </p:sp>
      <p:sp>
        <p:nvSpPr>
          <p:cNvPr id="8" name="Shape 4"/>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9" name="Text 5"/>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SBC tests one parameter at a time: all marginals can be perfect while the correlations between them are wrong.</a:t>
            </a:r>
            <a:endParaRPr lang="en-US" sz="1550" dirty="0"/>
          </a:p>
        </p:txBody>
      </p:sp>
      <p:sp>
        <p:nvSpPr>
          <p:cNvPr id="10" name="Text 6"/>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IV — Diagnostics</a:t>
            </a:r>
            <a:endParaRPr lang="en-US" sz="950" dirty="0"/>
          </a:p>
        </p:txBody>
      </p:sp>
      <p:sp>
        <p:nvSpPr>
          <p:cNvPr id="11" name="Text 7"/>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33</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EXPECTED COVERAGE AND TARP</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Do 68% intervals contain the truth 68% of the time?</a:t>
            </a:r>
            <a:endParaRPr lang="en-US" sz="3000" dirty="0"/>
          </a:p>
        </p:txBody>
      </p:sp>
      <p:pic>
        <p:nvPicPr>
          <p:cNvPr id="4" name="Image 0" descr="figs/fig_coverage.png"/>
          <p:cNvPicPr>
            <a:picLocks noChangeAspect="1"/>
          </p:cNvPicPr>
          <p:nvPr/>
        </p:nvPicPr>
        <p:blipFill>
          <a:blip r:embed="rId3"/>
          <a:stretch>
            <a:fillRect/>
          </a:stretch>
        </p:blipFill>
        <p:spPr>
          <a:xfrm>
            <a:off x="502920" y="1572768"/>
            <a:ext cx="4434840" cy="2926080"/>
          </a:xfrm>
          <a:prstGeom prst="rect">
            <a:avLst/>
          </a:prstGeom>
        </p:spPr>
      </p:pic>
      <p:sp>
        <p:nvSpPr>
          <p:cNvPr id="5" name="Text 2"/>
          <p:cNvSpPr/>
          <p:nvPr/>
        </p:nvSpPr>
        <p:spPr>
          <a:xfrm>
            <a:off x="502920" y="4590288"/>
            <a:ext cx="4434840"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Computed by Monte Carlo for rescaled and biased posteriors.</a:t>
            </a:r>
            <a:endParaRPr lang="en-US" sz="1050" dirty="0"/>
          </a:p>
        </p:txBody>
      </p:sp>
      <p:pic>
        <p:nvPicPr>
          <p:cNvPr id="6" name="Image 1" descr="eq/coverage.png"/>
          <p:cNvPicPr>
            <a:picLocks noChangeAspect="1"/>
          </p:cNvPicPr>
          <p:nvPr/>
        </p:nvPicPr>
        <p:blipFill>
          <a:blip r:embed="rId4"/>
          <a:stretch>
            <a:fillRect/>
          </a:stretch>
        </p:blipFill>
        <p:spPr>
          <a:xfrm>
            <a:off x="5349240" y="1554480"/>
            <a:ext cx="4215994" cy="407213"/>
          </a:xfrm>
          <a:prstGeom prst="rect">
            <a:avLst/>
          </a:prstGeom>
        </p:spPr>
      </p:pic>
      <p:sp>
        <p:nvSpPr>
          <p:cNvPr id="7" name="Text 3"/>
          <p:cNvSpPr/>
          <p:nvPr/>
        </p:nvSpPr>
        <p:spPr>
          <a:xfrm>
            <a:off x="5349240" y="2139696"/>
            <a:ext cx="6275527" cy="310896"/>
          </a:xfrm>
          <a:prstGeom prst="rect">
            <a:avLst/>
          </a:prstGeom>
          <a:noFill/>
          <a:ln/>
        </p:spPr>
        <p:txBody>
          <a:bodyPr wrap="square" lIns="0" tIns="0" rIns="0" bIns="0" rtlCol="0" anchor="ctr"/>
          <a:lstStyle/>
          <a:p>
            <a:pPr marL="0" indent="0">
              <a:buNone/>
            </a:pPr>
            <a:r>
              <a:rPr lang="en-US" sz="1700" b="1" dirty="0">
                <a:solidFill>
                  <a:srgbClr val="4A3F8F"/>
                </a:solidFill>
                <a:latin typeface="Calibri" pitchFamily="34" charset="0"/>
                <a:ea typeface="Calibri" pitchFamily="34" charset="-122"/>
                <a:cs typeface="Calibri" pitchFamily="34" charset="-120"/>
              </a:rPr>
              <a:t>Two ways to rank</a:t>
            </a:r>
            <a:endParaRPr lang="en-US" sz="1700" dirty="0"/>
          </a:p>
        </p:txBody>
      </p:sp>
      <p:sp>
        <p:nvSpPr>
          <p:cNvPr id="8" name="Text 4"/>
          <p:cNvSpPr/>
          <p:nvPr/>
        </p:nvSpPr>
        <p:spPr>
          <a:xfrm>
            <a:off x="5349240" y="2505456"/>
            <a:ext cx="6275527" cy="1645920"/>
          </a:xfrm>
          <a:prstGeom prst="rect">
            <a:avLst/>
          </a:prstGeom>
          <a:noFill/>
          <a:ln/>
        </p:spPr>
        <p:txBody>
          <a:bodyPr wrap="square" lIns="0" tIns="0" rIns="0" bIns="0" rtlCol="0" anchor="t"/>
          <a:lstStyle/>
          <a:p>
            <a:pPr marL="177800" indent="-177800">
              <a:lnSpc>
                <a:spcPct val="102000"/>
              </a:lnSpc>
              <a:spcAft>
                <a:spcPts val="1100"/>
              </a:spcAft>
              <a:buSzPct val="100000"/>
              <a:buChar char="•"/>
            </a:pPr>
            <a:r>
              <a:rPr lang="en-US" sz="1500" dirty="0">
                <a:solidFill>
                  <a:srgbClr val="1C1B29"/>
                </a:solidFill>
                <a:latin typeface="Calibri" pitchFamily="34" charset="0"/>
                <a:ea typeface="Calibri" pitchFamily="34" charset="-122"/>
                <a:cs typeface="Calibri" pitchFamily="34" charset="-120"/>
              </a:rPr>
              <a:t>HPD coverage — rank by posterior density. Tests the joint distribution, so it can see wrong parameter correlations, and handles multimodal posteriors.</a:t>
            </a:r>
            <a:endParaRPr lang="en-US" sz="1500" dirty="0"/>
          </a:p>
          <a:p>
            <a:pPr marL="177800" indent="-177800">
              <a:lnSpc>
                <a:spcPct val="102000"/>
              </a:lnSpc>
              <a:spcAft>
                <a:spcPts val="1100"/>
              </a:spcAft>
              <a:buSzPct val="100000"/>
              <a:buChar char="•"/>
            </a:pPr>
            <a:r>
              <a:rPr lang="en-US" sz="1500" dirty="0">
                <a:solidFill>
                  <a:srgbClr val="1C1B29"/>
                </a:solidFill>
                <a:latin typeface="Calibri" pitchFamily="34" charset="0"/>
                <a:ea typeface="Calibri" pitchFamily="34" charset="-122"/>
                <a:cs typeface="Calibri" pitchFamily="34" charset="-120"/>
              </a:rPr>
              <a:t>TARP — rank by distance from a randomly chosen reference point. Works even when you cannot evaluate the density, only sample from it.</a:t>
            </a:r>
            <a:endParaRPr lang="en-US" sz="1500" dirty="0"/>
          </a:p>
        </p:txBody>
      </p:sp>
      <p:sp>
        <p:nvSpPr>
          <p:cNvPr id="9" name="Shape 5"/>
          <p:cNvSpPr/>
          <p:nvPr/>
        </p:nvSpPr>
        <p:spPr>
          <a:xfrm>
            <a:off x="5349240" y="4261104"/>
            <a:ext cx="6275527" cy="822960"/>
          </a:xfrm>
          <a:prstGeom prst="roundRect">
            <a:avLst>
              <a:gd name="adj" fmla="val 6667"/>
            </a:avLst>
          </a:prstGeom>
          <a:solidFill>
            <a:srgbClr val="F3F3F8"/>
          </a:solidFill>
          <a:ln/>
        </p:spPr>
        <p:txBody>
          <a:bodyPr/>
          <a:lstStyle/>
          <a:p>
            <a:endParaRPr lang="en-US"/>
          </a:p>
        </p:txBody>
      </p:sp>
      <p:sp>
        <p:nvSpPr>
          <p:cNvPr id="10" name="Text 6"/>
          <p:cNvSpPr/>
          <p:nvPr/>
        </p:nvSpPr>
        <p:spPr>
          <a:xfrm>
            <a:off x="5568696" y="4352544"/>
            <a:ext cx="5836615" cy="658368"/>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Above the diagonal = conservative, intervals too wide. Below = overconfident. Below the diagonal is the dangerous side, and the one that gets papers corrected.</a:t>
            </a:r>
            <a:endParaRPr lang="en-US" sz="1450" dirty="0"/>
          </a:p>
        </p:txBody>
      </p:sp>
      <p:sp>
        <p:nvSpPr>
          <p:cNvPr id="11" name="Shape 7"/>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12" name="Text 8"/>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Necessary, not sufficient: a posterior that simply returns the prior has perfect coverage and tells you nothing.</a:t>
            </a:r>
            <a:endParaRPr lang="en-US" sz="1550" dirty="0"/>
          </a:p>
        </p:txBody>
      </p:sp>
      <p:sp>
        <p:nvSpPr>
          <p:cNvPr id="13" name="Text 9"/>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IV — Diagnostics</a:t>
            </a:r>
            <a:endParaRPr lang="en-US" sz="950" dirty="0"/>
          </a:p>
        </p:txBody>
      </p:sp>
      <p:sp>
        <p:nvSpPr>
          <p:cNvPr id="14" name="Text 10"/>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34</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READING THE DIAGNOSTICS HONESTLY</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What a passing test does and does not prove</a:t>
            </a:r>
            <a:endParaRPr lang="en-US" sz="3000" dirty="0"/>
          </a:p>
        </p:txBody>
      </p:sp>
      <p:sp>
        <p:nvSpPr>
          <p:cNvPr id="4" name="Shape 2"/>
          <p:cNvSpPr/>
          <p:nvPr/>
        </p:nvSpPr>
        <p:spPr>
          <a:xfrm>
            <a:off x="566928" y="1426464"/>
            <a:ext cx="5336896" cy="1536192"/>
          </a:xfrm>
          <a:prstGeom prst="roundRect">
            <a:avLst>
              <a:gd name="adj" fmla="val 3571"/>
            </a:avLst>
          </a:prstGeom>
          <a:solidFill>
            <a:srgbClr val="EDEBF7"/>
          </a:solidFill>
          <a:ln/>
        </p:spPr>
        <p:txBody>
          <a:bodyPr/>
          <a:lstStyle/>
          <a:p>
            <a:endParaRPr lang="en-US"/>
          </a:p>
        </p:txBody>
      </p:sp>
      <p:sp>
        <p:nvSpPr>
          <p:cNvPr id="5" name="Text 3"/>
          <p:cNvSpPr/>
          <p:nvPr/>
        </p:nvSpPr>
        <p:spPr>
          <a:xfrm>
            <a:off x="822960" y="1554480"/>
            <a:ext cx="4824832" cy="365760"/>
          </a:xfrm>
          <a:prstGeom prst="rect">
            <a:avLst/>
          </a:prstGeom>
          <a:noFill/>
          <a:ln/>
        </p:spPr>
        <p:txBody>
          <a:bodyPr wrap="square" lIns="0" tIns="0" rIns="0" bIns="0" rtlCol="0" anchor="ctr"/>
          <a:lstStyle/>
          <a:p>
            <a:pPr marL="0" indent="0">
              <a:buNone/>
            </a:pPr>
            <a:r>
              <a:rPr lang="en-US" sz="1650" b="1" dirty="0">
                <a:solidFill>
                  <a:srgbClr val="3E3379"/>
                </a:solidFill>
                <a:latin typeface="Calibri" pitchFamily="34" charset="0"/>
                <a:ea typeface="Calibri" pitchFamily="34" charset="-122"/>
                <a:cs typeface="Calibri" pitchFamily="34" charset="-120"/>
              </a:rPr>
              <a:t>Global tests average over the prior</a:t>
            </a:r>
            <a:endParaRPr lang="en-US" sz="1650" dirty="0"/>
          </a:p>
        </p:txBody>
      </p:sp>
      <p:sp>
        <p:nvSpPr>
          <p:cNvPr id="6" name="Text 4"/>
          <p:cNvSpPr/>
          <p:nvPr/>
        </p:nvSpPr>
        <p:spPr>
          <a:xfrm>
            <a:off x="822960" y="1993392"/>
            <a:ext cx="4824832" cy="868680"/>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Some regions of parameter space can be over-covered and others under-covered while the average sits exactly on the diagonal.</a:t>
            </a:r>
            <a:endParaRPr lang="en-US" sz="1450" dirty="0"/>
          </a:p>
        </p:txBody>
      </p:sp>
      <p:sp>
        <p:nvSpPr>
          <p:cNvPr id="7" name="Shape 5"/>
          <p:cNvSpPr/>
          <p:nvPr/>
        </p:nvSpPr>
        <p:spPr>
          <a:xfrm>
            <a:off x="6287872" y="1426464"/>
            <a:ext cx="5336896" cy="1536192"/>
          </a:xfrm>
          <a:prstGeom prst="roundRect">
            <a:avLst>
              <a:gd name="adj" fmla="val 3571"/>
            </a:avLst>
          </a:prstGeom>
          <a:solidFill>
            <a:srgbClr val="F3F3F8"/>
          </a:solidFill>
          <a:ln/>
        </p:spPr>
        <p:txBody>
          <a:bodyPr/>
          <a:lstStyle/>
          <a:p>
            <a:endParaRPr lang="en-US"/>
          </a:p>
        </p:txBody>
      </p:sp>
      <p:sp>
        <p:nvSpPr>
          <p:cNvPr id="8" name="Text 6"/>
          <p:cNvSpPr/>
          <p:nvPr/>
        </p:nvSpPr>
        <p:spPr>
          <a:xfrm>
            <a:off x="6543904" y="1554480"/>
            <a:ext cx="4824832" cy="365760"/>
          </a:xfrm>
          <a:prstGeom prst="rect">
            <a:avLst/>
          </a:prstGeom>
          <a:noFill/>
          <a:ln/>
        </p:spPr>
        <p:txBody>
          <a:bodyPr wrap="square" lIns="0" tIns="0" rIns="0" bIns="0" rtlCol="0" anchor="ctr"/>
          <a:lstStyle/>
          <a:p>
            <a:pPr marL="0" indent="0">
              <a:buNone/>
            </a:pPr>
            <a:r>
              <a:rPr lang="en-US" sz="1650" b="1" dirty="0">
                <a:solidFill>
                  <a:srgbClr val="1C1B29"/>
                </a:solidFill>
                <a:latin typeface="Calibri" pitchFamily="34" charset="0"/>
                <a:ea typeface="Calibri" pitchFamily="34" charset="-122"/>
                <a:cs typeface="Calibri" pitchFamily="34" charset="-120"/>
              </a:rPr>
              <a:t>The prior always passes</a:t>
            </a:r>
            <a:endParaRPr lang="en-US" sz="1650" dirty="0"/>
          </a:p>
        </p:txBody>
      </p:sp>
      <p:sp>
        <p:nvSpPr>
          <p:cNvPr id="9" name="Text 7"/>
          <p:cNvSpPr/>
          <p:nvPr/>
        </p:nvSpPr>
        <p:spPr>
          <a:xfrm>
            <a:off x="6543904" y="1993392"/>
            <a:ext cx="4824832" cy="868680"/>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Calibration tests check consistency, not precision. An uninformative posterior is perfectly calibrated and perfectly useless.</a:t>
            </a:r>
            <a:endParaRPr lang="en-US" sz="1450" dirty="0"/>
          </a:p>
        </p:txBody>
      </p:sp>
      <p:sp>
        <p:nvSpPr>
          <p:cNvPr id="10" name="Shape 8"/>
          <p:cNvSpPr/>
          <p:nvPr/>
        </p:nvSpPr>
        <p:spPr>
          <a:xfrm>
            <a:off x="566928" y="3236976"/>
            <a:ext cx="5336896" cy="1536192"/>
          </a:xfrm>
          <a:prstGeom prst="roundRect">
            <a:avLst>
              <a:gd name="adj" fmla="val 3571"/>
            </a:avLst>
          </a:prstGeom>
          <a:solidFill>
            <a:srgbClr val="EDEBF7"/>
          </a:solidFill>
          <a:ln/>
        </p:spPr>
        <p:txBody>
          <a:bodyPr/>
          <a:lstStyle/>
          <a:p>
            <a:endParaRPr lang="en-US"/>
          </a:p>
        </p:txBody>
      </p:sp>
      <p:sp>
        <p:nvSpPr>
          <p:cNvPr id="11" name="Text 9"/>
          <p:cNvSpPr/>
          <p:nvPr/>
        </p:nvSpPr>
        <p:spPr>
          <a:xfrm>
            <a:off x="822960" y="3364992"/>
            <a:ext cx="4824832" cy="365760"/>
          </a:xfrm>
          <a:prstGeom prst="rect">
            <a:avLst/>
          </a:prstGeom>
          <a:noFill/>
          <a:ln/>
        </p:spPr>
        <p:txBody>
          <a:bodyPr wrap="square" lIns="0" tIns="0" rIns="0" bIns="0" rtlCol="0" anchor="ctr"/>
          <a:lstStyle/>
          <a:p>
            <a:pPr marL="0" indent="0">
              <a:buNone/>
            </a:pPr>
            <a:r>
              <a:rPr lang="en-US" sz="1650" b="1" dirty="0">
                <a:solidFill>
                  <a:srgbClr val="3E3379"/>
                </a:solidFill>
                <a:latin typeface="Calibri" pitchFamily="34" charset="0"/>
                <a:ea typeface="Calibri" pitchFamily="34" charset="-122"/>
                <a:cs typeface="Calibri" pitchFamily="34" charset="-120"/>
              </a:rPr>
              <a:t>Local tests are sharper and dearer</a:t>
            </a:r>
            <a:endParaRPr lang="en-US" sz="1650" dirty="0"/>
          </a:p>
        </p:txBody>
      </p:sp>
      <p:sp>
        <p:nvSpPr>
          <p:cNvPr id="12" name="Text 10"/>
          <p:cNvSpPr/>
          <p:nvPr/>
        </p:nvSpPr>
        <p:spPr>
          <a:xfrm>
            <a:off x="822960" y="3803904"/>
            <a:ext cx="4824832" cy="868680"/>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Local C2ST and local coverage find region-specific failures, but they need far more calibration simulations than you may be able to afford.</a:t>
            </a:r>
            <a:endParaRPr lang="en-US" sz="1450" dirty="0"/>
          </a:p>
        </p:txBody>
      </p:sp>
      <p:sp>
        <p:nvSpPr>
          <p:cNvPr id="13" name="Shape 11"/>
          <p:cNvSpPr/>
          <p:nvPr/>
        </p:nvSpPr>
        <p:spPr>
          <a:xfrm>
            <a:off x="6287872" y="3236976"/>
            <a:ext cx="5336896" cy="1536192"/>
          </a:xfrm>
          <a:prstGeom prst="roundRect">
            <a:avLst>
              <a:gd name="adj" fmla="val 3571"/>
            </a:avLst>
          </a:prstGeom>
          <a:solidFill>
            <a:srgbClr val="F3F3F8"/>
          </a:solidFill>
          <a:ln/>
        </p:spPr>
        <p:txBody>
          <a:bodyPr/>
          <a:lstStyle/>
          <a:p>
            <a:endParaRPr lang="en-US"/>
          </a:p>
        </p:txBody>
      </p:sp>
      <p:sp>
        <p:nvSpPr>
          <p:cNvPr id="14" name="Text 12"/>
          <p:cNvSpPr/>
          <p:nvPr/>
        </p:nvSpPr>
        <p:spPr>
          <a:xfrm>
            <a:off x="6543904" y="3364992"/>
            <a:ext cx="4824832" cy="365760"/>
          </a:xfrm>
          <a:prstGeom prst="rect">
            <a:avLst/>
          </a:prstGeom>
          <a:noFill/>
          <a:ln/>
        </p:spPr>
        <p:txBody>
          <a:bodyPr wrap="square" lIns="0" tIns="0" rIns="0" bIns="0" rtlCol="0" anchor="ctr"/>
          <a:lstStyle/>
          <a:p>
            <a:pPr marL="0" indent="0">
              <a:buNone/>
            </a:pPr>
            <a:r>
              <a:rPr lang="en-US" sz="1650" b="1" dirty="0">
                <a:solidFill>
                  <a:srgbClr val="1C1B29"/>
                </a:solidFill>
                <a:latin typeface="Calibri" pitchFamily="34" charset="0"/>
                <a:ea typeface="Calibri" pitchFamily="34" charset="-122"/>
                <a:cs typeface="Calibri" pitchFamily="34" charset="-120"/>
              </a:rPr>
              <a:t>Sequential methods break the premise</a:t>
            </a:r>
            <a:endParaRPr lang="en-US" sz="1650" dirty="0"/>
          </a:p>
        </p:txBody>
      </p:sp>
      <p:sp>
        <p:nvSpPr>
          <p:cNvPr id="15" name="Text 13"/>
          <p:cNvSpPr/>
          <p:nvPr/>
        </p:nvSpPr>
        <p:spPr>
          <a:xfrm>
            <a:off x="6543904" y="3803904"/>
            <a:ext cx="4824832" cy="868680"/>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These tests need a test set from the training prior. A narrowed proposal no longer satisfies that, so the standard tests do not apply.</a:t>
            </a:r>
            <a:endParaRPr lang="en-US" sz="1450" dirty="0"/>
          </a:p>
        </p:txBody>
      </p:sp>
      <p:sp>
        <p:nvSpPr>
          <p:cNvPr id="16" name="Shape 14"/>
          <p:cNvSpPr/>
          <p:nvPr/>
        </p:nvSpPr>
        <p:spPr>
          <a:xfrm>
            <a:off x="566928" y="4754880"/>
            <a:ext cx="11057839" cy="786384"/>
          </a:xfrm>
          <a:prstGeom prst="roundRect">
            <a:avLst>
              <a:gd name="adj" fmla="val 6977"/>
            </a:avLst>
          </a:prstGeom>
          <a:solidFill>
            <a:srgbClr val="E3F1EE"/>
          </a:solidFill>
          <a:ln/>
        </p:spPr>
        <p:txBody>
          <a:bodyPr/>
          <a:lstStyle/>
          <a:p>
            <a:endParaRPr lang="en-US"/>
          </a:p>
        </p:txBody>
      </p:sp>
      <p:sp>
        <p:nvSpPr>
          <p:cNvPr id="17" name="Text 15"/>
          <p:cNvSpPr/>
          <p:nvPr/>
        </p:nvSpPr>
        <p:spPr>
          <a:xfrm>
            <a:off x="804672" y="4846320"/>
            <a:ext cx="10582351" cy="621792"/>
          </a:xfrm>
          <a:prstGeom prst="rect">
            <a:avLst/>
          </a:prstGeom>
          <a:noFill/>
          <a:ln/>
        </p:spPr>
        <p:txBody>
          <a:bodyPr wrap="square" lIns="0" tIns="0" rIns="0" bIns="0" rtlCol="0" anchor="t"/>
          <a:lstStyle/>
          <a:p>
            <a:pPr marL="0" indent="0">
              <a:lnSpc>
                <a:spcPct val="106000"/>
              </a:lnSpc>
              <a:buNone/>
            </a:pPr>
            <a:r>
              <a:rPr lang="en-US" sz="1450" dirty="0">
                <a:solidFill>
                  <a:srgbClr val="1F7A6C"/>
                </a:solidFill>
                <a:latin typeface="Calibri" pitchFamily="34" charset="0"/>
                <a:ea typeface="Calibri" pitchFamily="34" charset="-122"/>
                <a:cs typeface="Calibri" pitchFamily="34" charset="-120"/>
              </a:rPr>
              <a:t>When a ground-truth posterior does exist — SBI replacing a working explicit-likelihood analysis — compare the two sets of samples directly: classifier two-sample tests, maximum mean discrepancy, PQMass.</a:t>
            </a:r>
            <a:endParaRPr lang="en-US" sz="1450" dirty="0"/>
          </a:p>
        </p:txBody>
      </p:sp>
      <p:sp>
        <p:nvSpPr>
          <p:cNvPr id="18" name="Text 16"/>
          <p:cNvSpPr/>
          <p:nvPr/>
        </p:nvSpPr>
        <p:spPr>
          <a:xfrm>
            <a:off x="566928" y="5577840"/>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Thiele (2026), §3.2–3.3; Anau Montel (2025), §7.3.</a:t>
            </a:r>
            <a:endParaRPr lang="en-US" sz="1050" dirty="0"/>
          </a:p>
        </p:txBody>
      </p:sp>
      <p:sp>
        <p:nvSpPr>
          <p:cNvPr id="19" name="Shape 17"/>
          <p:cNvSpPr/>
          <p:nvPr/>
        </p:nvSpPr>
        <p:spPr>
          <a:xfrm>
            <a:off x="566928" y="5870448"/>
            <a:ext cx="11057839" cy="502920"/>
          </a:xfrm>
          <a:prstGeom prst="roundRect">
            <a:avLst>
              <a:gd name="adj" fmla="val 10909"/>
            </a:avLst>
          </a:prstGeom>
          <a:solidFill>
            <a:srgbClr val="FBF0E1"/>
          </a:solidFill>
          <a:ln/>
        </p:spPr>
        <p:txBody>
          <a:bodyPr/>
          <a:lstStyle/>
          <a:p>
            <a:endParaRPr lang="en-US"/>
          </a:p>
        </p:txBody>
      </p:sp>
      <p:sp>
        <p:nvSpPr>
          <p:cNvPr id="20" name="Text 18"/>
          <p:cNvSpPr/>
          <p:nvPr/>
        </p:nvSpPr>
        <p:spPr>
          <a:xfrm>
            <a:off x="804672" y="5870448"/>
            <a:ext cx="10600639" cy="502920"/>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No single test certifies a posterior. Run several, report them, and say plainly which ones you could not run.</a:t>
            </a:r>
            <a:endParaRPr lang="en-US" sz="1550" dirty="0"/>
          </a:p>
        </p:txBody>
      </p:sp>
      <p:sp>
        <p:nvSpPr>
          <p:cNvPr id="21" name="Text 19"/>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IV — Diagnostics</a:t>
            </a:r>
            <a:endParaRPr lang="en-US" sz="950" dirty="0"/>
          </a:p>
        </p:txBody>
      </p:sp>
      <p:sp>
        <p:nvSpPr>
          <p:cNvPr id="22" name="Text 20"/>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35</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SBI ON REAL DATA</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Where it is already doing science</a:t>
            </a:r>
            <a:endParaRPr lang="en-US" sz="3000" dirty="0"/>
          </a:p>
        </p:txBody>
      </p:sp>
      <p:sp>
        <p:nvSpPr>
          <p:cNvPr id="4" name="Shape 2"/>
          <p:cNvSpPr/>
          <p:nvPr/>
        </p:nvSpPr>
        <p:spPr>
          <a:xfrm>
            <a:off x="566928" y="1426464"/>
            <a:ext cx="5336896" cy="3657600"/>
          </a:xfrm>
          <a:prstGeom prst="roundRect">
            <a:avLst>
              <a:gd name="adj" fmla="val 1500"/>
            </a:avLst>
          </a:prstGeom>
          <a:solidFill>
            <a:srgbClr val="EDEBF7"/>
          </a:solidFill>
          <a:ln/>
        </p:spPr>
        <p:txBody>
          <a:bodyPr/>
          <a:lstStyle/>
          <a:p>
            <a:endParaRPr lang="en-US"/>
          </a:p>
        </p:txBody>
      </p:sp>
      <p:sp>
        <p:nvSpPr>
          <p:cNvPr id="5" name="Text 3"/>
          <p:cNvSpPr/>
          <p:nvPr/>
        </p:nvSpPr>
        <p:spPr>
          <a:xfrm>
            <a:off x="841248" y="1536192"/>
            <a:ext cx="4788256" cy="384048"/>
          </a:xfrm>
          <a:prstGeom prst="rect">
            <a:avLst/>
          </a:prstGeom>
          <a:noFill/>
          <a:ln/>
        </p:spPr>
        <p:txBody>
          <a:bodyPr wrap="square" lIns="0" tIns="0" rIns="0" bIns="0" rtlCol="0" anchor="ctr"/>
          <a:lstStyle/>
          <a:p>
            <a:pPr marL="0" indent="0">
              <a:buNone/>
            </a:pPr>
            <a:r>
              <a:rPr lang="en-US" sz="2000" b="1" dirty="0">
                <a:solidFill>
                  <a:srgbClr val="3E3379"/>
                </a:solidFill>
                <a:latin typeface="Calibri" pitchFamily="34" charset="0"/>
                <a:ea typeface="Calibri" pitchFamily="34" charset="-122"/>
                <a:cs typeface="Calibri" pitchFamily="34" charset="-120"/>
              </a:rPr>
              <a:t>Cosmology</a:t>
            </a:r>
            <a:endParaRPr lang="en-US" sz="2000" dirty="0"/>
          </a:p>
        </p:txBody>
      </p:sp>
      <p:sp>
        <p:nvSpPr>
          <p:cNvPr id="6" name="Text 4"/>
          <p:cNvSpPr/>
          <p:nvPr/>
        </p:nvSpPr>
        <p:spPr>
          <a:xfrm>
            <a:off x="841248" y="2029968"/>
            <a:ext cx="4788256" cy="23317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450" dirty="0">
                <a:solidFill>
                  <a:srgbClr val="1C1B29"/>
                </a:solidFill>
                <a:latin typeface="Calibri" pitchFamily="34" charset="0"/>
                <a:ea typeface="Calibri" pitchFamily="34" charset="-122"/>
                <a:cs typeface="Calibri" pitchFamily="34" charset="-120"/>
              </a:rPr>
              <a:t>Galaxy clustering — BOSS, with the SimBIG framework, both at the field level and from summary statistics.</a:t>
            </a:r>
            <a:endParaRPr lang="en-US" sz="1450" dirty="0"/>
          </a:p>
          <a:p>
            <a:pPr marL="177800" indent="-177800">
              <a:lnSpc>
                <a:spcPct val="102000"/>
              </a:lnSpc>
              <a:spcAft>
                <a:spcPts val="1000"/>
              </a:spcAft>
              <a:buSzPct val="100000"/>
              <a:buChar char="•"/>
            </a:pPr>
            <a:r>
              <a:rPr lang="en-US" sz="1450" dirty="0">
                <a:solidFill>
                  <a:srgbClr val="1C1B29"/>
                </a:solidFill>
                <a:latin typeface="Calibri" pitchFamily="34" charset="0"/>
                <a:ea typeface="Calibri" pitchFamily="34" charset="-122"/>
                <a:cs typeface="Calibri" pitchFamily="34" charset="-120"/>
              </a:rPr>
              <a:t>Weak lensing — every Stage-III survey: DES, KiDS and HSC, using higher-order and map-level statistics.</a:t>
            </a:r>
            <a:endParaRPr lang="en-US" sz="1450" dirty="0"/>
          </a:p>
          <a:p>
            <a:pPr marL="177800" indent="-177800">
              <a:lnSpc>
                <a:spcPct val="102000"/>
              </a:lnSpc>
              <a:spcAft>
                <a:spcPts val="1000"/>
              </a:spcAft>
              <a:buSzPct val="100000"/>
              <a:buChar char="•"/>
            </a:pPr>
            <a:r>
              <a:rPr lang="en-US" sz="1450" dirty="0">
                <a:solidFill>
                  <a:srgbClr val="1C1B29"/>
                </a:solidFill>
                <a:latin typeface="Calibri" pitchFamily="34" charset="0"/>
                <a:ea typeface="Calibri" pitchFamily="34" charset="-122"/>
                <a:cs typeface="Calibri" pitchFamily="34" charset="-120"/>
              </a:rPr>
              <a:t>Cosmic voids — neutrino-mass constraints from BOSS void statistics.</a:t>
            </a:r>
            <a:endParaRPr lang="en-US" sz="1450" dirty="0"/>
          </a:p>
        </p:txBody>
      </p:sp>
      <p:sp>
        <p:nvSpPr>
          <p:cNvPr id="7" name="Text 5"/>
          <p:cNvSpPr/>
          <p:nvPr/>
        </p:nvSpPr>
        <p:spPr>
          <a:xfrm>
            <a:off x="841248" y="4590288"/>
            <a:ext cx="4788256" cy="384048"/>
          </a:xfrm>
          <a:prstGeom prst="rect">
            <a:avLst/>
          </a:prstGeom>
          <a:noFill/>
          <a:ln/>
        </p:spPr>
        <p:txBody>
          <a:bodyPr wrap="square" lIns="0" tIns="0" rIns="0" bIns="0" rtlCol="0" anchor="t"/>
          <a:lstStyle/>
          <a:p>
            <a:pPr marL="0" indent="0">
              <a:lnSpc>
                <a:spcPct val="106000"/>
              </a:lnSpc>
              <a:buNone/>
            </a:pPr>
            <a:r>
              <a:rPr lang="en-US" sz="1400" b="1" i="1" dirty="0">
                <a:solidFill>
                  <a:srgbClr val="4A3F8F"/>
                </a:solidFill>
                <a:latin typeface="Calibri" pitchFamily="34" charset="0"/>
                <a:ea typeface="Calibri" pitchFamily="34" charset="-122"/>
                <a:cs typeface="Calibri" pitchFamily="34" charset="-120"/>
              </a:rPr>
              <a:t>Mostly motivated by intractable likelihoods.</a:t>
            </a:r>
            <a:endParaRPr lang="en-US" sz="1400" dirty="0"/>
          </a:p>
        </p:txBody>
      </p:sp>
      <p:sp>
        <p:nvSpPr>
          <p:cNvPr id="8" name="Shape 6"/>
          <p:cNvSpPr/>
          <p:nvPr/>
        </p:nvSpPr>
        <p:spPr>
          <a:xfrm>
            <a:off x="6287872" y="1426464"/>
            <a:ext cx="5336896" cy="3657600"/>
          </a:xfrm>
          <a:prstGeom prst="roundRect">
            <a:avLst>
              <a:gd name="adj" fmla="val 1500"/>
            </a:avLst>
          </a:prstGeom>
          <a:solidFill>
            <a:srgbClr val="E3F1EE"/>
          </a:solidFill>
          <a:ln/>
        </p:spPr>
        <p:txBody>
          <a:bodyPr/>
          <a:lstStyle/>
          <a:p>
            <a:endParaRPr lang="en-US"/>
          </a:p>
        </p:txBody>
      </p:sp>
      <p:sp>
        <p:nvSpPr>
          <p:cNvPr id="9" name="Text 7"/>
          <p:cNvSpPr/>
          <p:nvPr/>
        </p:nvSpPr>
        <p:spPr>
          <a:xfrm>
            <a:off x="6562192" y="1536192"/>
            <a:ext cx="4788256" cy="384048"/>
          </a:xfrm>
          <a:prstGeom prst="rect">
            <a:avLst/>
          </a:prstGeom>
          <a:noFill/>
          <a:ln/>
        </p:spPr>
        <p:txBody>
          <a:bodyPr wrap="square" lIns="0" tIns="0" rIns="0" bIns="0" rtlCol="0" anchor="ctr"/>
          <a:lstStyle/>
          <a:p>
            <a:pPr marL="0" indent="0">
              <a:buNone/>
            </a:pPr>
            <a:r>
              <a:rPr lang="en-US" sz="2000" b="1" dirty="0">
                <a:solidFill>
                  <a:srgbClr val="1F7A6C"/>
                </a:solidFill>
                <a:latin typeface="Calibri" pitchFamily="34" charset="0"/>
                <a:ea typeface="Calibri" pitchFamily="34" charset="-122"/>
                <a:cs typeface="Calibri" pitchFamily="34" charset="-120"/>
              </a:rPr>
              <a:t>Astrophysics</a:t>
            </a:r>
            <a:endParaRPr lang="en-US" sz="2000" dirty="0"/>
          </a:p>
        </p:txBody>
      </p:sp>
      <p:sp>
        <p:nvSpPr>
          <p:cNvPr id="10" name="Text 8"/>
          <p:cNvSpPr/>
          <p:nvPr/>
        </p:nvSpPr>
        <p:spPr>
          <a:xfrm>
            <a:off x="6562192" y="2029968"/>
            <a:ext cx="4788256" cy="23317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450" dirty="0">
                <a:solidFill>
                  <a:srgbClr val="1C1B29"/>
                </a:solidFill>
                <a:latin typeface="Calibri" pitchFamily="34" charset="0"/>
                <a:ea typeface="Calibri" pitchFamily="34" charset="-122"/>
                <a:cs typeface="Calibri" pitchFamily="34" charset="-120"/>
              </a:rPr>
              <a:t>Gravitational waves — real-time parameter estimation for compact-binary mergers.</a:t>
            </a:r>
            <a:endParaRPr lang="en-US" sz="1450" dirty="0"/>
          </a:p>
          <a:p>
            <a:pPr marL="177800" indent="-177800">
              <a:lnSpc>
                <a:spcPct val="102000"/>
              </a:lnSpc>
              <a:spcAft>
                <a:spcPts val="1000"/>
              </a:spcAft>
              <a:buSzPct val="100000"/>
              <a:buChar char="•"/>
            </a:pPr>
            <a:r>
              <a:rPr lang="en-US" sz="1450" dirty="0">
                <a:solidFill>
                  <a:srgbClr val="1C1B29"/>
                </a:solidFill>
                <a:latin typeface="Calibri" pitchFamily="34" charset="0"/>
                <a:ea typeface="Calibri" pitchFamily="34" charset="-122"/>
                <a:cs typeface="Calibri" pitchFamily="34" charset="-120"/>
              </a:rPr>
              <a:t>Type Ia supernovae — hierarchical dust-extinction population analysis.</a:t>
            </a:r>
            <a:endParaRPr lang="en-US" sz="1450" dirty="0"/>
          </a:p>
          <a:p>
            <a:pPr marL="177800" indent="-177800">
              <a:lnSpc>
                <a:spcPct val="102000"/>
              </a:lnSpc>
              <a:spcAft>
                <a:spcPts val="1000"/>
              </a:spcAft>
              <a:buSzPct val="100000"/>
              <a:buChar char="•"/>
            </a:pPr>
            <a:r>
              <a:rPr lang="en-US" sz="1450" dirty="0">
                <a:solidFill>
                  <a:srgbClr val="1C1B29"/>
                </a:solidFill>
                <a:latin typeface="Calibri" pitchFamily="34" charset="0"/>
                <a:ea typeface="Calibri" pitchFamily="34" charset="-122"/>
                <a:cs typeface="Calibri" pitchFamily="34" charset="-120"/>
              </a:rPr>
              <a:t>Photometric redshifts and stellar spectra — amortised fitting at catalogue scale.</a:t>
            </a:r>
            <a:endParaRPr lang="en-US" sz="1450" dirty="0"/>
          </a:p>
          <a:p>
            <a:pPr marL="177800" indent="-177800">
              <a:lnSpc>
                <a:spcPct val="102000"/>
              </a:lnSpc>
              <a:spcAft>
                <a:spcPts val="1000"/>
              </a:spcAft>
              <a:buSzPct val="100000"/>
              <a:buChar char="•"/>
            </a:pPr>
            <a:r>
              <a:rPr lang="en-US" sz="1450" dirty="0">
                <a:solidFill>
                  <a:srgbClr val="1C1B29"/>
                </a:solidFill>
                <a:latin typeface="Calibri" pitchFamily="34" charset="0"/>
                <a:ea typeface="Calibri" pitchFamily="34" charset="-122"/>
                <a:cs typeface="Calibri" pitchFamily="34" charset="-120"/>
              </a:rPr>
              <a:t>Galactic-centre γ-ray excess — intractable point-source likelihood.</a:t>
            </a:r>
            <a:endParaRPr lang="en-US" sz="1450" dirty="0"/>
          </a:p>
        </p:txBody>
      </p:sp>
      <p:sp>
        <p:nvSpPr>
          <p:cNvPr id="11" name="Text 9"/>
          <p:cNvSpPr/>
          <p:nvPr/>
        </p:nvSpPr>
        <p:spPr>
          <a:xfrm>
            <a:off x="6562192" y="4590288"/>
            <a:ext cx="4788256" cy="384048"/>
          </a:xfrm>
          <a:prstGeom prst="rect">
            <a:avLst/>
          </a:prstGeom>
          <a:noFill/>
          <a:ln/>
        </p:spPr>
        <p:txBody>
          <a:bodyPr wrap="square" lIns="0" tIns="0" rIns="0" bIns="0" rtlCol="0" anchor="t"/>
          <a:lstStyle/>
          <a:p>
            <a:pPr marL="0" indent="0">
              <a:lnSpc>
                <a:spcPct val="106000"/>
              </a:lnSpc>
              <a:buNone/>
            </a:pPr>
            <a:r>
              <a:rPr lang="en-US" sz="1400" b="1" i="1" dirty="0">
                <a:solidFill>
                  <a:srgbClr val="1F7A6C"/>
                </a:solidFill>
                <a:latin typeface="Calibri" pitchFamily="34" charset="0"/>
                <a:ea typeface="Calibri" pitchFamily="34" charset="-122"/>
                <a:cs typeface="Calibri" pitchFamily="34" charset="-120"/>
              </a:rPr>
              <a:t>Mostly motivated by speed.</a:t>
            </a:r>
            <a:endParaRPr lang="en-US" sz="1400" dirty="0"/>
          </a:p>
        </p:txBody>
      </p:sp>
      <p:sp>
        <p:nvSpPr>
          <p:cNvPr id="12" name="Text 10"/>
          <p:cNvSpPr/>
          <p:nvPr/>
        </p:nvSpPr>
        <p:spPr>
          <a:xfrm>
            <a:off x="566928" y="5212080"/>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Real-data applications as catalogued in Thiele (2026), §4 — that review lists the primary references for each.</a:t>
            </a:r>
            <a:endParaRPr lang="en-US" sz="1050" dirty="0"/>
          </a:p>
        </p:txBody>
      </p:sp>
      <p:sp>
        <p:nvSpPr>
          <p:cNvPr id="13" name="Shape 11"/>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14" name="Text 12"/>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The field has moved from method papers to published measurements. The bar now is the diagnostics, not the novelty.</a:t>
            </a:r>
            <a:endParaRPr lang="en-US" sz="1550" dirty="0"/>
          </a:p>
        </p:txBody>
      </p:sp>
      <p:sp>
        <p:nvSpPr>
          <p:cNvPr id="15" name="Text 13"/>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V — Practice</a:t>
            </a:r>
            <a:endParaRPr lang="en-US" sz="950" dirty="0"/>
          </a:p>
        </p:txBody>
      </p:sp>
      <p:sp>
        <p:nvSpPr>
          <p:cNvPr id="16" name="Text 14"/>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36</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THE OPEN PROBLEM</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Faithful posteriors on a finite simulation budget</a:t>
            </a:r>
            <a:endParaRPr lang="en-US" sz="3000" dirty="0"/>
          </a:p>
        </p:txBody>
      </p:sp>
      <p:sp>
        <p:nvSpPr>
          <p:cNvPr id="4" name="Shape 2"/>
          <p:cNvSpPr/>
          <p:nvPr/>
        </p:nvSpPr>
        <p:spPr>
          <a:xfrm>
            <a:off x="566928" y="1444752"/>
            <a:ext cx="3520440" cy="3108960"/>
          </a:xfrm>
          <a:prstGeom prst="roundRect">
            <a:avLst>
              <a:gd name="adj" fmla="val 1765"/>
            </a:avLst>
          </a:prstGeom>
          <a:solidFill>
            <a:srgbClr val="EDEBF7"/>
          </a:solidFill>
          <a:ln/>
        </p:spPr>
        <p:txBody>
          <a:bodyPr/>
          <a:lstStyle/>
          <a:p>
            <a:endParaRPr lang="en-US"/>
          </a:p>
        </p:txBody>
      </p:sp>
      <p:sp>
        <p:nvSpPr>
          <p:cNvPr id="5" name="Text 3"/>
          <p:cNvSpPr/>
          <p:nvPr/>
        </p:nvSpPr>
        <p:spPr>
          <a:xfrm>
            <a:off x="804672" y="1572768"/>
            <a:ext cx="3063240" cy="640080"/>
          </a:xfrm>
          <a:prstGeom prst="rect">
            <a:avLst/>
          </a:prstGeom>
          <a:noFill/>
          <a:ln/>
        </p:spPr>
        <p:txBody>
          <a:bodyPr wrap="square" lIns="0" tIns="0" rIns="0" bIns="0" rtlCol="0" anchor="ctr"/>
          <a:lstStyle/>
          <a:p>
            <a:pPr marL="0" indent="0">
              <a:buNone/>
            </a:pPr>
            <a:r>
              <a:rPr lang="en-US" sz="1700" b="1" dirty="0">
                <a:solidFill>
                  <a:srgbClr val="3E3379"/>
                </a:solidFill>
                <a:latin typeface="Calibri" pitchFamily="34" charset="0"/>
                <a:ea typeface="Calibri" pitchFamily="34" charset="-122"/>
                <a:cs typeface="Calibri" pitchFamily="34" charset="-120"/>
              </a:rPr>
              <a:t>The uncomfortable finding</a:t>
            </a:r>
            <a:endParaRPr lang="en-US" sz="1700" dirty="0"/>
          </a:p>
        </p:txBody>
      </p:sp>
      <p:sp>
        <p:nvSpPr>
          <p:cNvPr id="6" name="Text 4"/>
          <p:cNvSpPr/>
          <p:nvPr/>
        </p:nvSpPr>
        <p:spPr>
          <a:xfrm>
            <a:off x="804672" y="2249424"/>
            <a:ext cx="3063240" cy="2194560"/>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With limited simulation budgets, neural posteriors can be confidently wrong — and the global checks do not always catch it. Cosmological simulations are expensive, and we have exactly one universe to compare against.</a:t>
            </a:r>
            <a:endParaRPr lang="en-US" sz="1450" dirty="0"/>
          </a:p>
        </p:txBody>
      </p:sp>
      <p:sp>
        <p:nvSpPr>
          <p:cNvPr id="11" name="Shape 9"/>
          <p:cNvSpPr/>
          <p:nvPr/>
        </p:nvSpPr>
        <p:spPr>
          <a:xfrm>
            <a:off x="8101584" y="1444752"/>
            <a:ext cx="3520440" cy="3108960"/>
          </a:xfrm>
          <a:prstGeom prst="roundRect">
            <a:avLst>
              <a:gd name="adj" fmla="val 1765"/>
            </a:avLst>
          </a:prstGeom>
          <a:solidFill>
            <a:srgbClr val="E3F1EE"/>
          </a:solidFill>
          <a:ln/>
        </p:spPr>
        <p:txBody>
          <a:bodyPr/>
          <a:lstStyle/>
          <a:p>
            <a:endParaRPr lang="en-US"/>
          </a:p>
        </p:txBody>
      </p:sp>
      <p:sp>
        <p:nvSpPr>
          <p:cNvPr id="12" name="Text 10"/>
          <p:cNvSpPr/>
          <p:nvPr/>
        </p:nvSpPr>
        <p:spPr>
          <a:xfrm>
            <a:off x="8339328" y="1572768"/>
            <a:ext cx="3063240" cy="640080"/>
          </a:xfrm>
          <a:prstGeom prst="rect">
            <a:avLst/>
          </a:prstGeom>
          <a:noFill/>
          <a:ln/>
        </p:spPr>
        <p:txBody>
          <a:bodyPr wrap="square" lIns="0" tIns="0" rIns="0" bIns="0" rtlCol="0" anchor="ctr"/>
          <a:lstStyle/>
          <a:p>
            <a:pPr marL="0" indent="0">
              <a:buNone/>
            </a:pPr>
            <a:r>
              <a:rPr lang="en-US" sz="1700" b="1" dirty="0">
                <a:solidFill>
                  <a:srgbClr val="1F7A6C"/>
                </a:solidFill>
                <a:latin typeface="Calibri" pitchFamily="34" charset="0"/>
                <a:ea typeface="Calibri" pitchFamily="34" charset="-122"/>
                <a:cs typeface="Calibri" pitchFamily="34" charset="-120"/>
              </a:rPr>
              <a:t>What is being done about it</a:t>
            </a:r>
            <a:endParaRPr lang="en-US" sz="1700" dirty="0"/>
          </a:p>
        </p:txBody>
      </p:sp>
      <p:sp>
        <p:nvSpPr>
          <p:cNvPr id="13" name="Text 11"/>
          <p:cNvSpPr/>
          <p:nvPr/>
        </p:nvSpPr>
        <p:spPr>
          <a:xfrm>
            <a:off x="8339328" y="2249424"/>
            <a:ext cx="3063240" cy="2194560"/>
          </a:xfrm>
          <a:prstGeom prst="rect">
            <a:avLst/>
          </a:prstGeom>
          <a:noFill/>
          <a:ln/>
        </p:spPr>
        <p:txBody>
          <a:bodyPr wrap="square" lIns="0" tIns="0" rIns="0" bIns="0" rtlCol="0" anchor="t"/>
          <a:lstStyle/>
          <a:p>
            <a:pPr marL="177800" indent="-177800">
              <a:lnSpc>
                <a:spcPct val="102000"/>
              </a:lnSpc>
              <a:spcAft>
                <a:spcPts val="400"/>
              </a:spcAft>
              <a:buSzPct val="100000"/>
              <a:buChar char="•"/>
            </a:pPr>
            <a:r>
              <a:rPr lang="en-US" sz="1350" dirty="0">
                <a:solidFill>
                  <a:srgbClr val="1C1B29"/>
                </a:solidFill>
                <a:latin typeface="Calibri" pitchFamily="34" charset="0"/>
                <a:ea typeface="Calibri" pitchFamily="34" charset="-122"/>
                <a:cs typeface="Calibri" pitchFamily="34" charset="-120"/>
              </a:rPr>
              <a:t>ensembling independently trained networks</a:t>
            </a:r>
            <a:endParaRPr lang="en-US" sz="1350" dirty="0"/>
          </a:p>
          <a:p>
            <a:pPr marL="177800" indent="-177800">
              <a:lnSpc>
                <a:spcPct val="102000"/>
              </a:lnSpc>
              <a:spcAft>
                <a:spcPts val="400"/>
              </a:spcAft>
              <a:buSzPct val="100000"/>
              <a:buChar char="•"/>
            </a:pPr>
            <a:r>
              <a:rPr lang="en-US" sz="1350" dirty="0">
                <a:solidFill>
                  <a:srgbClr val="1C1B29"/>
                </a:solidFill>
                <a:latin typeface="Calibri" pitchFamily="34" charset="0"/>
                <a:ea typeface="Calibri" pitchFamily="34" charset="-122"/>
                <a:cs typeface="Calibri" pitchFamily="34" charset="-120"/>
              </a:rPr>
              <a:t>objectives that target coverage directly</a:t>
            </a:r>
            <a:endParaRPr lang="en-US" sz="1350" dirty="0"/>
          </a:p>
          <a:p>
            <a:pPr marL="177800" indent="-177800">
              <a:lnSpc>
                <a:spcPct val="102000"/>
              </a:lnSpc>
              <a:spcAft>
                <a:spcPts val="400"/>
              </a:spcAft>
              <a:buSzPct val="100000"/>
              <a:buChar char="•"/>
            </a:pPr>
            <a:r>
              <a:rPr lang="en-US" sz="1350" dirty="0">
                <a:solidFill>
                  <a:srgbClr val="1C1B29"/>
                </a:solidFill>
                <a:latin typeface="Calibri" pitchFamily="34" charset="0"/>
                <a:ea typeface="Calibri" pitchFamily="34" charset="-122"/>
                <a:cs typeface="Calibri" pitchFamily="34" charset="-120"/>
              </a:rPr>
              <a:t>hybrid analytic + SBI likelihoods</a:t>
            </a:r>
            <a:endParaRPr lang="en-US" sz="1350" dirty="0"/>
          </a:p>
          <a:p>
            <a:pPr marL="177800" indent="-177800">
              <a:lnSpc>
                <a:spcPct val="102000"/>
              </a:lnSpc>
              <a:spcAft>
                <a:spcPts val="400"/>
              </a:spcAft>
              <a:buSzPct val="100000"/>
              <a:buChar char="•"/>
            </a:pPr>
            <a:r>
              <a:rPr lang="en-US" sz="1350" dirty="0">
                <a:solidFill>
                  <a:srgbClr val="1C1B29"/>
                </a:solidFill>
                <a:latin typeface="Calibri" pitchFamily="34" charset="0"/>
                <a:ea typeface="Calibri" pitchFamily="34" charset="-122"/>
                <a:cs typeface="Calibri" pitchFamily="34" charset="-120"/>
              </a:rPr>
              <a:t>multi-fidelity training, cheap plus accurate</a:t>
            </a:r>
            <a:endParaRPr lang="en-US" sz="1350" dirty="0"/>
          </a:p>
          <a:p>
            <a:pPr marL="177800" indent="-177800">
              <a:lnSpc>
                <a:spcPct val="102000"/>
              </a:lnSpc>
              <a:spcAft>
                <a:spcPts val="400"/>
              </a:spcAft>
              <a:buSzPct val="100000"/>
              <a:buChar char="•"/>
            </a:pPr>
            <a:r>
              <a:rPr lang="en-US" sz="1350" dirty="0">
                <a:solidFill>
                  <a:srgbClr val="1C1B29"/>
                </a:solidFill>
                <a:latin typeface="Calibri" pitchFamily="34" charset="0"/>
                <a:ea typeface="Calibri" pitchFamily="34" charset="-122"/>
                <a:cs typeface="Calibri" pitchFamily="34" charset="-120"/>
              </a:rPr>
              <a:t>cheap simulations with a small correction set</a:t>
            </a:r>
            <a:endParaRPr lang="en-US" sz="1350" dirty="0"/>
          </a:p>
        </p:txBody>
      </p:sp>
      <p:sp>
        <p:nvSpPr>
          <p:cNvPr id="14" name="Text 12"/>
          <p:cNvSpPr/>
          <p:nvPr/>
        </p:nvSpPr>
        <p:spPr>
          <a:xfrm>
            <a:off x="566928" y="4700016"/>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Survey of current directions: Thiele (2026), §5. The parameter-count finding is from Deistler et al. (2025), Fig. 6.</a:t>
            </a:r>
            <a:endParaRPr lang="en-US" sz="1050" dirty="0"/>
          </a:p>
        </p:txBody>
      </p:sp>
      <p:sp>
        <p:nvSpPr>
          <p:cNvPr id="15" name="Shape 13"/>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16" name="Text 14"/>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Architecture choice is rarely the bottleneck. The simulation budget is.</a:t>
            </a:r>
            <a:endParaRPr lang="en-US" sz="1550" dirty="0"/>
          </a:p>
        </p:txBody>
      </p:sp>
      <p:sp>
        <p:nvSpPr>
          <p:cNvPr id="17" name="Text 15"/>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V — Practice</a:t>
            </a:r>
            <a:endParaRPr lang="en-US" sz="950" dirty="0"/>
          </a:p>
        </p:txBody>
      </p:sp>
      <p:sp>
        <p:nvSpPr>
          <p:cNvPr id="18" name="Text 16"/>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37</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THE WORKFLOW</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Five stages, and a loop you should expect to use</a:t>
            </a:r>
            <a:endParaRPr lang="en-US" sz="3000" dirty="0"/>
          </a:p>
        </p:txBody>
      </p:sp>
      <p:sp>
        <p:nvSpPr>
          <p:cNvPr id="4" name="Shape 2"/>
          <p:cNvSpPr/>
          <p:nvPr/>
        </p:nvSpPr>
        <p:spPr>
          <a:xfrm>
            <a:off x="566928" y="1627632"/>
            <a:ext cx="1992112" cy="1463040"/>
          </a:xfrm>
          <a:prstGeom prst="roundRect">
            <a:avLst>
              <a:gd name="adj" fmla="val 3750"/>
            </a:avLst>
          </a:prstGeom>
          <a:solidFill>
            <a:srgbClr val="EDEBF7"/>
          </a:solidFill>
          <a:ln/>
        </p:spPr>
        <p:txBody>
          <a:bodyPr/>
          <a:lstStyle/>
          <a:p>
            <a:endParaRPr lang="en-US"/>
          </a:p>
        </p:txBody>
      </p:sp>
      <p:sp>
        <p:nvSpPr>
          <p:cNvPr id="5" name="Shape 3"/>
          <p:cNvSpPr/>
          <p:nvPr/>
        </p:nvSpPr>
        <p:spPr>
          <a:xfrm>
            <a:off x="749808" y="1792224"/>
            <a:ext cx="365760" cy="365760"/>
          </a:xfrm>
          <a:prstGeom prst="ellipse">
            <a:avLst/>
          </a:prstGeom>
          <a:solidFill>
            <a:srgbClr val="4A3F8F"/>
          </a:solidFill>
          <a:ln/>
        </p:spPr>
        <p:txBody>
          <a:bodyPr/>
          <a:lstStyle/>
          <a:p>
            <a:endParaRPr lang="en-US"/>
          </a:p>
        </p:txBody>
      </p:sp>
      <p:sp>
        <p:nvSpPr>
          <p:cNvPr id="6" name="Text 4"/>
          <p:cNvSpPr/>
          <p:nvPr/>
        </p:nvSpPr>
        <p:spPr>
          <a:xfrm>
            <a:off x="749808" y="17922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88720" y="1792224"/>
            <a:ext cx="1187440" cy="365760"/>
          </a:xfrm>
          <a:prstGeom prst="rect">
            <a:avLst/>
          </a:prstGeom>
          <a:noFill/>
          <a:ln/>
        </p:spPr>
        <p:txBody>
          <a:bodyPr wrap="square" lIns="0" tIns="0" rIns="0" bIns="0" rtlCol="0" anchor="ctr"/>
          <a:lstStyle/>
          <a:p>
            <a:pPr marL="0" indent="0">
              <a:buNone/>
            </a:pPr>
            <a:r>
              <a:rPr lang="en-US" sz="1700" b="1" dirty="0">
                <a:solidFill>
                  <a:srgbClr val="4A3F8F"/>
                </a:solidFill>
                <a:latin typeface="Calibri" pitchFamily="34" charset="0"/>
                <a:ea typeface="Calibri" pitchFamily="34" charset="-122"/>
                <a:cs typeface="Calibri" pitchFamily="34" charset="-120"/>
              </a:rPr>
              <a:t>Define</a:t>
            </a:r>
            <a:endParaRPr lang="en-US" sz="1700" dirty="0"/>
          </a:p>
        </p:txBody>
      </p:sp>
      <p:sp>
        <p:nvSpPr>
          <p:cNvPr id="8" name="Text 6"/>
          <p:cNvSpPr/>
          <p:nvPr/>
        </p:nvSpPr>
        <p:spPr>
          <a:xfrm>
            <a:off x="749808" y="2267712"/>
            <a:ext cx="1626352" cy="731520"/>
          </a:xfrm>
          <a:prstGeom prst="rect">
            <a:avLst/>
          </a:prstGeom>
          <a:noFill/>
          <a:ln/>
        </p:spPr>
        <p:txBody>
          <a:bodyPr wrap="square" lIns="0" tIns="0" rIns="0" bIns="0" rtlCol="0" anchor="t"/>
          <a:lstStyle/>
          <a:p>
            <a:pPr marL="0" indent="0">
              <a:lnSpc>
                <a:spcPct val="106000"/>
              </a:lnSpc>
              <a:buNone/>
            </a:pPr>
            <a:r>
              <a:rPr lang="en-US" sz="1350" dirty="0">
                <a:solidFill>
                  <a:srgbClr val="1C1B29"/>
                </a:solidFill>
                <a:latin typeface="Calibri" pitchFamily="34" charset="0"/>
                <a:ea typeface="Calibri" pitchFamily="34" charset="-122"/>
                <a:cs typeface="Calibri" pitchFamily="34" charset="-120"/>
              </a:rPr>
              <a:t>simulator, prior,</a:t>
            </a:r>
            <a:endParaRPr lang="en-US" sz="1350" dirty="0"/>
          </a:p>
          <a:p>
            <a:pPr marL="0" indent="0">
              <a:lnSpc>
                <a:spcPct val="106000"/>
              </a:lnSpc>
              <a:buNone/>
            </a:pPr>
            <a:r>
              <a:rPr lang="en-US" sz="1350" dirty="0">
                <a:solidFill>
                  <a:srgbClr val="1C1B29"/>
                </a:solidFill>
                <a:latin typeface="Calibri" pitchFamily="34" charset="0"/>
                <a:ea typeface="Calibri" pitchFamily="34" charset="-122"/>
                <a:cs typeface="Calibri" pitchFamily="34" charset="-120"/>
              </a:rPr>
              <a:t>what counts as data</a:t>
            </a:r>
            <a:endParaRPr lang="en-US" sz="1350" dirty="0"/>
          </a:p>
        </p:txBody>
      </p:sp>
      <p:sp>
        <p:nvSpPr>
          <p:cNvPr id="9" name="Shape 7"/>
          <p:cNvSpPr/>
          <p:nvPr/>
        </p:nvSpPr>
        <p:spPr>
          <a:xfrm>
            <a:off x="2586472" y="2359152"/>
            <a:ext cx="219456" cy="0"/>
          </a:xfrm>
          <a:prstGeom prst="line">
            <a:avLst/>
          </a:prstGeom>
          <a:noFill/>
          <a:ln w="19050">
            <a:solidFill>
              <a:srgbClr val="6E6E80"/>
            </a:solidFill>
            <a:prstDash val="solid"/>
            <a:tailEnd type="triangle"/>
          </a:ln>
        </p:spPr>
        <p:txBody>
          <a:bodyPr/>
          <a:lstStyle/>
          <a:p>
            <a:endParaRPr lang="en-US"/>
          </a:p>
        </p:txBody>
      </p:sp>
      <p:sp>
        <p:nvSpPr>
          <p:cNvPr id="10" name="Shape 8"/>
          <p:cNvSpPr/>
          <p:nvPr/>
        </p:nvSpPr>
        <p:spPr>
          <a:xfrm>
            <a:off x="2833360" y="1627632"/>
            <a:ext cx="1992112" cy="1463040"/>
          </a:xfrm>
          <a:prstGeom prst="roundRect">
            <a:avLst>
              <a:gd name="adj" fmla="val 3750"/>
            </a:avLst>
          </a:prstGeom>
          <a:solidFill>
            <a:srgbClr val="F3F3F8"/>
          </a:solidFill>
          <a:ln/>
        </p:spPr>
        <p:txBody>
          <a:bodyPr/>
          <a:lstStyle/>
          <a:p>
            <a:endParaRPr lang="en-US"/>
          </a:p>
        </p:txBody>
      </p:sp>
      <p:sp>
        <p:nvSpPr>
          <p:cNvPr id="11" name="Shape 9"/>
          <p:cNvSpPr/>
          <p:nvPr/>
        </p:nvSpPr>
        <p:spPr>
          <a:xfrm>
            <a:off x="3016240" y="1792224"/>
            <a:ext cx="365760" cy="365760"/>
          </a:xfrm>
          <a:prstGeom prst="ellipse">
            <a:avLst/>
          </a:prstGeom>
          <a:solidFill>
            <a:srgbClr val="6E6E80"/>
          </a:solidFill>
          <a:ln/>
        </p:spPr>
        <p:txBody>
          <a:bodyPr/>
          <a:lstStyle/>
          <a:p>
            <a:endParaRPr lang="en-US"/>
          </a:p>
        </p:txBody>
      </p:sp>
      <p:sp>
        <p:nvSpPr>
          <p:cNvPr id="12" name="Text 10"/>
          <p:cNvSpPr/>
          <p:nvPr/>
        </p:nvSpPr>
        <p:spPr>
          <a:xfrm>
            <a:off x="3016240" y="17922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3455152" y="1792224"/>
            <a:ext cx="1187440" cy="365760"/>
          </a:xfrm>
          <a:prstGeom prst="rect">
            <a:avLst/>
          </a:prstGeom>
          <a:noFill/>
          <a:ln/>
        </p:spPr>
        <p:txBody>
          <a:bodyPr wrap="square" lIns="0" tIns="0" rIns="0" bIns="0" rtlCol="0" anchor="ctr"/>
          <a:lstStyle/>
          <a:p>
            <a:pPr marL="0" indent="0">
              <a:buNone/>
            </a:pPr>
            <a:r>
              <a:rPr lang="en-US" sz="1700" b="1" dirty="0">
                <a:solidFill>
                  <a:srgbClr val="1C1B29"/>
                </a:solidFill>
                <a:latin typeface="Calibri" pitchFamily="34" charset="0"/>
                <a:ea typeface="Calibri" pitchFamily="34" charset="-122"/>
                <a:cs typeface="Calibri" pitchFamily="34" charset="-120"/>
              </a:rPr>
              <a:t>Choose</a:t>
            </a:r>
            <a:endParaRPr lang="en-US" sz="1700" dirty="0"/>
          </a:p>
        </p:txBody>
      </p:sp>
      <p:sp>
        <p:nvSpPr>
          <p:cNvPr id="14" name="Text 12"/>
          <p:cNvSpPr/>
          <p:nvPr/>
        </p:nvSpPr>
        <p:spPr>
          <a:xfrm>
            <a:off x="3016240" y="2267712"/>
            <a:ext cx="1626352" cy="731520"/>
          </a:xfrm>
          <a:prstGeom prst="rect">
            <a:avLst/>
          </a:prstGeom>
          <a:noFill/>
          <a:ln/>
        </p:spPr>
        <p:txBody>
          <a:bodyPr wrap="square" lIns="0" tIns="0" rIns="0" bIns="0" rtlCol="0" anchor="t"/>
          <a:lstStyle/>
          <a:p>
            <a:pPr marL="0" indent="0">
              <a:lnSpc>
                <a:spcPct val="106000"/>
              </a:lnSpc>
              <a:buNone/>
            </a:pPr>
            <a:r>
              <a:rPr lang="en-US" sz="1350" dirty="0">
                <a:solidFill>
                  <a:srgbClr val="1C1B29"/>
                </a:solidFill>
                <a:latin typeface="Calibri" pitchFamily="34" charset="0"/>
                <a:ea typeface="Calibri" pitchFamily="34" charset="-122"/>
                <a:cs typeface="Calibri" pitchFamily="34" charset="-120"/>
              </a:rPr>
              <a:t>compression,</a:t>
            </a:r>
            <a:endParaRPr lang="en-US" sz="1350" dirty="0"/>
          </a:p>
          <a:p>
            <a:pPr marL="0" indent="0">
              <a:lnSpc>
                <a:spcPct val="106000"/>
              </a:lnSpc>
              <a:buNone/>
            </a:pPr>
            <a:r>
              <a:rPr lang="en-US" sz="1350" dirty="0">
                <a:solidFill>
                  <a:srgbClr val="1C1B29"/>
                </a:solidFill>
                <a:latin typeface="Calibri" pitchFamily="34" charset="0"/>
                <a:ea typeface="Calibri" pitchFamily="34" charset="-122"/>
                <a:cs typeface="Calibri" pitchFamily="34" charset="-120"/>
              </a:rPr>
              <a:t>algorithm, network</a:t>
            </a:r>
            <a:endParaRPr lang="en-US" sz="1350" dirty="0"/>
          </a:p>
        </p:txBody>
      </p:sp>
      <p:sp>
        <p:nvSpPr>
          <p:cNvPr id="15" name="Shape 13"/>
          <p:cNvSpPr/>
          <p:nvPr/>
        </p:nvSpPr>
        <p:spPr>
          <a:xfrm>
            <a:off x="4852904" y="2359152"/>
            <a:ext cx="219456" cy="0"/>
          </a:xfrm>
          <a:prstGeom prst="line">
            <a:avLst/>
          </a:prstGeom>
          <a:noFill/>
          <a:ln w="19050">
            <a:solidFill>
              <a:srgbClr val="6E6E80"/>
            </a:solidFill>
            <a:prstDash val="solid"/>
            <a:tailEnd type="triangle"/>
          </a:ln>
        </p:spPr>
        <p:txBody>
          <a:bodyPr/>
          <a:lstStyle/>
          <a:p>
            <a:endParaRPr lang="en-US"/>
          </a:p>
        </p:txBody>
      </p:sp>
      <p:sp>
        <p:nvSpPr>
          <p:cNvPr id="16" name="Shape 14"/>
          <p:cNvSpPr/>
          <p:nvPr/>
        </p:nvSpPr>
        <p:spPr>
          <a:xfrm>
            <a:off x="5099792" y="1627632"/>
            <a:ext cx="1992112" cy="1463040"/>
          </a:xfrm>
          <a:prstGeom prst="roundRect">
            <a:avLst>
              <a:gd name="adj" fmla="val 3750"/>
            </a:avLst>
          </a:prstGeom>
          <a:solidFill>
            <a:srgbClr val="F3F3F8"/>
          </a:solidFill>
          <a:ln/>
        </p:spPr>
        <p:txBody>
          <a:bodyPr/>
          <a:lstStyle/>
          <a:p>
            <a:endParaRPr lang="en-US"/>
          </a:p>
        </p:txBody>
      </p:sp>
      <p:sp>
        <p:nvSpPr>
          <p:cNvPr id="17" name="Shape 15"/>
          <p:cNvSpPr/>
          <p:nvPr/>
        </p:nvSpPr>
        <p:spPr>
          <a:xfrm>
            <a:off x="5282672" y="1792224"/>
            <a:ext cx="365760" cy="365760"/>
          </a:xfrm>
          <a:prstGeom prst="ellipse">
            <a:avLst/>
          </a:prstGeom>
          <a:solidFill>
            <a:srgbClr val="6E6E80"/>
          </a:solidFill>
          <a:ln/>
        </p:spPr>
        <p:txBody>
          <a:bodyPr/>
          <a:lstStyle/>
          <a:p>
            <a:endParaRPr lang="en-US"/>
          </a:p>
        </p:txBody>
      </p:sp>
      <p:sp>
        <p:nvSpPr>
          <p:cNvPr id="18" name="Text 16"/>
          <p:cNvSpPr/>
          <p:nvPr/>
        </p:nvSpPr>
        <p:spPr>
          <a:xfrm>
            <a:off x="5282672" y="17922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5721584" y="1792224"/>
            <a:ext cx="1187440" cy="365760"/>
          </a:xfrm>
          <a:prstGeom prst="rect">
            <a:avLst/>
          </a:prstGeom>
          <a:noFill/>
          <a:ln/>
        </p:spPr>
        <p:txBody>
          <a:bodyPr wrap="square" lIns="0" tIns="0" rIns="0" bIns="0" rtlCol="0" anchor="ctr"/>
          <a:lstStyle/>
          <a:p>
            <a:pPr marL="0" indent="0">
              <a:buNone/>
            </a:pPr>
            <a:r>
              <a:rPr lang="en-US" sz="1700" b="1" dirty="0">
                <a:solidFill>
                  <a:srgbClr val="1C1B29"/>
                </a:solidFill>
                <a:latin typeface="Calibri" pitchFamily="34" charset="0"/>
                <a:ea typeface="Calibri" pitchFamily="34" charset="-122"/>
                <a:cs typeface="Calibri" pitchFamily="34" charset="-120"/>
              </a:rPr>
              <a:t>Run</a:t>
            </a:r>
            <a:endParaRPr lang="en-US" sz="1700" dirty="0"/>
          </a:p>
        </p:txBody>
      </p:sp>
      <p:sp>
        <p:nvSpPr>
          <p:cNvPr id="20" name="Text 18"/>
          <p:cNvSpPr/>
          <p:nvPr/>
        </p:nvSpPr>
        <p:spPr>
          <a:xfrm>
            <a:off x="5282672" y="2267712"/>
            <a:ext cx="1626352" cy="731520"/>
          </a:xfrm>
          <a:prstGeom prst="rect">
            <a:avLst/>
          </a:prstGeom>
          <a:noFill/>
          <a:ln/>
        </p:spPr>
        <p:txBody>
          <a:bodyPr wrap="square" lIns="0" tIns="0" rIns="0" bIns="0" rtlCol="0" anchor="t"/>
          <a:lstStyle/>
          <a:p>
            <a:pPr marL="0" indent="0">
              <a:lnSpc>
                <a:spcPct val="106000"/>
              </a:lnSpc>
              <a:buNone/>
            </a:pPr>
            <a:r>
              <a:rPr lang="en-US" sz="1350" dirty="0">
                <a:solidFill>
                  <a:srgbClr val="1C1B29"/>
                </a:solidFill>
                <a:latin typeface="Calibri" pitchFamily="34" charset="0"/>
                <a:ea typeface="Calibri" pitchFamily="34" charset="-122"/>
                <a:cs typeface="Calibri" pitchFamily="34" charset="-120"/>
              </a:rPr>
              <a:t>simulate, train,</a:t>
            </a:r>
            <a:endParaRPr lang="en-US" sz="1350" dirty="0"/>
          </a:p>
          <a:p>
            <a:pPr marL="0" indent="0">
              <a:lnSpc>
                <a:spcPct val="106000"/>
              </a:lnSpc>
              <a:buNone/>
            </a:pPr>
            <a:r>
              <a:rPr lang="en-US" sz="1350" dirty="0">
                <a:solidFill>
                  <a:srgbClr val="1C1B29"/>
                </a:solidFill>
                <a:latin typeface="Calibri" pitchFamily="34" charset="0"/>
                <a:ea typeface="Calibri" pitchFamily="34" charset="-122"/>
                <a:cs typeface="Calibri" pitchFamily="34" charset="-120"/>
              </a:rPr>
              <a:t>infer</a:t>
            </a:r>
            <a:endParaRPr lang="en-US" sz="1350" dirty="0"/>
          </a:p>
        </p:txBody>
      </p:sp>
      <p:sp>
        <p:nvSpPr>
          <p:cNvPr id="21" name="Shape 19"/>
          <p:cNvSpPr/>
          <p:nvPr/>
        </p:nvSpPr>
        <p:spPr>
          <a:xfrm>
            <a:off x="7119336" y="2359152"/>
            <a:ext cx="219456" cy="0"/>
          </a:xfrm>
          <a:prstGeom prst="line">
            <a:avLst/>
          </a:prstGeom>
          <a:noFill/>
          <a:ln w="19050">
            <a:solidFill>
              <a:srgbClr val="6E6E80"/>
            </a:solidFill>
            <a:prstDash val="solid"/>
            <a:tailEnd type="triangle"/>
          </a:ln>
        </p:spPr>
        <p:txBody>
          <a:bodyPr/>
          <a:lstStyle/>
          <a:p>
            <a:endParaRPr lang="en-US"/>
          </a:p>
        </p:txBody>
      </p:sp>
      <p:sp>
        <p:nvSpPr>
          <p:cNvPr id="22" name="Shape 20"/>
          <p:cNvSpPr/>
          <p:nvPr/>
        </p:nvSpPr>
        <p:spPr>
          <a:xfrm>
            <a:off x="7366224" y="1627632"/>
            <a:ext cx="1992112" cy="1463040"/>
          </a:xfrm>
          <a:prstGeom prst="roundRect">
            <a:avLst>
              <a:gd name="adj" fmla="val 3750"/>
            </a:avLst>
          </a:prstGeom>
          <a:solidFill>
            <a:srgbClr val="FBF0E1"/>
          </a:solidFill>
          <a:ln/>
        </p:spPr>
        <p:txBody>
          <a:bodyPr/>
          <a:lstStyle/>
          <a:p>
            <a:endParaRPr lang="en-US"/>
          </a:p>
        </p:txBody>
      </p:sp>
      <p:sp>
        <p:nvSpPr>
          <p:cNvPr id="23" name="Shape 21"/>
          <p:cNvSpPr/>
          <p:nvPr/>
        </p:nvSpPr>
        <p:spPr>
          <a:xfrm>
            <a:off x="7549104" y="1792224"/>
            <a:ext cx="365760" cy="365760"/>
          </a:xfrm>
          <a:prstGeom prst="ellipse">
            <a:avLst/>
          </a:prstGeom>
          <a:solidFill>
            <a:srgbClr val="AF6413"/>
          </a:solidFill>
          <a:ln/>
        </p:spPr>
        <p:txBody>
          <a:bodyPr/>
          <a:lstStyle/>
          <a:p>
            <a:endParaRPr lang="en-US"/>
          </a:p>
        </p:txBody>
      </p:sp>
      <p:sp>
        <p:nvSpPr>
          <p:cNvPr id="24" name="Text 22"/>
          <p:cNvSpPr/>
          <p:nvPr/>
        </p:nvSpPr>
        <p:spPr>
          <a:xfrm>
            <a:off x="7549104" y="17922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7988016" y="1792224"/>
            <a:ext cx="1187440" cy="365760"/>
          </a:xfrm>
          <a:prstGeom prst="rect">
            <a:avLst/>
          </a:prstGeom>
          <a:noFill/>
          <a:ln/>
        </p:spPr>
        <p:txBody>
          <a:bodyPr wrap="square" lIns="0" tIns="0" rIns="0" bIns="0" rtlCol="0" anchor="ctr"/>
          <a:lstStyle/>
          <a:p>
            <a:pPr marL="0" indent="0">
              <a:buNone/>
            </a:pPr>
            <a:r>
              <a:rPr lang="en-US" sz="1700" b="1" dirty="0">
                <a:solidFill>
                  <a:srgbClr val="AF6413"/>
                </a:solidFill>
                <a:latin typeface="Calibri" pitchFamily="34" charset="0"/>
                <a:ea typeface="Calibri" pitchFamily="34" charset="-122"/>
                <a:cs typeface="Calibri" pitchFamily="34" charset="-120"/>
              </a:rPr>
              <a:t>Validate</a:t>
            </a:r>
            <a:endParaRPr lang="en-US" sz="1700" dirty="0"/>
          </a:p>
        </p:txBody>
      </p:sp>
      <p:sp>
        <p:nvSpPr>
          <p:cNvPr id="26" name="Text 24"/>
          <p:cNvSpPr/>
          <p:nvPr/>
        </p:nvSpPr>
        <p:spPr>
          <a:xfrm>
            <a:off x="7549104" y="2267712"/>
            <a:ext cx="1626352" cy="731520"/>
          </a:xfrm>
          <a:prstGeom prst="rect">
            <a:avLst/>
          </a:prstGeom>
          <a:noFill/>
          <a:ln/>
        </p:spPr>
        <p:txBody>
          <a:bodyPr wrap="square" lIns="0" tIns="0" rIns="0" bIns="0" rtlCol="0" anchor="t"/>
          <a:lstStyle/>
          <a:p>
            <a:pPr marL="0" indent="0">
              <a:lnSpc>
                <a:spcPct val="106000"/>
              </a:lnSpc>
              <a:buNone/>
            </a:pPr>
            <a:r>
              <a:rPr lang="en-US" sz="1350" dirty="0">
                <a:solidFill>
                  <a:srgbClr val="1C1B29"/>
                </a:solidFill>
                <a:latin typeface="Calibri" pitchFamily="34" charset="0"/>
                <a:ea typeface="Calibri" pitchFamily="34" charset="-122"/>
                <a:cs typeface="Calibri" pitchFamily="34" charset="-120"/>
              </a:rPr>
              <a:t>PPC, SBC,</a:t>
            </a:r>
            <a:endParaRPr lang="en-US" sz="1350" dirty="0"/>
          </a:p>
          <a:p>
            <a:pPr marL="0" indent="0">
              <a:lnSpc>
                <a:spcPct val="106000"/>
              </a:lnSpc>
              <a:buNone/>
            </a:pPr>
            <a:r>
              <a:rPr lang="en-US" sz="1350" dirty="0">
                <a:solidFill>
                  <a:srgbClr val="1C1B29"/>
                </a:solidFill>
                <a:latin typeface="Calibri" pitchFamily="34" charset="0"/>
                <a:ea typeface="Calibri" pitchFamily="34" charset="-122"/>
                <a:cs typeface="Calibri" pitchFamily="34" charset="-120"/>
              </a:rPr>
              <a:t>coverage</a:t>
            </a:r>
            <a:endParaRPr lang="en-US" sz="1350" dirty="0"/>
          </a:p>
        </p:txBody>
      </p:sp>
      <p:sp>
        <p:nvSpPr>
          <p:cNvPr id="27" name="Shape 25"/>
          <p:cNvSpPr/>
          <p:nvPr/>
        </p:nvSpPr>
        <p:spPr>
          <a:xfrm>
            <a:off x="9385767" y="2359152"/>
            <a:ext cx="219456" cy="0"/>
          </a:xfrm>
          <a:prstGeom prst="line">
            <a:avLst/>
          </a:prstGeom>
          <a:noFill/>
          <a:ln w="19050">
            <a:solidFill>
              <a:srgbClr val="6E6E80"/>
            </a:solidFill>
            <a:prstDash val="solid"/>
            <a:tailEnd type="triangle"/>
          </a:ln>
        </p:spPr>
        <p:txBody>
          <a:bodyPr/>
          <a:lstStyle/>
          <a:p>
            <a:endParaRPr lang="en-US"/>
          </a:p>
        </p:txBody>
      </p:sp>
      <p:sp>
        <p:nvSpPr>
          <p:cNvPr id="28" name="Shape 26"/>
          <p:cNvSpPr/>
          <p:nvPr/>
        </p:nvSpPr>
        <p:spPr>
          <a:xfrm>
            <a:off x="9632655" y="1627632"/>
            <a:ext cx="1992112" cy="1463040"/>
          </a:xfrm>
          <a:prstGeom prst="roundRect">
            <a:avLst>
              <a:gd name="adj" fmla="val 3750"/>
            </a:avLst>
          </a:prstGeom>
          <a:solidFill>
            <a:srgbClr val="E3F1EE"/>
          </a:solidFill>
          <a:ln/>
        </p:spPr>
        <p:txBody>
          <a:bodyPr/>
          <a:lstStyle/>
          <a:p>
            <a:endParaRPr lang="en-US"/>
          </a:p>
        </p:txBody>
      </p:sp>
      <p:sp>
        <p:nvSpPr>
          <p:cNvPr id="29" name="Shape 27"/>
          <p:cNvSpPr/>
          <p:nvPr/>
        </p:nvSpPr>
        <p:spPr>
          <a:xfrm>
            <a:off x="9815535" y="1792224"/>
            <a:ext cx="365760" cy="365760"/>
          </a:xfrm>
          <a:prstGeom prst="ellipse">
            <a:avLst/>
          </a:prstGeom>
          <a:solidFill>
            <a:srgbClr val="1F7A6C"/>
          </a:solidFill>
          <a:ln/>
        </p:spPr>
        <p:txBody>
          <a:bodyPr/>
          <a:lstStyle/>
          <a:p>
            <a:endParaRPr lang="en-US"/>
          </a:p>
        </p:txBody>
      </p:sp>
      <p:sp>
        <p:nvSpPr>
          <p:cNvPr id="30" name="Text 28"/>
          <p:cNvSpPr/>
          <p:nvPr/>
        </p:nvSpPr>
        <p:spPr>
          <a:xfrm>
            <a:off x="9815535" y="17922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p:nvPr/>
        </p:nvSpPr>
        <p:spPr>
          <a:xfrm>
            <a:off x="10254447" y="1792224"/>
            <a:ext cx="1187440" cy="365760"/>
          </a:xfrm>
          <a:prstGeom prst="rect">
            <a:avLst/>
          </a:prstGeom>
          <a:noFill/>
          <a:ln/>
        </p:spPr>
        <p:txBody>
          <a:bodyPr wrap="square" lIns="0" tIns="0" rIns="0" bIns="0" rtlCol="0" anchor="ctr"/>
          <a:lstStyle/>
          <a:p>
            <a:pPr marL="0" indent="0">
              <a:buNone/>
            </a:pPr>
            <a:r>
              <a:rPr lang="en-US" sz="1700" b="1" dirty="0">
                <a:solidFill>
                  <a:srgbClr val="1F7A6C"/>
                </a:solidFill>
                <a:latin typeface="Calibri" pitchFamily="34" charset="0"/>
                <a:ea typeface="Calibri" pitchFamily="34" charset="-122"/>
                <a:cs typeface="Calibri" pitchFamily="34" charset="-120"/>
              </a:rPr>
              <a:t>Analyse</a:t>
            </a:r>
            <a:endParaRPr lang="en-US" sz="1700" dirty="0"/>
          </a:p>
        </p:txBody>
      </p:sp>
      <p:sp>
        <p:nvSpPr>
          <p:cNvPr id="32" name="Text 30"/>
          <p:cNvSpPr/>
          <p:nvPr/>
        </p:nvSpPr>
        <p:spPr>
          <a:xfrm>
            <a:off x="9815535" y="2267712"/>
            <a:ext cx="1626352" cy="731520"/>
          </a:xfrm>
          <a:prstGeom prst="rect">
            <a:avLst/>
          </a:prstGeom>
          <a:noFill/>
          <a:ln/>
        </p:spPr>
        <p:txBody>
          <a:bodyPr wrap="square" lIns="0" tIns="0" rIns="0" bIns="0" rtlCol="0" anchor="t"/>
          <a:lstStyle/>
          <a:p>
            <a:pPr marL="0" indent="0">
              <a:lnSpc>
                <a:spcPct val="106000"/>
              </a:lnSpc>
              <a:buNone/>
            </a:pPr>
            <a:r>
              <a:rPr lang="en-US" sz="1350" dirty="0">
                <a:solidFill>
                  <a:srgbClr val="1C1B29"/>
                </a:solidFill>
                <a:latin typeface="Calibri" pitchFamily="34" charset="0"/>
                <a:ea typeface="Calibri" pitchFamily="34" charset="-122"/>
                <a:cs typeface="Calibri" pitchFamily="34" charset="-120"/>
              </a:rPr>
              <a:t>marginals,</a:t>
            </a:r>
            <a:endParaRPr lang="en-US" sz="1350" dirty="0"/>
          </a:p>
          <a:p>
            <a:pPr marL="0" indent="0">
              <a:lnSpc>
                <a:spcPct val="106000"/>
              </a:lnSpc>
              <a:buNone/>
            </a:pPr>
            <a:r>
              <a:rPr lang="en-US" sz="1350" dirty="0">
                <a:solidFill>
                  <a:srgbClr val="1C1B29"/>
                </a:solidFill>
                <a:latin typeface="Calibri" pitchFamily="34" charset="0"/>
                <a:ea typeface="Calibri" pitchFamily="34" charset="-122"/>
                <a:cs typeface="Calibri" pitchFamily="34" charset="-120"/>
              </a:rPr>
              <a:t>science</a:t>
            </a:r>
            <a:endParaRPr lang="en-US" sz="1350" dirty="0"/>
          </a:p>
        </p:txBody>
      </p:sp>
      <p:sp>
        <p:nvSpPr>
          <p:cNvPr id="33" name="Shape 31"/>
          <p:cNvSpPr/>
          <p:nvPr/>
        </p:nvSpPr>
        <p:spPr>
          <a:xfrm flipH="1">
            <a:off x="1115568" y="3401568"/>
            <a:ext cx="9411919" cy="0"/>
          </a:xfrm>
          <a:prstGeom prst="line">
            <a:avLst/>
          </a:prstGeom>
          <a:noFill/>
          <a:ln w="22860">
            <a:solidFill>
              <a:srgbClr val="B03A5B"/>
            </a:solidFill>
            <a:prstDash val="dash"/>
            <a:tailEnd type="triangle"/>
          </a:ln>
        </p:spPr>
        <p:txBody>
          <a:bodyPr/>
          <a:lstStyle/>
          <a:p>
            <a:endParaRPr lang="en-US"/>
          </a:p>
        </p:txBody>
      </p:sp>
      <p:sp>
        <p:nvSpPr>
          <p:cNvPr id="34" name="Shape 32"/>
          <p:cNvSpPr/>
          <p:nvPr/>
        </p:nvSpPr>
        <p:spPr>
          <a:xfrm>
            <a:off x="566928" y="3749040"/>
            <a:ext cx="11057839" cy="960120"/>
          </a:xfrm>
          <a:prstGeom prst="roundRect">
            <a:avLst>
              <a:gd name="adj" fmla="val 5714"/>
            </a:avLst>
          </a:prstGeom>
          <a:solidFill>
            <a:srgbClr val="F3F3F8"/>
          </a:solidFill>
          <a:ln/>
        </p:spPr>
        <p:txBody>
          <a:bodyPr/>
          <a:lstStyle/>
          <a:p>
            <a:endParaRPr lang="en-US"/>
          </a:p>
        </p:txBody>
      </p:sp>
      <p:sp>
        <p:nvSpPr>
          <p:cNvPr id="35" name="Text 33"/>
          <p:cNvSpPr/>
          <p:nvPr/>
        </p:nvSpPr>
        <p:spPr>
          <a:xfrm>
            <a:off x="822960" y="3858768"/>
            <a:ext cx="10545775" cy="777240"/>
          </a:xfrm>
          <a:prstGeom prst="rect">
            <a:avLst/>
          </a:prstGeom>
          <a:noFill/>
          <a:ln/>
        </p:spPr>
        <p:txBody>
          <a:bodyPr wrap="square" lIns="0" tIns="0" rIns="0" bIns="0" rtlCol="0" anchor="t"/>
          <a:lstStyle/>
          <a:p>
            <a:pPr marL="0" indent="0">
              <a:lnSpc>
                <a:spcPct val="106000"/>
              </a:lnSpc>
              <a:buNone/>
            </a:pPr>
            <a:r>
              <a:rPr lang="en-US" sz="1500" dirty="0">
                <a:solidFill>
                  <a:srgbClr val="1C1B29"/>
                </a:solidFill>
                <a:latin typeface="Calibri" pitchFamily="34" charset="0"/>
                <a:ea typeface="Calibri" pitchFamily="34" charset="-122"/>
                <a:cs typeface="Calibri" pitchFamily="34" charset="-120"/>
              </a:rPr>
              <a:t>Failed checks send you back — and in this order of suspicion: the simulator, then the prior, then the compression, then the inference network. Reaching straight for a bigger network is usually the wrong first move.</a:t>
            </a:r>
            <a:endParaRPr lang="en-US" sz="1500" dirty="0"/>
          </a:p>
        </p:txBody>
      </p:sp>
      <p:sp>
        <p:nvSpPr>
          <p:cNvPr id="36" name="Text 34"/>
          <p:cNvSpPr/>
          <p:nvPr/>
        </p:nvSpPr>
        <p:spPr>
          <a:xfrm>
            <a:off x="566928" y="4864608"/>
            <a:ext cx="11057839" cy="219456"/>
          </a:xfrm>
          <a:prstGeom prst="rect">
            <a:avLst/>
          </a:prstGeom>
          <a:noFill/>
          <a:ln/>
        </p:spPr>
        <p:txBody>
          <a:bodyPr wrap="square" lIns="0" tIns="0" rIns="0" bIns="0" rtlCol="0" anchor="ctr"/>
          <a:lstStyle/>
          <a:p>
            <a:pPr marL="0" indent="0">
              <a:buNone/>
            </a:pPr>
            <a:r>
              <a:rPr lang="en-US" sz="1050" i="1" dirty="0">
                <a:solidFill>
                  <a:srgbClr val="6E6E80"/>
                </a:solidFill>
                <a:latin typeface="Calibri" pitchFamily="34" charset="0"/>
                <a:ea typeface="Calibri" pitchFamily="34" charset="-122"/>
                <a:cs typeface="Calibri" pitchFamily="34" charset="-120"/>
              </a:rPr>
              <a:t>Workflow after Deistler et al. (2025), Fig. 3 and Anau Montel (2025), Fig. 8.</a:t>
            </a:r>
            <a:endParaRPr lang="en-US" sz="1050" dirty="0"/>
          </a:p>
        </p:txBody>
      </p:sp>
      <p:sp>
        <p:nvSpPr>
          <p:cNvPr id="37" name="Shape 35"/>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38" name="Text 36"/>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Reserve simulations for validation from the very start: diagnostics need their own held-out calibration set.</a:t>
            </a:r>
            <a:endParaRPr lang="en-US" sz="1550" dirty="0"/>
          </a:p>
        </p:txBody>
      </p:sp>
      <p:sp>
        <p:nvSpPr>
          <p:cNvPr id="39" name="Text 37"/>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V — Practice</a:t>
            </a:r>
            <a:endParaRPr lang="en-US" sz="950" dirty="0"/>
          </a:p>
        </p:txBody>
      </p:sp>
      <p:sp>
        <p:nvSpPr>
          <p:cNvPr id="40" name="Text 38"/>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38</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TAKING IT TO YOUR OWN PROBLEM</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A checklist, and where the code already lives</a:t>
            </a:r>
            <a:endParaRPr lang="en-US" sz="3000" dirty="0"/>
          </a:p>
        </p:txBody>
      </p:sp>
      <p:sp>
        <p:nvSpPr>
          <p:cNvPr id="4" name="Shape 2"/>
          <p:cNvSpPr/>
          <p:nvPr/>
        </p:nvSpPr>
        <p:spPr>
          <a:xfrm>
            <a:off x="566928" y="1444752"/>
            <a:ext cx="365760" cy="365760"/>
          </a:xfrm>
          <a:prstGeom prst="ellipse">
            <a:avLst/>
          </a:prstGeom>
          <a:solidFill>
            <a:srgbClr val="4A3F8F"/>
          </a:solidFill>
          <a:ln/>
        </p:spPr>
        <p:txBody>
          <a:bodyPr/>
          <a:lstStyle/>
          <a:p>
            <a:endParaRPr lang="en-US"/>
          </a:p>
        </p:txBody>
      </p:sp>
      <p:sp>
        <p:nvSpPr>
          <p:cNvPr id="5" name="Text 3"/>
          <p:cNvSpPr/>
          <p:nvPr/>
        </p:nvSpPr>
        <p:spPr>
          <a:xfrm>
            <a:off x="566928" y="144475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78992" y="1426464"/>
            <a:ext cx="5989320" cy="603504"/>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Can you sample your model without evaluating its likelihood? If you can evaluate it, use MCMC — SBI is not an upgrade.</a:t>
            </a:r>
            <a:endParaRPr lang="en-US" sz="1450" dirty="0"/>
          </a:p>
        </p:txBody>
      </p:sp>
      <p:sp>
        <p:nvSpPr>
          <p:cNvPr id="7" name="Shape 5"/>
          <p:cNvSpPr/>
          <p:nvPr/>
        </p:nvSpPr>
        <p:spPr>
          <a:xfrm>
            <a:off x="566928" y="2048256"/>
            <a:ext cx="365760" cy="365760"/>
          </a:xfrm>
          <a:prstGeom prst="ellipse">
            <a:avLst/>
          </a:prstGeom>
          <a:solidFill>
            <a:srgbClr val="4A3F8F"/>
          </a:solidFill>
          <a:ln/>
        </p:spPr>
        <p:txBody>
          <a:bodyPr/>
          <a:lstStyle/>
          <a:p>
            <a:endParaRPr lang="en-US"/>
          </a:p>
        </p:txBody>
      </p:sp>
      <p:sp>
        <p:nvSpPr>
          <p:cNvPr id="8" name="Text 6"/>
          <p:cNvSpPr/>
          <p:nvPr/>
        </p:nvSpPr>
        <p:spPr>
          <a:xfrm>
            <a:off x="566928" y="204825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078992" y="2029968"/>
            <a:ext cx="5989320" cy="603504"/>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Write the prior down explicitly and be ready to defend its width.</a:t>
            </a:r>
            <a:endParaRPr lang="en-US" sz="1450" dirty="0"/>
          </a:p>
        </p:txBody>
      </p:sp>
      <p:sp>
        <p:nvSpPr>
          <p:cNvPr id="10" name="Shape 8"/>
          <p:cNvSpPr/>
          <p:nvPr/>
        </p:nvSpPr>
        <p:spPr>
          <a:xfrm>
            <a:off x="566928" y="2651760"/>
            <a:ext cx="365760" cy="365760"/>
          </a:xfrm>
          <a:prstGeom prst="ellipse">
            <a:avLst/>
          </a:prstGeom>
          <a:solidFill>
            <a:srgbClr val="4A3F8F"/>
          </a:solidFill>
          <a:ln/>
        </p:spPr>
        <p:txBody>
          <a:bodyPr/>
          <a:lstStyle/>
          <a:p>
            <a:endParaRPr lang="en-US"/>
          </a:p>
        </p:txBody>
      </p:sp>
      <p:sp>
        <p:nvSpPr>
          <p:cNvPr id="11" name="Text 9"/>
          <p:cNvSpPr/>
          <p:nvPr/>
        </p:nvSpPr>
        <p:spPr>
          <a:xfrm>
            <a:off x="566928" y="26517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078992" y="2633472"/>
            <a:ext cx="5989320" cy="603504"/>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Prior predictive check against the real data, before any training.</a:t>
            </a:r>
            <a:endParaRPr lang="en-US" sz="1450" dirty="0"/>
          </a:p>
        </p:txBody>
      </p:sp>
      <p:sp>
        <p:nvSpPr>
          <p:cNvPr id="13" name="Shape 11"/>
          <p:cNvSpPr/>
          <p:nvPr/>
        </p:nvSpPr>
        <p:spPr>
          <a:xfrm>
            <a:off x="566928" y="3255264"/>
            <a:ext cx="365760" cy="365760"/>
          </a:xfrm>
          <a:prstGeom prst="ellipse">
            <a:avLst/>
          </a:prstGeom>
          <a:solidFill>
            <a:srgbClr val="4A3F8F"/>
          </a:solidFill>
          <a:ln/>
        </p:spPr>
        <p:txBody>
          <a:bodyPr/>
          <a:lstStyle/>
          <a:p>
            <a:endParaRPr lang="en-US"/>
          </a:p>
        </p:txBody>
      </p:sp>
      <p:sp>
        <p:nvSpPr>
          <p:cNvPr id="14" name="Text 12"/>
          <p:cNvSpPr/>
          <p:nvPr/>
        </p:nvSpPr>
        <p:spPr>
          <a:xfrm>
            <a:off x="566928" y="325526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078992" y="3236976"/>
            <a:ext cx="5989320" cy="603504"/>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Hold out simulations for validation and calibration from the start.</a:t>
            </a:r>
            <a:endParaRPr lang="en-US" sz="1450" dirty="0"/>
          </a:p>
        </p:txBody>
      </p:sp>
      <p:sp>
        <p:nvSpPr>
          <p:cNvPr id="16" name="Shape 14"/>
          <p:cNvSpPr/>
          <p:nvPr/>
        </p:nvSpPr>
        <p:spPr>
          <a:xfrm>
            <a:off x="566928" y="3858768"/>
            <a:ext cx="365760" cy="365760"/>
          </a:xfrm>
          <a:prstGeom prst="ellipse">
            <a:avLst/>
          </a:prstGeom>
          <a:solidFill>
            <a:srgbClr val="4A3F8F"/>
          </a:solidFill>
          <a:ln/>
        </p:spPr>
        <p:txBody>
          <a:bodyPr/>
          <a:lstStyle/>
          <a:p>
            <a:endParaRPr lang="en-US"/>
          </a:p>
        </p:txBody>
      </p:sp>
      <p:sp>
        <p:nvSpPr>
          <p:cNvPr id="17" name="Text 15"/>
          <p:cNvSpPr/>
          <p:nvPr/>
        </p:nvSpPr>
        <p:spPr>
          <a:xfrm>
            <a:off x="566928" y="385876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078992" y="3840480"/>
            <a:ext cx="5989320" cy="603504"/>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Start with NPE and a normalising flow. Keep the simulation bank so you can swap methods later for free.</a:t>
            </a:r>
            <a:endParaRPr lang="en-US" sz="1450" dirty="0"/>
          </a:p>
        </p:txBody>
      </p:sp>
      <p:sp>
        <p:nvSpPr>
          <p:cNvPr id="19" name="Shape 17"/>
          <p:cNvSpPr/>
          <p:nvPr/>
        </p:nvSpPr>
        <p:spPr>
          <a:xfrm>
            <a:off x="566928" y="4462272"/>
            <a:ext cx="365760" cy="365760"/>
          </a:xfrm>
          <a:prstGeom prst="ellipse">
            <a:avLst/>
          </a:prstGeom>
          <a:solidFill>
            <a:srgbClr val="4A3F8F"/>
          </a:solidFill>
          <a:ln/>
        </p:spPr>
        <p:txBody>
          <a:bodyPr/>
          <a:lstStyle/>
          <a:p>
            <a:endParaRPr lang="en-US"/>
          </a:p>
        </p:txBody>
      </p:sp>
      <p:sp>
        <p:nvSpPr>
          <p:cNvPr id="20" name="Text 18"/>
          <p:cNvSpPr/>
          <p:nvPr/>
        </p:nvSpPr>
        <p:spPr>
          <a:xfrm>
            <a:off x="566928" y="446227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1078992" y="4443984"/>
            <a:ext cx="5989320" cy="603504"/>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Run SBC and expected coverage. Put them in the paper.</a:t>
            </a:r>
            <a:endParaRPr lang="en-US" sz="1450" dirty="0"/>
          </a:p>
        </p:txBody>
      </p:sp>
      <p:sp>
        <p:nvSpPr>
          <p:cNvPr id="22" name="Shape 20"/>
          <p:cNvSpPr/>
          <p:nvPr/>
        </p:nvSpPr>
        <p:spPr>
          <a:xfrm>
            <a:off x="566928" y="5065776"/>
            <a:ext cx="365760" cy="365760"/>
          </a:xfrm>
          <a:prstGeom prst="ellipse">
            <a:avLst/>
          </a:prstGeom>
          <a:solidFill>
            <a:srgbClr val="4A3F8F"/>
          </a:solidFill>
          <a:ln/>
        </p:spPr>
        <p:txBody>
          <a:bodyPr/>
          <a:lstStyle/>
          <a:p>
            <a:endParaRPr lang="en-US"/>
          </a:p>
        </p:txBody>
      </p:sp>
      <p:sp>
        <p:nvSpPr>
          <p:cNvPr id="23" name="Text 21"/>
          <p:cNvSpPr/>
          <p:nvPr/>
        </p:nvSpPr>
        <p:spPr>
          <a:xfrm>
            <a:off x="566928" y="506577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4" name="Text 22"/>
          <p:cNvSpPr/>
          <p:nvPr/>
        </p:nvSpPr>
        <p:spPr>
          <a:xfrm>
            <a:off x="1078992" y="5047488"/>
            <a:ext cx="5989320" cy="603504"/>
          </a:xfrm>
          <a:prstGeom prst="rect">
            <a:avLst/>
          </a:prstGeom>
          <a:noFill/>
          <a:ln/>
        </p:spPr>
        <p:txBody>
          <a:bodyPr wrap="square" lIns="0" tIns="0" rIns="0" bIns="0" rtlCol="0" anchor="t"/>
          <a:lstStyle/>
          <a:p>
            <a:pPr marL="0" indent="0">
              <a:lnSpc>
                <a:spcPct val="106000"/>
              </a:lnSpc>
              <a:buNone/>
            </a:pPr>
            <a:r>
              <a:rPr lang="en-US" sz="1450" dirty="0">
                <a:solidFill>
                  <a:srgbClr val="1C1B29"/>
                </a:solidFill>
                <a:latin typeface="Calibri" pitchFamily="34" charset="0"/>
                <a:ea typeface="Calibri" pitchFamily="34" charset="-122"/>
                <a:cs typeface="Calibri" pitchFamily="34" charset="-120"/>
              </a:rPr>
              <a:t>Only then interpret the posterior as a measurement.</a:t>
            </a:r>
            <a:endParaRPr lang="en-US" sz="1450" dirty="0"/>
          </a:p>
        </p:txBody>
      </p:sp>
      <p:sp>
        <p:nvSpPr>
          <p:cNvPr id="25" name="Shape 23"/>
          <p:cNvSpPr/>
          <p:nvPr/>
        </p:nvSpPr>
        <p:spPr>
          <a:xfrm>
            <a:off x="7223760" y="1426464"/>
            <a:ext cx="4401007" cy="3968496"/>
          </a:xfrm>
          <a:prstGeom prst="roundRect">
            <a:avLst>
              <a:gd name="adj" fmla="val 1382"/>
            </a:avLst>
          </a:prstGeom>
          <a:solidFill>
            <a:srgbClr val="F3F3F8"/>
          </a:solidFill>
          <a:ln/>
        </p:spPr>
        <p:txBody>
          <a:bodyPr/>
          <a:lstStyle/>
          <a:p>
            <a:endParaRPr lang="en-US"/>
          </a:p>
        </p:txBody>
      </p:sp>
      <p:sp>
        <p:nvSpPr>
          <p:cNvPr id="26" name="Text 24"/>
          <p:cNvSpPr/>
          <p:nvPr/>
        </p:nvSpPr>
        <p:spPr>
          <a:xfrm>
            <a:off x="7479792" y="1517904"/>
            <a:ext cx="3888943" cy="329184"/>
          </a:xfrm>
          <a:prstGeom prst="rect">
            <a:avLst/>
          </a:prstGeom>
          <a:noFill/>
          <a:ln/>
        </p:spPr>
        <p:txBody>
          <a:bodyPr wrap="square" lIns="0" tIns="0" rIns="0" bIns="0" rtlCol="0" anchor="ctr"/>
          <a:lstStyle/>
          <a:p>
            <a:pPr marL="0" indent="0">
              <a:buNone/>
            </a:pPr>
            <a:r>
              <a:rPr lang="en-US" sz="1800" b="1" dirty="0">
                <a:solidFill>
                  <a:srgbClr val="3E3379"/>
                </a:solidFill>
                <a:latin typeface="Calibri" pitchFamily="34" charset="0"/>
                <a:ea typeface="Calibri" pitchFamily="34" charset="-122"/>
                <a:cs typeface="Calibri" pitchFamily="34" charset="-120"/>
              </a:rPr>
              <a:t>Software</a:t>
            </a:r>
            <a:endParaRPr lang="en-US" sz="1800" dirty="0"/>
          </a:p>
        </p:txBody>
      </p:sp>
      <p:sp>
        <p:nvSpPr>
          <p:cNvPr id="27" name="Text 25"/>
          <p:cNvSpPr/>
          <p:nvPr/>
        </p:nvSpPr>
        <p:spPr>
          <a:xfrm>
            <a:off x="7479792" y="1920240"/>
            <a:ext cx="1325880" cy="256032"/>
          </a:xfrm>
          <a:prstGeom prst="rect">
            <a:avLst/>
          </a:prstGeom>
          <a:noFill/>
          <a:ln/>
        </p:spPr>
        <p:txBody>
          <a:bodyPr wrap="square" lIns="0" tIns="0" rIns="0" bIns="0" rtlCol="0" anchor="ctr"/>
          <a:lstStyle/>
          <a:p>
            <a:pPr marL="0" indent="0">
              <a:buNone/>
            </a:pPr>
            <a:r>
              <a:rPr lang="en-US" sz="1450" b="1" dirty="0">
                <a:solidFill>
                  <a:srgbClr val="1F7A6C"/>
                </a:solidFill>
                <a:latin typeface="Calibri" pitchFamily="34" charset="0"/>
                <a:ea typeface="Calibri" pitchFamily="34" charset="-122"/>
                <a:cs typeface="Calibri" pitchFamily="34" charset="-120"/>
              </a:rPr>
              <a:t>sbi</a:t>
            </a:r>
            <a:endParaRPr lang="en-US" sz="1450" dirty="0"/>
          </a:p>
        </p:txBody>
      </p:sp>
      <p:sp>
        <p:nvSpPr>
          <p:cNvPr id="28" name="Text 26"/>
          <p:cNvSpPr/>
          <p:nvPr/>
        </p:nvSpPr>
        <p:spPr>
          <a:xfrm>
            <a:off x="8823960" y="1901952"/>
            <a:ext cx="2526487" cy="530352"/>
          </a:xfrm>
          <a:prstGeom prst="rect">
            <a:avLst/>
          </a:prstGeom>
          <a:noFill/>
          <a:ln/>
        </p:spPr>
        <p:txBody>
          <a:bodyPr wrap="square" lIns="0" tIns="0" rIns="0" bIns="0" rtlCol="0" anchor="t"/>
          <a:lstStyle/>
          <a:p>
            <a:pPr marL="0" indent="0">
              <a:lnSpc>
                <a:spcPct val="106000"/>
              </a:lnSpc>
              <a:buNone/>
            </a:pPr>
            <a:r>
              <a:rPr lang="en-US" sz="1250" dirty="0">
                <a:solidFill>
                  <a:srgbClr val="6E6E80"/>
                </a:solidFill>
                <a:latin typeface="Calibri" pitchFamily="34" charset="0"/>
                <a:ea typeface="Calibri" pitchFamily="34" charset="-122"/>
                <a:cs typeface="Calibri" pitchFamily="34" charset="-120"/>
              </a:rPr>
              <a:t>the broadest toolkit; NPE, NLE, NRE and diagnostics</a:t>
            </a:r>
            <a:endParaRPr lang="en-US" sz="1250" dirty="0"/>
          </a:p>
        </p:txBody>
      </p:sp>
      <p:sp>
        <p:nvSpPr>
          <p:cNvPr id="29" name="Text 27"/>
          <p:cNvSpPr/>
          <p:nvPr/>
        </p:nvSpPr>
        <p:spPr>
          <a:xfrm>
            <a:off x="7479792" y="2487168"/>
            <a:ext cx="1325880" cy="256032"/>
          </a:xfrm>
          <a:prstGeom prst="rect">
            <a:avLst/>
          </a:prstGeom>
          <a:noFill/>
          <a:ln/>
        </p:spPr>
        <p:txBody>
          <a:bodyPr wrap="square" lIns="0" tIns="0" rIns="0" bIns="0" rtlCol="0" anchor="ctr"/>
          <a:lstStyle/>
          <a:p>
            <a:pPr marL="0" indent="0">
              <a:buNone/>
            </a:pPr>
            <a:r>
              <a:rPr lang="en-US" sz="1450" b="1" dirty="0">
                <a:solidFill>
                  <a:srgbClr val="1F7A6C"/>
                </a:solidFill>
                <a:latin typeface="Calibri" pitchFamily="34" charset="0"/>
                <a:ea typeface="Calibri" pitchFamily="34" charset="-122"/>
                <a:cs typeface="Calibri" pitchFamily="34" charset="-120"/>
              </a:rPr>
              <a:t>BayesFlow</a:t>
            </a:r>
            <a:endParaRPr lang="en-US" sz="1450" dirty="0"/>
          </a:p>
        </p:txBody>
      </p:sp>
      <p:sp>
        <p:nvSpPr>
          <p:cNvPr id="30" name="Text 28"/>
          <p:cNvSpPr/>
          <p:nvPr/>
        </p:nvSpPr>
        <p:spPr>
          <a:xfrm>
            <a:off x="8823960" y="2468880"/>
            <a:ext cx="2526487" cy="530352"/>
          </a:xfrm>
          <a:prstGeom prst="rect">
            <a:avLst/>
          </a:prstGeom>
          <a:noFill/>
          <a:ln/>
        </p:spPr>
        <p:txBody>
          <a:bodyPr wrap="square" lIns="0" tIns="0" rIns="0" bIns="0" rtlCol="0" anchor="t"/>
          <a:lstStyle/>
          <a:p>
            <a:pPr marL="0" indent="0">
              <a:lnSpc>
                <a:spcPct val="106000"/>
              </a:lnSpc>
              <a:buNone/>
            </a:pPr>
            <a:r>
              <a:rPr lang="en-US" sz="1250" dirty="0">
                <a:solidFill>
                  <a:srgbClr val="6E6E80"/>
                </a:solidFill>
                <a:latin typeface="Calibri" pitchFamily="34" charset="0"/>
                <a:ea typeface="Calibri" pitchFamily="34" charset="-122"/>
                <a:cs typeface="Calibri" pitchFamily="34" charset="-120"/>
              </a:rPr>
              <a:t>amortised workflows, strong on validation plots</a:t>
            </a:r>
            <a:endParaRPr lang="en-US" sz="1250" dirty="0"/>
          </a:p>
        </p:txBody>
      </p:sp>
      <p:sp>
        <p:nvSpPr>
          <p:cNvPr id="31" name="Text 29"/>
          <p:cNvSpPr/>
          <p:nvPr/>
        </p:nvSpPr>
        <p:spPr>
          <a:xfrm>
            <a:off x="7479792" y="3054096"/>
            <a:ext cx="1325880" cy="256032"/>
          </a:xfrm>
          <a:prstGeom prst="rect">
            <a:avLst/>
          </a:prstGeom>
          <a:noFill/>
          <a:ln/>
        </p:spPr>
        <p:txBody>
          <a:bodyPr wrap="square" lIns="0" tIns="0" rIns="0" bIns="0" rtlCol="0" anchor="ctr"/>
          <a:lstStyle/>
          <a:p>
            <a:pPr marL="0" indent="0">
              <a:buNone/>
            </a:pPr>
            <a:r>
              <a:rPr lang="en-US" sz="1450" b="1" dirty="0">
                <a:solidFill>
                  <a:srgbClr val="1F7A6C"/>
                </a:solidFill>
                <a:latin typeface="Calibri" pitchFamily="34" charset="0"/>
                <a:ea typeface="Calibri" pitchFamily="34" charset="-122"/>
                <a:cs typeface="Calibri" pitchFamily="34" charset="-120"/>
              </a:rPr>
              <a:t>swyft</a:t>
            </a:r>
            <a:endParaRPr lang="en-US" sz="1450" dirty="0"/>
          </a:p>
        </p:txBody>
      </p:sp>
      <p:sp>
        <p:nvSpPr>
          <p:cNvPr id="32" name="Text 30"/>
          <p:cNvSpPr/>
          <p:nvPr/>
        </p:nvSpPr>
        <p:spPr>
          <a:xfrm>
            <a:off x="8823960" y="3035808"/>
            <a:ext cx="2526487" cy="530352"/>
          </a:xfrm>
          <a:prstGeom prst="rect">
            <a:avLst/>
          </a:prstGeom>
          <a:noFill/>
          <a:ln/>
        </p:spPr>
        <p:txBody>
          <a:bodyPr wrap="square" lIns="0" tIns="0" rIns="0" bIns="0" rtlCol="0" anchor="t"/>
          <a:lstStyle/>
          <a:p>
            <a:pPr marL="0" indent="0">
              <a:lnSpc>
                <a:spcPct val="106000"/>
              </a:lnSpc>
              <a:buNone/>
            </a:pPr>
            <a:r>
              <a:rPr lang="en-US" sz="1250" dirty="0">
                <a:solidFill>
                  <a:srgbClr val="6E6E80"/>
                </a:solidFill>
                <a:latin typeface="Calibri" pitchFamily="34" charset="0"/>
                <a:ea typeface="Calibri" pitchFamily="34" charset="-122"/>
                <a:cs typeface="Calibri" pitchFamily="34" charset="-120"/>
              </a:rPr>
              <a:t>truncated marginal ratio estimation</a:t>
            </a:r>
            <a:endParaRPr lang="en-US" sz="1250" dirty="0"/>
          </a:p>
        </p:txBody>
      </p:sp>
      <p:sp>
        <p:nvSpPr>
          <p:cNvPr id="33" name="Text 31"/>
          <p:cNvSpPr/>
          <p:nvPr/>
        </p:nvSpPr>
        <p:spPr>
          <a:xfrm>
            <a:off x="7479792" y="3621024"/>
            <a:ext cx="1325880" cy="256032"/>
          </a:xfrm>
          <a:prstGeom prst="rect">
            <a:avLst/>
          </a:prstGeom>
          <a:noFill/>
          <a:ln/>
        </p:spPr>
        <p:txBody>
          <a:bodyPr wrap="square" lIns="0" tIns="0" rIns="0" bIns="0" rtlCol="0" anchor="ctr"/>
          <a:lstStyle/>
          <a:p>
            <a:pPr marL="0" indent="0">
              <a:buNone/>
            </a:pPr>
            <a:r>
              <a:rPr lang="en-US" sz="1450" b="1" dirty="0">
                <a:solidFill>
                  <a:srgbClr val="1F7A6C"/>
                </a:solidFill>
                <a:latin typeface="Calibri" pitchFamily="34" charset="0"/>
                <a:ea typeface="Calibri" pitchFamily="34" charset="-122"/>
                <a:cs typeface="Calibri" pitchFamily="34" charset="-120"/>
              </a:rPr>
              <a:t>lampe</a:t>
            </a:r>
            <a:endParaRPr lang="en-US" sz="1450" dirty="0"/>
          </a:p>
        </p:txBody>
      </p:sp>
      <p:sp>
        <p:nvSpPr>
          <p:cNvPr id="34" name="Text 32"/>
          <p:cNvSpPr/>
          <p:nvPr/>
        </p:nvSpPr>
        <p:spPr>
          <a:xfrm>
            <a:off x="8823960" y="3602736"/>
            <a:ext cx="2526487" cy="530352"/>
          </a:xfrm>
          <a:prstGeom prst="rect">
            <a:avLst/>
          </a:prstGeom>
          <a:noFill/>
          <a:ln/>
        </p:spPr>
        <p:txBody>
          <a:bodyPr wrap="square" lIns="0" tIns="0" rIns="0" bIns="0" rtlCol="0" anchor="t"/>
          <a:lstStyle/>
          <a:p>
            <a:pPr marL="0" indent="0">
              <a:lnSpc>
                <a:spcPct val="106000"/>
              </a:lnSpc>
              <a:buNone/>
            </a:pPr>
            <a:r>
              <a:rPr lang="en-US" sz="1250" dirty="0">
                <a:solidFill>
                  <a:srgbClr val="6E6E80"/>
                </a:solidFill>
                <a:latin typeface="Calibri" pitchFamily="34" charset="0"/>
                <a:ea typeface="Calibri" pitchFamily="34" charset="-122"/>
                <a:cs typeface="Calibri" pitchFamily="34" charset="-120"/>
              </a:rPr>
              <a:t>lightweight, close to raw PyTorch</a:t>
            </a:r>
            <a:endParaRPr lang="en-US" sz="1250" dirty="0"/>
          </a:p>
        </p:txBody>
      </p:sp>
      <p:sp>
        <p:nvSpPr>
          <p:cNvPr id="35" name="Text 33"/>
          <p:cNvSpPr/>
          <p:nvPr/>
        </p:nvSpPr>
        <p:spPr>
          <a:xfrm>
            <a:off x="7479792" y="4187952"/>
            <a:ext cx="1325880" cy="256032"/>
          </a:xfrm>
          <a:prstGeom prst="rect">
            <a:avLst/>
          </a:prstGeom>
          <a:noFill/>
          <a:ln/>
        </p:spPr>
        <p:txBody>
          <a:bodyPr wrap="square" lIns="0" tIns="0" rIns="0" bIns="0" rtlCol="0" anchor="ctr"/>
          <a:lstStyle/>
          <a:p>
            <a:pPr marL="0" indent="0">
              <a:buNone/>
            </a:pPr>
            <a:r>
              <a:rPr lang="en-US" sz="1450" b="1" dirty="0">
                <a:solidFill>
                  <a:srgbClr val="1F7A6C"/>
                </a:solidFill>
                <a:latin typeface="Calibri" pitchFamily="34" charset="0"/>
                <a:ea typeface="Calibri" pitchFamily="34" charset="-122"/>
                <a:cs typeface="Calibri" pitchFamily="34" charset="-120"/>
              </a:rPr>
              <a:t>pydelfi</a:t>
            </a:r>
            <a:endParaRPr lang="en-US" sz="1450" dirty="0"/>
          </a:p>
        </p:txBody>
      </p:sp>
      <p:sp>
        <p:nvSpPr>
          <p:cNvPr id="36" name="Text 34"/>
          <p:cNvSpPr/>
          <p:nvPr/>
        </p:nvSpPr>
        <p:spPr>
          <a:xfrm>
            <a:off x="8823960" y="4169664"/>
            <a:ext cx="2526487" cy="530352"/>
          </a:xfrm>
          <a:prstGeom prst="rect">
            <a:avLst/>
          </a:prstGeom>
          <a:noFill/>
          <a:ln/>
        </p:spPr>
        <p:txBody>
          <a:bodyPr wrap="square" lIns="0" tIns="0" rIns="0" bIns="0" rtlCol="0" anchor="t"/>
          <a:lstStyle/>
          <a:p>
            <a:pPr marL="0" indent="0">
              <a:lnSpc>
                <a:spcPct val="106000"/>
              </a:lnSpc>
              <a:buNone/>
            </a:pPr>
            <a:r>
              <a:rPr lang="en-US" sz="1250" dirty="0">
                <a:solidFill>
                  <a:srgbClr val="6E6E80"/>
                </a:solidFill>
                <a:latin typeface="Calibri" pitchFamily="34" charset="0"/>
                <a:ea typeface="Calibri" pitchFamily="34" charset="-122"/>
                <a:cs typeface="Calibri" pitchFamily="34" charset="-120"/>
              </a:rPr>
              <a:t>density estimation with learned compression</a:t>
            </a:r>
            <a:endParaRPr lang="en-US" sz="1250" dirty="0"/>
          </a:p>
        </p:txBody>
      </p:sp>
      <p:sp>
        <p:nvSpPr>
          <p:cNvPr id="37" name="Text 35"/>
          <p:cNvSpPr/>
          <p:nvPr/>
        </p:nvSpPr>
        <p:spPr>
          <a:xfrm>
            <a:off x="7479792" y="4754880"/>
            <a:ext cx="1325880" cy="256032"/>
          </a:xfrm>
          <a:prstGeom prst="rect">
            <a:avLst/>
          </a:prstGeom>
          <a:noFill/>
          <a:ln/>
        </p:spPr>
        <p:txBody>
          <a:bodyPr wrap="square" lIns="0" tIns="0" rIns="0" bIns="0" rtlCol="0" anchor="ctr"/>
          <a:lstStyle/>
          <a:p>
            <a:pPr marL="0" indent="0">
              <a:buNone/>
            </a:pPr>
            <a:r>
              <a:rPr lang="en-US" sz="1450" b="1" dirty="0">
                <a:solidFill>
                  <a:srgbClr val="1F7A6C"/>
                </a:solidFill>
                <a:latin typeface="Calibri" pitchFamily="34" charset="0"/>
                <a:ea typeface="Calibri" pitchFamily="34" charset="-122"/>
                <a:cs typeface="Calibri" pitchFamily="34" charset="-120"/>
              </a:rPr>
              <a:t>LtU-ILI</a:t>
            </a:r>
            <a:endParaRPr lang="en-US" sz="1450" dirty="0"/>
          </a:p>
        </p:txBody>
      </p:sp>
      <p:sp>
        <p:nvSpPr>
          <p:cNvPr id="38" name="Text 36"/>
          <p:cNvSpPr/>
          <p:nvPr/>
        </p:nvSpPr>
        <p:spPr>
          <a:xfrm>
            <a:off x="8823960" y="4736592"/>
            <a:ext cx="2526487" cy="530352"/>
          </a:xfrm>
          <a:prstGeom prst="rect">
            <a:avLst/>
          </a:prstGeom>
          <a:noFill/>
          <a:ln/>
        </p:spPr>
        <p:txBody>
          <a:bodyPr wrap="square" lIns="0" tIns="0" rIns="0" bIns="0" rtlCol="0" anchor="t"/>
          <a:lstStyle/>
          <a:p>
            <a:pPr marL="0" indent="0">
              <a:lnSpc>
                <a:spcPct val="106000"/>
              </a:lnSpc>
              <a:buNone/>
            </a:pPr>
            <a:r>
              <a:rPr lang="en-US" sz="1250" dirty="0">
                <a:solidFill>
                  <a:srgbClr val="6E6E80"/>
                </a:solidFill>
                <a:latin typeface="Calibri" pitchFamily="34" charset="0"/>
                <a:ea typeface="Calibri" pitchFamily="34" charset="-122"/>
                <a:cs typeface="Calibri" pitchFamily="34" charset="-120"/>
              </a:rPr>
              <a:t>an astronomy-facing wrapper over several of the above</a:t>
            </a:r>
            <a:endParaRPr lang="en-US" sz="1250" dirty="0"/>
          </a:p>
        </p:txBody>
      </p:sp>
      <p:sp>
        <p:nvSpPr>
          <p:cNvPr id="39" name="Shape 37"/>
          <p:cNvSpPr/>
          <p:nvPr/>
        </p:nvSpPr>
        <p:spPr>
          <a:xfrm>
            <a:off x="566928" y="5742432"/>
            <a:ext cx="11057839" cy="566928"/>
          </a:xfrm>
          <a:prstGeom prst="roundRect">
            <a:avLst>
              <a:gd name="adj" fmla="val 9677"/>
            </a:avLst>
          </a:prstGeom>
          <a:solidFill>
            <a:srgbClr val="FBF0E1"/>
          </a:solidFill>
          <a:ln/>
        </p:spPr>
        <p:txBody>
          <a:bodyPr/>
          <a:lstStyle/>
          <a:p>
            <a:endParaRPr lang="en-US"/>
          </a:p>
        </p:txBody>
      </p:sp>
      <p:sp>
        <p:nvSpPr>
          <p:cNvPr id="40" name="Text 38"/>
          <p:cNvSpPr/>
          <p:nvPr/>
        </p:nvSpPr>
        <p:spPr>
          <a:xfrm>
            <a:off x="804672" y="5742432"/>
            <a:ext cx="10600639" cy="566928"/>
          </a:xfrm>
          <a:prstGeom prst="rect">
            <a:avLst/>
          </a:prstGeom>
          <a:noFill/>
          <a:ln/>
        </p:spPr>
        <p:txBody>
          <a:bodyPr wrap="square" lIns="0" tIns="0" rIns="0" bIns="0" rtlCol="0" anchor="ctr"/>
          <a:lstStyle/>
          <a:p>
            <a:pPr marL="0" indent="0">
              <a:buNone/>
            </a:pPr>
            <a:r>
              <a:rPr lang="en-US" sz="1550" b="1" dirty="0">
                <a:solidFill>
                  <a:srgbClr val="6E3D06"/>
                </a:solidFill>
                <a:latin typeface="Calibri" pitchFamily="34" charset="0"/>
                <a:ea typeface="Calibri" pitchFamily="34" charset="-122"/>
                <a:cs typeface="Calibri" pitchFamily="34" charset="-120"/>
              </a:rPr>
              <a:t>The simulation bank is the expensive asset. Every other choice is cheap to redo — so keep it, and document it.</a:t>
            </a:r>
            <a:endParaRPr lang="en-US" sz="1550" dirty="0"/>
          </a:p>
        </p:txBody>
      </p:sp>
      <p:sp>
        <p:nvSpPr>
          <p:cNvPr id="41" name="Text 39"/>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V — Practice</a:t>
            </a:r>
            <a:endParaRPr lang="en-US" sz="950" dirty="0"/>
          </a:p>
        </p:txBody>
      </p:sp>
      <p:sp>
        <p:nvSpPr>
          <p:cNvPr id="42" name="Text 40"/>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39</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91A2E"/>
        </a:solidFill>
        <a:effectLst/>
      </p:bgPr>
    </p:bg>
    <p:spTree>
      <p:nvGrpSpPr>
        <p:cNvPr id="1" name=""/>
        <p:cNvGrpSpPr/>
        <p:nvPr/>
      </p:nvGrpSpPr>
      <p:grpSpPr>
        <a:xfrm>
          <a:off x="0" y="0"/>
          <a:ext cx="0" cy="0"/>
          <a:chOff x="0" y="0"/>
          <a:chExt cx="0" cy="0"/>
        </a:xfrm>
      </p:grpSpPr>
      <p:sp>
        <p:nvSpPr>
          <p:cNvPr id="2" name="Text 0"/>
          <p:cNvSpPr/>
          <p:nvPr/>
        </p:nvSpPr>
        <p:spPr>
          <a:xfrm>
            <a:off x="566928" y="658368"/>
            <a:ext cx="11057839" cy="292608"/>
          </a:xfrm>
          <a:prstGeom prst="rect">
            <a:avLst/>
          </a:prstGeom>
          <a:noFill/>
          <a:ln/>
        </p:spPr>
        <p:txBody>
          <a:bodyPr wrap="square" lIns="0" tIns="0" rIns="0" bIns="0" rtlCol="0" anchor="ctr"/>
          <a:lstStyle/>
          <a:p>
            <a:pPr marL="0" indent="0">
              <a:buNone/>
            </a:pPr>
            <a:r>
              <a:rPr lang="en-US" sz="1350" b="1" kern="0" spc="220" dirty="0">
                <a:solidFill>
                  <a:srgbClr val="B9B1E0"/>
                </a:solidFill>
                <a:latin typeface="Calibri" pitchFamily="34" charset="0"/>
                <a:ea typeface="Calibri" pitchFamily="34" charset="-122"/>
                <a:cs typeface="Calibri" pitchFamily="34" charset="-120"/>
              </a:rPr>
              <a:t>TAKEAWAYS</a:t>
            </a:r>
            <a:endParaRPr lang="en-US" sz="1350" dirty="0"/>
          </a:p>
        </p:txBody>
      </p:sp>
      <p:sp>
        <p:nvSpPr>
          <p:cNvPr id="3" name="Text 1"/>
          <p:cNvSpPr/>
          <p:nvPr/>
        </p:nvSpPr>
        <p:spPr>
          <a:xfrm>
            <a:off x="566928" y="1024128"/>
            <a:ext cx="10058400" cy="658368"/>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Five things worth keeping</a:t>
            </a:r>
            <a:endParaRPr lang="en-US" sz="3600" dirty="0"/>
          </a:p>
        </p:txBody>
      </p:sp>
      <p:sp>
        <p:nvSpPr>
          <p:cNvPr id="4" name="Shape 2"/>
          <p:cNvSpPr/>
          <p:nvPr/>
        </p:nvSpPr>
        <p:spPr>
          <a:xfrm>
            <a:off x="566928" y="1993392"/>
            <a:ext cx="438912" cy="438912"/>
          </a:xfrm>
          <a:prstGeom prst="ellipse">
            <a:avLst/>
          </a:prstGeom>
          <a:solidFill>
            <a:srgbClr val="3A3568"/>
          </a:solidFill>
          <a:ln/>
        </p:spPr>
        <p:txBody>
          <a:bodyPr/>
          <a:lstStyle/>
          <a:p>
            <a:endParaRPr lang="en-US"/>
          </a:p>
        </p:txBody>
      </p:sp>
      <p:sp>
        <p:nvSpPr>
          <p:cNvPr id="5" name="Text 3"/>
          <p:cNvSpPr/>
          <p:nvPr/>
        </p:nvSpPr>
        <p:spPr>
          <a:xfrm>
            <a:off x="566928" y="1993392"/>
            <a:ext cx="438912" cy="438912"/>
          </a:xfrm>
          <a:prstGeom prst="rect">
            <a:avLst/>
          </a:prstGeom>
          <a:noFill/>
          <a:ln/>
        </p:spPr>
        <p:txBody>
          <a:bodyPr wrap="square" lIns="0" tIns="0" rIns="0" bIns="0" rtlCol="0" anchor="ctr"/>
          <a:lstStyle/>
          <a:p>
            <a:pPr marL="0" indent="0" algn="ctr">
              <a:buNone/>
            </a:pPr>
            <a:r>
              <a:rPr lang="en-US" sz="1600" b="1" dirty="0">
                <a:solidFill>
                  <a:srgbClr val="B9B1E0"/>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225296" y="1956816"/>
            <a:ext cx="10241280" cy="749808"/>
          </a:xfrm>
          <a:prstGeom prst="rect">
            <a:avLst/>
          </a:prstGeom>
          <a:noFill/>
          <a:ln/>
        </p:spPr>
        <p:txBody>
          <a:bodyPr wrap="square" lIns="0" tIns="0" rIns="0" bIns="0" rtlCol="0" anchor="t"/>
          <a:lstStyle/>
          <a:p>
            <a:pPr marL="0" indent="0">
              <a:lnSpc>
                <a:spcPct val="105000"/>
              </a:lnSpc>
              <a:buNone/>
            </a:pPr>
            <a:r>
              <a:rPr lang="en-US" sz="1650" dirty="0">
                <a:solidFill>
                  <a:srgbClr val="E4E1F2"/>
                </a:solidFill>
                <a:latin typeface="Calibri" pitchFamily="34" charset="0"/>
                <a:ea typeface="Calibri" pitchFamily="34" charset="-122"/>
                <a:cs typeface="Calibri" pitchFamily="34" charset="-120"/>
              </a:rPr>
              <a:t>SBI trades “evaluate the likelihood” for “run the model.” That single substitution is the whole idea.</a:t>
            </a:r>
            <a:endParaRPr lang="en-US" sz="1650" dirty="0"/>
          </a:p>
        </p:txBody>
      </p:sp>
      <p:sp>
        <p:nvSpPr>
          <p:cNvPr id="7" name="Shape 5"/>
          <p:cNvSpPr/>
          <p:nvPr/>
        </p:nvSpPr>
        <p:spPr>
          <a:xfrm>
            <a:off x="566928" y="2834640"/>
            <a:ext cx="438912" cy="438912"/>
          </a:xfrm>
          <a:prstGeom prst="ellipse">
            <a:avLst/>
          </a:prstGeom>
          <a:solidFill>
            <a:srgbClr val="3A3568"/>
          </a:solidFill>
          <a:ln/>
        </p:spPr>
        <p:txBody>
          <a:bodyPr/>
          <a:lstStyle/>
          <a:p>
            <a:endParaRPr lang="en-US"/>
          </a:p>
        </p:txBody>
      </p:sp>
      <p:sp>
        <p:nvSpPr>
          <p:cNvPr id="8" name="Text 6"/>
          <p:cNvSpPr/>
          <p:nvPr/>
        </p:nvSpPr>
        <p:spPr>
          <a:xfrm>
            <a:off x="566928" y="2834640"/>
            <a:ext cx="438912" cy="438912"/>
          </a:xfrm>
          <a:prstGeom prst="rect">
            <a:avLst/>
          </a:prstGeom>
          <a:noFill/>
          <a:ln/>
        </p:spPr>
        <p:txBody>
          <a:bodyPr wrap="square" lIns="0" tIns="0" rIns="0" bIns="0" rtlCol="0" anchor="ctr"/>
          <a:lstStyle/>
          <a:p>
            <a:pPr marL="0" indent="0" algn="ctr">
              <a:buNone/>
            </a:pPr>
            <a:r>
              <a:rPr lang="en-US" sz="1600" b="1" dirty="0">
                <a:solidFill>
                  <a:srgbClr val="B9B1E0"/>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225296" y="2798064"/>
            <a:ext cx="10241280" cy="749808"/>
          </a:xfrm>
          <a:prstGeom prst="rect">
            <a:avLst/>
          </a:prstGeom>
          <a:noFill/>
          <a:ln/>
        </p:spPr>
        <p:txBody>
          <a:bodyPr wrap="square" lIns="0" tIns="0" rIns="0" bIns="0" rtlCol="0" anchor="t"/>
          <a:lstStyle/>
          <a:p>
            <a:pPr marL="0" indent="0">
              <a:lnSpc>
                <a:spcPct val="105000"/>
              </a:lnSpc>
              <a:buNone/>
            </a:pPr>
            <a:r>
              <a:rPr lang="en-US" sz="1650" dirty="0">
                <a:solidFill>
                  <a:srgbClr val="E4E1F2"/>
                </a:solidFill>
                <a:latin typeface="Calibri" pitchFamily="34" charset="0"/>
                <a:ea typeface="Calibri" pitchFamily="34" charset="-122"/>
                <a:cs typeface="Calibri" pitchFamily="34" charset="-120"/>
              </a:rPr>
              <a:t>Every method starts from the same table of (θ, x) pairs. They differ only in what they learn from it.</a:t>
            </a:r>
            <a:endParaRPr lang="en-US" sz="1650" dirty="0"/>
          </a:p>
        </p:txBody>
      </p:sp>
      <p:sp>
        <p:nvSpPr>
          <p:cNvPr id="10" name="Shape 8"/>
          <p:cNvSpPr/>
          <p:nvPr/>
        </p:nvSpPr>
        <p:spPr>
          <a:xfrm>
            <a:off x="566928" y="3675888"/>
            <a:ext cx="438912" cy="438912"/>
          </a:xfrm>
          <a:prstGeom prst="ellipse">
            <a:avLst/>
          </a:prstGeom>
          <a:solidFill>
            <a:srgbClr val="3A3568"/>
          </a:solidFill>
          <a:ln/>
        </p:spPr>
        <p:txBody>
          <a:bodyPr/>
          <a:lstStyle/>
          <a:p>
            <a:endParaRPr lang="en-US"/>
          </a:p>
        </p:txBody>
      </p:sp>
      <p:sp>
        <p:nvSpPr>
          <p:cNvPr id="11" name="Text 9"/>
          <p:cNvSpPr/>
          <p:nvPr/>
        </p:nvSpPr>
        <p:spPr>
          <a:xfrm>
            <a:off x="566928" y="3675888"/>
            <a:ext cx="438912" cy="438912"/>
          </a:xfrm>
          <a:prstGeom prst="rect">
            <a:avLst/>
          </a:prstGeom>
          <a:noFill/>
          <a:ln/>
        </p:spPr>
        <p:txBody>
          <a:bodyPr wrap="square" lIns="0" tIns="0" rIns="0" bIns="0" rtlCol="0" anchor="ctr"/>
          <a:lstStyle/>
          <a:p>
            <a:pPr marL="0" indent="0" algn="ctr">
              <a:buNone/>
            </a:pPr>
            <a:r>
              <a:rPr lang="en-US" sz="1600" b="1" dirty="0">
                <a:solidFill>
                  <a:srgbClr val="B9B1E0"/>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225296" y="3639312"/>
            <a:ext cx="10241280" cy="749808"/>
          </a:xfrm>
          <a:prstGeom prst="rect">
            <a:avLst/>
          </a:prstGeom>
          <a:noFill/>
          <a:ln/>
        </p:spPr>
        <p:txBody>
          <a:bodyPr wrap="square" lIns="0" tIns="0" rIns="0" bIns="0" rtlCol="0" anchor="t"/>
          <a:lstStyle/>
          <a:p>
            <a:pPr marL="0" indent="0">
              <a:lnSpc>
                <a:spcPct val="105000"/>
              </a:lnSpc>
              <a:buNone/>
            </a:pPr>
            <a:r>
              <a:rPr lang="en-US" sz="1650" dirty="0">
                <a:solidFill>
                  <a:srgbClr val="E4E1F2"/>
                </a:solidFill>
                <a:latin typeface="Calibri" pitchFamily="34" charset="0"/>
                <a:ea typeface="Calibri" pitchFamily="34" charset="-122"/>
                <a:cs typeface="Calibri" pitchFamily="34" charset="-120"/>
              </a:rPr>
              <a:t>NPE by default; NLE or NRE when the data are many independent measurements; sequential only when you can justify losing the checks.</a:t>
            </a:r>
            <a:endParaRPr lang="en-US" sz="1650" dirty="0"/>
          </a:p>
        </p:txBody>
      </p:sp>
      <p:sp>
        <p:nvSpPr>
          <p:cNvPr id="13" name="Shape 11"/>
          <p:cNvSpPr/>
          <p:nvPr/>
        </p:nvSpPr>
        <p:spPr>
          <a:xfrm>
            <a:off x="566928" y="4517136"/>
            <a:ext cx="438912" cy="438912"/>
          </a:xfrm>
          <a:prstGeom prst="ellipse">
            <a:avLst/>
          </a:prstGeom>
          <a:solidFill>
            <a:srgbClr val="3A3568"/>
          </a:solidFill>
          <a:ln/>
        </p:spPr>
        <p:txBody>
          <a:bodyPr/>
          <a:lstStyle/>
          <a:p>
            <a:endParaRPr lang="en-US"/>
          </a:p>
        </p:txBody>
      </p:sp>
      <p:sp>
        <p:nvSpPr>
          <p:cNvPr id="14" name="Text 12"/>
          <p:cNvSpPr/>
          <p:nvPr/>
        </p:nvSpPr>
        <p:spPr>
          <a:xfrm>
            <a:off x="566928" y="4517136"/>
            <a:ext cx="438912" cy="438912"/>
          </a:xfrm>
          <a:prstGeom prst="rect">
            <a:avLst/>
          </a:prstGeom>
          <a:noFill/>
          <a:ln/>
        </p:spPr>
        <p:txBody>
          <a:bodyPr wrap="square" lIns="0" tIns="0" rIns="0" bIns="0" rtlCol="0" anchor="ctr"/>
          <a:lstStyle/>
          <a:p>
            <a:pPr marL="0" indent="0" algn="ctr">
              <a:buNone/>
            </a:pPr>
            <a:r>
              <a:rPr lang="en-US" sz="1600" b="1" dirty="0">
                <a:solidFill>
                  <a:srgbClr val="B9B1E0"/>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225296" y="4480560"/>
            <a:ext cx="10241280" cy="749808"/>
          </a:xfrm>
          <a:prstGeom prst="rect">
            <a:avLst/>
          </a:prstGeom>
          <a:noFill/>
          <a:ln/>
        </p:spPr>
        <p:txBody>
          <a:bodyPr wrap="square" lIns="0" tIns="0" rIns="0" bIns="0" rtlCol="0" anchor="t"/>
          <a:lstStyle/>
          <a:p>
            <a:pPr marL="0" indent="0">
              <a:lnSpc>
                <a:spcPct val="105000"/>
              </a:lnSpc>
              <a:buNone/>
            </a:pPr>
            <a:r>
              <a:rPr lang="en-US" sz="1650" dirty="0">
                <a:solidFill>
                  <a:srgbClr val="E4E1F2"/>
                </a:solidFill>
                <a:latin typeface="Calibri" pitchFamily="34" charset="0"/>
                <a:ea typeface="Calibri" pitchFamily="34" charset="-122"/>
                <a:cs typeface="Calibri" pitchFamily="34" charset="-120"/>
              </a:rPr>
              <a:t>Amortisation is not just speed — it is what makes thorough calibration testing affordable.</a:t>
            </a:r>
            <a:endParaRPr lang="en-US" sz="1650" dirty="0"/>
          </a:p>
        </p:txBody>
      </p:sp>
      <p:sp>
        <p:nvSpPr>
          <p:cNvPr id="16" name="Shape 14"/>
          <p:cNvSpPr/>
          <p:nvPr/>
        </p:nvSpPr>
        <p:spPr>
          <a:xfrm>
            <a:off x="566928" y="5358384"/>
            <a:ext cx="438912" cy="438912"/>
          </a:xfrm>
          <a:prstGeom prst="ellipse">
            <a:avLst/>
          </a:prstGeom>
          <a:solidFill>
            <a:srgbClr val="3A3568"/>
          </a:solidFill>
          <a:ln/>
        </p:spPr>
        <p:txBody>
          <a:bodyPr/>
          <a:lstStyle/>
          <a:p>
            <a:endParaRPr lang="en-US"/>
          </a:p>
        </p:txBody>
      </p:sp>
      <p:sp>
        <p:nvSpPr>
          <p:cNvPr id="17" name="Text 15"/>
          <p:cNvSpPr/>
          <p:nvPr/>
        </p:nvSpPr>
        <p:spPr>
          <a:xfrm>
            <a:off x="566928" y="5358384"/>
            <a:ext cx="438912" cy="438912"/>
          </a:xfrm>
          <a:prstGeom prst="rect">
            <a:avLst/>
          </a:prstGeom>
          <a:noFill/>
          <a:ln/>
        </p:spPr>
        <p:txBody>
          <a:bodyPr wrap="square" lIns="0" tIns="0" rIns="0" bIns="0" rtlCol="0" anchor="ctr"/>
          <a:lstStyle/>
          <a:p>
            <a:pPr marL="0" indent="0" algn="ctr">
              <a:buNone/>
            </a:pPr>
            <a:r>
              <a:rPr lang="en-US" sz="1600" b="1" dirty="0">
                <a:solidFill>
                  <a:srgbClr val="B9B1E0"/>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225296" y="5321808"/>
            <a:ext cx="10241280" cy="749808"/>
          </a:xfrm>
          <a:prstGeom prst="rect">
            <a:avLst/>
          </a:prstGeom>
          <a:noFill/>
          <a:ln/>
        </p:spPr>
        <p:txBody>
          <a:bodyPr wrap="square" lIns="0" tIns="0" rIns="0" bIns="0" rtlCol="0" anchor="t"/>
          <a:lstStyle/>
          <a:p>
            <a:pPr marL="0" indent="0">
              <a:lnSpc>
                <a:spcPct val="105000"/>
              </a:lnSpc>
              <a:buNone/>
            </a:pPr>
            <a:r>
              <a:rPr lang="en-US" sz="1650" dirty="0">
                <a:solidFill>
                  <a:srgbClr val="E4E1F2"/>
                </a:solidFill>
                <a:latin typeface="Calibri" pitchFamily="34" charset="0"/>
                <a:ea typeface="Calibri" pitchFamily="34" charset="-122"/>
                <a:cs typeface="Calibri" pitchFamily="34" charset="-120"/>
              </a:rPr>
              <a:t>An SBI posterior without diagnostics is not a measurement. Report the tests you ran, and the ones you could not.</a:t>
            </a:r>
            <a:endParaRPr lang="en-US" sz="1650" dirty="0"/>
          </a:p>
        </p:txBody>
      </p:sp>
      <p:sp>
        <p:nvSpPr>
          <p:cNvPr id="19" name="Text 17"/>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A6A8C"/>
                </a:solidFill>
                <a:latin typeface="Calibri" pitchFamily="34" charset="0"/>
                <a:ea typeface="Calibri" pitchFamily="34" charset="-122"/>
                <a:cs typeface="Calibri" pitchFamily="34" charset="-120"/>
              </a:rPr>
              <a:t>Simulation-Based Inference  ·  Part V — Practice</a:t>
            </a:r>
            <a:endParaRPr lang="en-US" sz="950" dirty="0"/>
          </a:p>
        </p:txBody>
      </p:sp>
      <p:sp>
        <p:nvSpPr>
          <p:cNvPr id="20" name="Text 18"/>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A6A8C"/>
                </a:solidFill>
                <a:latin typeface="Calibri" pitchFamily="34" charset="0"/>
                <a:ea typeface="Calibri" pitchFamily="34" charset="-122"/>
                <a:cs typeface="Calibri" pitchFamily="34" charset="-120"/>
              </a:rPr>
              <a:t>40</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29184"/>
            <a:ext cx="11057839" cy="237744"/>
          </a:xfrm>
          <a:prstGeom prst="rect">
            <a:avLst/>
          </a:prstGeom>
          <a:noFill/>
          <a:ln/>
        </p:spPr>
        <p:txBody>
          <a:bodyPr wrap="square" lIns="0" tIns="0" rIns="0" bIns="0" rtlCol="0" anchor="ctr"/>
          <a:lstStyle/>
          <a:p>
            <a:pPr marL="0" indent="0">
              <a:buNone/>
            </a:pPr>
            <a:r>
              <a:rPr lang="en-US" sz="1250" b="1" kern="0" spc="170" dirty="0">
                <a:solidFill>
                  <a:srgbClr val="4A3F8F"/>
                </a:solidFill>
                <a:latin typeface="Calibri" pitchFamily="34" charset="0"/>
                <a:ea typeface="Calibri" pitchFamily="34" charset="-122"/>
                <a:cs typeface="Calibri" pitchFamily="34" charset="-120"/>
              </a:rPr>
              <a:t>REFERENCES</a:t>
            </a:r>
            <a:endParaRPr lang="en-US" sz="1250" dirty="0"/>
          </a:p>
        </p:txBody>
      </p:sp>
      <p:sp>
        <p:nvSpPr>
          <p:cNvPr id="3" name="Text 1"/>
          <p:cNvSpPr/>
          <p:nvPr/>
        </p:nvSpPr>
        <p:spPr>
          <a:xfrm>
            <a:off x="566928" y="585216"/>
            <a:ext cx="11057839" cy="603504"/>
          </a:xfrm>
          <a:prstGeom prst="rect">
            <a:avLst/>
          </a:prstGeom>
          <a:noFill/>
          <a:ln/>
        </p:spPr>
        <p:txBody>
          <a:bodyPr wrap="square" lIns="0" tIns="0" rIns="0" bIns="0" rtlCol="0" anchor="t"/>
          <a:lstStyle/>
          <a:p>
            <a:pPr marL="0" indent="0">
              <a:buNone/>
            </a:pPr>
            <a:r>
              <a:rPr lang="en-US" sz="3000" b="1" dirty="0">
                <a:solidFill>
                  <a:srgbClr val="1C1B29"/>
                </a:solidFill>
                <a:latin typeface="Cambria" pitchFamily="34" charset="0"/>
                <a:ea typeface="Cambria" pitchFamily="34" charset="-122"/>
                <a:cs typeface="Cambria" pitchFamily="34" charset="-120"/>
              </a:rPr>
              <a:t>Where to read further</a:t>
            </a:r>
            <a:endParaRPr lang="en-US" sz="3000" dirty="0"/>
          </a:p>
        </p:txBody>
      </p:sp>
      <p:sp>
        <p:nvSpPr>
          <p:cNvPr id="4" name="Shape 2"/>
          <p:cNvSpPr/>
          <p:nvPr/>
        </p:nvSpPr>
        <p:spPr>
          <a:xfrm>
            <a:off x="566928" y="1426464"/>
            <a:ext cx="11057839" cy="1060704"/>
          </a:xfrm>
          <a:prstGeom prst="roundRect">
            <a:avLst>
              <a:gd name="adj" fmla="val 5172"/>
            </a:avLst>
          </a:prstGeom>
          <a:solidFill>
            <a:srgbClr val="F3F3F8"/>
          </a:solidFill>
          <a:ln/>
        </p:spPr>
        <p:txBody>
          <a:bodyPr/>
          <a:lstStyle/>
          <a:p>
            <a:endParaRPr lang="en-US"/>
          </a:p>
        </p:txBody>
      </p:sp>
      <p:sp>
        <p:nvSpPr>
          <p:cNvPr id="5" name="Text 3"/>
          <p:cNvSpPr/>
          <p:nvPr/>
        </p:nvSpPr>
        <p:spPr>
          <a:xfrm>
            <a:off x="804672" y="1499616"/>
            <a:ext cx="5394960" cy="292608"/>
          </a:xfrm>
          <a:prstGeom prst="rect">
            <a:avLst/>
          </a:prstGeom>
          <a:noFill/>
          <a:ln/>
        </p:spPr>
        <p:txBody>
          <a:bodyPr wrap="square" lIns="0" tIns="0" rIns="0" bIns="0" rtlCol="0" anchor="ctr"/>
          <a:lstStyle/>
          <a:p>
            <a:pPr marL="0" indent="0">
              <a:buNone/>
            </a:pPr>
            <a:r>
              <a:rPr lang="en-US" sz="1450" b="1" dirty="0">
                <a:solidFill>
                  <a:srgbClr val="3E3379"/>
                </a:solidFill>
                <a:latin typeface="Calibri" pitchFamily="34" charset="0"/>
                <a:ea typeface="Calibri" pitchFamily="34" charset="-122"/>
                <a:cs typeface="Calibri" pitchFamily="34" charset="-120"/>
              </a:rPr>
              <a:t>Deistler, Boelts, Steinbach, Moss et al. (2025)</a:t>
            </a:r>
            <a:endParaRPr lang="en-US" sz="1450" dirty="0"/>
          </a:p>
        </p:txBody>
      </p:sp>
      <p:sp>
        <p:nvSpPr>
          <p:cNvPr id="6" name="Text 4"/>
          <p:cNvSpPr/>
          <p:nvPr/>
        </p:nvSpPr>
        <p:spPr>
          <a:xfrm>
            <a:off x="804672" y="1810512"/>
            <a:ext cx="5577840" cy="566928"/>
          </a:xfrm>
          <a:prstGeom prst="rect">
            <a:avLst/>
          </a:prstGeom>
          <a:noFill/>
          <a:ln/>
        </p:spPr>
        <p:txBody>
          <a:bodyPr wrap="square" lIns="0" tIns="0" rIns="0" bIns="0" rtlCol="0" anchor="t"/>
          <a:lstStyle/>
          <a:p>
            <a:pPr marL="0" indent="0">
              <a:lnSpc>
                <a:spcPct val="106000"/>
              </a:lnSpc>
              <a:buNone/>
            </a:pPr>
            <a:r>
              <a:rPr lang="en-US" sz="1350" dirty="0">
                <a:solidFill>
                  <a:srgbClr val="1C1B29"/>
                </a:solidFill>
                <a:latin typeface="Calibri" pitchFamily="34" charset="0"/>
                <a:ea typeface="Calibri" pitchFamily="34" charset="-122"/>
                <a:cs typeface="Calibri" pitchFamily="34" charset="-120"/>
              </a:rPr>
              <a:t>Simulation-Based Inference: A Practical Guide.  arXiv:2508.12939</a:t>
            </a:r>
            <a:endParaRPr lang="en-US" sz="1350" dirty="0"/>
          </a:p>
        </p:txBody>
      </p:sp>
      <p:sp>
        <p:nvSpPr>
          <p:cNvPr id="7" name="Text 5"/>
          <p:cNvSpPr/>
          <p:nvPr/>
        </p:nvSpPr>
        <p:spPr>
          <a:xfrm>
            <a:off x="6556248" y="1554480"/>
            <a:ext cx="4794199" cy="841248"/>
          </a:xfrm>
          <a:prstGeom prst="rect">
            <a:avLst/>
          </a:prstGeom>
          <a:noFill/>
          <a:ln/>
        </p:spPr>
        <p:txBody>
          <a:bodyPr wrap="square" lIns="0" tIns="0" rIns="0" bIns="0" rtlCol="0" anchor="t"/>
          <a:lstStyle/>
          <a:p>
            <a:pPr marL="0" indent="0">
              <a:lnSpc>
                <a:spcPct val="106000"/>
              </a:lnSpc>
              <a:buNone/>
            </a:pPr>
            <a:r>
              <a:rPr lang="en-US" sz="1300" i="1" dirty="0">
                <a:solidFill>
                  <a:srgbClr val="6E6E80"/>
                </a:solidFill>
                <a:latin typeface="Calibri" pitchFamily="34" charset="0"/>
                <a:ea typeface="Calibri" pitchFamily="34" charset="-122"/>
                <a:cs typeface="Calibri" pitchFamily="34" charset="-120"/>
              </a:rPr>
              <a:t>The most practical of the four: workflow, pitfalls, and the ball-throw example used in this lecture.</a:t>
            </a:r>
            <a:endParaRPr lang="en-US" sz="1300" dirty="0"/>
          </a:p>
        </p:txBody>
      </p:sp>
      <p:sp>
        <p:nvSpPr>
          <p:cNvPr id="8" name="Shape 6"/>
          <p:cNvSpPr/>
          <p:nvPr/>
        </p:nvSpPr>
        <p:spPr>
          <a:xfrm>
            <a:off x="566928" y="2578608"/>
            <a:ext cx="11057839" cy="1060704"/>
          </a:xfrm>
          <a:prstGeom prst="roundRect">
            <a:avLst>
              <a:gd name="adj" fmla="val 5172"/>
            </a:avLst>
          </a:prstGeom>
          <a:solidFill>
            <a:srgbClr val="FFFFFF"/>
          </a:solidFill>
          <a:ln/>
        </p:spPr>
        <p:txBody>
          <a:bodyPr/>
          <a:lstStyle/>
          <a:p>
            <a:endParaRPr lang="en-US"/>
          </a:p>
        </p:txBody>
      </p:sp>
      <p:sp>
        <p:nvSpPr>
          <p:cNvPr id="9" name="Text 7"/>
          <p:cNvSpPr/>
          <p:nvPr/>
        </p:nvSpPr>
        <p:spPr>
          <a:xfrm>
            <a:off x="804672" y="2651760"/>
            <a:ext cx="5394960" cy="292608"/>
          </a:xfrm>
          <a:prstGeom prst="rect">
            <a:avLst/>
          </a:prstGeom>
          <a:noFill/>
          <a:ln/>
        </p:spPr>
        <p:txBody>
          <a:bodyPr wrap="square" lIns="0" tIns="0" rIns="0" bIns="0" rtlCol="0" anchor="ctr"/>
          <a:lstStyle/>
          <a:p>
            <a:pPr marL="0" indent="0">
              <a:buNone/>
            </a:pPr>
            <a:r>
              <a:rPr lang="en-US" sz="1450" b="1" dirty="0">
                <a:solidFill>
                  <a:srgbClr val="3E3379"/>
                </a:solidFill>
                <a:latin typeface="Calibri" pitchFamily="34" charset="0"/>
                <a:ea typeface="Calibri" pitchFamily="34" charset="-122"/>
                <a:cs typeface="Calibri" pitchFamily="34" charset="-120"/>
              </a:rPr>
              <a:t>L. Thiele (2026)</a:t>
            </a:r>
            <a:endParaRPr lang="en-US" sz="1450" dirty="0"/>
          </a:p>
        </p:txBody>
      </p:sp>
      <p:sp>
        <p:nvSpPr>
          <p:cNvPr id="10" name="Text 8"/>
          <p:cNvSpPr/>
          <p:nvPr/>
        </p:nvSpPr>
        <p:spPr>
          <a:xfrm>
            <a:off x="804672" y="2962656"/>
            <a:ext cx="5577840" cy="566928"/>
          </a:xfrm>
          <a:prstGeom prst="rect">
            <a:avLst/>
          </a:prstGeom>
          <a:noFill/>
          <a:ln/>
        </p:spPr>
        <p:txBody>
          <a:bodyPr wrap="square" lIns="0" tIns="0" rIns="0" bIns="0" rtlCol="0" anchor="t"/>
          <a:lstStyle/>
          <a:p>
            <a:pPr marL="0" indent="0">
              <a:lnSpc>
                <a:spcPct val="106000"/>
              </a:lnSpc>
              <a:buNone/>
            </a:pPr>
            <a:r>
              <a:rPr lang="en-US" sz="1350" dirty="0">
                <a:solidFill>
                  <a:srgbClr val="1C1B29"/>
                </a:solidFill>
                <a:latin typeface="Calibri" pitchFamily="34" charset="0"/>
                <a:ea typeface="Calibri" pitchFamily="34" charset="-122"/>
                <a:cs typeface="Calibri" pitchFamily="34" charset="-120"/>
              </a:rPr>
              <a:t>Machine Learning Techniques for Astrophysics and Cosmology: Simulation-Based Inference.  arXiv:2605.10719</a:t>
            </a:r>
            <a:endParaRPr lang="en-US" sz="1350" dirty="0"/>
          </a:p>
        </p:txBody>
      </p:sp>
      <p:sp>
        <p:nvSpPr>
          <p:cNvPr id="11" name="Text 9"/>
          <p:cNvSpPr/>
          <p:nvPr/>
        </p:nvSpPr>
        <p:spPr>
          <a:xfrm>
            <a:off x="6556248" y="2706624"/>
            <a:ext cx="4794199" cy="841248"/>
          </a:xfrm>
          <a:prstGeom prst="rect">
            <a:avLst/>
          </a:prstGeom>
          <a:noFill/>
          <a:ln/>
        </p:spPr>
        <p:txBody>
          <a:bodyPr wrap="square" lIns="0" tIns="0" rIns="0" bIns="0" rtlCol="0" anchor="t"/>
          <a:lstStyle/>
          <a:p>
            <a:pPr marL="0" indent="0">
              <a:lnSpc>
                <a:spcPct val="106000"/>
              </a:lnSpc>
              <a:buNone/>
            </a:pPr>
            <a:r>
              <a:rPr lang="en-US" sz="1300" i="1" dirty="0">
                <a:solidFill>
                  <a:srgbClr val="6E6E80"/>
                </a:solidFill>
                <a:latin typeface="Calibri" pitchFamily="34" charset="0"/>
                <a:ea typeface="Calibri" pitchFamily="34" charset="-122"/>
                <a:cs typeface="Calibri" pitchFamily="34" charset="-120"/>
              </a:rPr>
              <a:t>Concise, astronomy-facing review: derivations for NPE, NLE and NRE, diagnostics, real-data applications, and the simulation-budget frontier.</a:t>
            </a:r>
            <a:endParaRPr lang="en-US" sz="1300" dirty="0"/>
          </a:p>
        </p:txBody>
      </p:sp>
      <p:sp>
        <p:nvSpPr>
          <p:cNvPr id="12" name="Shape 10"/>
          <p:cNvSpPr/>
          <p:nvPr/>
        </p:nvSpPr>
        <p:spPr>
          <a:xfrm>
            <a:off x="566928" y="3730752"/>
            <a:ext cx="11057839" cy="1060704"/>
          </a:xfrm>
          <a:prstGeom prst="roundRect">
            <a:avLst>
              <a:gd name="adj" fmla="val 5172"/>
            </a:avLst>
          </a:prstGeom>
          <a:solidFill>
            <a:srgbClr val="F3F3F8"/>
          </a:solidFill>
          <a:ln/>
        </p:spPr>
        <p:txBody>
          <a:bodyPr/>
          <a:lstStyle/>
          <a:p>
            <a:endParaRPr lang="en-US"/>
          </a:p>
        </p:txBody>
      </p:sp>
      <p:sp>
        <p:nvSpPr>
          <p:cNvPr id="13" name="Text 11"/>
          <p:cNvSpPr/>
          <p:nvPr/>
        </p:nvSpPr>
        <p:spPr>
          <a:xfrm>
            <a:off x="804672" y="3803904"/>
            <a:ext cx="5394960" cy="292608"/>
          </a:xfrm>
          <a:prstGeom prst="rect">
            <a:avLst/>
          </a:prstGeom>
          <a:noFill/>
          <a:ln/>
        </p:spPr>
        <p:txBody>
          <a:bodyPr wrap="square" lIns="0" tIns="0" rIns="0" bIns="0" rtlCol="0" anchor="ctr"/>
          <a:lstStyle/>
          <a:p>
            <a:pPr marL="0" indent="0">
              <a:buNone/>
            </a:pPr>
            <a:r>
              <a:rPr lang="en-US" sz="1450" b="1" dirty="0">
                <a:solidFill>
                  <a:srgbClr val="3E3379"/>
                </a:solidFill>
                <a:latin typeface="Calibri" pitchFamily="34" charset="0"/>
                <a:ea typeface="Calibri" pitchFamily="34" charset="-122"/>
                <a:cs typeface="Calibri" pitchFamily="34" charset="-120"/>
              </a:rPr>
              <a:t>N. Anau Montel (2025)</a:t>
            </a:r>
            <a:endParaRPr lang="en-US" sz="1450" dirty="0"/>
          </a:p>
        </p:txBody>
      </p:sp>
      <p:sp>
        <p:nvSpPr>
          <p:cNvPr id="14" name="Text 12"/>
          <p:cNvSpPr/>
          <p:nvPr/>
        </p:nvSpPr>
        <p:spPr>
          <a:xfrm>
            <a:off x="804672" y="4114800"/>
            <a:ext cx="5577840" cy="566928"/>
          </a:xfrm>
          <a:prstGeom prst="rect">
            <a:avLst/>
          </a:prstGeom>
          <a:noFill/>
          <a:ln/>
        </p:spPr>
        <p:txBody>
          <a:bodyPr wrap="square" lIns="0" tIns="0" rIns="0" bIns="0" rtlCol="0" anchor="t"/>
          <a:lstStyle/>
          <a:p>
            <a:pPr marL="0" indent="0">
              <a:lnSpc>
                <a:spcPct val="106000"/>
              </a:lnSpc>
              <a:buNone/>
            </a:pPr>
            <a:r>
              <a:rPr lang="en-US" sz="1350" dirty="0">
                <a:solidFill>
                  <a:srgbClr val="1C1B29"/>
                </a:solidFill>
                <a:latin typeface="Calibri" pitchFamily="34" charset="0"/>
                <a:ea typeface="Calibri" pitchFamily="34" charset="-122"/>
                <a:cs typeface="Calibri" pitchFamily="34" charset="-120"/>
              </a:rPr>
              <a:t>Basics of Simulation-Based Inference.  MPA Postdoc/Staff Lecture Series on Cosmology, 27 November 2025</a:t>
            </a:r>
            <a:endParaRPr lang="en-US" sz="1350" dirty="0"/>
          </a:p>
        </p:txBody>
      </p:sp>
      <p:sp>
        <p:nvSpPr>
          <p:cNvPr id="15" name="Text 13"/>
          <p:cNvSpPr/>
          <p:nvPr/>
        </p:nvSpPr>
        <p:spPr>
          <a:xfrm>
            <a:off x="6556248" y="3858768"/>
            <a:ext cx="4794199" cy="841248"/>
          </a:xfrm>
          <a:prstGeom prst="rect">
            <a:avLst/>
          </a:prstGeom>
          <a:noFill/>
          <a:ln/>
        </p:spPr>
        <p:txBody>
          <a:bodyPr wrap="square" lIns="0" tIns="0" rIns="0" bIns="0" rtlCol="0" anchor="t"/>
          <a:lstStyle/>
          <a:p>
            <a:pPr marL="0" indent="0">
              <a:lnSpc>
                <a:spcPct val="106000"/>
              </a:lnSpc>
              <a:buNone/>
            </a:pPr>
            <a:r>
              <a:rPr lang="en-US" sz="1300" i="1" dirty="0">
                <a:solidFill>
                  <a:srgbClr val="6E6E80"/>
                </a:solidFill>
                <a:latin typeface="Calibri" pitchFamily="34" charset="0"/>
                <a:ea typeface="Calibri" pitchFamily="34" charset="-122"/>
                <a:cs typeface="Calibri" pitchFamily="34" charset="-120"/>
              </a:rPr>
              <a:t>Lecture notes with the fullest treatment of the KL derivations, marginal inference, sequential schemes and coverage diagnostics.</a:t>
            </a:r>
            <a:endParaRPr lang="en-US" sz="1300" dirty="0"/>
          </a:p>
        </p:txBody>
      </p:sp>
      <p:sp>
        <p:nvSpPr>
          <p:cNvPr id="16" name="Shape 14"/>
          <p:cNvSpPr/>
          <p:nvPr/>
        </p:nvSpPr>
        <p:spPr>
          <a:xfrm>
            <a:off x="566928" y="4882896"/>
            <a:ext cx="11057839" cy="1060704"/>
          </a:xfrm>
          <a:prstGeom prst="roundRect">
            <a:avLst>
              <a:gd name="adj" fmla="val 5172"/>
            </a:avLst>
          </a:prstGeom>
          <a:solidFill>
            <a:srgbClr val="FFFFFF"/>
          </a:solidFill>
          <a:ln/>
        </p:spPr>
        <p:txBody>
          <a:bodyPr/>
          <a:lstStyle/>
          <a:p>
            <a:endParaRPr lang="en-US"/>
          </a:p>
        </p:txBody>
      </p:sp>
      <p:sp>
        <p:nvSpPr>
          <p:cNvPr id="17" name="Text 15"/>
          <p:cNvSpPr/>
          <p:nvPr/>
        </p:nvSpPr>
        <p:spPr>
          <a:xfrm>
            <a:off x="804672" y="4956048"/>
            <a:ext cx="5394960" cy="292608"/>
          </a:xfrm>
          <a:prstGeom prst="rect">
            <a:avLst/>
          </a:prstGeom>
          <a:noFill/>
          <a:ln/>
        </p:spPr>
        <p:txBody>
          <a:bodyPr wrap="square" lIns="0" tIns="0" rIns="0" bIns="0" rtlCol="0" anchor="ctr"/>
          <a:lstStyle/>
          <a:p>
            <a:pPr marL="0" indent="0">
              <a:buNone/>
            </a:pPr>
            <a:r>
              <a:rPr lang="en-US" sz="1450" b="1" dirty="0">
                <a:solidFill>
                  <a:srgbClr val="3E3379"/>
                </a:solidFill>
                <a:latin typeface="Calibri" pitchFamily="34" charset="0"/>
                <a:ea typeface="Calibri" pitchFamily="34" charset="-122"/>
                <a:cs typeface="Calibri" pitchFamily="34" charset="-120"/>
              </a:rPr>
              <a:t>J. Arruda / BayesFlow developers</a:t>
            </a:r>
            <a:endParaRPr lang="en-US" sz="1450" dirty="0"/>
          </a:p>
        </p:txBody>
      </p:sp>
      <p:sp>
        <p:nvSpPr>
          <p:cNvPr id="18" name="Text 16"/>
          <p:cNvSpPr/>
          <p:nvPr/>
        </p:nvSpPr>
        <p:spPr>
          <a:xfrm>
            <a:off x="804672" y="5266944"/>
            <a:ext cx="5577840" cy="566928"/>
          </a:xfrm>
          <a:prstGeom prst="rect">
            <a:avLst/>
          </a:prstGeom>
          <a:noFill/>
          <a:ln/>
        </p:spPr>
        <p:txBody>
          <a:bodyPr wrap="square" lIns="0" tIns="0" rIns="0" bIns="0" rtlCol="0" anchor="t"/>
          <a:lstStyle/>
          <a:p>
            <a:pPr marL="0" indent="0">
              <a:lnSpc>
                <a:spcPct val="106000"/>
              </a:lnSpc>
              <a:buNone/>
            </a:pPr>
            <a:r>
              <a:rPr lang="en-US" sz="1350" dirty="0">
                <a:solidFill>
                  <a:srgbClr val="1C1B29"/>
                </a:solidFill>
                <a:latin typeface="Calibri" pitchFamily="34" charset="0"/>
                <a:ea typeface="Calibri" pitchFamily="34" charset="-122"/>
                <a:cs typeface="Calibri" pitchFamily="34" charset="-120"/>
              </a:rPr>
              <a:t>From ABC to BayesFlow.  BayesFlow documentation, example 6</a:t>
            </a:r>
            <a:endParaRPr lang="en-US" sz="1350" dirty="0"/>
          </a:p>
        </p:txBody>
      </p:sp>
      <p:sp>
        <p:nvSpPr>
          <p:cNvPr id="19" name="Text 17"/>
          <p:cNvSpPr/>
          <p:nvPr/>
        </p:nvSpPr>
        <p:spPr>
          <a:xfrm>
            <a:off x="6556248" y="5010912"/>
            <a:ext cx="4794199" cy="841248"/>
          </a:xfrm>
          <a:prstGeom prst="rect">
            <a:avLst/>
          </a:prstGeom>
          <a:noFill/>
          <a:ln/>
        </p:spPr>
        <p:txBody>
          <a:bodyPr wrap="square" lIns="0" tIns="0" rIns="0" bIns="0" rtlCol="0" anchor="t"/>
          <a:lstStyle/>
          <a:p>
            <a:pPr marL="0" indent="0">
              <a:lnSpc>
                <a:spcPct val="106000"/>
              </a:lnSpc>
              <a:buNone/>
            </a:pPr>
            <a:r>
              <a:rPr lang="en-US" sz="1300" i="1" dirty="0">
                <a:solidFill>
                  <a:srgbClr val="6E6E80"/>
                </a:solidFill>
                <a:latin typeface="Calibri" pitchFamily="34" charset="0"/>
                <a:ea typeface="Calibri" pitchFamily="34" charset="-122"/>
                <a:cs typeface="Calibri" pitchFamily="34" charset="-120"/>
              </a:rPr>
              <a:t>A worked notebook taking one problem from ABC to amortised neural inference; the simulation-count comparison on slide 15 comes from here.</a:t>
            </a:r>
            <a:endParaRPr lang="en-US" sz="1300" dirty="0"/>
          </a:p>
        </p:txBody>
      </p:sp>
      <p:sp>
        <p:nvSpPr>
          <p:cNvPr id="20" name="Text 18"/>
          <p:cNvSpPr/>
          <p:nvPr/>
        </p:nvSpPr>
        <p:spPr>
          <a:xfrm>
            <a:off x="566928" y="5797296"/>
            <a:ext cx="11057839" cy="548640"/>
          </a:xfrm>
          <a:prstGeom prst="rect">
            <a:avLst/>
          </a:prstGeom>
          <a:noFill/>
          <a:ln/>
        </p:spPr>
        <p:txBody>
          <a:bodyPr wrap="square" lIns="0" tIns="0" rIns="0" bIns="0" rtlCol="0" anchor="t"/>
          <a:lstStyle/>
          <a:p>
            <a:pPr marL="0" indent="0">
              <a:lnSpc>
                <a:spcPct val="106000"/>
              </a:lnSpc>
              <a:buNone/>
            </a:pPr>
            <a:r>
              <a:rPr lang="en-US" sz="1350" dirty="0">
                <a:solidFill>
                  <a:srgbClr val="6E6E80"/>
                </a:solidFill>
                <a:latin typeface="Calibri" pitchFamily="34" charset="0"/>
                <a:ea typeface="Calibri" pitchFamily="34" charset="-122"/>
                <a:cs typeface="Calibri" pitchFamily="34" charset="-120"/>
              </a:rPr>
              <a:t>Also cited: Talts et al. (2018) for simulation-based calibration; Hermans et al. (2022) for expected coverage; Lemos et al. (2023) for TARP. Software: sbi, BayesFlow, swyft, lampe, pydelfi, LtU-ILI.</a:t>
            </a:r>
            <a:endParaRPr lang="en-US" sz="1350" dirty="0"/>
          </a:p>
        </p:txBody>
      </p:sp>
      <p:sp>
        <p:nvSpPr>
          <p:cNvPr id="21" name="Text 19"/>
          <p:cNvSpPr/>
          <p:nvPr/>
        </p:nvSpPr>
        <p:spPr>
          <a:xfrm>
            <a:off x="566928" y="6473952"/>
            <a:ext cx="7772400" cy="219456"/>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Simulation-Based Inference  ·  Part V — Practice</a:t>
            </a:r>
            <a:endParaRPr lang="en-US" sz="950" dirty="0"/>
          </a:p>
        </p:txBody>
      </p:sp>
      <p:sp>
        <p:nvSpPr>
          <p:cNvPr id="22" name="Text 20"/>
          <p:cNvSpPr/>
          <p:nvPr/>
        </p:nvSpPr>
        <p:spPr>
          <a:xfrm>
            <a:off x="10710367" y="6473952"/>
            <a:ext cx="914400" cy="219456"/>
          </a:xfrm>
          <a:prstGeom prst="rect">
            <a:avLst/>
          </a:prstGeom>
          <a:noFill/>
          <a:ln/>
        </p:spPr>
        <p:txBody>
          <a:bodyPr wrap="square" lIns="0" tIns="0" rIns="0" bIns="0" rtlCol="0" anchor="ctr"/>
          <a:lstStyle/>
          <a:p>
            <a:pPr marL="0" indent="0" algn="r">
              <a:buNone/>
            </a:pPr>
            <a:r>
              <a:rPr lang="en-US" sz="950" dirty="0">
                <a:solidFill>
                  <a:srgbClr val="6E6E80"/>
                </a:solidFill>
                <a:latin typeface="Calibri" pitchFamily="34" charset="0"/>
                <a:ea typeface="Calibri" pitchFamily="34" charset="-122"/>
                <a:cs typeface="Calibri" pitchFamily="34" charset="-120"/>
              </a:rPr>
              <a:t>41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553</TotalTime>
  <Words>6659</Words>
  <Application>Microsoft Macintosh PowerPoint</Application>
  <PresentationFormat>Widescreen</PresentationFormat>
  <Paragraphs>708</Paragraphs>
  <Slides>41</Slides>
  <Notes>41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Simulation-Based Inference</dc:title>
  <dc:subject>PptxGenJS Presentation</dc:subject>
  <dc:creator>ICTS 2026 lecture</dc:creator>
  <cp:lastModifiedBy>Pandey, Shivam - (shivampcosmo)</cp:lastModifiedBy>
  <cp:revision>3</cp:revision>
  <dcterms:created xsi:type="dcterms:W3CDTF">2026-07-29T18:51:22Z</dcterms:created>
  <dcterms:modified xsi:type="dcterms:W3CDTF">2026-07-30T04:06:46Z</dcterms:modified>
</cp:coreProperties>
</file>