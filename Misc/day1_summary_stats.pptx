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068"/>
  </p:normalViewPr>
  <p:slideViewPr>
    <p:cSldViewPr snapToGrid="0">
      <p:cViewPr varScale="1">
        <p:scale>
          <a:sx n="100" d="100"/>
          <a:sy n="100" d="100"/>
        </p:scale>
        <p:origin x="1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phase-coupled field</c:v>
          </c:tx>
          <c:spPr>
            <a:solidFill>
              <a:srgbClr val="2D526F"/>
            </a:solidFill>
          </c:spPr>
          <c:invertIfNegative val="1"/>
          <c:cat>
            <c:strLit>
              <c:ptCount val="5"/>
              <c:pt idx="0">
                <c:v>(1,1,2)</c:v>
              </c:pt>
              <c:pt idx="1">
                <c:v>(1,2,3)</c:v>
              </c:pt>
              <c:pt idx="2">
                <c:v>(2,2,3)</c:v>
              </c:pt>
              <c:pt idx="3">
                <c:v>(2,3,4)</c:v>
              </c:pt>
              <c:pt idx="4">
                <c:v>(3,3,4)</c:v>
              </c:pt>
            </c:strLit>
          </c:cat>
          <c:val>
            <c:numLit>
              <c:formatCode>General</c:formatCode>
              <c:ptCount val="5"/>
              <c:pt idx="0">
                <c:v>44.38</c:v>
              </c:pt>
              <c:pt idx="1">
                <c:v>31.62</c:v>
              </c:pt>
              <c:pt idx="2">
                <c:v>21.75</c:v>
              </c:pt>
              <c:pt idx="3">
                <c:v>15.14</c:v>
              </c:pt>
              <c:pt idx="4">
                <c:v>11.28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886-364F-BC03-92B4ED2041B3}"/>
            </c:ext>
          </c:extLst>
        </c:ser>
        <c:ser>
          <c:idx val="1"/>
          <c:order val="1"/>
          <c:tx>
            <c:v>phase-scrambled field</c:v>
          </c:tx>
          <c:spPr>
            <a:solidFill>
              <a:srgbClr val="D57A56"/>
            </a:solidFill>
          </c:spPr>
          <c:invertIfNegative val="0"/>
          <c:cat>
            <c:strLit>
              <c:ptCount val="5"/>
              <c:pt idx="0">
                <c:v>(1,1,2)</c:v>
              </c:pt>
              <c:pt idx="1">
                <c:v>(1,2,3)</c:v>
              </c:pt>
              <c:pt idx="2">
                <c:v>(2,2,3)</c:v>
              </c:pt>
              <c:pt idx="3">
                <c:v>(2,3,4)</c:v>
              </c:pt>
              <c:pt idx="4">
                <c:v>(3,3,4)</c:v>
              </c:pt>
            </c:strLit>
          </c:cat>
          <c:val>
            <c:numLit>
              <c:formatCode>General</c:formatCode>
              <c:ptCount val="5"/>
              <c:pt idx="0">
                <c:v>-6.88</c:v>
              </c:pt>
              <c:pt idx="1">
                <c:v>2.17</c:v>
              </c:pt>
              <c:pt idx="2">
                <c:v>-4.72</c:v>
              </c:pt>
              <c:pt idx="3">
                <c:v>1.63</c:v>
              </c:pt>
              <c:pt idx="4">
                <c:v>-2.85</c:v>
              </c:pt>
            </c:numLit>
          </c:val>
          <c:extLst>
            <c:ext xmlns:c16="http://schemas.microsoft.com/office/drawing/2014/chart" uri="{C3380CC4-5D6E-409C-BE32-E72D297353CC}">
              <c16:uniqueId val="{00000001-0886-364F-BC03-92B4ED2041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4288">
            <a:solidFill>
              <a:srgbClr val="20222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4CEC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14288">
            <a:solidFill>
              <a:srgbClr val="20222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4F0E8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202224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4F0E8"/>
    </a:solidFill>
    <a:ln w="0">
      <a:solidFill>
        <a:srgbClr val="F4F0E8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 of 35: Day 1: from fields to information</a:t>
            </a:r>
          </a:p>
          <a:p>
            <a:endParaRPr/>
          </a:p>
          <a:p>
            <a:r>
              <a:t>Start with the scientific object, not with a list of methods. The central question is what information in a field matters for an inference target.</a:t>
            </a:r>
          </a:p>
          <a:p>
            <a:r>
              <a:t>Tell students that today they will calculate summaries, audit what each one keeps, and connect classical, learned, and field-level approaches.</a:t>
            </a:r>
          </a:p>
          <a:p>
            <a:r>
              <a:t>The visual is an analytic fixture generated from the Day 1 course notebooks; it is not observational data.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fixture: day1/outputs/00_opening_mystery.png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 of 35: Two fields. Same power spectrum. Same cosmology?</a:t>
            </a:r>
          </a:p>
          <a:p>
            <a:endParaRPr/>
          </a:p>
          <a:p>
            <a:r>
              <a:t>Run this as a true blind vote. Do not reveal how the pair was made.</a:t>
            </a:r>
          </a:p>
          <a:p>
            <a:r>
              <a:t>Ask for a reason, not only an answer: which visible structures might affect a parameter posterior, and which might be irrelevant nuisance detail?</a:t>
            </a:r>
          </a:p>
          <a:p>
            <a:r>
              <a:t>The pair has matched Fourier amplitudes and different phase organization. The power-spectrum equality is revealed later.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fixture: day1/outputs/00_opening_mystery.png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of 35: A forward model predicts an ensemble, not one map</a:t>
            </a:r>
          </a:p>
          <a:p>
            <a:endParaRPr/>
          </a:p>
          <a:p>
            <a:r>
              <a:t>Even at fixed cosmological parameters, initial phases, galaxy formation, selection, and measurement noise generate a distribution of possible data.</a:t>
            </a:r>
          </a:p>
          <a:p>
            <a:r>
              <a:t>The simulator therefore defines p(x|theta), not a single correct realization.</a:t>
            </a:r>
          </a:p>
          <a:p>
            <a:r>
              <a:t>Keep aleatoric variation separate from solver or surrogate error; they require different validation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4 of 35: One field contains structure across cosmic time and scale</a:t>
            </a:r>
          </a:p>
          <a:p>
            <a:endParaRPr dirty="0"/>
          </a:p>
          <a:p>
            <a:r>
              <a:rPr dirty="0"/>
              <a:t>Let the GIF play once without narration. It is a concrete reminder that a field carries coherent structure across both time and scale.</a:t>
            </a:r>
          </a:p>
          <a:p>
            <a:r>
              <a:rPr dirty="0"/>
              <a:t>The high-resolution MP4 is packaged beside the deck for reliable local playback. The GIF remains embedded in the PPTX.</a:t>
            </a:r>
          </a:p>
          <a:p>
            <a:r>
              <a:rPr dirty="0"/>
              <a:t>Use the prompt to make compression feel like a scientific design choice rather than an implementation afterthought.</a:t>
            </a:r>
          </a:p>
          <a:p>
            <a:endParaRPr dirty="0"/>
          </a:p>
          <a:p>
            <a:r>
              <a:rPr dirty="0"/>
              <a:t>Sources and provenance:</a:t>
            </a:r>
          </a:p>
          <a:p>
            <a:r>
              <a:rPr dirty="0"/>
              <a:t>NASA Scientific Visualization Studio: https://</a:t>
            </a:r>
            <a:r>
              <a:rPr dirty="0" err="1"/>
              <a:t>svs.gsfc.nasa.gov</a:t>
            </a:r>
            <a:r>
              <a:rPr dirty="0"/>
              <a:t>/14297/</a:t>
            </a:r>
          </a:p>
          <a:p>
            <a:r>
              <a:rPr dirty="0"/>
              <a:t>Credit: NASA's Goddard Space Flight Center / A. Yung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 of 35: The forward chain changes mathematical objects</a:t>
            </a:r>
          </a:p>
          <a:p>
            <a:endParaRPr/>
          </a:p>
          <a:p>
            <a:r>
              <a:t>Name the object contract at every arrow: domain, units, boundary conditions, stochastic variables, selection, and noise.</a:t>
            </a:r>
          </a:p>
          <a:p>
            <a:r>
              <a:t>A catalog is a marked point process; its row ordering is not physical. A map has a pixel response and a mask. A summary has an explicitly chosen invariance.</a:t>
            </a:r>
          </a:p>
          <a:p>
            <a:r>
              <a:t>These contracts make later statistics reproducible and prevent silent mismatches between simulator and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 of 35: Why compress? The arithmetic becomes unforgiving</a:t>
            </a:r>
          </a:p>
          <a:p>
            <a:endParaRPr/>
          </a:p>
          <a:p>
            <a:r>
              <a:t>Separate storage, likelihood, and simulation costs. A modern survey field can be vast even before multiple tracers, redshift bins, and systematics are included.</a:t>
            </a:r>
          </a:p>
          <a:p>
            <a:r>
              <a:t>Sample covariance has rank at most Nsim-1. Stable inversion and parameter-dependent covariance require still more simulation support.</a:t>
            </a:r>
          </a:p>
          <a:p>
            <a:r>
              <a:t>A longer summary is not automatically more informative once covariance noise, density-estimation error, and model mismatch are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 of 35: Data volume is not parameter information</a:t>
            </a:r>
          </a:p>
          <a:p>
            <a:endParaRPr/>
          </a:p>
          <a:p>
            <a:r>
              <a:t>A huge field may contain abundant randomness, foregrounds, nuisance physics, and repeated modes while carrying modest information about a chosen parameter.</a:t>
            </a:r>
          </a:p>
          <a:p>
            <a:r>
              <a:t>A deterministic summary cannot create mutual information about theta. Its goal is to discard detail that is irrelevant or too expensive while retaining the likelihood geometry needed for the task.</a:t>
            </a:r>
          </a:p>
          <a:p>
            <a:r>
              <a:t>In finite-compute practice, a smaller summary can improve posterior calibration even though ideal information cannot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 of 35: Sufficiency is always relative to a model and a question</a:t>
            </a:r>
          </a:p>
          <a:p>
            <a:endParaRPr/>
          </a:p>
          <a:p>
            <a:r>
              <a:t>Use the Neyman-Fisher factorization theorem as the precise meaning of a sufficient statistic for a dominated likelihood family.</a:t>
            </a:r>
          </a:p>
          <a:p>
            <a:r>
              <a:t>The statement is conditional on the full model. Adding survey masks, non-Gaussian noise, baryons, or new parameters can invalidate a previously sufficient compression.</a:t>
            </a:r>
          </a:p>
          <a:p>
            <a:r>
              <a:t>In cosmology we often seek approximately sufficient, locally optimal, or decision-optimal summaries rather than a global finite-dimensional sufficient statistic.</a:t>
            </a:r>
          </a:p>
          <a:p>
            <a:endParaRPr/>
          </a:p>
          <a:p>
            <a:r>
              <a:t>Sources and provenance:</a:t>
            </a:r>
          </a:p>
          <a:p>
            <a:r>
              <a:t>Generalized score compression: https://arxiv.org/abs/1712.00012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 of 35: Power is exact only inside a special Gaussian idealization</a:t>
            </a:r>
          </a:p>
          <a:p>
            <a:endParaRPr/>
          </a:p>
          <a:p>
            <a:r>
              <a:t>Be precise: the full covariance is sufficient for a zero-mean Gaussian field. Replacing it by an isotropic P(k) additionally uses homogeneity and isotropy and assumes the observation operator is handled.</a:t>
            </a:r>
          </a:p>
          <a:p>
            <a:r>
              <a:t>Finite windows mix modes; anisotropic physics or redshift-space distortions can make angular information important; non-Gaussian evolution creates connected higher-order correlations.</a:t>
            </a:r>
          </a:p>
          <a:p>
            <a:r>
              <a:t>Power is indispensable, but its sufficiency is a likelihood statement—not a universal property of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 of 35: Gravity moves information into phase correlations</a:t>
            </a:r>
          </a:p>
          <a:p>
            <a:endParaRPr/>
          </a:p>
          <a:p>
            <a:r>
              <a:t>Reveal that the fields were made with the same Fourier amplitudes and different phase organization.</a:t>
            </a:r>
          </a:p>
          <a:p>
            <a:r>
              <a:t>Nonlinear gravity couples modes, so phase correlations encode morphology and higher-order dependence that is absent from the power spectrum.</a:t>
            </a:r>
          </a:p>
          <a:p>
            <a:r>
              <a:t>Do not claim that every phase difference is cosmologically informative. The point is that power cannot decide; task-specific validation must.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fixture: day1/outputs/02_same_power_mystery.png</a:t>
            </a:r>
          </a:p>
          <a:p>
            <a:r>
              <a:t>Nonlinear power-spectrum information saturation: https://arxiv.org/abs/astro-ph/0502081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 of 35: Model error is dangerous when it mimics a parameter shift</a:t>
            </a:r>
          </a:p>
          <a:p>
            <a:endParaRPr/>
          </a:p>
          <a:p>
            <a:r>
              <a:t>Parameter bias depends on the covariance-weighted projection of model error onto parameter-response directions.</a:t>
            </a:r>
          </a:p>
          <a:p>
            <a:r>
              <a:t>This is why matched-phase field comparison, summary residuals, coverage, and posterior predictive checks complement visual inspection.</a:t>
            </a:r>
          </a:p>
          <a:p>
            <a:r>
              <a:t>The displayed linearized bias expression is schematic; nuisance parameters and nonlinearity modify the exact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 of 35: There is no universal compressor</a:t>
            </a:r>
          </a:p>
          <a:p>
            <a:endParaRPr/>
          </a:p>
          <a:p>
            <a:r>
              <a:t>Use this as the handoff to Lecture 2. The branches are not a quality ranking; they encode different inductive biases and computational contracts.</a:t>
            </a:r>
          </a:p>
          <a:p>
            <a:r>
              <a:t>Field-level inference still performs internal representation learning or marginalization. It avoids a fixed handcrafted summary, not compression in the broad information-processing sense.</a:t>
            </a:r>
          </a:p>
          <a:p>
            <a:r>
              <a:t>The common validation target is held-out posterior performance under realistic observation and nuisance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 of 35: Lecture 2: how we calculate—and what survives</a:t>
            </a:r>
          </a:p>
          <a:p>
            <a:endParaRPr/>
          </a:p>
          <a:p>
            <a:r>
              <a:t>Reset the room: the goal is now operational. Students should be able to write each estimator, state its normalization, and identify its invariances.</a:t>
            </a:r>
          </a:p>
          <a:p>
            <a:r>
              <a:t>Keep connecting code operations to scientific claims. An FFT convention, shell average, mask correction, or modulus is never merely a software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 of 35: An FFT becomes a physical statistic only after four choices</a:t>
            </a:r>
          </a:p>
          <a:p>
            <a:endParaRPr/>
          </a:p>
          <a:p>
            <a:r>
              <a:t>Write the continuous and discrete conventions together. If delta is dimensionless, the Fourier transform carries volume and P(k) carries volume.</a:t>
            </a:r>
          </a:p>
          <a:p>
            <a:r>
              <a:t>Make the zero-mode convention explicit: a mean-subtracted overdensity has delta-tilde(0)=0 up to numerical precision.</a:t>
            </a:r>
          </a:p>
          <a:p>
            <a:r>
              <a:t>State the supported k range before plotting. The grid Nyquist is a sampling ceiling, not evidence that every bin below it 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15 of 35: The isotropic power estimator is a sequence of reductions</a:t>
            </a:r>
          </a:p>
          <a:p>
            <a:endParaRPr/>
          </a:p>
          <a:p>
            <a:r>
              <a:t>Walk through the estimator as executable pseudocode. The shell average is a weighted reduction over supported Fourier cells, not a plotting operation.</a:t>
            </a:r>
          </a:p>
          <a:p>
            <a:r>
              <a:t>Weights must account for the chosen real-to-complex FFT storage and any analysis weighting. Always return the number of represented modes.</a:t>
            </a:r>
          </a:p>
          <a:p>
            <a:r>
              <a:t>For a survey, window convolution and shot/noise terms enter the model; a periodic-box estimator is not automatically an observational estimator.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 of 35: A real field stores only half of Fourier space</a:t>
            </a:r>
          </a:p>
          <a:p>
            <a:endParaRPr/>
          </a:p>
          <a:p>
            <a:r>
              <a:t>For a real-valued field, Fourier coefficients obey Hermitian symmetry. Real-to-complex storage omits redundant conjugate modes.</a:t>
            </a:r>
          </a:p>
          <a:p>
            <a:r>
              <a:t>Along the truncated FFT axis, an interior stored mode represents the omitted negative-axis partner and gets multiplicity two. The zero plane, and the Nyquist plane for an even grid, get multiplicity one because both in-plane conjugate partners remain stored.</a:t>
            </a:r>
          </a:p>
          <a:p>
            <a:r>
              <a:t>Do not call an entire boundary plane self-conjugate: only special grid points whose coordinates are all zero or Nyquist are individually self-conjugate.</a:t>
            </a:r>
          </a:p>
          <a:p>
            <a:r>
              <a:t>Use a Parseval identity and direct comparison with a full complex FFT as implementation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 of 35: Limiting cases make the estimator earn your trust</a:t>
            </a:r>
          </a:p>
          <a:p>
            <a:endParaRPr/>
          </a:p>
          <a:p>
            <a:r>
              <a:t>Use four oracles: constant field after mean subtraction, a single sinusoid, white noise, and a known target spectrum.</a:t>
            </a:r>
          </a:p>
          <a:p>
            <a:r>
              <a:t>The sinusoid tests k-grid placement and normalization. White noise tests flatness. Parseval tests total variance. A target spectrum tests the full generator-estimator loop.</a:t>
            </a:r>
          </a:p>
          <a:p>
            <a:r>
              <a:t>These are analytic fixtures generated for teaching; do not label them as survey measurements.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fixture: day1/outputs/01_power_validation.png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 of 35: Finite volume gives every spectrum an uncertainty floor</a:t>
            </a:r>
          </a:p>
          <a:p>
            <a:endParaRPr/>
          </a:p>
          <a:p>
            <a:r>
              <a:t>Derive the approximate Gaussian variance from independent mode powers. Emphasize the assumptions: narrow bins, weak window coupling, and Gaussian statistics.</a:t>
            </a:r>
          </a:p>
          <a:p>
            <a:r>
              <a:t>At nonlinear scales the connected four-point function adds covariance and bin-to-bin correlation.</a:t>
            </a:r>
          </a:p>
          <a:p>
            <a:r>
              <a:t>Finite volume is not a bug in the estimator. It is uncertainty in the particular realization and must be propagated.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fixture: day1/outputs/01_variance_window_cross.png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19 of 35: Window response and mode fidelity are separate tests</a:t>
            </a:r>
          </a:p>
          <a:p>
            <a:endParaRPr/>
          </a:p>
          <a:p>
            <a:r>
              <a:t>A mass-assignment or instrument window suppresses and mixes modes. Deconvolution is safe only where the response is controlled and nonzero.</a:t>
            </a:r>
          </a:p>
          <a:p>
            <a:r>
              <a:t>Transfer T measures amplitude agreement. Cross-correlation r measures coherent agreement of a paired realization. They answer different questions.</a:t>
            </a:r>
          </a:p>
          <a:p>
            <a:r>
              <a:t>Be careful: r=1 is stronger than merely similar phases; under the bin weights it corresponds to positively proportional mode collections. Compare auto- and cross-spectra with identical support and normalization.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fixture: day1/outputs/01_variance_window_cross.png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 of 35: Different statistics ask different questions of the field</a:t>
            </a:r>
          </a:p>
          <a:p>
            <a:endParaRPr/>
          </a:p>
          <a:p>
            <a:r>
              <a:t>Use the table as an audit template: calculation, retained structure, discarded structure, and expected nuisance sensitivity.</a:t>
            </a:r>
          </a:p>
          <a:p>
            <a:r>
              <a:t>A summary family can be expanded: anisotropic power, marked statistics, Minkowski functionals, persistent homology, phase harmonics, and learned summaries all make different compromises.</a:t>
            </a:r>
          </a:p>
          <a:p>
            <a:r>
              <a:t>Avoid a one-dimensional ladder from simple to advanced. Finite-simulation performance and robustness can reverse the apparent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21 of 35: The bispectrum measures closed-triangle phase coupling</a:t>
            </a:r>
          </a:p>
          <a:p>
            <a:endParaRPr/>
          </a:p>
          <a:p>
            <a:r>
              <a:t>Translation invariance imposes triangle closure: only mode triplets summing to zero contribute to the ensemble bispectrum.</a:t>
            </a:r>
          </a:p>
          <a:p>
            <a:r>
              <a:t>The practical filtered-field estimator is: isolate three shells, inverse transform, multiply the real-space filtered fields, average, and apply the declared normalization.</a:t>
            </a:r>
          </a:p>
          <a:p>
            <a:r>
              <a:t>The notebook's plotted quantity is a normalized selected-shell response, not a literal exhaustive bispectrum measurement. Say this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22 of 35: Selected triangles distinguish the same-power pair</a:t>
            </a:r>
          </a:p>
          <a:p>
            <a:endParaRPr/>
          </a:p>
          <a:p>
            <a:r>
              <a:t>The bars reproduce the selected-shell normalized response used in the Day 1 teaching material.</a:t>
            </a:r>
          </a:p>
          <a:p>
            <a:r>
              <a:t>Use them to demonstrate the job of a higher-order statistic, not to claim a calibrated cosmological result.</a:t>
            </a:r>
          </a:p>
          <a:p>
            <a:r>
              <a:t>Configuration choice is itself compression. The estimator can be sensitive to normalization, bin width, masks, and shot/noise corrections.</a:t>
            </a:r>
          </a:p>
          <a:p>
            <a:endParaRPr/>
          </a:p>
          <a:p>
            <a:r>
              <a:t>Sources and provenance:</a:t>
            </a:r>
          </a:p>
          <a:p>
            <a:r>
              <a:t>Local analytic fixture values from the Day 1 field-statistics notebook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23 of 35: A wavelet is a localized Fourier band</a:t>
            </a:r>
          </a:p>
          <a:p>
            <a:endParaRPr/>
          </a:p>
          <a:p>
            <a:r>
              <a:t>The sketch is a real cosine-Gaussian wavelet, so its Fourier magnitude has equal bands around plus and minus k0. A complex Morlet wavelet can emphasize one lobe, with the opposite direction supplied by its conjugate partner.</a:t>
            </a:r>
          </a:p>
          <a:p>
            <a:r>
              <a:t>A wavelet is localized in position and concentrated in a Fourier band. The uncertainty principle prevents exact localization in both domains.</a:t>
            </a:r>
          </a:p>
          <a:p>
            <a:r>
              <a:t>The convolution coefficient W_lambda(x) is complex for a complex Morlet wavelet and retains spatial location before any averaging.</a:t>
            </a:r>
          </a:p>
          <a:p>
            <a:r>
              <a:t>Use 'central wavenumber k0' for the Fourier center. Calling k0 a scale reverses the physical interpretation; real-space scale is roughly proportional to 1/k0.</a:t>
            </a:r>
          </a:p>
          <a:p>
            <a:endParaRPr/>
          </a:p>
          <a:p>
            <a:r>
              <a:t>Sources and provenance:</a:t>
            </a:r>
          </a:p>
          <a:p>
            <a:r>
              <a:t>Mallat, group-invariant scattering: https://arxiv.org/abs/1101.2286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24 of 35: Scale and direction form a wavelet bank</a:t>
            </a:r>
          </a:p>
          <a:p>
            <a:endParaRPr/>
          </a:p>
          <a:p>
            <a:r>
              <a:t>The Kymatio gallery shown here displays spatial-domain real parts obtained from directional filters; it is not a plot of Fourier-plane tiling.</a:t>
            </a:r>
          </a:p>
          <a:p>
            <a:r>
              <a:t>In Fourier space, the bank covers bands with dilated and rotated copies of a mother wavelet plus a low-pass filter.</a:t>
            </a:r>
          </a:p>
          <a:p>
            <a:r>
              <a:t>Index j controls the radial frequency band. Index alpha controls the direction of the central Fourier wavevector.</a:t>
            </a:r>
          </a:p>
          <a:p>
            <a:r>
              <a:t>Coverage, overlap, angular resolution L, and maximum scale J determine both the represented morphology and the coefficient count.</a:t>
            </a:r>
          </a:p>
          <a:p>
            <a:endParaRPr/>
          </a:p>
          <a:p>
            <a:r>
              <a:t>Sources and provenance:</a:t>
            </a:r>
          </a:p>
          <a:p>
            <a:r>
              <a:t>Kymatio 2D filter visualization: https://www.kymat.io/gallery_2d/plot_filters.html</a:t>
            </a:r>
          </a:p>
          <a:p>
            <a:r>
              <a:t>Kymatio license: BSD-3-Clause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25 of 35: The direction label belongs to a wavevector</a:t>
            </a:r>
          </a:p>
          <a:p>
            <a:endParaRPr/>
          </a:p>
          <a:p>
            <a:r>
              <a:t>For a complex Morlet filter, alpha labels the central Fourier wavevector, not necessarily the visible ridge direction of a responding filament.</a:t>
            </a:r>
          </a:p>
          <a:p>
            <a:r>
              <a:t>A plane wave varies along k and is constant perpendicular to k. Therefore a filter centered on k_alpha often responds to ridges or filaments perpendicular to that vector.</a:t>
            </a:r>
          </a:p>
          <a:p>
            <a:r>
              <a:t>State the convention used by the software; packages may display filter angle or spatial ridge orientation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26 of 35: Opposite directions are conjugate partners</a:t>
            </a:r>
          </a:p>
          <a:p>
            <a:endParaRPr/>
          </a:p>
          <a:p>
            <a:r>
              <a:t>For a real input and a filter bank with psi_(alpha+pi)=psi_alpha conjugate, opposite-direction coefficients are complex conjugates.</a:t>
            </a:r>
          </a:p>
          <a:p>
            <a:r>
              <a:t>Taking the modulus removes the sign of the wavevector direction, leaving axial orientations on [0,pi). This halves the nonredundant angular domain.</a:t>
            </a:r>
          </a:p>
          <a:p>
            <a:r>
              <a:t>If signed or complex phase-sensitive coefficients are retained, the relation must be handled explicitly rather than assuming orientation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27 of 35: Invariance is made by averaging—and paid for with information</a:t>
            </a:r>
          </a:p>
          <a:p>
            <a:endParaRPr/>
          </a:p>
          <a:p>
            <a:r>
              <a:t>A translated field translates the coefficient maps. Spatial averaging produces translation invariance by discarding absolute location.</a:t>
            </a:r>
          </a:p>
          <a:p>
            <a:r>
              <a:t>A rotation permutes angular channels. Averaging over alpha produces rotation invariance, but also removes anisotropy that may be scientifically important.</a:t>
            </a:r>
          </a:p>
          <a:p>
            <a:r>
              <a:t>For second-order coefficients, rotationally invariant reductions can be expressed through relative angle Delta alpha. Equality of plus and minus Delta alpha additionally needs parity symmetry or explicit averaging.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28 of 35: The notebook computes first-order scattering</a:t>
            </a:r>
          </a:p>
          <a:p>
            <a:endParaRPr/>
          </a:p>
          <a:p>
            <a:r>
              <a:t>The Day 1 notebook computes first-order scattering: filter, complex modulus, then spatial average.</a:t>
            </a:r>
          </a:p>
          <a:p>
            <a:r>
              <a:t>Before the final average, the modulus map remains localized and covariant to translations. After averaging, location is removed.</a:t>
            </a:r>
          </a:p>
          <a:p>
            <a:r>
              <a:t>With J=4 scales and L=8 stored directions, the first-order vector has 32 entries. This count assumes all channels are kept; antipodal or rotational reductions can lower it.</a:t>
            </a:r>
          </a:p>
          <a:p>
            <a:endParaRPr/>
          </a:p>
          <a:p>
            <a:r>
              <a:t>Sources and provenance:</a:t>
            </a:r>
          </a:p>
          <a:p>
            <a:r>
              <a:t>Mallat, group-invariant scattering: https://arxiv.org/abs/1101.2286</a:t>
            </a:r>
          </a:p>
          <a:p>
            <a:r>
              <a:t>Cosmological WST example: https://arxiv.org/abs/2108.07821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29 of 35: Second order measures modulation across scales</a:t>
            </a:r>
          </a:p>
          <a:p>
            <a:endParaRPr/>
          </a:p>
          <a:p>
            <a:r>
              <a:t>The first modulus creates a positive envelope of fine-scale activity. A second wavelet measures how that activity is organized over a coarser scale and direction.</a:t>
            </a:r>
          </a:p>
          <a:p>
            <a:r>
              <a:t>Second-order scattering captures cross-scale modulation and non-Gaussian coupling while remaining more structured and data-efficient than a generic learned representation.</a:t>
            </a:r>
          </a:p>
          <a:p>
            <a:r>
              <a:t>The displayed 384 count uses four scales, eight directions, and ordered scale pairs j2&gt;j1 before antipodal, rotational, parity, or coefficient-selection reductions.</a:t>
            </a:r>
          </a:p>
          <a:p>
            <a:endParaRPr/>
          </a:p>
          <a:p>
            <a:r>
              <a:t>Sources and provenance:</a:t>
            </a:r>
          </a:p>
          <a:p>
            <a:r>
              <a:t>Mallat, group-invariant scattering: https://arxiv.org/abs/1101.2286</a:t>
            </a:r>
          </a:p>
          <a:p>
            <a:r>
              <a:t>Cheng et al., scattering statistics for cosmology: https://arxiv.org/abs/2006.08561</a:t>
            </a:r>
          </a:p>
          <a:p>
            <a:r>
              <a:t>Wavelet phase harmonics: https://arxiv.org/abs/2006.06298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30 of 35: Optimal summaries use the model's parameter directions</a:t>
            </a:r>
          </a:p>
          <a:p>
            <a:endParaRPr/>
          </a:p>
          <a:p>
            <a:r>
              <a:t>PCA preserves variance, not necessarily parameter information. KL methods can become signal-to-noise aware when built from a declared covariance model.</a:t>
            </a:r>
          </a:p>
          <a:p>
            <a:r>
              <a:t>MOPED constructs one covariance-weighted linear compression per parameter for Gaussian data under regularity assumptions. General score compression extends the local-likelihood idea.</a:t>
            </a:r>
          </a:p>
          <a:p>
            <a:r>
              <a:t>The score is locally Fisher-information preserving around the expansion point, not globally sufficient by default. Model error in derivatives or covariance can damage the compression.</a:t>
            </a:r>
          </a:p>
          <a:p>
            <a:endParaRPr/>
          </a:p>
          <a:p>
            <a:r>
              <a:t>Sources and provenance:</a:t>
            </a:r>
          </a:p>
          <a:p>
            <a:r>
              <a:t>MOPED: https://arxiv.org/abs/astro-ph/9911102</a:t>
            </a:r>
          </a:p>
          <a:p>
            <a:r>
              <a:t>Generalized score compression: https://arxiv.org/abs/1712.00012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31 of 35: Learned summaries optimize a declared task</a:t>
            </a:r>
          </a:p>
          <a:p>
            <a:endParaRPr/>
          </a:p>
          <a:p>
            <a:r>
              <a:t>Learned compression is not one method. Architectures and losses can target Fisher information, likelihood ratios, posteriors, reconstruction, or downstream decisions.</a:t>
            </a:r>
          </a:p>
          <a:p>
            <a:r>
              <a:t>An Information Maximizing Neural Network learns summaries from simulations by maximizing a Fisher-information proxy near fiducial points.</a:t>
            </a:r>
          </a:p>
          <a:p>
            <a:r>
              <a:t>Validate simulation coverage, calibration, nuisance robustness, out-of-distribution behavior, and whether the learned representation uses artifacts unavailable in real data.</a:t>
            </a:r>
          </a:p>
          <a:p>
            <a:endParaRPr/>
          </a:p>
          <a:p>
            <a:r>
              <a:t>Sources and provenance:</a:t>
            </a:r>
          </a:p>
          <a:p>
            <a:r>
              <a:t>Information Maximizing Neural Networks: https://arxiv.org/abs/1802.03537</a:t>
            </a:r>
          </a:p>
          <a:p>
            <a:r>
              <a:t>Massive optimal data compression for likelihood-free inference: https://arxiv.org/abs/1801.01497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32 of 35: Field-level inference keeps phases—and moves the hard work</a:t>
            </a:r>
          </a:p>
          <a:p>
            <a:endParaRPr/>
          </a:p>
          <a:p>
            <a:r>
              <a:t>Field-level inference conditions on the observed map while jointly inferring cosmological parameters, latent initial conditions, and nuisance variables through a forward model.</a:t>
            </a:r>
          </a:p>
          <a:p>
            <a:r>
              <a:t>It preserves phase and local structure that fixed low-dimensional summaries may discard, but it shifts complexity into the simulator, observation model, differentiation, and high-dimensional posterior sampling.</a:t>
            </a:r>
          </a:p>
          <a:p>
            <a:r>
              <a:t>The method is not free of compression in a broad sense: the generative model, priors, discretization, and numerical posterior representation still determine what information is accessible.</a:t>
            </a:r>
          </a:p>
          <a:p>
            <a:endParaRPr/>
          </a:p>
          <a:p>
            <a:r>
              <a:t>Sources and provenance:</a:t>
            </a:r>
          </a:p>
          <a:p>
            <a:r>
              <a:t>BORG field-level inference: https://arxiv.org/abs/1203.3639</a:t>
            </a:r>
          </a:p>
          <a:p>
            <a:r>
              <a:t>Recent field-level cosmology review: https://arxiv.org/abs/2509.13435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33 of 35: Choose a compressor by held-out inference performance</a:t>
            </a:r>
          </a:p>
          <a:p>
            <a:endParaRPr/>
          </a:p>
          <a:p>
            <a:r>
              <a:t>This table is a decision aid, not a ranking. Hybrid pipelines are common: physics-informed wavelets plus score compression, or field-level inference with internal learned surrogates.</a:t>
            </a:r>
          </a:p>
          <a:p>
            <a:r>
              <a:t>Use held-out simulations and realistic systematics to assess coverage, bias, posterior volume, robustness, and compute. Compare against a simple baseline.</a:t>
            </a:r>
          </a:p>
          <a:p>
            <a:r>
              <a:t>A larger summary can perform worse when covariance or density estimation is simulation-limited; a sophisticated learned method can fail under domain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34 of 35: A short reading trail</a:t>
            </a:r>
          </a:p>
          <a:p>
            <a:endParaRPr/>
          </a:p>
          <a:p>
            <a:r>
              <a:t>This slide intentionally uses a small set of primary anchors rather than a comprehensive bibliography.</a:t>
            </a:r>
          </a:p>
          <a:p>
            <a:r>
              <a:t>Encourage students to read method papers alongside applications and validation studies. Claimed optimality always inherits assumptions from the likelihood, simulator, and nuisance model.</a:t>
            </a:r>
          </a:p>
          <a:p>
            <a:endParaRPr/>
          </a:p>
          <a:p>
            <a:r>
              <a:t>Sources and provenance:</a:t>
            </a:r>
          </a:p>
          <a:p>
            <a:r>
              <a:t>MOPED: https://arxiv.org/abs/astro-ph/9911102</a:t>
            </a:r>
          </a:p>
          <a:p>
            <a:r>
              <a:t>Score compression: https://arxiv.org/abs/1712.00012</a:t>
            </a:r>
          </a:p>
          <a:p>
            <a:r>
              <a:t>IMNN: https://arxiv.org/abs/1802.03537</a:t>
            </a:r>
          </a:p>
          <a:p>
            <a:r>
              <a:t>Scattering: https://arxiv.org/abs/1101.2286</a:t>
            </a:r>
          </a:p>
          <a:p>
            <a:r>
              <a:t>Cosmological scattering: https://arxiv.org/abs/2006.08561</a:t>
            </a:r>
          </a:p>
          <a:p>
            <a:r>
              <a:t>BORG: https://arxiv.org/abs/1203.3639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35 of 35: What should survive the compression?</a:t>
            </a:r>
          </a:p>
          <a:p>
            <a:endParaRPr/>
          </a:p>
          <a:p>
            <a:r>
              <a:t>Close by asking three students to name one calculation detail, one discarded distinction, and one validation test for a summary discussed today.</a:t>
            </a:r>
          </a:p>
          <a:p>
            <a:r>
              <a:t>The intended takeaway is not that wavelets or field-level inference always win. It is that compression is an explicit scientific contract connecting the field, the model, the computation, and the posterior.</a:t>
            </a:r>
          </a:p>
          <a:p>
            <a:r>
              <a:t>Preview the next day: forward-simulation accuracy must be judged on the scales and summaries that the inference will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203.3639" TargetMode="External"/><Relationship Id="rId3" Type="http://schemas.openxmlformats.org/officeDocument/2006/relationships/hyperlink" Target="https://arxiv.org/abs/astro-ph/9911102" TargetMode="External"/><Relationship Id="rId7" Type="http://schemas.openxmlformats.org/officeDocument/2006/relationships/hyperlink" Target="https://arxiv.org/abs/2006.08561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1101.2286" TargetMode="External"/><Relationship Id="rId5" Type="http://schemas.openxmlformats.org/officeDocument/2006/relationships/hyperlink" Target="https://arxiv.org/abs/1802.03537" TargetMode="External"/><Relationship Id="rId4" Type="http://schemas.openxmlformats.org/officeDocument/2006/relationships/hyperlink" Target="https://arxiv.org/abs/1712.00012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AB2D38-3992-43A6-AFB5-676F5D87CDC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 dirty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ICTS 2026  •  DAY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0BABA4-56C5-4A3F-8BC8-BB9F49EFB434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5905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From fields</a:t>
            </a:r>
          </a:p>
          <a:p>
            <a:pPr algn="l">
              <a:defRPr sz="5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to information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57E614-8E3E-48D2-AFFB-548033FACD48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238250" cy="47625"/>
          </a:xfrm>
          <a:prstGeom prst="rect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B250F6-F517-4035-BCF8-CEBB8518B36C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524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Forward models, field statistics, wavelets and the art of compression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DC811-5F92-4EE2-B811-0287B5293E9E}"/>
              </a:ext>
            </a:extLst>
          </p:cNvPr>
          <p:cNvSpPr>
            <a:spLocks noGrp="1"/>
          </p:cNvSpPr>
          <p:nvPr/>
        </p:nvSpPr>
        <p:spPr>
          <a:xfrm>
            <a:off x="7058025" y="714375"/>
            <a:ext cx="4333875" cy="490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215064"/>
            <a:ext cx="4238625" cy="39039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2B4D4D-D05C-4E3B-8D96-200BF6E74F8A}"/>
              </a:ext>
            </a:extLst>
          </p:cNvPr>
          <p:cNvSpPr>
            <a:spLocks noGrp="1"/>
          </p:cNvSpPr>
          <p:nvPr/>
        </p:nvSpPr>
        <p:spPr>
          <a:xfrm>
            <a:off x="7105650" y="5772150"/>
            <a:ext cx="423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ctr">
              <a:defRPr sz="1575" b="0" i="1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 field is not a picture. It is a probability-bearing data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EE100-3DD6-4810-974C-7E112AEFE1CE}"/>
              </a:ext>
            </a:extLst>
          </p:cNvPr>
          <p:cNvSpPr>
            <a:spLocks noGrp="1"/>
          </p:cNvSpPr>
          <p:nvPr/>
        </p:nvSpPr>
        <p:spPr>
          <a:xfrm>
            <a:off x="11096625" y="63341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120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75402E-9CF1-4AE8-85CF-871115CE16C7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Two fields. Same power spectrum. Same cosmology?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B3D57-42EA-43CC-9417-6EA4E9F92A8D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4382C-8022-4590-84E4-4B8819F9BC6A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600E4A-4060-4C88-A4E3-00CACAA7D599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ABE4A-6F5B-4773-9CFE-9BBB07E3117C}"/>
              </a:ext>
            </a:extLst>
          </p:cNvPr>
          <p:cNvSpPr>
            <a:spLocks noGrp="1"/>
          </p:cNvSpPr>
          <p:nvPr/>
        </p:nvSpPr>
        <p:spPr>
          <a:xfrm>
            <a:off x="638175" y="1171575"/>
            <a:ext cx="4857750" cy="447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521" y="1219200"/>
            <a:ext cx="4757057" cy="4381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36DA16-A431-461B-BA34-DE8D20158485}"/>
              </a:ext>
            </a:extLst>
          </p:cNvPr>
          <p:cNvSpPr>
            <a:spLocks noGrp="1"/>
          </p:cNvSpPr>
          <p:nvPr/>
        </p:nvSpPr>
        <p:spPr>
          <a:xfrm>
            <a:off x="6696075" y="1171575"/>
            <a:ext cx="4857750" cy="447675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46421" y="1219200"/>
            <a:ext cx="4757057" cy="43815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462A1DD-BA35-40E5-A71C-5C6DC3441EB5}"/>
              </a:ext>
            </a:extLst>
          </p:cNvPr>
          <p:cNvSpPr>
            <a:spLocks noGrp="1"/>
          </p:cNvSpPr>
          <p:nvPr/>
        </p:nvSpPr>
        <p:spPr>
          <a:xfrm>
            <a:off x="2400300" y="5676900"/>
            <a:ext cx="1333500" cy="323850"/>
          </a:xfrm>
          <a:prstGeom prst="roundRect">
            <a:avLst>
              <a:gd name="adj" fmla="val 23529"/>
            </a:avLst>
          </a:prstGeom>
          <a:solidFill>
            <a:srgbClr val="DCE6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EA58AF-2E3E-4DDB-ABE3-21F7B25B8840}"/>
              </a:ext>
            </a:extLst>
          </p:cNvPr>
          <p:cNvSpPr>
            <a:spLocks noGrp="1"/>
          </p:cNvSpPr>
          <p:nvPr/>
        </p:nvSpPr>
        <p:spPr>
          <a:xfrm>
            <a:off x="2476500" y="5695950"/>
            <a:ext cx="1181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FIELD 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ABEC07B-A922-4B63-A486-4CC1193F63EB}"/>
              </a:ext>
            </a:extLst>
          </p:cNvPr>
          <p:cNvSpPr>
            <a:spLocks noGrp="1"/>
          </p:cNvSpPr>
          <p:nvPr/>
        </p:nvSpPr>
        <p:spPr>
          <a:xfrm>
            <a:off x="8458200" y="5676900"/>
            <a:ext cx="1333500" cy="323850"/>
          </a:xfrm>
          <a:prstGeom prst="roundRect">
            <a:avLst>
              <a:gd name="adj" fmla="val 23529"/>
            </a:avLst>
          </a:prstGeom>
          <a:solidFill>
            <a:srgbClr val="EED8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FB072E-4D4A-4C09-82AA-31B26DA4E1BA}"/>
              </a:ext>
            </a:extLst>
          </p:cNvPr>
          <p:cNvSpPr>
            <a:spLocks noGrp="1"/>
          </p:cNvSpPr>
          <p:nvPr/>
        </p:nvSpPr>
        <p:spPr>
          <a:xfrm>
            <a:off x="8534400" y="5695950"/>
            <a:ext cx="1181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FIELD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3DC5F-86DC-4CBF-A6F0-A431B6FF7063}"/>
              </a:ext>
            </a:extLst>
          </p:cNvPr>
          <p:cNvSpPr>
            <a:spLocks noGrp="1"/>
          </p:cNvSpPr>
          <p:nvPr/>
        </p:nvSpPr>
        <p:spPr>
          <a:xfrm>
            <a:off x="3048000" y="6076950"/>
            <a:ext cx="609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Blind vote: indistinguishable for Ωm and σ8 — or not?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FCA0BD-7A65-4A02-A98A-29D86ABFBF98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analytic fixture • reveal on slide 10</a:t>
            </a:r>
          </a:p>
        </p:txBody>
      </p:sp>
    </p:spTree>
    <p:extLst>
      <p:ext uri="{BB962C8B-B14F-4D97-AF65-F5344CB8AC3E}">
        <p14:creationId xmlns:p14="http://schemas.microsoft.com/office/powerpoint/2010/main" val="544595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17D241-8CA8-4FF4-88A6-0FC3B63CDACA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forward model predicts an ensemble, not one 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66064-7B14-4BEB-8941-8D5C167D95D4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197BD-131F-4C46-91DA-C5E64688F86F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BBA86-97DC-49E1-872C-CEF675E581CF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AD234-8AED-4B8F-94D7-ADC31EBE2282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809750" cy="1047750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B5614-13EC-43EC-AB3D-8E08363EE64B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581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parameters</a:t>
            </a:r>
          </a:p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01CC8-EFB8-4168-B7BE-41A06AF2F41C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809750" cy="1047750"/>
          </a:xfrm>
          <a:prstGeom prst="rect">
            <a:avLst/>
          </a:prstGeom>
          <a:solidFill>
            <a:srgbClr val="E7DFD1"/>
          </a:solidFill>
          <a:ln w="14288">
            <a:solidFill>
              <a:srgbClr val="666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E4D81B-D99F-493A-B7EF-4FF3BA423566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1581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33" lnSpcReduction="10000"/>
          </a:bodyPr>
          <a:lstStyle/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latent variables</a:t>
            </a:r>
          </a:p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28AD0B-EACA-4FFA-95D7-275069022D29}"/>
              </a:ext>
            </a:extLst>
          </p:cNvPr>
          <p:cNvSpPr>
            <a:spLocks noGrp="1"/>
          </p:cNvSpPr>
          <p:nvPr/>
        </p:nvSpPr>
        <p:spPr>
          <a:xfrm>
            <a:off x="4095750" y="2876550"/>
            <a:ext cx="2476500" cy="1381125"/>
          </a:xfrm>
          <a:prstGeom prst="rect">
            <a:avLst/>
          </a:prstGeom>
          <a:solidFill>
            <a:srgbClr val="FFFFFF"/>
          </a:solidFill>
          <a:ln w="23813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C8CB2F-0DDB-42F0-B79C-7CCB284720EE}"/>
              </a:ext>
            </a:extLst>
          </p:cNvPr>
          <p:cNvSpPr>
            <a:spLocks noGrp="1"/>
          </p:cNvSpPr>
          <p:nvPr/>
        </p:nvSpPr>
        <p:spPr>
          <a:xfrm>
            <a:off x="4210050" y="2971800"/>
            <a:ext cx="22479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forward model</a:t>
            </a:r>
          </a:p>
          <a:p>
            <a:pPr algn="ctr">
              <a:defRPr sz="23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F(θ, z)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E8B33A2-E0C8-4FDE-94D3-8BB5D2709A23}"/>
              </a:ext>
            </a:extLst>
          </p:cNvPr>
          <p:cNvSpPr>
            <a:spLocks noGrp="1"/>
          </p:cNvSpPr>
          <p:nvPr/>
        </p:nvSpPr>
        <p:spPr>
          <a:xfrm>
            <a:off x="2571750" y="2524125"/>
            <a:ext cx="1318591" cy="676877"/>
          </a:xfrm>
          <a:prstGeom prst="line">
            <a:avLst/>
          </a:prstGeom>
          <a:noFill/>
          <a:ln w="38100">
            <a:solidFill>
              <a:srgbClr val="1832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FE46E08A-8BC7-40D0-A829-6E5CD1F239FD}"/>
              </a:ext>
            </a:extLst>
          </p:cNvPr>
          <p:cNvSpPr>
            <a:spLocks noGrp="1"/>
          </p:cNvSpPr>
          <p:nvPr/>
        </p:nvSpPr>
        <p:spPr>
          <a:xfrm rot="7030376">
            <a:off x="3905250" y="3162300"/>
            <a:ext cx="190500" cy="190500"/>
          </a:xfrm>
          <a:prstGeom prst="triangle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5020AD9-D887-4ADF-8E94-AA30D2BAD1A3}"/>
              </a:ext>
            </a:extLst>
          </p:cNvPr>
          <p:cNvSpPr>
            <a:spLocks noGrp="1"/>
          </p:cNvSpPr>
          <p:nvPr/>
        </p:nvSpPr>
        <p:spPr>
          <a:xfrm flipV="1">
            <a:off x="2571750" y="3913001"/>
            <a:ext cx="1317998" cy="658999"/>
          </a:xfrm>
          <a:prstGeom prst="line">
            <a:avLst/>
          </a:prstGeom>
          <a:noFill/>
          <a:ln w="38100">
            <a:solidFill>
              <a:srgbClr val="666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9D90AA3C-EB78-4F2A-AC9E-8F271FD1A2A0}"/>
              </a:ext>
            </a:extLst>
          </p:cNvPr>
          <p:cNvSpPr>
            <a:spLocks noGrp="1"/>
          </p:cNvSpPr>
          <p:nvPr/>
        </p:nvSpPr>
        <p:spPr>
          <a:xfrm rot="3806097">
            <a:off x="3905250" y="3762375"/>
            <a:ext cx="190500" cy="190500"/>
          </a:xfrm>
          <a:prstGeom prst="triangle">
            <a:avLst/>
          </a:prstGeom>
          <a:solidFill>
            <a:srgbClr val="66645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FE2B032-F570-44FE-A965-81F5840AD056}"/>
              </a:ext>
            </a:extLst>
          </p:cNvPr>
          <p:cNvSpPr>
            <a:spLocks noGrp="1"/>
          </p:cNvSpPr>
          <p:nvPr/>
        </p:nvSpPr>
        <p:spPr>
          <a:xfrm>
            <a:off x="6686550" y="3562350"/>
            <a:ext cx="1247775" cy="9525"/>
          </a:xfrm>
          <a:prstGeom prst="line">
            <a:avLst/>
          </a:prstGeom>
          <a:noFill/>
          <a:ln w="4762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D9761D88-5BD2-454B-843F-59F44D50DD31}"/>
              </a:ext>
            </a:extLst>
          </p:cNvPr>
          <p:cNvSpPr>
            <a:spLocks noGrp="1"/>
          </p:cNvSpPr>
          <p:nvPr/>
        </p:nvSpPr>
        <p:spPr>
          <a:xfrm rot="5400000">
            <a:off x="7962900" y="346710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980DB-C4DD-441A-BD80-73D2AFD4431D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2857500" cy="1095375"/>
          </a:xfrm>
          <a:prstGeom prst="rect">
            <a:avLst/>
          </a:prstGeom>
          <a:solidFill>
            <a:srgbClr val="DCE6ED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BF2A36-A93F-4C0E-B6C1-300224F68731}"/>
              </a:ext>
            </a:extLst>
          </p:cNvPr>
          <p:cNvSpPr>
            <a:spLocks noGrp="1"/>
          </p:cNvSpPr>
          <p:nvPr/>
        </p:nvSpPr>
        <p:spPr>
          <a:xfrm>
            <a:off x="8977325" y="1821472"/>
            <a:ext cx="38100" cy="381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19A8075-5386-42A6-B302-DD294985B937}"/>
              </a:ext>
            </a:extLst>
          </p:cNvPr>
          <p:cNvSpPr>
            <a:spLocks noGrp="1"/>
          </p:cNvSpPr>
          <p:nvPr/>
        </p:nvSpPr>
        <p:spPr>
          <a:xfrm>
            <a:off x="8470844" y="2369153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C1A715-903C-442C-BC3C-329FD2A577A6}"/>
              </a:ext>
            </a:extLst>
          </p:cNvPr>
          <p:cNvSpPr>
            <a:spLocks noGrp="1"/>
          </p:cNvSpPr>
          <p:nvPr/>
        </p:nvSpPr>
        <p:spPr>
          <a:xfrm>
            <a:off x="8463707" y="2353318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924C956-E120-401E-A2B9-0526314895F2}"/>
              </a:ext>
            </a:extLst>
          </p:cNvPr>
          <p:cNvSpPr>
            <a:spLocks noGrp="1"/>
          </p:cNvSpPr>
          <p:nvPr/>
        </p:nvSpPr>
        <p:spPr>
          <a:xfrm>
            <a:off x="10096759" y="1769385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4AEC72-F063-443C-BBE6-BEF64F14C9A7}"/>
              </a:ext>
            </a:extLst>
          </p:cNvPr>
          <p:cNvSpPr>
            <a:spLocks noGrp="1"/>
          </p:cNvSpPr>
          <p:nvPr/>
        </p:nvSpPr>
        <p:spPr>
          <a:xfrm>
            <a:off x="9032236" y="2009928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D51042-14BF-4A0C-AA5C-CCD681FBDB81}"/>
              </a:ext>
            </a:extLst>
          </p:cNvPr>
          <p:cNvSpPr>
            <a:spLocks noGrp="1"/>
          </p:cNvSpPr>
          <p:nvPr/>
        </p:nvSpPr>
        <p:spPr>
          <a:xfrm>
            <a:off x="10498239" y="2489258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0D22A82-5D11-4F20-A023-2EE4500AAA95}"/>
              </a:ext>
            </a:extLst>
          </p:cNvPr>
          <p:cNvSpPr>
            <a:spLocks noGrp="1"/>
          </p:cNvSpPr>
          <p:nvPr/>
        </p:nvSpPr>
        <p:spPr>
          <a:xfrm>
            <a:off x="10578437" y="2046132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B672D51-F894-47D1-AB20-7D7574D02852}"/>
              </a:ext>
            </a:extLst>
          </p:cNvPr>
          <p:cNvSpPr>
            <a:spLocks noGrp="1"/>
          </p:cNvSpPr>
          <p:nvPr/>
        </p:nvSpPr>
        <p:spPr>
          <a:xfrm>
            <a:off x="8563621" y="2477416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7819343-A5BF-44E0-A33F-86E1FACA0783}"/>
              </a:ext>
            </a:extLst>
          </p:cNvPr>
          <p:cNvSpPr>
            <a:spLocks noGrp="1"/>
          </p:cNvSpPr>
          <p:nvPr/>
        </p:nvSpPr>
        <p:spPr>
          <a:xfrm>
            <a:off x="9476742" y="2334871"/>
            <a:ext cx="66675" cy="66675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9AF0B48-9379-41F9-A875-A9849F2A98E1}"/>
              </a:ext>
            </a:extLst>
          </p:cNvPr>
          <p:cNvSpPr>
            <a:spLocks noGrp="1"/>
          </p:cNvSpPr>
          <p:nvPr/>
        </p:nvSpPr>
        <p:spPr>
          <a:xfrm>
            <a:off x="9929180" y="1836329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110449-15FE-41F2-98EC-B38AD3AA7E0D}"/>
              </a:ext>
            </a:extLst>
          </p:cNvPr>
          <p:cNvSpPr>
            <a:spLocks noGrp="1"/>
          </p:cNvSpPr>
          <p:nvPr/>
        </p:nvSpPr>
        <p:spPr>
          <a:xfrm>
            <a:off x="10712038" y="2506522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639F72-B23F-476F-A63C-72BE01775D4C}"/>
              </a:ext>
            </a:extLst>
          </p:cNvPr>
          <p:cNvSpPr>
            <a:spLocks noGrp="1"/>
          </p:cNvSpPr>
          <p:nvPr/>
        </p:nvSpPr>
        <p:spPr>
          <a:xfrm>
            <a:off x="8797830" y="2106102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C12A8A4-88F6-4EBE-88D9-D7FC7DAF3537}"/>
              </a:ext>
            </a:extLst>
          </p:cNvPr>
          <p:cNvSpPr>
            <a:spLocks noGrp="1"/>
          </p:cNvSpPr>
          <p:nvPr/>
        </p:nvSpPr>
        <p:spPr>
          <a:xfrm>
            <a:off x="9967476" y="2475798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327B931-6818-4497-84D0-42C50429927A}"/>
              </a:ext>
            </a:extLst>
          </p:cNvPr>
          <p:cNvSpPr>
            <a:spLocks noGrp="1"/>
          </p:cNvSpPr>
          <p:nvPr/>
        </p:nvSpPr>
        <p:spPr>
          <a:xfrm>
            <a:off x="9742182" y="2036687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47FE50-1645-40AC-BFE4-6501691735E6}"/>
              </a:ext>
            </a:extLst>
          </p:cNvPr>
          <p:cNvSpPr>
            <a:spLocks noGrp="1"/>
          </p:cNvSpPr>
          <p:nvPr/>
        </p:nvSpPr>
        <p:spPr>
          <a:xfrm>
            <a:off x="9727122" y="1939496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813B857-D52D-46E7-B3A9-585DF4A01687}"/>
              </a:ext>
            </a:extLst>
          </p:cNvPr>
          <p:cNvSpPr>
            <a:spLocks noGrp="1"/>
          </p:cNvSpPr>
          <p:nvPr/>
        </p:nvSpPr>
        <p:spPr>
          <a:xfrm>
            <a:off x="9746852" y="2385779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AE1454-7FED-417B-9472-80BCA81EC7A6}"/>
              </a:ext>
            </a:extLst>
          </p:cNvPr>
          <p:cNvSpPr>
            <a:spLocks noGrp="1"/>
          </p:cNvSpPr>
          <p:nvPr/>
        </p:nvSpPr>
        <p:spPr>
          <a:xfrm>
            <a:off x="8936509" y="1881199"/>
            <a:ext cx="47625" cy="47625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9DB343-206A-415A-A105-C7674F7565E3}"/>
              </a:ext>
            </a:extLst>
          </p:cNvPr>
          <p:cNvSpPr>
            <a:spLocks noGrp="1"/>
          </p:cNvSpPr>
          <p:nvPr/>
        </p:nvSpPr>
        <p:spPr>
          <a:xfrm>
            <a:off x="9120655" y="1918730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658486C-DCD2-4707-9A7D-D02410D01F3B}"/>
              </a:ext>
            </a:extLst>
          </p:cNvPr>
          <p:cNvSpPr>
            <a:spLocks noGrp="1"/>
          </p:cNvSpPr>
          <p:nvPr/>
        </p:nvSpPr>
        <p:spPr>
          <a:xfrm>
            <a:off x="8753181" y="2236951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7F9BD47-FB06-473C-BA36-6C9E01C787C0}"/>
              </a:ext>
            </a:extLst>
          </p:cNvPr>
          <p:cNvSpPr>
            <a:spLocks noGrp="1"/>
          </p:cNvSpPr>
          <p:nvPr/>
        </p:nvSpPr>
        <p:spPr>
          <a:xfrm>
            <a:off x="10395558" y="1815029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F520F9-7D2B-4531-97C3-57A6E02549CF}"/>
              </a:ext>
            </a:extLst>
          </p:cNvPr>
          <p:cNvSpPr>
            <a:spLocks noGrp="1"/>
          </p:cNvSpPr>
          <p:nvPr/>
        </p:nvSpPr>
        <p:spPr>
          <a:xfrm>
            <a:off x="10672960" y="2258447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2E47E3-AEB4-4BF5-90C7-8EBAF895CBC0}"/>
              </a:ext>
            </a:extLst>
          </p:cNvPr>
          <p:cNvSpPr>
            <a:spLocks noGrp="1"/>
          </p:cNvSpPr>
          <p:nvPr/>
        </p:nvSpPr>
        <p:spPr>
          <a:xfrm>
            <a:off x="10692278" y="1800673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01681D-C339-40C5-8CCE-131FA9780682}"/>
              </a:ext>
            </a:extLst>
          </p:cNvPr>
          <p:cNvSpPr>
            <a:spLocks noGrp="1"/>
          </p:cNvSpPr>
          <p:nvPr/>
        </p:nvSpPr>
        <p:spPr>
          <a:xfrm>
            <a:off x="10344843" y="1847321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2DC96A-45FF-4CCB-B59A-6FE9D1CE5DC1}"/>
              </a:ext>
            </a:extLst>
          </p:cNvPr>
          <p:cNvSpPr>
            <a:spLocks noGrp="1"/>
          </p:cNvSpPr>
          <p:nvPr/>
        </p:nvSpPr>
        <p:spPr>
          <a:xfrm>
            <a:off x="9343923" y="2067728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E6694FF-1A42-4A34-83AF-49BBD49EADC0}"/>
              </a:ext>
            </a:extLst>
          </p:cNvPr>
          <p:cNvSpPr>
            <a:spLocks noGrp="1"/>
          </p:cNvSpPr>
          <p:nvPr/>
        </p:nvSpPr>
        <p:spPr>
          <a:xfrm>
            <a:off x="9651769" y="2110322"/>
            <a:ext cx="76200" cy="762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1A3F9B4-BCBF-4D13-B478-50346A37E96B}"/>
              </a:ext>
            </a:extLst>
          </p:cNvPr>
          <p:cNvSpPr>
            <a:spLocks noGrp="1"/>
          </p:cNvSpPr>
          <p:nvPr/>
        </p:nvSpPr>
        <p:spPr>
          <a:xfrm>
            <a:off x="8611210" y="2372847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6EFA70F-227A-4C17-80FD-04497F2D5FD0}"/>
              </a:ext>
            </a:extLst>
          </p:cNvPr>
          <p:cNvSpPr>
            <a:spLocks noGrp="1"/>
          </p:cNvSpPr>
          <p:nvPr/>
        </p:nvSpPr>
        <p:spPr>
          <a:xfrm>
            <a:off x="9507904" y="2265968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C783A2-5185-4AA5-BF38-04D076C98E60}"/>
              </a:ext>
            </a:extLst>
          </p:cNvPr>
          <p:cNvSpPr>
            <a:spLocks noGrp="1"/>
          </p:cNvSpPr>
          <p:nvPr/>
        </p:nvSpPr>
        <p:spPr>
          <a:xfrm>
            <a:off x="9873508" y="2017597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0465DB8-55B7-4796-BDE5-F60E46B6137D}"/>
              </a:ext>
            </a:extLst>
          </p:cNvPr>
          <p:cNvSpPr>
            <a:spLocks noGrp="1"/>
          </p:cNvSpPr>
          <p:nvPr/>
        </p:nvSpPr>
        <p:spPr>
          <a:xfrm>
            <a:off x="9188184" y="2487213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C696C25-5B4B-439C-B178-E3100BE8A92D}"/>
              </a:ext>
            </a:extLst>
          </p:cNvPr>
          <p:cNvSpPr>
            <a:spLocks noGrp="1"/>
          </p:cNvSpPr>
          <p:nvPr/>
        </p:nvSpPr>
        <p:spPr>
          <a:xfrm>
            <a:off x="9608715" y="2103626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E7E498-C9B4-4618-976B-B24791B23112}"/>
              </a:ext>
            </a:extLst>
          </p:cNvPr>
          <p:cNvSpPr>
            <a:spLocks noGrp="1"/>
          </p:cNvSpPr>
          <p:nvPr/>
        </p:nvSpPr>
        <p:spPr>
          <a:xfrm>
            <a:off x="8906959" y="1881145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83C0587-04D8-42B4-AF94-7B8F01999DFA}"/>
              </a:ext>
            </a:extLst>
          </p:cNvPr>
          <p:cNvSpPr>
            <a:spLocks noGrp="1"/>
          </p:cNvSpPr>
          <p:nvPr/>
        </p:nvSpPr>
        <p:spPr>
          <a:xfrm>
            <a:off x="8690474" y="1954505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D782AB4-BEB7-41CE-AFB9-8D3B1312687A}"/>
              </a:ext>
            </a:extLst>
          </p:cNvPr>
          <p:cNvSpPr>
            <a:spLocks noGrp="1"/>
          </p:cNvSpPr>
          <p:nvPr/>
        </p:nvSpPr>
        <p:spPr>
          <a:xfrm>
            <a:off x="9671783" y="2261831"/>
            <a:ext cx="57150" cy="571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83FA849-761D-4BF5-B689-68AA85FEF162}"/>
              </a:ext>
            </a:extLst>
          </p:cNvPr>
          <p:cNvSpPr>
            <a:spLocks noGrp="1"/>
          </p:cNvSpPr>
          <p:nvPr/>
        </p:nvSpPr>
        <p:spPr>
          <a:xfrm>
            <a:off x="10359751" y="2432040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00966C-FBC7-4C9F-A2D2-283D49942358}"/>
              </a:ext>
            </a:extLst>
          </p:cNvPr>
          <p:cNvSpPr>
            <a:spLocks noGrp="1"/>
          </p:cNvSpPr>
          <p:nvPr/>
        </p:nvSpPr>
        <p:spPr>
          <a:xfrm>
            <a:off x="8843693" y="2440571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5FD9BC-491A-4FE6-B425-36E94656BEBA}"/>
              </a:ext>
            </a:extLst>
          </p:cNvPr>
          <p:cNvSpPr>
            <a:spLocks noGrp="1"/>
          </p:cNvSpPr>
          <p:nvPr/>
        </p:nvSpPr>
        <p:spPr>
          <a:xfrm>
            <a:off x="8191500" y="3000375"/>
            <a:ext cx="2857500" cy="1095375"/>
          </a:xfrm>
          <a:prstGeom prst="rect">
            <a:avLst/>
          </a:prstGeom>
          <a:solidFill>
            <a:srgbClr val="EED8CE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7BFB657-FF5C-4E14-BD66-5837840155B5}"/>
              </a:ext>
            </a:extLst>
          </p:cNvPr>
          <p:cNvSpPr>
            <a:spLocks noGrp="1"/>
          </p:cNvSpPr>
          <p:nvPr/>
        </p:nvSpPr>
        <p:spPr>
          <a:xfrm>
            <a:off x="8979281" y="3681649"/>
            <a:ext cx="47625" cy="47625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0398D3E-10E6-4E61-9482-647BEAB57EF5}"/>
              </a:ext>
            </a:extLst>
          </p:cNvPr>
          <p:cNvSpPr>
            <a:spLocks noGrp="1"/>
          </p:cNvSpPr>
          <p:nvPr/>
        </p:nvSpPr>
        <p:spPr>
          <a:xfrm>
            <a:off x="10429842" y="3180960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96D5DD7-735F-46B7-BBC9-A8D85D0CBC09}"/>
              </a:ext>
            </a:extLst>
          </p:cNvPr>
          <p:cNvSpPr>
            <a:spLocks noGrp="1"/>
          </p:cNvSpPr>
          <p:nvPr/>
        </p:nvSpPr>
        <p:spPr>
          <a:xfrm>
            <a:off x="10106470" y="3145971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4C0AA3C-CB7F-4E26-A6A1-F23B11DC37E0}"/>
              </a:ext>
            </a:extLst>
          </p:cNvPr>
          <p:cNvSpPr>
            <a:spLocks noGrp="1"/>
          </p:cNvSpPr>
          <p:nvPr/>
        </p:nvSpPr>
        <p:spPr>
          <a:xfrm>
            <a:off x="10134739" y="3460507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FF5B181-4178-4689-A4DC-12B93BB1A7C1}"/>
              </a:ext>
            </a:extLst>
          </p:cNvPr>
          <p:cNvSpPr>
            <a:spLocks noGrp="1"/>
          </p:cNvSpPr>
          <p:nvPr/>
        </p:nvSpPr>
        <p:spPr>
          <a:xfrm>
            <a:off x="10440618" y="3716533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DBAD438-5041-453A-BF87-CCA2DB3E726B}"/>
              </a:ext>
            </a:extLst>
          </p:cNvPr>
          <p:cNvSpPr>
            <a:spLocks noGrp="1"/>
          </p:cNvSpPr>
          <p:nvPr/>
        </p:nvSpPr>
        <p:spPr>
          <a:xfrm>
            <a:off x="8453038" y="3708409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61BD219-BA8F-498C-B997-17B534AC73FA}"/>
              </a:ext>
            </a:extLst>
          </p:cNvPr>
          <p:cNvSpPr>
            <a:spLocks noGrp="1"/>
          </p:cNvSpPr>
          <p:nvPr/>
        </p:nvSpPr>
        <p:spPr>
          <a:xfrm>
            <a:off x="10172553" y="3165490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B7B134A-714C-4919-BDE1-1BE502F25A28}"/>
              </a:ext>
            </a:extLst>
          </p:cNvPr>
          <p:cNvSpPr>
            <a:spLocks noGrp="1"/>
          </p:cNvSpPr>
          <p:nvPr/>
        </p:nvSpPr>
        <p:spPr>
          <a:xfrm>
            <a:off x="10040516" y="3291931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03BEBF7-DC7B-4B30-9DBD-76D87BCB62F3}"/>
              </a:ext>
            </a:extLst>
          </p:cNvPr>
          <p:cNvSpPr>
            <a:spLocks noGrp="1"/>
          </p:cNvSpPr>
          <p:nvPr/>
        </p:nvSpPr>
        <p:spPr>
          <a:xfrm>
            <a:off x="9650484" y="3792312"/>
            <a:ext cx="76200" cy="762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CB14FE8-1B87-43B7-9862-80D6D077645E}"/>
              </a:ext>
            </a:extLst>
          </p:cNvPr>
          <p:cNvSpPr>
            <a:spLocks noGrp="1"/>
          </p:cNvSpPr>
          <p:nvPr/>
        </p:nvSpPr>
        <p:spPr>
          <a:xfrm>
            <a:off x="10171336" y="3394593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DAEFF78-58C3-4A22-B89F-A41F3592FB8F}"/>
              </a:ext>
            </a:extLst>
          </p:cNvPr>
          <p:cNvSpPr>
            <a:spLocks noGrp="1"/>
          </p:cNvSpPr>
          <p:nvPr/>
        </p:nvSpPr>
        <p:spPr>
          <a:xfrm>
            <a:off x="10305114" y="3837014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34CE414-136E-42B5-A4AA-054385BF7041}"/>
              </a:ext>
            </a:extLst>
          </p:cNvPr>
          <p:cNvSpPr>
            <a:spLocks noGrp="1"/>
          </p:cNvSpPr>
          <p:nvPr/>
        </p:nvSpPr>
        <p:spPr>
          <a:xfrm>
            <a:off x="10505887" y="3864962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A5D6D81-FB66-44BE-9957-14EF286F6EA2}"/>
              </a:ext>
            </a:extLst>
          </p:cNvPr>
          <p:cNvSpPr>
            <a:spLocks noGrp="1"/>
          </p:cNvSpPr>
          <p:nvPr/>
        </p:nvSpPr>
        <p:spPr>
          <a:xfrm>
            <a:off x="9521361" y="3160781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10C3CCD-01EE-48F5-9AF5-DEABB564C175}"/>
              </a:ext>
            </a:extLst>
          </p:cNvPr>
          <p:cNvSpPr>
            <a:spLocks noGrp="1"/>
          </p:cNvSpPr>
          <p:nvPr/>
        </p:nvSpPr>
        <p:spPr>
          <a:xfrm>
            <a:off x="10221052" y="3694629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AC5DBD5-05E3-4F33-BDE4-1B8B8E62D585}"/>
              </a:ext>
            </a:extLst>
          </p:cNvPr>
          <p:cNvSpPr>
            <a:spLocks noGrp="1"/>
          </p:cNvSpPr>
          <p:nvPr/>
        </p:nvSpPr>
        <p:spPr>
          <a:xfrm>
            <a:off x="8926379" y="3584415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576C278-BE14-4645-BE64-369062B2480A}"/>
              </a:ext>
            </a:extLst>
          </p:cNvPr>
          <p:cNvSpPr>
            <a:spLocks noGrp="1"/>
          </p:cNvSpPr>
          <p:nvPr/>
        </p:nvSpPr>
        <p:spPr>
          <a:xfrm>
            <a:off x="10022495" y="3827564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108062B-C8EB-4600-A113-8B5B2888772C}"/>
              </a:ext>
            </a:extLst>
          </p:cNvPr>
          <p:cNvSpPr>
            <a:spLocks noGrp="1"/>
          </p:cNvSpPr>
          <p:nvPr/>
        </p:nvSpPr>
        <p:spPr>
          <a:xfrm>
            <a:off x="10772249" y="3444059"/>
            <a:ext cx="57150" cy="571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60758BE-A8B1-45BE-A3B6-9D3DEA4C8F61}"/>
              </a:ext>
            </a:extLst>
          </p:cNvPr>
          <p:cNvSpPr>
            <a:spLocks noGrp="1"/>
          </p:cNvSpPr>
          <p:nvPr/>
        </p:nvSpPr>
        <p:spPr>
          <a:xfrm>
            <a:off x="8575069" y="3645036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A25C829-2759-43B3-98E6-BA63DEA4E927}"/>
              </a:ext>
            </a:extLst>
          </p:cNvPr>
          <p:cNvSpPr>
            <a:spLocks noGrp="1"/>
          </p:cNvSpPr>
          <p:nvPr/>
        </p:nvSpPr>
        <p:spPr>
          <a:xfrm>
            <a:off x="8738557" y="3425869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F7467E2-EDE1-4445-B8E3-55355A6CE600}"/>
              </a:ext>
            </a:extLst>
          </p:cNvPr>
          <p:cNvSpPr>
            <a:spLocks noGrp="1"/>
          </p:cNvSpPr>
          <p:nvPr/>
        </p:nvSpPr>
        <p:spPr>
          <a:xfrm>
            <a:off x="8654132" y="3234727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84416A2-287C-4D50-B7B3-545B7FB5E0A5}"/>
              </a:ext>
            </a:extLst>
          </p:cNvPr>
          <p:cNvSpPr>
            <a:spLocks noGrp="1"/>
          </p:cNvSpPr>
          <p:nvPr/>
        </p:nvSpPr>
        <p:spPr>
          <a:xfrm>
            <a:off x="8507476" y="3808087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5020A50-5DA4-4902-BF54-1BAB36782294}"/>
              </a:ext>
            </a:extLst>
          </p:cNvPr>
          <p:cNvSpPr>
            <a:spLocks noGrp="1"/>
          </p:cNvSpPr>
          <p:nvPr/>
        </p:nvSpPr>
        <p:spPr>
          <a:xfrm>
            <a:off x="10482195" y="3859773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2DEDA95-FA79-4FDA-8EEA-0305C526167A}"/>
              </a:ext>
            </a:extLst>
          </p:cNvPr>
          <p:cNvSpPr>
            <a:spLocks noGrp="1"/>
          </p:cNvSpPr>
          <p:nvPr/>
        </p:nvSpPr>
        <p:spPr>
          <a:xfrm>
            <a:off x="8427045" y="3218929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1493D69-C2CD-4CCA-8B43-A7DAA2214918}"/>
              </a:ext>
            </a:extLst>
          </p:cNvPr>
          <p:cNvSpPr>
            <a:spLocks noGrp="1"/>
          </p:cNvSpPr>
          <p:nvPr/>
        </p:nvSpPr>
        <p:spPr>
          <a:xfrm>
            <a:off x="8791669" y="3591636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27358E1-1992-46CD-9CA9-0FC023C05D91}"/>
              </a:ext>
            </a:extLst>
          </p:cNvPr>
          <p:cNvSpPr>
            <a:spLocks noGrp="1"/>
          </p:cNvSpPr>
          <p:nvPr/>
        </p:nvSpPr>
        <p:spPr>
          <a:xfrm>
            <a:off x="9881485" y="3875198"/>
            <a:ext cx="38100" cy="381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1FE16FB-E18F-490B-AA63-B51858990556}"/>
              </a:ext>
            </a:extLst>
          </p:cNvPr>
          <p:cNvSpPr>
            <a:spLocks noGrp="1"/>
          </p:cNvSpPr>
          <p:nvPr/>
        </p:nvSpPr>
        <p:spPr>
          <a:xfrm>
            <a:off x="9463915" y="3763522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F372370-9EFE-44CD-8D38-0BDF49165DD8}"/>
              </a:ext>
            </a:extLst>
          </p:cNvPr>
          <p:cNvSpPr>
            <a:spLocks noGrp="1"/>
          </p:cNvSpPr>
          <p:nvPr/>
        </p:nvSpPr>
        <p:spPr>
          <a:xfrm>
            <a:off x="10377535" y="3239584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2DFCD23-188C-4F46-A201-F754529E2DB8}"/>
              </a:ext>
            </a:extLst>
          </p:cNvPr>
          <p:cNvSpPr>
            <a:spLocks noGrp="1"/>
          </p:cNvSpPr>
          <p:nvPr/>
        </p:nvSpPr>
        <p:spPr>
          <a:xfrm>
            <a:off x="8752330" y="3301010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B44EA04-0822-4BDD-81B5-99100AAF3191}"/>
              </a:ext>
            </a:extLst>
          </p:cNvPr>
          <p:cNvSpPr>
            <a:spLocks noGrp="1"/>
          </p:cNvSpPr>
          <p:nvPr/>
        </p:nvSpPr>
        <p:spPr>
          <a:xfrm>
            <a:off x="8579646" y="3826807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D3E8E47-FDD6-44BA-A148-4E20AFF293DB}"/>
              </a:ext>
            </a:extLst>
          </p:cNvPr>
          <p:cNvSpPr>
            <a:spLocks noGrp="1"/>
          </p:cNvSpPr>
          <p:nvPr/>
        </p:nvSpPr>
        <p:spPr>
          <a:xfrm>
            <a:off x="9970877" y="3135035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14897BF-68BB-4314-90A1-81FF04DCFE28}"/>
              </a:ext>
            </a:extLst>
          </p:cNvPr>
          <p:cNvSpPr>
            <a:spLocks noGrp="1"/>
          </p:cNvSpPr>
          <p:nvPr/>
        </p:nvSpPr>
        <p:spPr>
          <a:xfrm>
            <a:off x="10212285" y="3189581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027B14A-E4DF-4C39-9627-805B757FCA5D}"/>
              </a:ext>
            </a:extLst>
          </p:cNvPr>
          <p:cNvSpPr>
            <a:spLocks noGrp="1"/>
          </p:cNvSpPr>
          <p:nvPr/>
        </p:nvSpPr>
        <p:spPr>
          <a:xfrm>
            <a:off x="8678121" y="3397457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2EE9846-1155-4BA3-841B-AC4BBAD6E11C}"/>
              </a:ext>
            </a:extLst>
          </p:cNvPr>
          <p:cNvSpPr>
            <a:spLocks noGrp="1"/>
          </p:cNvSpPr>
          <p:nvPr/>
        </p:nvSpPr>
        <p:spPr>
          <a:xfrm>
            <a:off x="10341164" y="3339290"/>
            <a:ext cx="66675" cy="66675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9215964-FB17-4A3D-AF7E-3D41C46CC256}"/>
              </a:ext>
            </a:extLst>
          </p:cNvPr>
          <p:cNvSpPr>
            <a:spLocks noGrp="1"/>
          </p:cNvSpPr>
          <p:nvPr/>
        </p:nvSpPr>
        <p:spPr>
          <a:xfrm>
            <a:off x="10570143" y="3507611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D7DC894-98AD-4791-BF77-9B704D0CE2E6}"/>
              </a:ext>
            </a:extLst>
          </p:cNvPr>
          <p:cNvSpPr>
            <a:spLocks noGrp="1"/>
          </p:cNvSpPr>
          <p:nvPr/>
        </p:nvSpPr>
        <p:spPr>
          <a:xfrm>
            <a:off x="9888852" y="3608801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180E86D-917A-4F39-827E-45611EA27811}"/>
              </a:ext>
            </a:extLst>
          </p:cNvPr>
          <p:cNvSpPr>
            <a:spLocks noGrp="1"/>
          </p:cNvSpPr>
          <p:nvPr/>
        </p:nvSpPr>
        <p:spPr>
          <a:xfrm>
            <a:off x="8191500" y="4381500"/>
            <a:ext cx="2857500" cy="1095375"/>
          </a:xfrm>
          <a:prstGeom prst="rect">
            <a:avLst/>
          </a:prstGeom>
          <a:solidFill>
            <a:srgbClr val="DCE6ED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D9A6589-838F-442F-BFEA-47452F354189}"/>
              </a:ext>
            </a:extLst>
          </p:cNvPr>
          <p:cNvSpPr>
            <a:spLocks noGrp="1"/>
          </p:cNvSpPr>
          <p:nvPr/>
        </p:nvSpPr>
        <p:spPr>
          <a:xfrm>
            <a:off x="8981237" y="4779825"/>
            <a:ext cx="57150" cy="571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F53EC21-5B67-46DA-BF59-E3FA15214605}"/>
              </a:ext>
            </a:extLst>
          </p:cNvPr>
          <p:cNvSpPr>
            <a:spLocks noGrp="1"/>
          </p:cNvSpPr>
          <p:nvPr/>
        </p:nvSpPr>
        <p:spPr>
          <a:xfrm>
            <a:off x="9912339" y="4754768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A67EAE4-AF63-4C51-9CFA-831CED37E4E1}"/>
              </a:ext>
            </a:extLst>
          </p:cNvPr>
          <p:cNvSpPr>
            <a:spLocks noGrp="1"/>
          </p:cNvSpPr>
          <p:nvPr/>
        </p:nvSpPr>
        <p:spPr>
          <a:xfrm>
            <a:off x="9272734" y="4700623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80BCF75-5F34-41A2-93BC-7C6344FE3908}"/>
              </a:ext>
            </a:extLst>
          </p:cNvPr>
          <p:cNvSpPr>
            <a:spLocks noGrp="1"/>
          </p:cNvSpPr>
          <p:nvPr/>
        </p:nvSpPr>
        <p:spPr>
          <a:xfrm>
            <a:off x="10196532" y="5175442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29408B5-276A-4BCA-9045-FBC52AB7A13C}"/>
              </a:ext>
            </a:extLst>
          </p:cNvPr>
          <p:cNvSpPr>
            <a:spLocks noGrp="1"/>
          </p:cNvSpPr>
          <p:nvPr/>
        </p:nvSpPr>
        <p:spPr>
          <a:xfrm>
            <a:off x="9348686" y="4637326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C3AE257-6EF0-4527-BCCB-32C1412BE0AA}"/>
              </a:ext>
            </a:extLst>
          </p:cNvPr>
          <p:cNvSpPr>
            <a:spLocks noGrp="1"/>
          </p:cNvSpPr>
          <p:nvPr/>
        </p:nvSpPr>
        <p:spPr>
          <a:xfrm>
            <a:off x="8884336" y="4927559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B8B5B19-7A08-4B1D-96D9-0EFC078E880A}"/>
              </a:ext>
            </a:extLst>
          </p:cNvPr>
          <p:cNvSpPr>
            <a:spLocks noGrp="1"/>
          </p:cNvSpPr>
          <p:nvPr/>
        </p:nvSpPr>
        <p:spPr>
          <a:xfrm>
            <a:off x="9766668" y="5046847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FB7624A-4F40-47DC-99EF-B9A819F6DD3D}"/>
              </a:ext>
            </a:extLst>
          </p:cNvPr>
          <p:cNvSpPr>
            <a:spLocks noGrp="1"/>
          </p:cNvSpPr>
          <p:nvPr/>
        </p:nvSpPr>
        <p:spPr>
          <a:xfrm>
            <a:off x="9040910" y="4868445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3758C85-D5DE-441C-BD6F-602F730D9D8B}"/>
              </a:ext>
            </a:extLst>
          </p:cNvPr>
          <p:cNvSpPr>
            <a:spLocks noGrp="1"/>
          </p:cNvSpPr>
          <p:nvPr/>
        </p:nvSpPr>
        <p:spPr>
          <a:xfrm>
            <a:off x="9848039" y="5273565"/>
            <a:ext cx="38100" cy="381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C210D4E-3D00-4282-A462-6F59411A9729}"/>
              </a:ext>
            </a:extLst>
          </p:cNvPr>
          <p:cNvSpPr>
            <a:spLocks noGrp="1"/>
          </p:cNvSpPr>
          <p:nvPr/>
        </p:nvSpPr>
        <p:spPr>
          <a:xfrm>
            <a:off x="10389680" y="4929044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160B615-E4EC-40E7-BAA0-580DE36C14B9}"/>
              </a:ext>
            </a:extLst>
          </p:cNvPr>
          <p:cNvSpPr>
            <a:spLocks noGrp="1"/>
          </p:cNvSpPr>
          <p:nvPr/>
        </p:nvSpPr>
        <p:spPr>
          <a:xfrm>
            <a:off x="9898190" y="5167505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21B19F8-39BD-4A24-A21C-B267B5CD240E}"/>
              </a:ext>
            </a:extLst>
          </p:cNvPr>
          <p:cNvSpPr>
            <a:spLocks noGrp="1"/>
          </p:cNvSpPr>
          <p:nvPr/>
        </p:nvSpPr>
        <p:spPr>
          <a:xfrm>
            <a:off x="9737443" y="4861823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9FFBEAA-4357-4018-9575-578818519FE1}"/>
              </a:ext>
            </a:extLst>
          </p:cNvPr>
          <p:cNvSpPr>
            <a:spLocks noGrp="1"/>
          </p:cNvSpPr>
          <p:nvPr/>
        </p:nvSpPr>
        <p:spPr>
          <a:xfrm>
            <a:off x="9075247" y="4607764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7153C54-3693-4B6C-BEC9-0BEE8B07AD55}"/>
              </a:ext>
            </a:extLst>
          </p:cNvPr>
          <p:cNvSpPr>
            <a:spLocks noGrp="1"/>
          </p:cNvSpPr>
          <p:nvPr/>
        </p:nvSpPr>
        <p:spPr>
          <a:xfrm>
            <a:off x="10723735" y="4614383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A62944C-3735-4842-93C5-894D9BA7DF4D}"/>
              </a:ext>
            </a:extLst>
          </p:cNvPr>
          <p:cNvSpPr>
            <a:spLocks noGrp="1"/>
          </p:cNvSpPr>
          <p:nvPr/>
        </p:nvSpPr>
        <p:spPr>
          <a:xfrm>
            <a:off x="10578324" y="5205520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F337149-31AB-452A-9BA0-8E90F5473A43}"/>
              </a:ext>
            </a:extLst>
          </p:cNvPr>
          <p:cNvSpPr>
            <a:spLocks noGrp="1"/>
          </p:cNvSpPr>
          <p:nvPr/>
        </p:nvSpPr>
        <p:spPr>
          <a:xfrm>
            <a:off x="10298138" y="4507349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0B1F251-3B84-4F90-9919-62D9E430EB75}"/>
              </a:ext>
            </a:extLst>
          </p:cNvPr>
          <p:cNvSpPr>
            <a:spLocks noGrp="1"/>
          </p:cNvSpPr>
          <p:nvPr/>
        </p:nvSpPr>
        <p:spPr>
          <a:xfrm>
            <a:off x="10131489" y="5006919"/>
            <a:ext cx="66675" cy="66675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2E4B5FB-37D0-4BC2-B3D3-CA69078E55DB}"/>
              </a:ext>
            </a:extLst>
          </p:cNvPr>
          <p:cNvSpPr>
            <a:spLocks noGrp="1"/>
          </p:cNvSpPr>
          <p:nvPr/>
        </p:nvSpPr>
        <p:spPr>
          <a:xfrm>
            <a:off x="10505984" y="4609342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463552E-EE46-413A-88E9-C293F4546408}"/>
              </a:ext>
            </a:extLst>
          </p:cNvPr>
          <p:cNvSpPr>
            <a:spLocks noGrp="1"/>
          </p:cNvSpPr>
          <p:nvPr/>
        </p:nvSpPr>
        <p:spPr>
          <a:xfrm>
            <a:off x="8747746" y="4638600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7033433-C24D-49CC-8791-5F4DD8B86AB3}"/>
              </a:ext>
            </a:extLst>
          </p:cNvPr>
          <p:cNvSpPr>
            <a:spLocks noGrp="1"/>
          </p:cNvSpPr>
          <p:nvPr/>
        </p:nvSpPr>
        <p:spPr>
          <a:xfrm>
            <a:off x="9365394" y="4630613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DBDD3D8-9591-4CFE-AB51-C133FBD6911C}"/>
              </a:ext>
            </a:extLst>
          </p:cNvPr>
          <p:cNvSpPr>
            <a:spLocks noGrp="1"/>
          </p:cNvSpPr>
          <p:nvPr/>
        </p:nvSpPr>
        <p:spPr>
          <a:xfrm>
            <a:off x="8818491" y="4595727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6151DAE7-4405-4E6D-873F-4064D6192D4C}"/>
              </a:ext>
            </a:extLst>
          </p:cNvPr>
          <p:cNvSpPr>
            <a:spLocks noGrp="1"/>
          </p:cNvSpPr>
          <p:nvPr/>
        </p:nvSpPr>
        <p:spPr>
          <a:xfrm>
            <a:off x="10272111" y="5156873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9972B64-9E4B-4DE9-BF17-F9D51938AF32}"/>
              </a:ext>
            </a:extLst>
          </p:cNvPr>
          <p:cNvSpPr>
            <a:spLocks noGrp="1"/>
          </p:cNvSpPr>
          <p:nvPr/>
        </p:nvSpPr>
        <p:spPr>
          <a:xfrm>
            <a:off x="8985746" y="4590537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06470BE-5F34-49F6-975F-0AEDEED683E5}"/>
              </a:ext>
            </a:extLst>
          </p:cNvPr>
          <p:cNvSpPr>
            <a:spLocks noGrp="1"/>
          </p:cNvSpPr>
          <p:nvPr/>
        </p:nvSpPr>
        <p:spPr>
          <a:xfrm>
            <a:off x="10739729" y="5139356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2A7B093-DF26-4BCD-BAEA-E5A28B004E95}"/>
              </a:ext>
            </a:extLst>
          </p:cNvPr>
          <p:cNvSpPr>
            <a:spLocks noGrp="1"/>
          </p:cNvSpPr>
          <p:nvPr/>
        </p:nvSpPr>
        <p:spPr>
          <a:xfrm>
            <a:off x="10087388" y="4854263"/>
            <a:ext cx="47625" cy="47625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29091ACE-864F-4BBE-82A2-ACC1DA5AB9EE}"/>
              </a:ext>
            </a:extLst>
          </p:cNvPr>
          <p:cNvSpPr>
            <a:spLocks noGrp="1"/>
          </p:cNvSpPr>
          <p:nvPr/>
        </p:nvSpPr>
        <p:spPr>
          <a:xfrm>
            <a:off x="10316620" y="5154197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350D7D9-8C05-4EF4-A24A-083F3F091F05}"/>
              </a:ext>
            </a:extLst>
          </p:cNvPr>
          <p:cNvSpPr>
            <a:spLocks noGrp="1"/>
          </p:cNvSpPr>
          <p:nvPr/>
        </p:nvSpPr>
        <p:spPr>
          <a:xfrm>
            <a:off x="8770666" y="4975200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191D151-F5A7-41F5-9547-D57775C5B496}"/>
              </a:ext>
            </a:extLst>
          </p:cNvPr>
          <p:cNvSpPr>
            <a:spLocks noGrp="1"/>
          </p:cNvSpPr>
          <p:nvPr/>
        </p:nvSpPr>
        <p:spPr>
          <a:xfrm>
            <a:off x="10107652" y="4584423"/>
            <a:ext cx="76200" cy="762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23917C8-C65C-48BF-9040-81E665B4BF4A}"/>
              </a:ext>
            </a:extLst>
          </p:cNvPr>
          <p:cNvSpPr>
            <a:spLocks noGrp="1"/>
          </p:cNvSpPr>
          <p:nvPr/>
        </p:nvSpPr>
        <p:spPr>
          <a:xfrm>
            <a:off x="10471421" y="5190214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779563E-39A9-4198-845A-77EF99DB2713}"/>
              </a:ext>
            </a:extLst>
          </p:cNvPr>
          <p:cNvSpPr>
            <a:spLocks noGrp="1"/>
          </p:cNvSpPr>
          <p:nvPr/>
        </p:nvSpPr>
        <p:spPr>
          <a:xfrm>
            <a:off x="10309227" y="4904632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1A3DA5F-DCBB-4488-9DAF-2AA86A3827C1}"/>
              </a:ext>
            </a:extLst>
          </p:cNvPr>
          <p:cNvSpPr>
            <a:spLocks noGrp="1"/>
          </p:cNvSpPr>
          <p:nvPr/>
        </p:nvSpPr>
        <p:spPr>
          <a:xfrm>
            <a:off x="9041111" y="5260017"/>
            <a:ext cx="57150" cy="571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970A531-0ECB-41C8-9EF6-76833D9600FB}"/>
              </a:ext>
            </a:extLst>
          </p:cNvPr>
          <p:cNvSpPr>
            <a:spLocks noGrp="1"/>
          </p:cNvSpPr>
          <p:nvPr/>
        </p:nvSpPr>
        <p:spPr>
          <a:xfrm>
            <a:off x="8665768" y="4840410"/>
            <a:ext cx="66675" cy="6667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097C17AF-BD4F-43B3-8D53-83CB72FA5241}"/>
              </a:ext>
            </a:extLst>
          </p:cNvPr>
          <p:cNvSpPr>
            <a:spLocks noGrp="1"/>
          </p:cNvSpPr>
          <p:nvPr/>
        </p:nvSpPr>
        <p:spPr>
          <a:xfrm>
            <a:off x="8534045" y="5178749"/>
            <a:ext cx="76200" cy="762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7B101BF0-A86E-4C77-85FF-9AD76EEFD9C2}"/>
              </a:ext>
            </a:extLst>
          </p:cNvPr>
          <p:cNvSpPr>
            <a:spLocks noGrp="1"/>
          </p:cNvSpPr>
          <p:nvPr/>
        </p:nvSpPr>
        <p:spPr>
          <a:xfrm>
            <a:off x="10804348" y="4606995"/>
            <a:ext cx="38100" cy="381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4710380C-F6DE-4AF9-BCBA-AAD1D1DD3413}"/>
              </a:ext>
            </a:extLst>
          </p:cNvPr>
          <p:cNvSpPr>
            <a:spLocks noGrp="1"/>
          </p:cNvSpPr>
          <p:nvPr/>
        </p:nvSpPr>
        <p:spPr>
          <a:xfrm>
            <a:off x="8433699" y="4753218"/>
            <a:ext cx="47625" cy="47625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A6637C0-1B2B-4ABE-86D5-C222D9C04FF9}"/>
              </a:ext>
            </a:extLst>
          </p:cNvPr>
          <p:cNvSpPr>
            <a:spLocks noGrp="1"/>
          </p:cNvSpPr>
          <p:nvPr/>
        </p:nvSpPr>
        <p:spPr>
          <a:xfrm>
            <a:off x="3524250" y="4810125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0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x ∼ p(x | θ)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BC5F040-C740-4879-A265-1176D1DAB012}"/>
              </a:ext>
            </a:extLst>
          </p:cNvPr>
          <p:cNvSpPr>
            <a:spLocks noGrp="1"/>
          </p:cNvSpPr>
          <p:nvPr/>
        </p:nvSpPr>
        <p:spPr>
          <a:xfrm>
            <a:off x="3143250" y="5772150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002" lnSpcReduction="20000"/>
          </a:bodyPr>
          <a:lstStyle/>
          <a:p>
            <a:pPr algn="ctr">
              <a:def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 dirty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Changing the seed is intended variation; numerical error is not.</a:t>
            </a:r>
          </a:p>
        </p:txBody>
      </p:sp>
    </p:spTree>
    <p:extLst>
      <p:ext uri="{BB962C8B-B14F-4D97-AF65-F5344CB8AC3E}">
        <p14:creationId xmlns:p14="http://schemas.microsoft.com/office/powerpoint/2010/main" val="88261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C827D-9860-4A7B-BCF4-2DBC248878E6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One field contains structure across cosmic time and scale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76EBC0-0D2B-4FCD-B7D4-32F30CE23EFD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16D8F-C7D0-485E-AEF2-A3B9BE0589F8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E3D1C-0EFE-4432-AFDC-355AD438FA8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85FD3-DB32-4BE2-9C23-B944E3EEF0B2}"/>
              </a:ext>
            </a:extLst>
          </p:cNvPr>
          <p:cNvSpPr>
            <a:spLocks noGrp="1"/>
          </p:cNvSpPr>
          <p:nvPr/>
        </p:nvSpPr>
        <p:spPr>
          <a:xfrm>
            <a:off x="904875" y="1209675"/>
            <a:ext cx="7715250" cy="438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257300"/>
            <a:ext cx="7620000" cy="4286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0B028A3-BEB9-41C4-AC9E-F1458996197E}"/>
              </a:ext>
            </a:extLst>
          </p:cNvPr>
          <p:cNvSpPr>
            <a:spLocks noGrp="1"/>
          </p:cNvSpPr>
          <p:nvPr/>
        </p:nvSpPr>
        <p:spPr>
          <a:xfrm>
            <a:off x="8905875" y="1476375"/>
            <a:ext cx="2333625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766"/>
          </a:bodyPr>
          <a:lstStyle/>
          <a:p>
            <a:pPr algn="l">
              <a:def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The same volume can be read as morphology, modes, objects, topology or likelihood evidence.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401DB-87C4-431C-84BF-E462BE0B1E43}"/>
              </a:ext>
            </a:extLst>
          </p:cNvPr>
          <p:cNvSpPr>
            <a:spLocks noGrp="1"/>
          </p:cNvSpPr>
          <p:nvPr/>
        </p:nvSpPr>
        <p:spPr>
          <a:xfrm>
            <a:off x="8905875" y="37147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defRPr sz="1575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75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</a:t>
            </a:r>
            <a:r>
              <a:rPr sz="1575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hat would you keep if the inference code could only accept 100 numbers?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D066CE-9268-43B4-981F-FD2D358DC895}"/>
              </a:ext>
            </a:extLst>
          </p:cNvPr>
          <p:cNvSpPr>
            <a:spLocks noGrp="1"/>
          </p:cNvSpPr>
          <p:nvPr/>
        </p:nvSpPr>
        <p:spPr>
          <a:xfrm>
            <a:off x="7207250" y="5638800"/>
            <a:ext cx="1365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00" b="0" i="0" dirty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Credit </a:t>
            </a:r>
            <a:r>
              <a:rPr sz="1200" b="0" i="0" dirty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NASA GSFC</a:t>
            </a:r>
          </a:p>
        </p:txBody>
      </p:sp>
    </p:spTree>
    <p:extLst>
      <p:ext uri="{BB962C8B-B14F-4D97-AF65-F5344CB8AC3E}">
        <p14:creationId xmlns:p14="http://schemas.microsoft.com/office/powerpoint/2010/main" val="95398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C2BA0-2E37-4F67-BCA7-F0CBE4935D46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The forward chain changes mathematical objects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C22F23-6C40-472C-838C-E72DFD8A025C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FE691-505C-43A5-9940-939AB63C72D0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70DD1-646B-43CF-A523-76F34290607B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4841B-1656-4CA3-AAA4-B209F29F1FE3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714500" cy="1238250"/>
          </a:xfrm>
          <a:prstGeom prst="rect">
            <a:avLst/>
          </a:prstGeom>
          <a:solidFill>
            <a:srgbClr val="DCE6ED"/>
          </a:solidFill>
          <a:ln w="1238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9281D0-4334-4B18-BEE7-F05291C865CF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485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initial field</a:t>
            </a:r>
          </a:p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δ(q)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F9B796A-1CF8-4A19-A4C2-6E3DF9E42C36}"/>
              </a:ext>
            </a:extLst>
          </p:cNvPr>
          <p:cNvSpPr>
            <a:spLocks noGrp="1"/>
          </p:cNvSpPr>
          <p:nvPr/>
        </p:nvSpPr>
        <p:spPr>
          <a:xfrm>
            <a:off x="2352675" y="2905125"/>
            <a:ext cx="352425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8B0264E-4643-4FB4-9D79-EBA586636BDA}"/>
              </a:ext>
            </a:extLst>
          </p:cNvPr>
          <p:cNvSpPr>
            <a:spLocks noGrp="1"/>
          </p:cNvSpPr>
          <p:nvPr/>
        </p:nvSpPr>
        <p:spPr>
          <a:xfrm rot="5400000">
            <a:off x="2733675" y="28098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17C1B-1473-4BAF-A510-5B9FAD838DFE}"/>
              </a:ext>
            </a:extLst>
          </p:cNvPr>
          <p:cNvSpPr>
            <a:spLocks noGrp="1"/>
          </p:cNvSpPr>
          <p:nvPr/>
        </p:nvSpPr>
        <p:spPr>
          <a:xfrm>
            <a:off x="2905125" y="2286000"/>
            <a:ext cx="1714500" cy="1238250"/>
          </a:xfrm>
          <a:prstGeom prst="rect">
            <a:avLst/>
          </a:prstGeom>
          <a:solidFill>
            <a:srgbClr val="FFFFFF"/>
          </a:solidFill>
          <a:ln w="1238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A064F-259A-4174-A1DC-DC868B7DB70E}"/>
              </a:ext>
            </a:extLst>
          </p:cNvPr>
          <p:cNvSpPr>
            <a:spLocks noGrp="1"/>
          </p:cNvSpPr>
          <p:nvPr/>
        </p:nvSpPr>
        <p:spPr>
          <a:xfrm>
            <a:off x="3019425" y="2381250"/>
            <a:ext cx="1485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particles</a:t>
            </a:r>
          </a:p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{xᵢ, vᵢ}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226AB27-7CCF-4E28-B43B-98F622CFDAF6}"/>
              </a:ext>
            </a:extLst>
          </p:cNvPr>
          <p:cNvSpPr>
            <a:spLocks noGrp="1"/>
          </p:cNvSpPr>
          <p:nvPr/>
        </p:nvSpPr>
        <p:spPr>
          <a:xfrm>
            <a:off x="4686300" y="2905125"/>
            <a:ext cx="352425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31352AB3-6A8D-428A-BEEC-5B9B3CC606E0}"/>
              </a:ext>
            </a:extLst>
          </p:cNvPr>
          <p:cNvSpPr>
            <a:spLocks noGrp="1"/>
          </p:cNvSpPr>
          <p:nvPr/>
        </p:nvSpPr>
        <p:spPr>
          <a:xfrm rot="5400000">
            <a:off x="5067300" y="28098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CC77B-02F3-420C-9C64-379608918968}"/>
              </a:ext>
            </a:extLst>
          </p:cNvPr>
          <p:cNvSpPr>
            <a:spLocks noGrp="1"/>
          </p:cNvSpPr>
          <p:nvPr/>
        </p:nvSpPr>
        <p:spPr>
          <a:xfrm>
            <a:off x="5238750" y="2286000"/>
            <a:ext cx="1714500" cy="1238250"/>
          </a:xfrm>
          <a:prstGeom prst="rect">
            <a:avLst/>
          </a:prstGeom>
          <a:solidFill>
            <a:srgbClr val="DCE6ED"/>
          </a:solidFill>
          <a:ln w="1238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1610B3-FD79-4B2C-9F8C-72815FFAA79F}"/>
              </a:ext>
            </a:extLst>
          </p:cNvPr>
          <p:cNvSpPr>
            <a:spLocks noGrp="1"/>
          </p:cNvSpPr>
          <p:nvPr/>
        </p:nvSpPr>
        <p:spPr>
          <a:xfrm>
            <a:off x="5353050" y="2381250"/>
            <a:ext cx="1485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{xᵢ, marksᵢ}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13FB44F-ABC5-40CA-B037-4A8380B36841}"/>
              </a:ext>
            </a:extLst>
          </p:cNvPr>
          <p:cNvSpPr>
            <a:spLocks noGrp="1"/>
          </p:cNvSpPr>
          <p:nvPr/>
        </p:nvSpPr>
        <p:spPr>
          <a:xfrm>
            <a:off x="7019925" y="2905125"/>
            <a:ext cx="352425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A9A5E69E-687E-4D78-B913-B7AF97A56A60}"/>
              </a:ext>
            </a:extLst>
          </p:cNvPr>
          <p:cNvSpPr>
            <a:spLocks noGrp="1"/>
          </p:cNvSpPr>
          <p:nvPr/>
        </p:nvSpPr>
        <p:spPr>
          <a:xfrm rot="5400000">
            <a:off x="7400925" y="28098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612607-597E-49CA-AB5B-309ED4899977}"/>
              </a:ext>
            </a:extLst>
          </p:cNvPr>
          <p:cNvSpPr>
            <a:spLocks noGrp="1"/>
          </p:cNvSpPr>
          <p:nvPr/>
        </p:nvSpPr>
        <p:spPr>
          <a:xfrm>
            <a:off x="7572375" y="2286000"/>
            <a:ext cx="1714500" cy="1238250"/>
          </a:xfrm>
          <a:prstGeom prst="rect">
            <a:avLst/>
          </a:prstGeom>
          <a:solidFill>
            <a:srgbClr val="FFFFFF"/>
          </a:solidFill>
          <a:ln w="1238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CF96FF-1E97-43F0-95B7-9CE062988BC5}"/>
              </a:ext>
            </a:extLst>
          </p:cNvPr>
          <p:cNvSpPr>
            <a:spLocks noGrp="1"/>
          </p:cNvSpPr>
          <p:nvPr/>
        </p:nvSpPr>
        <p:spPr>
          <a:xfrm>
            <a:off x="7686675" y="2381250"/>
            <a:ext cx="1485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map / survey</a:t>
            </a:r>
          </a:p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selection + noise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B1E4C60B-0042-48C7-AF7E-0A2EA58D683B}"/>
              </a:ext>
            </a:extLst>
          </p:cNvPr>
          <p:cNvSpPr>
            <a:spLocks noGrp="1"/>
          </p:cNvSpPr>
          <p:nvPr/>
        </p:nvSpPr>
        <p:spPr>
          <a:xfrm>
            <a:off x="9353550" y="2905125"/>
            <a:ext cx="352425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A5204ECC-9BB5-4313-B1F6-5E4D7DA80D45}"/>
              </a:ext>
            </a:extLst>
          </p:cNvPr>
          <p:cNvSpPr>
            <a:spLocks noGrp="1"/>
          </p:cNvSpPr>
          <p:nvPr/>
        </p:nvSpPr>
        <p:spPr>
          <a:xfrm rot="5400000">
            <a:off x="9734550" y="28098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AE7F9E-70DD-4B5B-8A26-21D922C291E2}"/>
              </a:ext>
            </a:extLst>
          </p:cNvPr>
          <p:cNvSpPr>
            <a:spLocks noGrp="1"/>
          </p:cNvSpPr>
          <p:nvPr/>
        </p:nvSpPr>
        <p:spPr>
          <a:xfrm>
            <a:off x="9906000" y="2286000"/>
            <a:ext cx="1714500" cy="1238250"/>
          </a:xfrm>
          <a:prstGeom prst="rect">
            <a:avLst/>
          </a:prstGeom>
          <a:solidFill>
            <a:srgbClr val="DCE6ED"/>
          </a:solidFill>
          <a:ln w="23813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45DD3-B099-4968-9870-0C9CD3A01FE7}"/>
              </a:ext>
            </a:extLst>
          </p:cNvPr>
          <p:cNvSpPr>
            <a:spLocks noGrp="1"/>
          </p:cNvSpPr>
          <p:nvPr/>
        </p:nvSpPr>
        <p:spPr>
          <a:xfrm>
            <a:off x="10020300" y="2381250"/>
            <a:ext cx="1485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data object</a:t>
            </a:r>
          </a:p>
          <a:p>
            <a:pPr algn="ctr">
              <a:def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E26011-AC0C-406C-84A2-861C89779BCE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units + grid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1EDD46-B9A9-426D-80A4-32A2ED8B2754}"/>
              </a:ext>
            </a:extLst>
          </p:cNvPr>
          <p:cNvSpPr>
            <a:spLocks noGrp="1"/>
          </p:cNvSpPr>
          <p:nvPr/>
        </p:nvSpPr>
        <p:spPr>
          <a:xfrm>
            <a:off x="2828925" y="3857625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mass + periodicity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C6E822-3C42-475B-A1CA-B1706AA67001}"/>
              </a:ext>
            </a:extLst>
          </p:cNvPr>
          <p:cNvSpPr>
            <a:spLocks noGrp="1"/>
          </p:cNvSpPr>
          <p:nvPr/>
        </p:nvSpPr>
        <p:spPr>
          <a:xfrm>
            <a:off x="5162550" y="3857625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marks + ordering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10B9F5-3D08-4EA2-999B-E6CD5C5A7DDC}"/>
              </a:ext>
            </a:extLst>
          </p:cNvPr>
          <p:cNvSpPr>
            <a:spLocks noGrp="1"/>
          </p:cNvSpPr>
          <p:nvPr/>
        </p:nvSpPr>
        <p:spPr>
          <a:xfrm>
            <a:off x="7496175" y="3857625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mask + response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717B1A-36FA-416E-BE15-F9158FF73CB0}"/>
              </a:ext>
            </a:extLst>
          </p:cNvPr>
          <p:cNvSpPr>
            <a:spLocks noGrp="1"/>
          </p:cNvSpPr>
          <p:nvPr/>
        </p:nvSpPr>
        <p:spPr>
          <a:xfrm>
            <a:off x="9829800" y="3857625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likelihood support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F053E0-9FD6-47B5-87C5-17A2EA054FDD}"/>
              </a:ext>
            </a:extLst>
          </p:cNvPr>
          <p:cNvSpPr>
            <a:spLocks noGrp="1"/>
          </p:cNvSpPr>
          <p:nvPr/>
        </p:nvSpPr>
        <p:spPr>
          <a:xfrm>
            <a:off x="1762125" y="5000625"/>
            <a:ext cx="866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086" lnSpcReduction="10000"/>
          </a:bodyPr>
          <a:lstStyle/>
          <a:p>
            <a:pPr algn="ctr">
              <a:def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A change of representation is a change of assumptions—not merely a file format.</a:t>
            </a:r>
          </a:p>
        </p:txBody>
      </p:sp>
    </p:spTree>
    <p:extLst>
      <p:ext uri="{BB962C8B-B14F-4D97-AF65-F5344CB8AC3E}">
        <p14:creationId xmlns:p14="http://schemas.microsoft.com/office/powerpoint/2010/main" val="125074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B24188-6A28-42A5-902E-65E932F6CBDB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Why compress? The arithmetic becomes unforgiving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004892-9B12-43D2-B660-FF330821B4E4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ADD92-A9BD-474C-8BC9-B272078704DD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B29FA-E877-4E00-86ED-2B5D974C3A57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813BC-C861-4B09-B6A9-37BFE240260E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9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512³ = 134,217,728 voxels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94BD4A-6627-4B1A-BC36-71B00918E1CE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≈ 512 MiB for one float32 field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86DE-730E-493D-916A-E2011EBE4A86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533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6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Covariance entries = p(p+1)/2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E8FA1-9BF0-4357-BE9E-C69EE44EB0F2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 = 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CF7417-E832-4F28-852B-49C6BB4663AC}"/>
              </a:ext>
            </a:extLst>
          </p:cNvPr>
          <p:cNvSpPr>
            <a:spLocks noGrp="1"/>
          </p:cNvSpPr>
          <p:nvPr/>
        </p:nvSpPr>
        <p:spPr>
          <a:xfrm>
            <a:off x="2667000" y="3857625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210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04757-C000-4BF3-B2D1-3467D0946519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 = 100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BB92CF-C60B-42D2-94D0-E9F8333FE419}"/>
              </a:ext>
            </a:extLst>
          </p:cNvPr>
          <p:cNvSpPr>
            <a:spLocks noGrp="1"/>
          </p:cNvSpPr>
          <p:nvPr/>
        </p:nvSpPr>
        <p:spPr>
          <a:xfrm>
            <a:off x="2667000" y="4486275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5,050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DD5C45-8CD9-4657-BD5A-01153B01466A}"/>
              </a:ext>
            </a:extLst>
          </p:cNvPr>
          <p:cNvSpPr>
            <a:spLocks noGrp="1"/>
          </p:cNvSpPr>
          <p:nvPr/>
        </p:nvSpPr>
        <p:spPr>
          <a:xfrm>
            <a:off x="876300" y="51149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 = 1,000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861D6-2011-42F2-9BA2-58B6E5D1F352}"/>
              </a:ext>
            </a:extLst>
          </p:cNvPr>
          <p:cNvSpPr>
            <a:spLocks noGrp="1"/>
          </p:cNvSpPr>
          <p:nvPr/>
        </p:nvSpPr>
        <p:spPr>
          <a:xfrm>
            <a:off x="2667000" y="5114925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2175" b="1" i="0">
                <a:solidFill>
                  <a:srgbClr val="9E3B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9E3B32"/>
                </a:solidFill>
                <a:latin typeface="Helvetica Neue"/>
                <a:ea typeface="Helvetica Neue"/>
                <a:cs typeface="Helvetica Neue"/>
              </a:rPr>
              <a:t>500,500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1CDC70-48CC-464E-BD42-3DFFC530F2E8}"/>
              </a:ext>
            </a:extLst>
          </p:cNvPr>
          <p:cNvSpPr>
            <a:spLocks noGrp="1"/>
          </p:cNvSpPr>
          <p:nvPr/>
        </p:nvSpPr>
        <p:spPr>
          <a:xfrm>
            <a:off x="6572250" y="1381125"/>
            <a:ext cx="4572000" cy="4000500"/>
          </a:xfrm>
          <a:prstGeom prst="rect">
            <a:avLst/>
          </a:prstGeom>
          <a:solidFill>
            <a:srgbClr val="FFFFFF"/>
          </a:solidFill>
          <a:ln w="1333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91E51B-24CF-4A8A-A810-522EF44B6FD1}"/>
              </a:ext>
            </a:extLst>
          </p:cNvPr>
          <p:cNvSpPr>
            <a:spLocks noGrp="1"/>
          </p:cNvSpPr>
          <p:nvPr/>
        </p:nvSpPr>
        <p:spPr>
          <a:xfrm>
            <a:off x="6953250" y="1695450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33" lnSpcReduction="10000"/>
          </a:bodyPr>
          <a:lstStyle/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Finite simulations impose a rank ceiling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E335F9-AA44-438E-A609-5BCA5110A12F}"/>
              </a:ext>
            </a:extLst>
          </p:cNvPr>
          <p:cNvSpPr>
            <a:spLocks noGrp="1"/>
          </p:cNvSpPr>
          <p:nvPr/>
        </p:nvSpPr>
        <p:spPr>
          <a:xfrm>
            <a:off x="6858000" y="266700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i="0" dirty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rank(C) ≤ </a:t>
            </a:r>
            <a:r>
              <a:rPr sz="2700" b="0" i="0" dirty="0" err="1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Nsim</a:t>
            </a:r>
            <a:r>
              <a:rPr sz="2700" b="0" i="0" dirty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 − 1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F1A40-8B8D-460C-A65E-125883AC6892}"/>
              </a:ext>
            </a:extLst>
          </p:cNvPr>
          <p:cNvSpPr>
            <a:spLocks noGrp="1"/>
          </p:cNvSpPr>
          <p:nvPr/>
        </p:nvSpPr>
        <p:spPr>
          <a:xfrm>
            <a:off x="7000875" y="3714750"/>
            <a:ext cx="3714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950" b="0" i="0" dirty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So </a:t>
            </a:r>
            <a:r>
              <a:rPr sz="1950" b="0" i="0" dirty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adding bins can make a summary longer while making its likelihood estimate less reliable.</a:t>
            </a:r>
          </a:p>
        </p:txBody>
      </p:sp>
    </p:spTree>
    <p:extLst>
      <p:ext uri="{BB962C8B-B14F-4D97-AF65-F5344CB8AC3E}">
        <p14:creationId xmlns:p14="http://schemas.microsoft.com/office/powerpoint/2010/main" val="135156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AA908F-E97B-4573-A9B6-168F6AD45799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Data volume is not parameter information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54D8D6-D431-4AA5-A75A-766DCBD3FED7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2F1CC-BB1C-44BF-B7D8-0B0B185CF486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52195-588F-421A-B126-E407A394981F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A4B57-0527-4486-995A-88D0E20145F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619625" cy="3762375"/>
          </a:xfrm>
          <a:prstGeom prst="rect">
            <a:avLst/>
          </a:prstGeom>
          <a:solidFill>
            <a:srgbClr val="FFFFFF"/>
          </a:solidFill>
          <a:ln w="1333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315B5-A0C3-40EA-926A-035FFFFC57CB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3857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Entropy of the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376FDE-279E-4A2E-9BAA-51661B758AA9}"/>
              </a:ext>
            </a:extLst>
          </p:cNvPr>
          <p:cNvSpPr>
            <a:spLocks noGrp="1"/>
          </p:cNvSpPr>
          <p:nvPr/>
        </p:nvSpPr>
        <p:spPr>
          <a:xfrm>
            <a:off x="1666875" y="2428875"/>
            <a:ext cx="2619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0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H(X)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DB810F-CA01-44E5-AF8B-8606FA12ED73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3571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How many states the data can occupy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58ACEB-E456-4D4D-BB1C-C101F13C40E4}"/>
              </a:ext>
            </a:extLst>
          </p:cNvPr>
          <p:cNvSpPr>
            <a:spLocks noGrp="1"/>
          </p:cNvSpPr>
          <p:nvPr/>
        </p:nvSpPr>
        <p:spPr>
          <a:xfrm>
            <a:off x="1666875" y="4476750"/>
            <a:ext cx="2619375" cy="323850"/>
          </a:xfrm>
          <a:prstGeom prst="roundRect">
            <a:avLst>
              <a:gd name="adj" fmla="val 23529"/>
            </a:avLst>
          </a:prstGeom>
          <a:solidFill>
            <a:srgbClr val="DCE6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27D29B-130D-4F55-A1D9-ECB4A6A4B6F8}"/>
              </a:ext>
            </a:extLst>
          </p:cNvPr>
          <p:cNvSpPr>
            <a:spLocks noGrp="1"/>
          </p:cNvSpPr>
          <p:nvPr/>
        </p:nvSpPr>
        <p:spPr>
          <a:xfrm>
            <a:off x="1743075" y="4495800"/>
            <a:ext cx="2466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bits about everything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113CF7-465D-4F9D-A368-5E43306B22F7}"/>
              </a:ext>
            </a:extLst>
          </p:cNvPr>
          <p:cNvSpPr>
            <a:spLocks noGrp="1"/>
          </p:cNvSpPr>
          <p:nvPr/>
        </p:nvSpPr>
        <p:spPr>
          <a:xfrm>
            <a:off x="6905625" y="1428750"/>
            <a:ext cx="4619625" cy="3762375"/>
          </a:xfrm>
          <a:prstGeom prst="rect">
            <a:avLst/>
          </a:prstGeom>
          <a:solidFill>
            <a:srgbClr val="FFFFFF"/>
          </a:solidFill>
          <a:ln w="1905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9AB5B7-AE9F-47DE-8381-3711DDCBEDBA}"/>
              </a:ext>
            </a:extLst>
          </p:cNvPr>
          <p:cNvSpPr>
            <a:spLocks noGrp="1"/>
          </p:cNvSpPr>
          <p:nvPr/>
        </p:nvSpPr>
        <p:spPr>
          <a:xfrm>
            <a:off x="7286625" y="1714500"/>
            <a:ext cx="3857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Information about 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4DF25A-FFD1-4DBA-8956-7F02B0E3A786}"/>
              </a:ext>
            </a:extLst>
          </p:cNvPr>
          <p:cNvSpPr>
            <a:spLocks noGrp="1"/>
          </p:cNvSpPr>
          <p:nvPr/>
        </p:nvSpPr>
        <p:spPr>
          <a:xfrm>
            <a:off x="7762875" y="2428875"/>
            <a:ext cx="2905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0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I(θ; X)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A7426-0BF1-4F27-9D55-A4D14E37A092}"/>
              </a:ext>
            </a:extLst>
          </p:cNvPr>
          <p:cNvSpPr>
            <a:spLocks noGrp="1"/>
          </p:cNvSpPr>
          <p:nvPr/>
        </p:nvSpPr>
        <p:spPr>
          <a:xfrm>
            <a:off x="7381875" y="3371850"/>
            <a:ext cx="3667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Only the variation that changes the parameter evidence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1B29FD8-34B3-42E6-897D-A433AB627840}"/>
              </a:ext>
            </a:extLst>
          </p:cNvPr>
          <p:cNvSpPr>
            <a:spLocks noGrp="1"/>
          </p:cNvSpPr>
          <p:nvPr/>
        </p:nvSpPr>
        <p:spPr>
          <a:xfrm>
            <a:off x="7858125" y="4476750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ED8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EF8049-F332-4313-85AA-50AAF67DC6DD}"/>
              </a:ext>
            </a:extLst>
          </p:cNvPr>
          <p:cNvSpPr>
            <a:spLocks noGrp="1"/>
          </p:cNvSpPr>
          <p:nvPr/>
        </p:nvSpPr>
        <p:spPr>
          <a:xfrm>
            <a:off x="7934325" y="4495800"/>
            <a:ext cx="2562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bits about the 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0271D0-D8F5-48BD-A1DD-4B1B12CFD968}"/>
              </a:ext>
            </a:extLst>
          </p:cNvPr>
          <p:cNvSpPr>
            <a:spLocks noGrp="1"/>
          </p:cNvSpPr>
          <p:nvPr/>
        </p:nvSpPr>
        <p:spPr>
          <a:xfrm>
            <a:off x="3429000" y="552450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9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I(θ; T(X)) ≤ I(θ; X)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2507DB-A38E-421C-994B-2491DAFA2353}"/>
              </a:ext>
            </a:extLst>
          </p:cNvPr>
          <p:cNvSpPr>
            <a:spLocks noGrp="1"/>
          </p:cNvSpPr>
          <p:nvPr/>
        </p:nvSpPr>
        <p:spPr>
          <a:xfrm>
            <a:off x="4333875" y="6057900"/>
            <a:ext cx="352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data-processing inequality</a:t>
            </a:r>
          </a:p>
        </p:txBody>
      </p:sp>
    </p:spTree>
    <p:extLst>
      <p:ext uri="{BB962C8B-B14F-4D97-AF65-F5344CB8AC3E}">
        <p14:creationId xmlns:p14="http://schemas.microsoft.com/office/powerpoint/2010/main" val="30340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2B5BC2-4AAA-4094-9CB3-E9402B650F6A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Sufficiency is always relative to a model and a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DB1987-5ED7-410A-897D-03203A383915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E2FE47-7C6A-43DC-8DBB-DFC67D373362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3B8E2-B512-4A8D-93A6-25F4BA998602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72EF4E-EB2C-415C-B68E-8B2E4679DCE2}"/>
              </a:ext>
            </a:extLst>
          </p:cNvPr>
          <p:cNvSpPr>
            <a:spLocks noGrp="1"/>
          </p:cNvSpPr>
          <p:nvPr/>
        </p:nvSpPr>
        <p:spPr>
          <a:xfrm>
            <a:off x="2000250" y="1381125"/>
            <a:ext cx="8191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2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p(x | θ) = h(x) · g(T(x), θ)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F5C05-7D07-480F-AA90-A03E6C270A7B}"/>
              </a:ext>
            </a:extLst>
          </p:cNvPr>
          <p:cNvSpPr>
            <a:spLocks noGrp="1"/>
          </p:cNvSpPr>
          <p:nvPr/>
        </p:nvSpPr>
        <p:spPr>
          <a:xfrm>
            <a:off x="4333875" y="2143125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Factorization criterion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BFB78-25AF-463B-83D9-14F7C937ADA3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219075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FBE41D-B69D-46BC-B697-194564EF35BD}"/>
              </a:ext>
            </a:extLst>
          </p:cNvPr>
          <p:cNvSpPr>
            <a:spLocks noGrp="1"/>
          </p:cNvSpPr>
          <p:nvPr/>
        </p:nvSpPr>
        <p:spPr>
          <a:xfrm>
            <a:off x="828675" y="3381375"/>
            <a:ext cx="1962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same data x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7FB9D2C-EB56-447F-B25E-FE5C0D81C0B2}"/>
              </a:ext>
            </a:extLst>
          </p:cNvPr>
          <p:cNvSpPr>
            <a:spLocks noGrp="1"/>
          </p:cNvSpPr>
          <p:nvPr/>
        </p:nvSpPr>
        <p:spPr>
          <a:xfrm>
            <a:off x="3000375" y="3762375"/>
            <a:ext cx="1209675" cy="9525"/>
          </a:xfrm>
          <a:prstGeom prst="line">
            <a:avLst/>
          </a:prstGeom>
          <a:noFill/>
          <a:ln w="3810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C46F37E9-392D-4C10-9632-0FA81404A256}"/>
              </a:ext>
            </a:extLst>
          </p:cNvPr>
          <p:cNvSpPr>
            <a:spLocks noGrp="1"/>
          </p:cNvSpPr>
          <p:nvPr/>
        </p:nvSpPr>
        <p:spPr>
          <a:xfrm rot="5400000">
            <a:off x="4238625" y="366712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65B73-D1AD-4A18-84C2-838CA40E98F4}"/>
              </a:ext>
            </a:extLst>
          </p:cNvPr>
          <p:cNvSpPr>
            <a:spLocks noGrp="1"/>
          </p:cNvSpPr>
          <p:nvPr/>
        </p:nvSpPr>
        <p:spPr>
          <a:xfrm>
            <a:off x="4476750" y="2952750"/>
            <a:ext cx="2476500" cy="904875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EA4D54-8C93-4E7C-8F50-3808FE85C339}"/>
              </a:ext>
            </a:extLst>
          </p:cNvPr>
          <p:cNvSpPr>
            <a:spLocks noGrp="1"/>
          </p:cNvSpPr>
          <p:nvPr/>
        </p:nvSpPr>
        <p:spPr>
          <a:xfrm>
            <a:off x="4591050" y="3048000"/>
            <a:ext cx="22479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T₁(x) for</a:t>
            </a:r>
          </a:p>
          <a:p>
            <a:pPr algn="ctr">
              <a:def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{Ωm, σ8}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97CF2C-8D0A-4D92-87F9-04F3905001B9}"/>
              </a:ext>
            </a:extLst>
          </p:cNvPr>
          <p:cNvSpPr>
            <a:spLocks noGrp="1"/>
          </p:cNvSpPr>
          <p:nvPr/>
        </p:nvSpPr>
        <p:spPr>
          <a:xfrm>
            <a:off x="4476750" y="4238625"/>
            <a:ext cx="2476500" cy="904875"/>
          </a:xfrm>
          <a:prstGeom prst="rect">
            <a:avLst/>
          </a:prstGeom>
          <a:solidFill>
            <a:srgbClr val="EED8CE"/>
          </a:solidFill>
          <a:ln w="1428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5C2D3B-254A-4E70-88D2-99F0A0F4DB6B}"/>
              </a:ext>
            </a:extLst>
          </p:cNvPr>
          <p:cNvSpPr>
            <a:spLocks noGrp="1"/>
          </p:cNvSpPr>
          <p:nvPr/>
        </p:nvSpPr>
        <p:spPr>
          <a:xfrm>
            <a:off x="4591050" y="4333875"/>
            <a:ext cx="22479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T₂(x) for</a:t>
            </a:r>
          </a:p>
          <a:p>
            <a:pPr algn="ctr">
              <a:def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primordial fNL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E869F6C-A934-4E08-8C79-FC4D25141D5C}"/>
              </a:ext>
            </a:extLst>
          </p:cNvPr>
          <p:cNvSpPr>
            <a:spLocks noGrp="1"/>
          </p:cNvSpPr>
          <p:nvPr/>
        </p:nvSpPr>
        <p:spPr>
          <a:xfrm flipV="1">
            <a:off x="7048500" y="3167534"/>
            <a:ext cx="1164455" cy="232891"/>
          </a:xfrm>
          <a:prstGeom prst="line">
            <a:avLst/>
          </a:prstGeom>
          <a:noFill/>
          <a:ln w="3810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366786CA-684A-4A1C-AA6E-49328984BA68}"/>
              </a:ext>
            </a:extLst>
          </p:cNvPr>
          <p:cNvSpPr>
            <a:spLocks noGrp="1"/>
          </p:cNvSpPr>
          <p:nvPr/>
        </p:nvSpPr>
        <p:spPr>
          <a:xfrm rot="4721404">
            <a:off x="8239125" y="3048000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A6F5C8B-45DD-4F68-8665-2FC9519B1409}"/>
              </a:ext>
            </a:extLst>
          </p:cNvPr>
          <p:cNvSpPr>
            <a:spLocks noGrp="1"/>
          </p:cNvSpPr>
          <p:nvPr/>
        </p:nvSpPr>
        <p:spPr>
          <a:xfrm>
            <a:off x="7048500" y="4695825"/>
            <a:ext cx="1164455" cy="232891"/>
          </a:xfrm>
          <a:prstGeom prst="line">
            <a:avLst/>
          </a:prstGeom>
          <a:noFill/>
          <a:ln w="3810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9C993597-5D01-4F15-8B5D-E0CEAE7D67D9}"/>
              </a:ext>
            </a:extLst>
          </p:cNvPr>
          <p:cNvSpPr>
            <a:spLocks noGrp="1"/>
          </p:cNvSpPr>
          <p:nvPr/>
        </p:nvSpPr>
        <p:spPr>
          <a:xfrm rot="6078596">
            <a:off x="8239125" y="485775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3E24C1-D536-40F8-8467-B11FB209C169}"/>
              </a:ext>
            </a:extLst>
          </p:cNvPr>
          <p:cNvSpPr>
            <a:spLocks noGrp="1"/>
          </p:cNvSpPr>
          <p:nvPr/>
        </p:nvSpPr>
        <p:spPr>
          <a:xfrm>
            <a:off x="8524875" y="3429000"/>
            <a:ext cx="2762250" cy="12858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74B40E-C650-4586-90D1-B08E355F69A7}"/>
              </a:ext>
            </a:extLst>
          </p:cNvPr>
          <p:cNvSpPr>
            <a:spLocks noGrp="1"/>
          </p:cNvSpPr>
          <p:nvPr/>
        </p:nvSpPr>
        <p:spPr>
          <a:xfrm>
            <a:off x="8639175" y="3524250"/>
            <a:ext cx="25336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different retained</a:t>
            </a:r>
          </a:p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389BA8-BF8E-4A72-AB78-DFD05FEAD5C6}"/>
              </a:ext>
            </a:extLst>
          </p:cNvPr>
          <p:cNvSpPr>
            <a:spLocks noGrp="1"/>
          </p:cNvSpPr>
          <p:nvPr/>
        </p:nvSpPr>
        <p:spPr>
          <a:xfrm>
            <a:off x="1952625" y="5619750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207" lnSpcReduction="10000"/>
          </a:bodyPr>
          <a:lstStyle/>
          <a:p>
            <a:pPr algn="ctr">
              <a:defRPr sz="21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Change the likelihood family, nuisance model or parameter target—and sufficiency can disappear.</a:t>
            </a:r>
          </a:p>
        </p:txBody>
      </p:sp>
    </p:spTree>
    <p:extLst>
      <p:ext uri="{BB962C8B-B14F-4D97-AF65-F5344CB8AC3E}">
        <p14:creationId xmlns:p14="http://schemas.microsoft.com/office/powerpoint/2010/main" val="191905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F47252B-8411-498A-8394-7BCBD74816A3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THE GAUSSIAN EXCEPTION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64AE08-61C1-4C05-8722-023756577FCB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Power is exact only inside a special Gaussian idealization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6900F-2FB0-42DE-8134-E2234B5B19E2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E9C1FB-CBF8-48CB-BF11-0C556C17B144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C08D6-07A2-42A1-82F6-57673D2F5A72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5DF545-121B-4725-B506-A6220F8E43F2}"/>
              </a:ext>
            </a:extLst>
          </p:cNvPr>
          <p:cNvSpPr>
            <a:spLocks noGrp="1"/>
          </p:cNvSpPr>
          <p:nvPr/>
        </p:nvSpPr>
        <p:spPr>
          <a:xfrm>
            <a:off x="1152525" y="1533525"/>
            <a:ext cx="266700" cy="2667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7E830C7-6802-4DAB-B36C-F1D51E745DBE}"/>
              </a:ext>
            </a:extLst>
          </p:cNvPr>
          <p:cNvSpPr>
            <a:spLocks noGrp="1"/>
          </p:cNvSpPr>
          <p:nvPr/>
        </p:nvSpPr>
        <p:spPr>
          <a:xfrm>
            <a:off x="1285875" y="1838325"/>
            <a:ext cx="9525" cy="514350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9B6F7-807C-4363-B85E-ED6286A5DF05}"/>
              </a:ext>
            </a:extLst>
          </p:cNvPr>
          <p:cNvSpPr>
            <a:spLocks noGrp="1"/>
          </p:cNvSpPr>
          <p:nvPr/>
        </p:nvSpPr>
        <p:spPr>
          <a:xfrm>
            <a:off x="1714500" y="1381125"/>
            <a:ext cx="8715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statistically homogeneous Gaussian field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375BE1-1B89-4768-81DA-1E72FF6453A1}"/>
              </a:ext>
            </a:extLst>
          </p:cNvPr>
          <p:cNvSpPr>
            <a:spLocks noGrp="1"/>
          </p:cNvSpPr>
          <p:nvPr/>
        </p:nvSpPr>
        <p:spPr>
          <a:xfrm>
            <a:off x="1152525" y="2390775"/>
            <a:ext cx="266700" cy="2667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992BF7D-46F6-4E43-9612-7E8AD2FA4732}"/>
              </a:ext>
            </a:extLst>
          </p:cNvPr>
          <p:cNvSpPr>
            <a:spLocks noGrp="1"/>
          </p:cNvSpPr>
          <p:nvPr/>
        </p:nvSpPr>
        <p:spPr>
          <a:xfrm>
            <a:off x="1285875" y="2695575"/>
            <a:ext cx="9525" cy="514350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215ADD-2E3A-4B7C-826A-0A9372B902FA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8715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independent complex Gaussians on a nonredundant half-space</a:t>
            </a:r>
          </a:p>
          <a:p>
            <a:pPr algn="l">
              <a:def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with δ̃(−k) = δ̃(k)*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1B2C2B-7D75-4A6D-A650-EAA44F4A81F1}"/>
              </a:ext>
            </a:extLst>
          </p:cNvPr>
          <p:cNvSpPr>
            <a:spLocks noGrp="1"/>
          </p:cNvSpPr>
          <p:nvPr/>
        </p:nvSpPr>
        <p:spPr>
          <a:xfrm>
            <a:off x="1152525" y="3248025"/>
            <a:ext cx="266700" cy="26670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DD4974D-F172-49F8-9DE0-E1099571AE04}"/>
              </a:ext>
            </a:extLst>
          </p:cNvPr>
          <p:cNvSpPr>
            <a:spLocks noGrp="1"/>
          </p:cNvSpPr>
          <p:nvPr/>
        </p:nvSpPr>
        <p:spPr>
          <a:xfrm>
            <a:off x="1285875" y="3552825"/>
            <a:ext cx="9525" cy="514350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7C9E0B-6C2A-42FC-8014-3A865F8EFA3E}"/>
              </a:ext>
            </a:extLst>
          </p:cNvPr>
          <p:cNvSpPr>
            <a:spLocks noGrp="1"/>
          </p:cNvSpPr>
          <p:nvPr/>
        </p:nvSpPr>
        <p:spPr>
          <a:xfrm>
            <a:off x="1714500" y="3095625"/>
            <a:ext cx="8715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all connected correlators above second order vanish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864BD7-82DB-4486-AE19-E4A08217EBFC}"/>
              </a:ext>
            </a:extLst>
          </p:cNvPr>
          <p:cNvSpPr>
            <a:spLocks noGrp="1"/>
          </p:cNvSpPr>
          <p:nvPr/>
        </p:nvSpPr>
        <p:spPr>
          <a:xfrm>
            <a:off x="1152525" y="4105275"/>
            <a:ext cx="266700" cy="2667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5B5A79-9D12-465B-B8FE-0475FCFF5E18}"/>
              </a:ext>
            </a:extLst>
          </p:cNvPr>
          <p:cNvSpPr>
            <a:spLocks noGrp="1"/>
          </p:cNvSpPr>
          <p:nvPr/>
        </p:nvSpPr>
        <p:spPr>
          <a:xfrm>
            <a:off x="1714500" y="3952875"/>
            <a:ext cx="8715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the covariance — equivalently P(k) — fixes the ensemble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F6358F-4135-4B6A-8CF7-C2032C8B0A8F}"/>
              </a:ext>
            </a:extLst>
          </p:cNvPr>
          <p:cNvSpPr>
            <a:spLocks noGrp="1"/>
          </p:cNvSpPr>
          <p:nvPr/>
        </p:nvSpPr>
        <p:spPr>
          <a:xfrm>
            <a:off x="1571625" y="5143500"/>
            <a:ext cx="9048750" cy="800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D56F1B-CB25-411E-A959-F6D6F743CBBE}"/>
              </a:ext>
            </a:extLst>
          </p:cNvPr>
          <p:cNvSpPr>
            <a:spLocks noGrp="1"/>
          </p:cNvSpPr>
          <p:nvPr/>
        </p:nvSpPr>
        <p:spPr>
          <a:xfrm>
            <a:off x="1857375" y="531495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806" lnSpcReduction="10000"/>
          </a:bodyPr>
          <a:lstStyle/>
          <a:p>
            <a:pPr algn="ctr">
              <a:defRPr sz="18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Caveat: isotropic binned P(k) also assumes the relevant symmetries and a modeled window/noise response.</a:t>
            </a:r>
          </a:p>
        </p:txBody>
      </p:sp>
    </p:spTree>
    <p:extLst>
      <p:ext uri="{BB962C8B-B14F-4D97-AF65-F5344CB8AC3E}">
        <p14:creationId xmlns:p14="http://schemas.microsoft.com/office/powerpoint/2010/main" val="190421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433107E-7BB1-4FBC-A668-311370BE0C21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MYSTERY REVEALED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4820D7-839B-48C5-B7A3-510D7F5E24A4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Gravity moves information into phase correlations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6263AC-CC23-46F8-BA9D-980DF666E94D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BB0BC4-46AD-4E88-AF0C-566DFA7F8114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380DFA-2F5C-47C1-B0DE-0B9614F3DD68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0DAC5-5FDF-4942-93B6-1AED36F4EFEF}"/>
              </a:ext>
            </a:extLst>
          </p:cNvPr>
          <p:cNvSpPr>
            <a:spLocks noGrp="1"/>
          </p:cNvSpPr>
          <p:nvPr/>
        </p:nvSpPr>
        <p:spPr>
          <a:xfrm>
            <a:off x="381000" y="1238250"/>
            <a:ext cx="3238500" cy="39528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570526"/>
            <a:ext cx="3143250" cy="32883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C606B97-72AB-4F12-A870-E5B3ECFB7906}"/>
              </a:ext>
            </a:extLst>
          </p:cNvPr>
          <p:cNvSpPr>
            <a:spLocks noGrp="1"/>
          </p:cNvSpPr>
          <p:nvPr/>
        </p:nvSpPr>
        <p:spPr>
          <a:xfrm>
            <a:off x="3619500" y="1238250"/>
            <a:ext cx="3238500" cy="39528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67125" y="1570526"/>
            <a:ext cx="3143250" cy="32883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FE4D00-64F2-43C6-853E-0FF70017109E}"/>
              </a:ext>
            </a:extLst>
          </p:cNvPr>
          <p:cNvSpPr>
            <a:spLocks noGrp="1"/>
          </p:cNvSpPr>
          <p:nvPr/>
        </p:nvSpPr>
        <p:spPr>
          <a:xfrm>
            <a:off x="7096125" y="1238250"/>
            <a:ext cx="4714875" cy="39528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45680" y="1379253"/>
            <a:ext cx="4323003" cy="37642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0325048-1ED3-4AA7-973B-2878415E8180}"/>
              </a:ext>
            </a:extLst>
          </p:cNvPr>
          <p:cNvSpPr>
            <a:spLocks noGrp="1"/>
          </p:cNvSpPr>
          <p:nvPr/>
        </p:nvSpPr>
        <p:spPr>
          <a:xfrm>
            <a:off x="619125" y="5286375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|δ̃ₐ(k)| = |δ̃ᵦ(k)|   ⇒   Pₐ(k) = Pᵦ(k)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AB7FB-5666-4C78-B85F-EEC91FCA615E}"/>
              </a:ext>
            </a:extLst>
          </p:cNvPr>
          <p:cNvSpPr>
            <a:spLocks noGrp="1"/>
          </p:cNvSpPr>
          <p:nvPr/>
        </p:nvSpPr>
        <p:spPr>
          <a:xfrm>
            <a:off x="7239000" y="5305425"/>
            <a:ext cx="4333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33" lnSpcReduction="10000"/>
          </a:bodyPr>
          <a:lstStyle/>
          <a:p>
            <a:pPr algn="ctr">
              <a:def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Same amplitudes. Different phases. Different morphology.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6471F6-5709-419F-8C88-E7E4D139C0E7}"/>
              </a:ext>
            </a:extLst>
          </p:cNvPr>
          <p:cNvSpPr>
            <a:spLocks noGrp="1"/>
          </p:cNvSpPr>
          <p:nvPr/>
        </p:nvSpPr>
        <p:spPr>
          <a:xfrm>
            <a:off x="2286000" y="5953125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318"/>
          </a:bodyPr>
          <a:lstStyle/>
          <a:p>
            <a:pPr algn="ctr">
              <a:def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Power sees amplitude by scale; it does not remember where structures occur.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9DB255-3136-4918-8460-3AEBD56EAD29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analytic fixture • same Fourier amplitudes, altered phases</a:t>
            </a:r>
          </a:p>
        </p:txBody>
      </p:sp>
    </p:spTree>
    <p:extLst>
      <p:ext uri="{BB962C8B-B14F-4D97-AF65-F5344CB8AC3E}">
        <p14:creationId xmlns:p14="http://schemas.microsoft.com/office/powerpoint/2010/main" val="72976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419AE3E-0945-4F5D-9EF4-39E6DB589981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VALIDATION GEOMETRY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8842DF-47A5-4F7D-9FB9-67DBB9560BAD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Model error is dangerous when it mimics a parameter shift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6E6E0-CCB1-4F9D-AB96-3CC599C86492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EF6FB-5708-49CE-A654-F76A579799A2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ED604-ABEE-4ECC-9A87-64560207DC07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15E7-55BA-4805-A14F-919A0B7B912F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5905500" cy="428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9C65477-B3E5-4EAC-8A38-CBE5B839061D}"/>
              </a:ext>
            </a:extLst>
          </p:cNvPr>
          <p:cNvSpPr>
            <a:spLocks noGrp="1"/>
          </p:cNvSpPr>
          <p:nvPr/>
        </p:nvSpPr>
        <p:spPr>
          <a:xfrm flipV="1">
            <a:off x="1619250" y="2120634"/>
            <a:ext cx="3900307" cy="2832366"/>
          </a:xfrm>
          <a:prstGeom prst="line">
            <a:avLst/>
          </a:prstGeom>
          <a:noFill/>
          <a:ln w="5715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BAD15E42-9F19-48D2-B779-F2D7D79C2AE1}"/>
              </a:ext>
            </a:extLst>
          </p:cNvPr>
          <p:cNvSpPr>
            <a:spLocks noGrp="1"/>
          </p:cNvSpPr>
          <p:nvPr/>
        </p:nvSpPr>
        <p:spPr>
          <a:xfrm rot="3240792">
            <a:off x="5524500" y="195262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5CFAD96-3E64-4E13-A590-625E8004162A}"/>
              </a:ext>
            </a:extLst>
          </p:cNvPr>
          <p:cNvSpPr>
            <a:spLocks noGrp="1"/>
          </p:cNvSpPr>
          <p:nvPr/>
        </p:nvSpPr>
        <p:spPr>
          <a:xfrm flipV="1">
            <a:off x="1619250" y="3805103"/>
            <a:ext cx="3122281" cy="1147897"/>
          </a:xfrm>
          <a:prstGeom prst="line">
            <a:avLst/>
          </a:prstGeom>
          <a:noFill/>
          <a:ln w="5715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D573E8C0-A2BC-4085-9C9B-1D142BA6C0C9}"/>
              </a:ext>
            </a:extLst>
          </p:cNvPr>
          <p:cNvSpPr>
            <a:spLocks noGrp="1"/>
          </p:cNvSpPr>
          <p:nvPr/>
        </p:nvSpPr>
        <p:spPr>
          <a:xfrm rot="4188852">
            <a:off x="4762500" y="3667125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CE781-6710-4A02-BDDD-62DA931993EC}"/>
              </a:ext>
            </a:extLst>
          </p:cNvPr>
          <p:cNvSpPr>
            <a:spLocks noGrp="1"/>
          </p:cNvSpPr>
          <p:nvPr/>
        </p:nvSpPr>
        <p:spPr>
          <a:xfrm>
            <a:off x="4688591" y="1834884"/>
            <a:ext cx="114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 dirty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∂</a:t>
            </a:r>
            <a:r>
              <a:rPr sz="2025" b="1" i="0" dirty="0" err="1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μ</a:t>
            </a:r>
            <a:r>
              <a:rPr sz="2025" b="1" i="0" dirty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/∂</a:t>
            </a:r>
            <a:r>
              <a:rPr sz="2025" b="1" i="0" dirty="0" err="1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θ</a:t>
            </a:r>
            <a:endParaRPr sz="2025" b="1" i="0" dirty="0">
              <a:solidFill>
                <a:srgbClr val="2D526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D99FFB-24C5-4551-AC80-BC4B42603C76}"/>
              </a:ext>
            </a:extLst>
          </p:cNvPr>
          <p:cNvSpPr>
            <a:spLocks noGrp="1"/>
          </p:cNvSpPr>
          <p:nvPr/>
        </p:nvSpPr>
        <p:spPr>
          <a:xfrm>
            <a:off x="4828994" y="3798918"/>
            <a:ext cx="1381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 dirty="0" err="1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Δμmodel</a:t>
            </a:r>
            <a:endParaRPr sz="1950" b="1" i="0" dirty="0">
              <a:solidFill>
                <a:srgbClr val="B9553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50A1F02-19FD-44D0-9E88-5098547143BA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3524250" cy="9525"/>
          </a:xfrm>
          <a:prstGeom prst="line">
            <a:avLst/>
          </a:prstGeom>
          <a:noFill/>
          <a:ln w="1905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7DA6099-2B1B-4AF4-97AB-7D82BA4CD892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9525" cy="3000375"/>
          </a:xfrm>
          <a:prstGeom prst="line">
            <a:avLst/>
          </a:prstGeom>
          <a:noFill/>
          <a:ln w="1905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DDD754-A9FC-4D84-88F5-494D0DE0D9DB}"/>
              </a:ext>
            </a:extLst>
          </p:cNvPr>
          <p:cNvSpPr>
            <a:spLocks noGrp="1"/>
          </p:cNvSpPr>
          <p:nvPr/>
        </p:nvSpPr>
        <p:spPr>
          <a:xfrm>
            <a:off x="3000375" y="5143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summary space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C52A89-F20B-4110-80BE-AC38A2F99EA1}"/>
              </a:ext>
            </a:extLst>
          </p:cNvPr>
          <p:cNvSpPr>
            <a:spLocks noGrp="1"/>
          </p:cNvSpPr>
          <p:nvPr/>
        </p:nvSpPr>
        <p:spPr>
          <a:xfrm>
            <a:off x="7000875" y="2000250"/>
            <a:ext cx="442912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bθ ≈ F⁻¹ (∂μ/∂θ)ᵀ C⁻¹ Δμmodel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EDCBE5-688B-4547-8003-878FFA6BB54C}"/>
              </a:ext>
            </a:extLst>
          </p:cNvPr>
          <p:cNvSpPr>
            <a:spLocks noGrp="1"/>
          </p:cNvSpPr>
          <p:nvPr/>
        </p:nvSpPr>
        <p:spPr>
          <a:xfrm>
            <a:off x="7143750" y="3524250"/>
            <a:ext cx="390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050"/>
          </a:bodyPr>
          <a:lstStyle/>
          <a:p>
            <a:pPr algn="ctr">
              <a:defRPr sz="20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visually obvious error can be harmless if orthogonal to the score.</a:t>
            </a:r>
          </a:p>
          <a:p>
            <a:pPr algn="ctr">
              <a:defRPr sz="20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subtle error can be fatal if aligned with it.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0BA4C09-D4D4-46CC-AF0F-A94B6E252D3A}"/>
              </a:ext>
            </a:extLst>
          </p:cNvPr>
          <p:cNvSpPr>
            <a:spLocks noGrp="1"/>
          </p:cNvSpPr>
          <p:nvPr/>
        </p:nvSpPr>
        <p:spPr>
          <a:xfrm>
            <a:off x="7667625" y="5143500"/>
            <a:ext cx="2952750" cy="323850"/>
          </a:xfrm>
          <a:prstGeom prst="roundRect">
            <a:avLst>
              <a:gd name="adj" fmla="val 23529"/>
            </a:avLst>
          </a:prstGeom>
          <a:solidFill>
            <a:srgbClr val="EED8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2F970D-8E72-4FB1-B247-6759BB4A353A}"/>
              </a:ext>
            </a:extLst>
          </p:cNvPr>
          <p:cNvSpPr>
            <a:spLocks noGrp="1"/>
          </p:cNvSpPr>
          <p:nvPr/>
        </p:nvSpPr>
        <p:spPr>
          <a:xfrm>
            <a:off x="7743825" y="5162550"/>
            <a:ext cx="2800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validate in the inference metric</a:t>
            </a:r>
          </a:p>
        </p:txBody>
      </p:sp>
    </p:spTree>
    <p:extLst>
      <p:ext uri="{BB962C8B-B14F-4D97-AF65-F5344CB8AC3E}">
        <p14:creationId xmlns:p14="http://schemas.microsoft.com/office/powerpoint/2010/main" val="130964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6E83814-98D8-4B24-BE8C-157274B6005F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MAP OF THE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6D5650-1F70-4320-9986-AC3BF5C6F52C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There is no universal compressor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D658D-A9D5-468C-B439-AA8A6CA20F05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2823DC-0B38-441D-8938-D51267AB20A4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9C555F-8B40-4486-BCB7-A1C060552E4C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D4048-955B-407A-9380-2496505D8BFE}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1571625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BF390-D648-475C-89CB-BB9BD7F9CD43}"/>
              </a:ext>
            </a:extLst>
          </p:cNvPr>
          <p:cNvSpPr>
            <a:spLocks noGrp="1"/>
          </p:cNvSpPr>
          <p:nvPr/>
        </p:nvSpPr>
        <p:spPr>
          <a:xfrm>
            <a:off x="733425" y="2857500"/>
            <a:ext cx="13430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field x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FEF84CB-92A0-4862-ABD6-D19303146F76}"/>
              </a:ext>
            </a:extLst>
          </p:cNvPr>
          <p:cNvSpPr>
            <a:spLocks noGrp="1"/>
          </p:cNvSpPr>
          <p:nvPr/>
        </p:nvSpPr>
        <p:spPr>
          <a:xfrm flipV="1">
            <a:off x="2286000" y="1802245"/>
            <a:ext cx="870780" cy="1483880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DC6C5E13-B6B4-42C1-BB61-BCC621FBC540}"/>
              </a:ext>
            </a:extLst>
          </p:cNvPr>
          <p:cNvSpPr>
            <a:spLocks noGrp="1"/>
          </p:cNvSpPr>
          <p:nvPr/>
        </p:nvSpPr>
        <p:spPr>
          <a:xfrm rot="1824332">
            <a:off x="3124200" y="1600200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C82C6-CD1A-47EB-9E31-CD6EA0C1FE70}"/>
              </a:ext>
            </a:extLst>
          </p:cNvPr>
          <p:cNvSpPr>
            <a:spLocks noGrp="1"/>
          </p:cNvSpPr>
          <p:nvPr/>
        </p:nvSpPr>
        <p:spPr>
          <a:xfrm>
            <a:off x="3333750" y="1285875"/>
            <a:ext cx="7429500" cy="819150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2127F6-815F-42FC-B554-0B6FF6DA5FE9}"/>
              </a:ext>
            </a:extLst>
          </p:cNvPr>
          <p:cNvSpPr>
            <a:spLocks noGrp="1"/>
          </p:cNvSpPr>
          <p:nvPr/>
        </p:nvSpPr>
        <p:spPr>
          <a:xfrm>
            <a:off x="3448050" y="1381125"/>
            <a:ext cx="7200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symmetry-based</a:t>
            </a:r>
          </a:p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P(k), ξ(r), multipoles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9F629E3-5B20-4CA9-AD4B-BAE691598CCA}"/>
              </a:ext>
            </a:extLst>
          </p:cNvPr>
          <p:cNvSpPr>
            <a:spLocks noGrp="1"/>
          </p:cNvSpPr>
          <p:nvPr/>
        </p:nvSpPr>
        <p:spPr>
          <a:xfrm flipV="1">
            <a:off x="2286000" y="2805456"/>
            <a:ext cx="826413" cy="48066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EF549F7E-16A4-4FE7-AF70-38F5218AC9C0}"/>
              </a:ext>
            </a:extLst>
          </p:cNvPr>
          <p:cNvSpPr>
            <a:spLocks noGrp="1"/>
          </p:cNvSpPr>
          <p:nvPr/>
        </p:nvSpPr>
        <p:spPr>
          <a:xfrm rot="3588979">
            <a:off x="3124200" y="264795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97DFD-5A33-45BF-B9A5-F5D692535CFC}"/>
              </a:ext>
            </a:extLst>
          </p:cNvPr>
          <p:cNvSpPr>
            <a:spLocks noGrp="1"/>
          </p:cNvSpPr>
          <p:nvPr/>
        </p:nvSpPr>
        <p:spPr>
          <a:xfrm>
            <a:off x="3333750" y="2333625"/>
            <a:ext cx="7429500" cy="819150"/>
          </a:xfrm>
          <a:prstGeom prst="rect">
            <a:avLst/>
          </a:prstGeom>
          <a:solidFill>
            <a:srgbClr val="EED8CE"/>
          </a:solidFill>
          <a:ln w="1428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60B538-9AEA-4E4A-9703-6155AA60426B}"/>
              </a:ext>
            </a:extLst>
          </p:cNvPr>
          <p:cNvSpPr>
            <a:spLocks noGrp="1"/>
          </p:cNvSpPr>
          <p:nvPr/>
        </p:nvSpPr>
        <p:spPr>
          <a:xfrm>
            <a:off x="3448050" y="2428875"/>
            <a:ext cx="7200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morphology-based</a:t>
            </a:r>
          </a:p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peaks, PDF, topology, wavelets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15FAF8E-1E50-4E45-8EC0-F20EE58D5E9E}"/>
              </a:ext>
            </a:extLst>
          </p:cNvPr>
          <p:cNvSpPr>
            <a:spLocks noGrp="1"/>
          </p:cNvSpPr>
          <p:nvPr/>
        </p:nvSpPr>
        <p:spPr>
          <a:xfrm>
            <a:off x="2286000" y="3286125"/>
            <a:ext cx="824533" cy="445921"/>
          </a:xfrm>
          <a:prstGeom prst="line">
            <a:avLst/>
          </a:prstGeom>
          <a:noFill/>
          <a:ln w="28575">
            <a:solidFill>
              <a:srgbClr val="4E7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AB47C4D1-5D3A-4FF0-A94C-B8D48781B475}"/>
              </a:ext>
            </a:extLst>
          </p:cNvPr>
          <p:cNvSpPr>
            <a:spLocks noGrp="1"/>
          </p:cNvSpPr>
          <p:nvPr/>
        </p:nvSpPr>
        <p:spPr>
          <a:xfrm rot="7104315">
            <a:off x="3124200" y="3695700"/>
            <a:ext cx="190500" cy="190500"/>
          </a:xfrm>
          <a:prstGeom prst="triangle">
            <a:avLst/>
          </a:prstGeom>
          <a:solidFill>
            <a:srgbClr val="4E70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B3DE43-DDED-455C-BADB-FBBB22DAE81D}"/>
              </a:ext>
            </a:extLst>
          </p:cNvPr>
          <p:cNvSpPr>
            <a:spLocks noGrp="1"/>
          </p:cNvSpPr>
          <p:nvPr/>
        </p:nvSpPr>
        <p:spPr>
          <a:xfrm>
            <a:off x="3333750" y="3381375"/>
            <a:ext cx="7429500" cy="819150"/>
          </a:xfrm>
          <a:prstGeom prst="rect">
            <a:avLst/>
          </a:prstGeom>
          <a:solidFill>
            <a:srgbClr val="DDE7DF"/>
          </a:solidFill>
          <a:ln w="14288">
            <a:solidFill>
              <a:srgbClr val="4E7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C61207-6C6B-4B60-B9DF-FBC35F59C211}"/>
              </a:ext>
            </a:extLst>
          </p:cNvPr>
          <p:cNvSpPr>
            <a:spLocks noGrp="1"/>
          </p:cNvSpPr>
          <p:nvPr/>
        </p:nvSpPr>
        <p:spPr>
          <a:xfrm>
            <a:off x="3448050" y="3476625"/>
            <a:ext cx="7200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model-aware</a:t>
            </a:r>
          </a:p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MOPED, score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E14A80E-5235-48FE-8D20-A701B1A98AB2}"/>
              </a:ext>
            </a:extLst>
          </p:cNvPr>
          <p:cNvSpPr>
            <a:spLocks noGrp="1"/>
          </p:cNvSpPr>
          <p:nvPr/>
        </p:nvSpPr>
        <p:spPr>
          <a:xfrm>
            <a:off x="2286000" y="3286125"/>
            <a:ext cx="869647" cy="1446453"/>
          </a:xfrm>
          <a:prstGeom prst="line">
            <a:avLst/>
          </a:prstGeom>
          <a:noFill/>
          <a:ln w="28575">
            <a:solidFill>
              <a:srgbClr val="202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678D151D-8D2E-47A6-B404-4A96363CFB8C}"/>
              </a:ext>
            </a:extLst>
          </p:cNvPr>
          <p:cNvSpPr>
            <a:spLocks noGrp="1"/>
          </p:cNvSpPr>
          <p:nvPr/>
        </p:nvSpPr>
        <p:spPr>
          <a:xfrm rot="8939075">
            <a:off x="3124200" y="4743450"/>
            <a:ext cx="190500" cy="190500"/>
          </a:xfrm>
          <a:prstGeom prst="triangle">
            <a:avLst/>
          </a:prstGeom>
          <a:solidFill>
            <a:srgbClr val="2022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1DC5D-086F-45D8-BF7A-516C2D09E88C}"/>
              </a:ext>
            </a:extLst>
          </p:cNvPr>
          <p:cNvSpPr>
            <a:spLocks noGrp="1"/>
          </p:cNvSpPr>
          <p:nvPr/>
        </p:nvSpPr>
        <p:spPr>
          <a:xfrm>
            <a:off x="3333750" y="4429125"/>
            <a:ext cx="7429500" cy="819150"/>
          </a:xfrm>
          <a:prstGeom prst="rect">
            <a:avLst/>
          </a:prstGeom>
          <a:solidFill>
            <a:srgbClr val="FFFFFF"/>
          </a:solidFill>
          <a:ln w="14288">
            <a:solidFill>
              <a:srgbClr val="2022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4380B7-0AA7-436A-ABD6-F25207244EDD}"/>
              </a:ext>
            </a:extLst>
          </p:cNvPr>
          <p:cNvSpPr>
            <a:spLocks noGrp="1"/>
          </p:cNvSpPr>
          <p:nvPr/>
        </p:nvSpPr>
        <p:spPr>
          <a:xfrm>
            <a:off x="3448050" y="4524375"/>
            <a:ext cx="7200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learned / field-level</a:t>
            </a:r>
          </a:p>
          <a:p>
            <a:pPr algn="ctr">
              <a:defRPr sz="16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dirty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IMNNs, neural estimators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F2C183-BFB9-4515-BA31-0E2534F5F56B}"/>
              </a:ext>
            </a:extLst>
          </p:cNvPr>
          <p:cNvSpPr>
            <a:spLocks noGrp="1"/>
          </p:cNvSpPr>
          <p:nvPr/>
        </p:nvSpPr>
        <p:spPr>
          <a:xfrm>
            <a:off x="2428875" y="57150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534" lnSpcReduction="10000"/>
          </a:bodyPr>
          <a:lstStyle/>
          <a:p>
            <a:pPr algn="ctr">
              <a:def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For every branch:  what is retained?   what is invariant?   how is the posterior validated?</a:t>
            </a:r>
          </a:p>
        </p:txBody>
      </p:sp>
    </p:spTree>
    <p:extLst>
      <p:ext uri="{BB962C8B-B14F-4D97-AF65-F5344CB8AC3E}">
        <p14:creationId xmlns:p14="http://schemas.microsoft.com/office/powerpoint/2010/main" val="1118351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20E125-ACF2-4959-9695-59F34AEF4DA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rPr>
              <a:t>DAY 1  •  LECTURE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CB823-3CC2-4C7E-8BE5-F8D9C24E2A6E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096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How we calculate—</a:t>
            </a:r>
          </a:p>
          <a:p>
            <a:pPr algn="l">
              <a:defRPr sz="4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and what survives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83E27-D960-42AC-9ED1-97B4EF7309D9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381125" cy="47625"/>
          </a:xfrm>
          <a:prstGeom prst="rect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192E4E-0337-4112-817C-890BC01D1209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9239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Power, bispectrum and directional wavelets as explicit operations on a field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5A130-38ED-4710-AD9B-5D90FF33590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Every statistic is an algorithm plus a claim about what may be forgotten.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DBF103-4CD3-45EB-8913-1C2FCDE96EA2}"/>
              </a:ext>
            </a:extLst>
          </p:cNvPr>
          <p:cNvSpPr>
            <a:spLocks noGrp="1"/>
          </p:cNvSpPr>
          <p:nvPr/>
        </p:nvSpPr>
        <p:spPr>
          <a:xfrm>
            <a:off x="11096625" y="63341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3210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9349A89-FCC4-4D69-A747-2EDD83F9A11F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FOURIER CONTRACT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D67ED-A9A5-4AC8-9FA0-B5331ED5A6CA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An FFT becomes a physical statistic only after four choices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B5DC5-FC1D-41D8-94F4-015E757A93D3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C05FAC-FD8C-43D1-A381-C52F80152774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F3FA0-D346-4D87-A62A-EAE77765F63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E6486-2973-4DA3-8635-67047C900B43}"/>
              </a:ext>
            </a:extLst>
          </p:cNvPr>
          <p:cNvSpPr>
            <a:spLocks noGrp="1"/>
          </p:cNvSpPr>
          <p:nvPr/>
        </p:nvSpPr>
        <p:spPr>
          <a:xfrm>
            <a:off x="590550" y="1476375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571752-E415-4AB5-9F76-82605A549320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coordinate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52314-8B64-4A5F-A341-00C5DA0A0576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2238375" cy="28575"/>
          </a:xfrm>
          <a:prstGeom prst="rect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C6D11-00FE-46D9-92F8-6C407FF0E00A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box L; grid 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07D6B6-B7A4-40F2-974A-6E1E8C12B115}"/>
              </a:ext>
            </a:extLst>
          </p:cNvPr>
          <p:cNvSpPr>
            <a:spLocks noGrp="1"/>
          </p:cNvSpPr>
          <p:nvPr/>
        </p:nvSpPr>
        <p:spPr>
          <a:xfrm>
            <a:off x="3381375" y="1476375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6461D0-8550-4241-B742-FC3335F6C8EB}"/>
              </a:ext>
            </a:extLst>
          </p:cNvPr>
          <p:cNvSpPr>
            <a:spLocks noGrp="1"/>
          </p:cNvSpPr>
          <p:nvPr/>
        </p:nvSpPr>
        <p:spPr>
          <a:xfrm>
            <a:off x="3381375" y="20002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transform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85A3F8-17D3-45DC-9A66-E3999F6285D3}"/>
              </a:ext>
            </a:extLst>
          </p:cNvPr>
          <p:cNvSpPr>
            <a:spLocks noGrp="1"/>
          </p:cNvSpPr>
          <p:nvPr/>
        </p:nvSpPr>
        <p:spPr>
          <a:xfrm>
            <a:off x="3381375" y="2571750"/>
            <a:ext cx="2238375" cy="28575"/>
          </a:xfrm>
          <a:prstGeom prst="rect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6E774A-F04C-4196-B6D8-2C5070439308}"/>
              </a:ext>
            </a:extLst>
          </p:cNvPr>
          <p:cNvSpPr>
            <a:spLocks noGrp="1"/>
          </p:cNvSpPr>
          <p:nvPr/>
        </p:nvSpPr>
        <p:spPr>
          <a:xfrm>
            <a:off x="3381375" y="2905125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FFT sign + ordering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327CA2-75A9-4B0B-B6EB-8AC814235824}"/>
              </a:ext>
            </a:extLst>
          </p:cNvPr>
          <p:cNvSpPr>
            <a:spLocks noGrp="1"/>
          </p:cNvSpPr>
          <p:nvPr/>
        </p:nvSpPr>
        <p:spPr>
          <a:xfrm>
            <a:off x="6172200" y="1476375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4A79A5-FB1C-497D-AC38-3FB03ADECD16}"/>
              </a:ext>
            </a:extLst>
          </p:cNvPr>
          <p:cNvSpPr>
            <a:spLocks noGrp="1"/>
          </p:cNvSpPr>
          <p:nvPr/>
        </p:nvSpPr>
        <p:spPr>
          <a:xfrm>
            <a:off x="6172200" y="20002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normalization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E9679D-48C0-4F68-A129-FF79A3ABFDEC}"/>
              </a:ext>
            </a:extLst>
          </p:cNvPr>
          <p:cNvSpPr>
            <a:spLocks noGrp="1"/>
          </p:cNvSpPr>
          <p:nvPr/>
        </p:nvSpPr>
        <p:spPr>
          <a:xfrm>
            <a:off x="6172200" y="2571750"/>
            <a:ext cx="2238375" cy="28575"/>
          </a:xfrm>
          <a:prstGeom prst="rect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E1F1A9-576B-4908-8DAD-DAF4C5584F20}"/>
              </a:ext>
            </a:extLst>
          </p:cNvPr>
          <p:cNvSpPr>
            <a:spLocks noGrp="1"/>
          </p:cNvSpPr>
          <p:nvPr/>
        </p:nvSpPr>
        <p:spPr>
          <a:xfrm>
            <a:off x="6172200" y="2905125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Δxᵈ and volume V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406922-F13F-4DD1-8F31-1820165949AF}"/>
              </a:ext>
            </a:extLst>
          </p:cNvPr>
          <p:cNvSpPr>
            <a:spLocks noGrp="1"/>
          </p:cNvSpPr>
          <p:nvPr/>
        </p:nvSpPr>
        <p:spPr>
          <a:xfrm>
            <a:off x="8963025" y="1476375"/>
            <a:ext cx="52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D517A8-2183-4CE7-B70B-A79850D4577F}"/>
              </a:ext>
            </a:extLst>
          </p:cNvPr>
          <p:cNvSpPr>
            <a:spLocks noGrp="1"/>
          </p:cNvSpPr>
          <p:nvPr/>
        </p:nvSpPr>
        <p:spPr>
          <a:xfrm>
            <a:off x="8963025" y="20002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support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D06FF1-CF37-4CB7-B1FB-B7EECBE30F6B}"/>
              </a:ext>
            </a:extLst>
          </p:cNvPr>
          <p:cNvSpPr>
            <a:spLocks noGrp="1"/>
          </p:cNvSpPr>
          <p:nvPr/>
        </p:nvSpPr>
        <p:spPr>
          <a:xfrm>
            <a:off x="8963025" y="2571750"/>
            <a:ext cx="2238375" cy="28575"/>
          </a:xfrm>
          <a:prstGeom prst="rect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80DE21-C47A-4D68-8D6C-446E389934A0}"/>
              </a:ext>
            </a:extLst>
          </p:cNvPr>
          <p:cNvSpPr>
            <a:spLocks noGrp="1"/>
          </p:cNvSpPr>
          <p:nvPr/>
        </p:nvSpPr>
        <p:spPr>
          <a:xfrm>
            <a:off x="8963025" y="2905125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zero mode; Nyquist; mask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7293A2-7E35-446E-A91C-0BD284AD1AEF}"/>
              </a:ext>
            </a:extLst>
          </p:cNvPr>
          <p:cNvSpPr>
            <a:spLocks noGrp="1"/>
          </p:cNvSpPr>
          <p:nvPr/>
        </p:nvSpPr>
        <p:spPr>
          <a:xfrm>
            <a:off x="1666875" y="42862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8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δ̃(k) = Δxᵈ Σₓ δ(x) exp(−i k·x)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7027B8-5001-49A1-8E39-FD85F33D58BA}"/>
              </a:ext>
            </a:extLst>
          </p:cNvPr>
          <p:cNvSpPr>
            <a:spLocks noGrp="1"/>
          </p:cNvSpPr>
          <p:nvPr/>
        </p:nvSpPr>
        <p:spPr>
          <a:xfrm>
            <a:off x="2476500" y="5191125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P(k) has units of volume when δ is dimensionless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295678-D071-4094-9FBC-4C1A5F3E6986}"/>
              </a:ext>
            </a:extLst>
          </p:cNvPr>
          <p:cNvSpPr>
            <a:spLocks noGrp="1"/>
          </p:cNvSpPr>
          <p:nvPr/>
        </p:nvSpPr>
        <p:spPr>
          <a:xfrm>
            <a:off x="3095625" y="5829300"/>
            <a:ext cx="600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858" lnSpcReduction="20000"/>
          </a:bodyPr>
          <a:lstStyle/>
          <a:p>
            <a:pPr algn="ctr">
              <a:def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A unit test on dimensions catches many 'correct-looking' spectra.</a:t>
            </a:r>
          </a:p>
        </p:txBody>
      </p:sp>
    </p:spTree>
    <p:extLst>
      <p:ext uri="{BB962C8B-B14F-4D97-AF65-F5344CB8AC3E}">
        <p14:creationId xmlns:p14="http://schemas.microsoft.com/office/powerpoint/2010/main" val="64249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C1D2522-4ECF-41B3-9630-8F95F8DDCEA6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CALCULATING P(k)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D4F82-3A09-4458-A841-014A4B4C3EAB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The isotropic power estimator is a sequence of reductions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700B9-1AEC-47C2-9953-C38D30B9E3FB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68D26-16BA-46C5-9651-B4F2D5207E37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15577-BE89-4EDE-8709-433A1687B39F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F1F2AD-EC06-46FF-A339-CACF4A219F9B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476250" cy="476250"/>
          </a:xfrm>
          <a:prstGeom prst="ellipse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3EB3F-9723-4CA9-B57A-4C6D11F89895}"/>
              </a:ext>
            </a:extLst>
          </p:cNvPr>
          <p:cNvSpPr>
            <a:spLocks noGrp="1"/>
          </p:cNvSpPr>
          <p:nvPr/>
        </p:nvSpPr>
        <p:spPr>
          <a:xfrm>
            <a:off x="523875" y="15430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D78368F-DA1A-4503-8FC7-583BA8316218}"/>
              </a:ext>
            </a:extLst>
          </p:cNvPr>
          <p:cNvSpPr>
            <a:spLocks noGrp="1"/>
          </p:cNvSpPr>
          <p:nvPr/>
        </p:nvSpPr>
        <p:spPr>
          <a:xfrm>
            <a:off x="1095375" y="1714500"/>
            <a:ext cx="1952625" cy="9525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4991CF89-D9DE-480F-9739-26398B8B7767}"/>
              </a:ext>
            </a:extLst>
          </p:cNvPr>
          <p:cNvSpPr>
            <a:spLocks noGrp="1"/>
          </p:cNvSpPr>
          <p:nvPr/>
        </p:nvSpPr>
        <p:spPr>
          <a:xfrm rot="5400000">
            <a:off x="3076575" y="1619250"/>
            <a:ext cx="190500" cy="190500"/>
          </a:xfrm>
          <a:prstGeom prst="triangle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1A4CB1-4822-45A2-AE0D-1A23776743EA}"/>
              </a:ext>
            </a:extLst>
          </p:cNvPr>
          <p:cNvSpPr>
            <a:spLocks noGrp="1"/>
          </p:cNvSpPr>
          <p:nvPr/>
        </p:nvSpPr>
        <p:spPr>
          <a:xfrm>
            <a:off x="352425" y="22383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mean subtract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EF9EBD-1DB7-478A-9797-57EC7A2ADFA0}"/>
              </a:ext>
            </a:extLst>
          </p:cNvPr>
          <p:cNvSpPr>
            <a:spLocks noGrp="1"/>
          </p:cNvSpPr>
          <p:nvPr/>
        </p:nvSpPr>
        <p:spPr>
          <a:xfrm>
            <a:off x="476250" y="28765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3E30C-3C0D-4EDC-AE3B-4674235E87BB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δ ← δ − ⟨δ⟩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45DCED-A615-4E78-AC41-AAC67BBD309C}"/>
              </a:ext>
            </a:extLst>
          </p:cNvPr>
          <p:cNvSpPr>
            <a:spLocks noGrp="1"/>
          </p:cNvSpPr>
          <p:nvPr/>
        </p:nvSpPr>
        <p:spPr>
          <a:xfrm>
            <a:off x="3419475" y="1476375"/>
            <a:ext cx="476250" cy="476250"/>
          </a:xfrm>
          <a:prstGeom prst="ellipse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DD918-2E7A-4F72-8933-449DB2F94C98}"/>
              </a:ext>
            </a:extLst>
          </p:cNvPr>
          <p:cNvSpPr>
            <a:spLocks noGrp="1"/>
          </p:cNvSpPr>
          <p:nvPr/>
        </p:nvSpPr>
        <p:spPr>
          <a:xfrm>
            <a:off x="3419475" y="15430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2A66F6C-F773-41F0-A86C-EC08A73A35C5}"/>
              </a:ext>
            </a:extLst>
          </p:cNvPr>
          <p:cNvSpPr>
            <a:spLocks noGrp="1"/>
          </p:cNvSpPr>
          <p:nvPr/>
        </p:nvSpPr>
        <p:spPr>
          <a:xfrm>
            <a:off x="3990975" y="1714500"/>
            <a:ext cx="1952625" cy="9525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7BA7FCEE-42C8-476D-8572-D0DCE3FD28A4}"/>
              </a:ext>
            </a:extLst>
          </p:cNvPr>
          <p:cNvSpPr>
            <a:spLocks noGrp="1"/>
          </p:cNvSpPr>
          <p:nvPr/>
        </p:nvSpPr>
        <p:spPr>
          <a:xfrm rot="5400000">
            <a:off x="5972175" y="1619250"/>
            <a:ext cx="190500" cy="190500"/>
          </a:xfrm>
          <a:prstGeom prst="triangle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CCBFF9-AA8D-49D5-82ED-37A6AD0E04CE}"/>
              </a:ext>
            </a:extLst>
          </p:cNvPr>
          <p:cNvSpPr>
            <a:spLocks noGrp="1"/>
          </p:cNvSpPr>
          <p:nvPr/>
        </p:nvSpPr>
        <p:spPr>
          <a:xfrm>
            <a:off x="3248025" y="22383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Fourier transform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29A090-481A-492C-BA66-E172BED15884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6EDD61-9488-4F67-A83F-130969AF09C4}"/>
              </a:ext>
            </a:extLst>
          </p:cNvPr>
          <p:cNvSpPr>
            <a:spLocks noGrp="1"/>
          </p:cNvSpPr>
          <p:nvPr/>
        </p:nvSpPr>
        <p:spPr>
          <a:xfrm>
            <a:off x="3467100" y="3000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δ̃ = FFT(δ) Δxᵈ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7BC73D8-C2CD-42E4-85C0-D8D878797F7C}"/>
              </a:ext>
            </a:extLst>
          </p:cNvPr>
          <p:cNvSpPr>
            <a:spLocks noGrp="1"/>
          </p:cNvSpPr>
          <p:nvPr/>
        </p:nvSpPr>
        <p:spPr>
          <a:xfrm>
            <a:off x="6315075" y="1476375"/>
            <a:ext cx="476250" cy="476250"/>
          </a:xfrm>
          <a:prstGeom prst="ellipse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78E170-5A8F-406C-95DE-6B635D948BFC}"/>
              </a:ext>
            </a:extLst>
          </p:cNvPr>
          <p:cNvSpPr>
            <a:spLocks noGrp="1"/>
          </p:cNvSpPr>
          <p:nvPr/>
        </p:nvSpPr>
        <p:spPr>
          <a:xfrm>
            <a:off x="6315075" y="15430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79DD95C-BD2D-42CA-A70E-A849C4853746}"/>
              </a:ext>
            </a:extLst>
          </p:cNvPr>
          <p:cNvSpPr>
            <a:spLocks noGrp="1"/>
          </p:cNvSpPr>
          <p:nvPr/>
        </p:nvSpPr>
        <p:spPr>
          <a:xfrm>
            <a:off x="6886575" y="1714500"/>
            <a:ext cx="1952625" cy="9525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5642D11B-E735-44BD-A470-FC1ABE0FCA67}"/>
              </a:ext>
            </a:extLst>
          </p:cNvPr>
          <p:cNvSpPr>
            <a:spLocks noGrp="1"/>
          </p:cNvSpPr>
          <p:nvPr/>
        </p:nvSpPr>
        <p:spPr>
          <a:xfrm rot="5400000">
            <a:off x="8867775" y="1619250"/>
            <a:ext cx="190500" cy="190500"/>
          </a:xfrm>
          <a:prstGeom prst="triangle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712EA4-D66B-4EF7-AB15-1205F7F4C4A9}"/>
              </a:ext>
            </a:extLst>
          </p:cNvPr>
          <p:cNvSpPr>
            <a:spLocks noGrp="1"/>
          </p:cNvSpPr>
          <p:nvPr/>
        </p:nvSpPr>
        <p:spPr>
          <a:xfrm>
            <a:off x="6143625" y="22383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mode power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229203-4742-48D5-9986-46F57B546E48}"/>
              </a:ext>
            </a:extLst>
          </p:cNvPr>
          <p:cNvSpPr>
            <a:spLocks noGrp="1"/>
          </p:cNvSpPr>
          <p:nvPr/>
        </p:nvSpPr>
        <p:spPr>
          <a:xfrm>
            <a:off x="6267450" y="28765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198AB5-793D-4985-ADB8-98CB42C43A85}"/>
              </a:ext>
            </a:extLst>
          </p:cNvPr>
          <p:cNvSpPr>
            <a:spLocks noGrp="1"/>
          </p:cNvSpPr>
          <p:nvPr/>
        </p:nvSpPr>
        <p:spPr>
          <a:xfrm>
            <a:off x="6362700" y="3000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Pmode = |δ̃|² / V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3883ED-F367-49E4-B482-0160088A3683}"/>
              </a:ext>
            </a:extLst>
          </p:cNvPr>
          <p:cNvSpPr>
            <a:spLocks noGrp="1"/>
          </p:cNvSpPr>
          <p:nvPr/>
        </p:nvSpPr>
        <p:spPr>
          <a:xfrm>
            <a:off x="9210675" y="1476375"/>
            <a:ext cx="476250" cy="4762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9AE94D-5186-4A82-9166-B08BF3853C4A}"/>
              </a:ext>
            </a:extLst>
          </p:cNvPr>
          <p:cNvSpPr>
            <a:spLocks noGrp="1"/>
          </p:cNvSpPr>
          <p:nvPr/>
        </p:nvSpPr>
        <p:spPr>
          <a:xfrm>
            <a:off x="9210675" y="15430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A4BC35-90E1-4944-91CE-E284B1550697}"/>
              </a:ext>
            </a:extLst>
          </p:cNvPr>
          <p:cNvSpPr>
            <a:spLocks noGrp="1"/>
          </p:cNvSpPr>
          <p:nvPr/>
        </p:nvSpPr>
        <p:spPr>
          <a:xfrm>
            <a:off x="9039225" y="2238375"/>
            <a:ext cx="242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shell average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66FBAB-C9C7-477F-B11B-79926B6DE2D7}"/>
              </a:ext>
            </a:extLst>
          </p:cNvPr>
          <p:cNvSpPr>
            <a:spLocks noGrp="1"/>
          </p:cNvSpPr>
          <p:nvPr/>
        </p:nvSpPr>
        <p:spPr>
          <a:xfrm>
            <a:off x="9163050" y="28765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D3E47C-E187-46A8-A4A5-EE28EAB7E089}"/>
              </a:ext>
            </a:extLst>
          </p:cNvPr>
          <p:cNvSpPr>
            <a:spLocks noGrp="1"/>
          </p:cNvSpPr>
          <p:nvPr/>
        </p:nvSpPr>
        <p:spPr>
          <a:xfrm>
            <a:off x="9258300" y="3000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P̂(kb) = Σ wₖPmode / Σwₖ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4979EC-4614-428F-A167-9B5091811F8D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Store Nmodes(kb) beside P̂(kb). It controls variance, weighting and whether a bin is supported.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E1B8409-7FF0-4D54-9792-F10FC6E48048}"/>
              </a:ext>
            </a:extLst>
          </p:cNvPr>
          <p:cNvSpPr>
            <a:spLocks noGrp="1"/>
          </p:cNvSpPr>
          <p:nvPr/>
        </p:nvSpPr>
        <p:spPr>
          <a:xfrm>
            <a:off x="3048000" y="5667375"/>
            <a:ext cx="6096000" cy="323850"/>
          </a:xfrm>
          <a:prstGeom prst="roundRect">
            <a:avLst>
              <a:gd name="adj" fmla="val 23529"/>
            </a:avLst>
          </a:prstGeom>
          <a:solidFill>
            <a:srgbClr val="DCE6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DE920-1F42-45D8-ADCE-178BCF0238B6}"/>
              </a:ext>
            </a:extLst>
          </p:cNvPr>
          <p:cNvSpPr>
            <a:spLocks noGrp="1"/>
          </p:cNvSpPr>
          <p:nvPr/>
        </p:nvSpPr>
        <p:spPr>
          <a:xfrm>
            <a:off x="3124200" y="5686425"/>
            <a:ext cx="5943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estimator output = {k, P, Nmodes, convention metadata}</a:t>
            </a:r>
          </a:p>
        </p:txBody>
      </p:sp>
    </p:spTree>
    <p:extLst>
      <p:ext uri="{BB962C8B-B14F-4D97-AF65-F5344CB8AC3E}">
        <p14:creationId xmlns:p14="http://schemas.microsoft.com/office/powerpoint/2010/main" val="30151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E5E049F-F62C-4429-B473-2FA3CC6A9B7E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HERMITIAN SYMMETRY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AEFA9-2E30-403E-995C-373312FBB181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real field stores only half of Fourier 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4D31F5-91AC-4D04-951F-DD88A7133069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6EB55-9D72-4477-B5AF-0A993C55473F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1EA0F-97FC-43E7-8E28-A3F96D981DF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400EE1-0F6D-4D6B-8EAD-65303CCD8233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4857750" cy="4143375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56002CF-D169-440A-8508-35B732B3BB3B}"/>
              </a:ext>
            </a:extLst>
          </p:cNvPr>
          <p:cNvSpPr>
            <a:spLocks noGrp="1"/>
          </p:cNvSpPr>
          <p:nvPr/>
        </p:nvSpPr>
        <p:spPr>
          <a:xfrm>
            <a:off x="1190625" y="3476625"/>
            <a:ext cx="3810000" cy="9525"/>
          </a:xfrm>
          <a:prstGeom prst="line">
            <a:avLst/>
          </a:prstGeom>
          <a:noFill/>
          <a:ln w="19050">
            <a:solidFill>
              <a:srgbClr val="666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69C25A3-14AE-4954-A24C-EAA39E77701D}"/>
              </a:ext>
            </a:extLst>
          </p:cNvPr>
          <p:cNvSpPr>
            <a:spLocks noGrp="1"/>
          </p:cNvSpPr>
          <p:nvPr/>
        </p:nvSpPr>
        <p:spPr>
          <a:xfrm>
            <a:off x="3095625" y="1762125"/>
            <a:ext cx="9525" cy="3429000"/>
          </a:xfrm>
          <a:prstGeom prst="line">
            <a:avLst/>
          </a:prstGeom>
          <a:noFill/>
          <a:ln w="19050">
            <a:solidFill>
              <a:srgbClr val="666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6AA7EC-469C-4C8F-B365-F2DEBB32951B}"/>
              </a:ext>
            </a:extLst>
          </p:cNvPr>
          <p:cNvSpPr>
            <a:spLocks noGrp="1"/>
          </p:cNvSpPr>
          <p:nvPr/>
        </p:nvSpPr>
        <p:spPr>
          <a:xfrm>
            <a:off x="1914525" y="2390775"/>
            <a:ext cx="171450" cy="1714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42A3C6-DE0B-477E-A9CC-BD3B5FB57964}"/>
              </a:ext>
            </a:extLst>
          </p:cNvPr>
          <p:cNvSpPr>
            <a:spLocks noGrp="1"/>
          </p:cNvSpPr>
          <p:nvPr/>
        </p:nvSpPr>
        <p:spPr>
          <a:xfrm>
            <a:off x="4105275" y="4391025"/>
            <a:ext cx="171450" cy="1714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F8B0EFC-1D6B-44B3-9D0D-E9B152B078B5}"/>
              </a:ext>
            </a:extLst>
          </p:cNvPr>
          <p:cNvSpPr>
            <a:spLocks noGrp="1"/>
          </p:cNvSpPr>
          <p:nvPr/>
        </p:nvSpPr>
        <p:spPr>
          <a:xfrm>
            <a:off x="2000250" y="2476500"/>
            <a:ext cx="2190750" cy="2000250"/>
          </a:xfrm>
          <a:prstGeom prst="line">
            <a:avLst/>
          </a:prstGeom>
          <a:noFill/>
          <a:ln w="14288">
            <a:solidFill>
              <a:srgbClr val="D4CE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B4BC88-BB7F-4124-938C-13CC032086C3}"/>
              </a:ext>
            </a:extLst>
          </p:cNvPr>
          <p:cNvSpPr>
            <a:spLocks noGrp="1"/>
          </p:cNvSpPr>
          <p:nvPr/>
        </p:nvSpPr>
        <p:spPr>
          <a:xfrm>
            <a:off x="2295525" y="4343400"/>
            <a:ext cx="171450" cy="1714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A02E90-CCDF-4B18-B449-5CA05ED49EA2}"/>
              </a:ext>
            </a:extLst>
          </p:cNvPr>
          <p:cNvSpPr>
            <a:spLocks noGrp="1"/>
          </p:cNvSpPr>
          <p:nvPr/>
        </p:nvSpPr>
        <p:spPr>
          <a:xfrm>
            <a:off x="3724275" y="2438400"/>
            <a:ext cx="171450" cy="1714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6117450-2386-410A-9667-DA5D7F1631E7}"/>
              </a:ext>
            </a:extLst>
          </p:cNvPr>
          <p:cNvSpPr>
            <a:spLocks noGrp="1"/>
          </p:cNvSpPr>
          <p:nvPr/>
        </p:nvSpPr>
        <p:spPr>
          <a:xfrm flipV="1">
            <a:off x="2381250" y="2524125"/>
            <a:ext cx="1428750" cy="1905000"/>
          </a:xfrm>
          <a:prstGeom prst="line">
            <a:avLst/>
          </a:prstGeom>
          <a:noFill/>
          <a:ln w="14288">
            <a:solidFill>
              <a:srgbClr val="D4CE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A4C294-98E4-4320-A44A-0C4C5599E62A}"/>
              </a:ext>
            </a:extLst>
          </p:cNvPr>
          <p:cNvSpPr>
            <a:spLocks noGrp="1"/>
          </p:cNvSpPr>
          <p:nvPr/>
        </p:nvSpPr>
        <p:spPr>
          <a:xfrm>
            <a:off x="3914775" y="2676525"/>
            <a:ext cx="171450" cy="1714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96AEC6-D81C-492E-9572-3F00D0C47193}"/>
              </a:ext>
            </a:extLst>
          </p:cNvPr>
          <p:cNvSpPr>
            <a:spLocks noGrp="1"/>
          </p:cNvSpPr>
          <p:nvPr/>
        </p:nvSpPr>
        <p:spPr>
          <a:xfrm>
            <a:off x="2105025" y="4105275"/>
            <a:ext cx="171450" cy="1714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C0A1DD8-1E9B-4358-9204-69C526BE1627}"/>
              </a:ext>
            </a:extLst>
          </p:cNvPr>
          <p:cNvSpPr>
            <a:spLocks noGrp="1"/>
          </p:cNvSpPr>
          <p:nvPr/>
        </p:nvSpPr>
        <p:spPr>
          <a:xfrm flipV="1">
            <a:off x="2190750" y="2762250"/>
            <a:ext cx="1809750" cy="1428750"/>
          </a:xfrm>
          <a:prstGeom prst="line">
            <a:avLst/>
          </a:prstGeom>
          <a:noFill/>
          <a:ln w="14288">
            <a:solidFill>
              <a:srgbClr val="D4CE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C95920-EACB-496C-B472-3760481EBC95}"/>
              </a:ext>
            </a:extLst>
          </p:cNvPr>
          <p:cNvSpPr>
            <a:spLocks noGrp="1"/>
          </p:cNvSpPr>
          <p:nvPr/>
        </p:nvSpPr>
        <p:spPr>
          <a:xfrm>
            <a:off x="4343400" y="4010025"/>
            <a:ext cx="171450" cy="171450"/>
          </a:xfrm>
          <a:prstGeom prst="ellips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01E3DC-3988-4CDE-A7FE-BCC77F709C6C}"/>
              </a:ext>
            </a:extLst>
          </p:cNvPr>
          <p:cNvSpPr>
            <a:spLocks noGrp="1"/>
          </p:cNvSpPr>
          <p:nvPr/>
        </p:nvSpPr>
        <p:spPr>
          <a:xfrm>
            <a:off x="1676400" y="2771775"/>
            <a:ext cx="171450" cy="1714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22D648C-B5F8-4514-8A3A-3CEC5818824E}"/>
              </a:ext>
            </a:extLst>
          </p:cNvPr>
          <p:cNvSpPr>
            <a:spLocks noGrp="1"/>
          </p:cNvSpPr>
          <p:nvPr/>
        </p:nvSpPr>
        <p:spPr>
          <a:xfrm>
            <a:off x="1762125" y="2857500"/>
            <a:ext cx="2667000" cy="1238250"/>
          </a:xfrm>
          <a:prstGeom prst="line">
            <a:avLst/>
          </a:prstGeom>
          <a:noFill/>
          <a:ln w="14288">
            <a:solidFill>
              <a:srgbClr val="D4CE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8EA0F2-CD77-4AB4-BD58-2B3BCBCE4C1F}"/>
              </a:ext>
            </a:extLst>
          </p:cNvPr>
          <p:cNvSpPr>
            <a:spLocks noGrp="1"/>
          </p:cNvSpPr>
          <p:nvPr/>
        </p:nvSpPr>
        <p:spPr>
          <a:xfrm>
            <a:off x="4667250" y="3190875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+k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3B763E-875A-4225-8A58-07B80BD00871}"/>
              </a:ext>
            </a:extLst>
          </p:cNvPr>
          <p:cNvSpPr>
            <a:spLocks noGrp="1"/>
          </p:cNvSpPr>
          <p:nvPr/>
        </p:nvSpPr>
        <p:spPr>
          <a:xfrm>
            <a:off x="1066800" y="3190875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−k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297CF-5151-4AE7-B70B-9EA3BDD73D52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381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2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δ̃(−k) = δ̃(k)*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6A0617-2E29-4168-B653-A5AFCC33C772}"/>
              </a:ext>
            </a:extLst>
          </p:cNvPr>
          <p:cNvSpPr>
            <a:spLocks noGrp="1"/>
          </p:cNvSpPr>
          <p:nvPr/>
        </p:nvSpPr>
        <p:spPr>
          <a:xfrm>
            <a:off x="6810375" y="285750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080"/>
          </a:bodyPr>
          <a:lstStyle/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rFFT truncates one axis; interior stored cells represent ± partners.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DB32A6-7637-4543-8527-AF8504DE80A3}"/>
              </a:ext>
            </a:extLst>
          </p:cNvPr>
          <p:cNvSpPr>
            <a:spLocks noGrp="1"/>
          </p:cNvSpPr>
          <p:nvPr/>
        </p:nvSpPr>
        <p:spPr>
          <a:xfrm>
            <a:off x="6715125" y="3905250"/>
            <a:ext cx="3905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Along the truncated FFT axis: interior modes get weight 2; the k = 0 and even-grid Nyquist boundary planes get weight 1.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E095BB-63AC-4B39-B5F9-BF53C104A238}"/>
              </a:ext>
            </a:extLst>
          </p:cNvPr>
          <p:cNvSpPr>
            <a:spLocks noGrp="1"/>
          </p:cNvSpPr>
          <p:nvPr/>
        </p:nvSpPr>
        <p:spPr>
          <a:xfrm>
            <a:off x="2476500" y="585787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272"/>
          </a:bodyPr>
          <a:lstStyle/>
          <a:p>
            <a:pPr algn="ctr">
              <a:def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Wrong multiplicities bias shell averages and Parseval checks.</a:t>
            </a:r>
          </a:p>
        </p:txBody>
      </p:sp>
    </p:spTree>
    <p:extLst>
      <p:ext uri="{BB962C8B-B14F-4D97-AF65-F5344CB8AC3E}">
        <p14:creationId xmlns:p14="http://schemas.microsoft.com/office/powerpoint/2010/main" val="1654617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A0A476F-1FB1-40F7-853A-5E66E655BFF1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VALIDATION ORACLES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56665-67F0-4A7F-A0B2-A9BA92B3A702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Limiting cases make the estimator earn your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3E7DB1-E2FC-4EFA-9041-B2E80DE079B7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F8EB7-F821-44C2-A2FD-49D7C901F3B9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D2DC4-4F2A-4AEA-A7B4-8A733B7050AB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38337C-DB80-4C23-8875-70AE55395D41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857750" cy="442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1397515"/>
            <a:ext cx="4762500" cy="42058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49780A-4D9D-4C85-92CA-BD2A3D274E85}"/>
              </a:ext>
            </a:extLst>
          </p:cNvPr>
          <p:cNvSpPr>
            <a:spLocks noGrp="1"/>
          </p:cNvSpPr>
          <p:nvPr/>
        </p:nvSpPr>
        <p:spPr>
          <a:xfrm>
            <a:off x="6667500" y="1285875"/>
            <a:ext cx="4857750" cy="442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73291" y="1333500"/>
            <a:ext cx="4646169" cy="433387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58FB6C8-A77A-4B7F-9123-D2B9F33FC492}"/>
              </a:ext>
            </a:extLst>
          </p:cNvPr>
          <p:cNvSpPr>
            <a:spLocks noGrp="1"/>
          </p:cNvSpPr>
          <p:nvPr/>
        </p:nvSpPr>
        <p:spPr>
          <a:xfrm>
            <a:off x="1714500" y="5810250"/>
            <a:ext cx="2762250" cy="323850"/>
          </a:xfrm>
          <a:prstGeom prst="roundRect">
            <a:avLst>
              <a:gd name="adj" fmla="val 23529"/>
            </a:avLst>
          </a:prstGeom>
          <a:solidFill>
            <a:srgbClr val="DCE6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9C6778-C54F-49B6-BA0F-E9F76A3D1795}"/>
              </a:ext>
            </a:extLst>
          </p:cNvPr>
          <p:cNvSpPr>
            <a:spLocks noGrp="1"/>
          </p:cNvSpPr>
          <p:nvPr/>
        </p:nvSpPr>
        <p:spPr>
          <a:xfrm>
            <a:off x="1790700" y="5829300"/>
            <a:ext cx="2609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white noise → flat P(k)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F14E9E4-4BC4-4E48-8D05-201B167E3A53}"/>
              </a:ext>
            </a:extLst>
          </p:cNvPr>
          <p:cNvSpPr>
            <a:spLocks noGrp="1"/>
          </p:cNvSpPr>
          <p:nvPr/>
        </p:nvSpPr>
        <p:spPr>
          <a:xfrm>
            <a:off x="7620000" y="5810250"/>
            <a:ext cx="3000375" cy="323850"/>
          </a:xfrm>
          <a:prstGeom prst="roundRect">
            <a:avLst>
              <a:gd name="adj" fmla="val 23529"/>
            </a:avLst>
          </a:prstGeom>
          <a:solidFill>
            <a:srgbClr val="EED8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57785-4732-4928-BF38-063310CA3618}"/>
              </a:ext>
            </a:extLst>
          </p:cNvPr>
          <p:cNvSpPr>
            <a:spLocks noGrp="1"/>
          </p:cNvSpPr>
          <p:nvPr/>
        </p:nvSpPr>
        <p:spPr>
          <a:xfrm>
            <a:off x="7696200" y="5829300"/>
            <a:ext cx="2847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target spectrum → shape recovered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D9D7B-B9B1-4507-A915-571897973D2B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analytic fixtures • Day 1 notebook validation</a:t>
            </a:r>
          </a:p>
        </p:txBody>
      </p:sp>
    </p:spTree>
    <p:extLst>
      <p:ext uri="{BB962C8B-B14F-4D97-AF65-F5344CB8AC3E}">
        <p14:creationId xmlns:p14="http://schemas.microsoft.com/office/powerpoint/2010/main" val="711558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63921B3-1245-4C96-8DF4-288F8CFEE880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SAMPLE VARIANCE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5991EB-AA72-408D-8DF6-02AA8A5D0A52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Finite volume gives every spectrum an uncertainty floor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57C129-A1F6-4AA6-A51F-173C15C932A1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DDCC5-33AE-4F46-9BD2-0D3160899337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4F72D-84C6-44DC-A913-583BEB1FC8A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B55164-80A9-4186-929C-53D0D4D1EA01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6667500" cy="476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1627" y="1285875"/>
            <a:ext cx="5642496" cy="4667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49D1D3-9507-4E23-B7A2-B473B408FB7D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381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Var[P̂(k)] ≈ 2 P(k)² / Nmodes(k)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DBE538-7185-4FDE-939F-A2AAA9DBCA0E}"/>
              </a:ext>
            </a:extLst>
          </p:cNvPr>
          <p:cNvSpPr>
            <a:spLocks noGrp="1"/>
          </p:cNvSpPr>
          <p:nvPr/>
        </p:nvSpPr>
        <p:spPr>
          <a:xfrm>
            <a:off x="7810500" y="27813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for a Gaussian field and a narrow bin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0984B4-0648-445F-8428-8106E7AE993D}"/>
              </a:ext>
            </a:extLst>
          </p:cNvPr>
          <p:cNvSpPr>
            <a:spLocks noGrp="1"/>
          </p:cNvSpPr>
          <p:nvPr/>
        </p:nvSpPr>
        <p:spPr>
          <a:xfrm>
            <a:off x="7696200" y="3676650"/>
            <a:ext cx="76200" cy="762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7FBFB-2EB4-4BBC-ACDB-AF7B718373E7}"/>
              </a:ext>
            </a:extLst>
          </p:cNvPr>
          <p:cNvSpPr>
            <a:spLocks noGrp="1"/>
          </p:cNvSpPr>
          <p:nvPr/>
        </p:nvSpPr>
        <p:spPr>
          <a:xfrm>
            <a:off x="7915275" y="3571875"/>
            <a:ext cx="31337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low k: few modes, large scatter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2D56B6-DD27-4E97-A738-9EE5706AAEA1}"/>
              </a:ext>
            </a:extLst>
          </p:cNvPr>
          <p:cNvSpPr>
            <a:spLocks noGrp="1"/>
          </p:cNvSpPr>
          <p:nvPr/>
        </p:nvSpPr>
        <p:spPr>
          <a:xfrm>
            <a:off x="7696200" y="4314825"/>
            <a:ext cx="76200" cy="762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9F5F14-71FB-44C7-A985-ED9774E64ED6}"/>
              </a:ext>
            </a:extLst>
          </p:cNvPr>
          <p:cNvSpPr>
            <a:spLocks noGrp="1"/>
          </p:cNvSpPr>
          <p:nvPr/>
        </p:nvSpPr>
        <p:spPr>
          <a:xfrm>
            <a:off x="7915275" y="4210050"/>
            <a:ext cx="31337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20000"/>
          </a:bodyPr>
          <a:lstStyle/>
          <a:p>
            <a:pPr algn="l">
              <a:def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wide bins: lower variance, poorer resolution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10C4A3-F0DF-4A63-9779-585F2E1CC1D7}"/>
              </a:ext>
            </a:extLst>
          </p:cNvPr>
          <p:cNvSpPr>
            <a:spLocks noGrp="1"/>
          </p:cNvSpPr>
          <p:nvPr/>
        </p:nvSpPr>
        <p:spPr>
          <a:xfrm>
            <a:off x="7696200" y="4953000"/>
            <a:ext cx="76200" cy="7620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B68529-C3DE-47EC-8B90-336F83B8F6AE}"/>
              </a:ext>
            </a:extLst>
          </p:cNvPr>
          <p:cNvSpPr>
            <a:spLocks noGrp="1"/>
          </p:cNvSpPr>
          <p:nvPr/>
        </p:nvSpPr>
        <p:spPr>
          <a:xfrm>
            <a:off x="7915275" y="4848225"/>
            <a:ext cx="31337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20000"/>
          </a:bodyPr>
          <a:lstStyle/>
          <a:p>
            <a:pPr algn="l">
              <a:def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non-Gaussianity couples bins through the trispectrum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1A092-5B14-490F-818E-C2A25236143A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analytic fixture • Gaussian covariance is a baseline, not the last word</a:t>
            </a:r>
          </a:p>
        </p:txBody>
      </p:sp>
    </p:spTree>
    <p:extLst>
      <p:ext uri="{BB962C8B-B14F-4D97-AF65-F5344CB8AC3E}">
        <p14:creationId xmlns:p14="http://schemas.microsoft.com/office/powerpoint/2010/main" val="220918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4DD6A77-316F-45D5-A29E-1392C0E0F274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WINDOWS &amp; CROSS-SPECTRA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5F59A-398C-4B8F-83E0-F424C884CB2E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Window response and mode fidelity are separate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51274-5BD3-4223-996C-89FA11FD3130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303B4-AF3D-4A14-8863-51C8CF4EB04B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4C616-C6A8-49EA-A376-625BDEC42789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78ADF6-753C-40DE-9602-7A8A508E77D2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4953000" cy="442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491368"/>
            <a:ext cx="4857750" cy="40181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AF4C1F-BD45-4402-85B8-52BC8D259369}"/>
              </a:ext>
            </a:extLst>
          </p:cNvPr>
          <p:cNvSpPr>
            <a:spLocks noGrp="1"/>
          </p:cNvSpPr>
          <p:nvPr/>
        </p:nvSpPr>
        <p:spPr>
          <a:xfrm>
            <a:off x="6667500" y="1285875"/>
            <a:ext cx="4953000" cy="442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15125" y="1491368"/>
            <a:ext cx="4857750" cy="401813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D22802-BBA1-48F5-9A87-0B51F60BB5BC}"/>
              </a:ext>
            </a:extLst>
          </p:cNvPr>
          <p:cNvSpPr>
            <a:spLocks noGrp="1"/>
          </p:cNvSpPr>
          <p:nvPr/>
        </p:nvSpPr>
        <p:spPr>
          <a:xfrm>
            <a:off x="1857375" y="5791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window response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ED6DD-38B5-49C9-A04A-E23C1A327A59}"/>
              </a:ext>
            </a:extLst>
          </p:cNvPr>
          <p:cNvSpPr>
            <a:spLocks noGrp="1"/>
          </p:cNvSpPr>
          <p:nvPr/>
        </p:nvSpPr>
        <p:spPr>
          <a:xfrm>
            <a:off x="7953375" y="5791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amplitude vs identity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373B27-B141-43D7-B3A0-CB0C2F621BC1}"/>
              </a:ext>
            </a:extLst>
          </p:cNvPr>
          <p:cNvSpPr>
            <a:spLocks noGrp="1"/>
          </p:cNvSpPr>
          <p:nvPr/>
        </p:nvSpPr>
        <p:spPr>
          <a:xfrm>
            <a:off x="2238375" y="6191250"/>
            <a:ext cx="771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T(k)=√(Papp/Pref)       r(k)=Pcross/√(Papp Pref)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5FEA2C-C3A9-4D4F-885C-5D27A8874B42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analytic fixtures • identical binning and support required</a:t>
            </a:r>
          </a:p>
        </p:txBody>
      </p:sp>
    </p:spTree>
    <p:extLst>
      <p:ext uri="{BB962C8B-B14F-4D97-AF65-F5344CB8AC3E}">
        <p14:creationId xmlns:p14="http://schemas.microsoft.com/office/powerpoint/2010/main" val="1593682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7B1FDD5-8800-40D7-8AAE-803FB1C789F9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A SUMMARY AUDIT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E063D-EAEE-4A0F-BFD2-E98F96107922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Different statistics ask different questions of the field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D1815-A984-48D0-BB39-21BFA1B621C5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7FAB6-50B8-4CAF-A980-F15C66ADB3F7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F7068-BC4E-400A-84B5-F1F55D9D47D0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BC8B94-349A-4AA6-B37A-FA21AD1E4123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1068050" cy="523875"/>
          </a:xfrm>
          <a:prstGeom prst="rect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546212-EA2C-49DB-AEEB-D00970A12D2D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2352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444524-CECF-4E89-AD20-76D45F6EC26A}"/>
              </a:ext>
            </a:extLst>
          </p:cNvPr>
          <p:cNvSpPr>
            <a:spLocks noGrp="1"/>
          </p:cNvSpPr>
          <p:nvPr/>
        </p:nvSpPr>
        <p:spPr>
          <a:xfrm>
            <a:off x="3190875" y="1371600"/>
            <a:ext cx="2809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calculation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964797-8772-4341-8C47-245B7C7050F4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remembers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9298A-2FFF-4E88-AA4B-67E96478BB66}"/>
              </a:ext>
            </a:extLst>
          </p:cNvPr>
          <p:cNvSpPr>
            <a:spLocks noGrp="1"/>
          </p:cNvSpPr>
          <p:nvPr/>
        </p:nvSpPr>
        <p:spPr>
          <a:xfrm>
            <a:off x="8953500" y="13716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usually forgets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00DD4C-9C42-4AFB-BE77-092F8E48A6D5}"/>
              </a:ext>
            </a:extLst>
          </p:cNvPr>
          <p:cNvSpPr>
            <a:spLocks noGrp="1"/>
          </p:cNvSpPr>
          <p:nvPr/>
        </p:nvSpPr>
        <p:spPr>
          <a:xfrm>
            <a:off x="647700" y="2114550"/>
            <a:ext cx="2352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PDF / moments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2DD0F-C318-41C1-B502-BDC449BA4143}"/>
              </a:ext>
            </a:extLst>
          </p:cNvPr>
          <p:cNvSpPr>
            <a:spLocks noGrp="1"/>
          </p:cNvSpPr>
          <p:nvPr/>
        </p:nvSpPr>
        <p:spPr>
          <a:xfrm>
            <a:off x="3190875" y="2114550"/>
            <a:ext cx="2809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histogram δ(x)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3B1E01-D0FB-4075-8B13-7BDBB27DEA38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one-point amplitudes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8FD6D-E2E0-4B87-A341-CD404FAFFBE9}"/>
              </a:ext>
            </a:extLst>
          </p:cNvPr>
          <p:cNvSpPr>
            <a:spLocks noGrp="1"/>
          </p:cNvSpPr>
          <p:nvPr/>
        </p:nvSpPr>
        <p:spPr>
          <a:xfrm>
            <a:off x="8953500" y="21145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where values occur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E7530-E871-48CD-A9FA-EA3CC33C25F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68050" cy="6191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88D778-8B9F-4CE4-B8C4-9B00ACEAE2DD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2352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P(k)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94AFB3-C9A9-4CA4-829C-8775AD1CF00E}"/>
              </a:ext>
            </a:extLst>
          </p:cNvPr>
          <p:cNvSpPr>
            <a:spLocks noGrp="1"/>
          </p:cNvSpPr>
          <p:nvPr/>
        </p:nvSpPr>
        <p:spPr>
          <a:xfrm>
            <a:off x="3190875" y="2857500"/>
            <a:ext cx="2809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average |δ̃|² in shells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BB90C3-5D76-4ACF-A8D8-2CDB6589A709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variance by scale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5B77A2-6920-4B80-A39B-9AAFBA8F589F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phase organization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842BBD-6108-4428-BED9-BF413377F9F1}"/>
              </a:ext>
            </a:extLst>
          </p:cNvPr>
          <p:cNvSpPr>
            <a:spLocks noGrp="1"/>
          </p:cNvSpPr>
          <p:nvPr/>
        </p:nvSpPr>
        <p:spPr>
          <a:xfrm>
            <a:off x="647700" y="3600450"/>
            <a:ext cx="2352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bispectrum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C21627-7413-47F9-9750-E709F083F0B5}"/>
              </a:ext>
            </a:extLst>
          </p:cNvPr>
          <p:cNvSpPr>
            <a:spLocks noGrp="1"/>
          </p:cNvSpPr>
          <p:nvPr/>
        </p:nvSpPr>
        <p:spPr>
          <a:xfrm>
            <a:off x="3190875" y="3600450"/>
            <a:ext cx="2809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triangle-mode product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ADC280-2606-4D4A-A51D-B7207ADDC46C}"/>
              </a:ext>
            </a:extLst>
          </p:cNvPr>
          <p:cNvSpPr>
            <a:spLocks noGrp="1"/>
          </p:cNvSpPr>
          <p:nvPr/>
        </p:nvSpPr>
        <p:spPr>
          <a:xfrm>
            <a:off x="6191250" y="36004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selected phase coupling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B8FD8C-3F13-45A6-A072-034C7A464CAB}"/>
              </a:ext>
            </a:extLst>
          </p:cNvPr>
          <p:cNvSpPr>
            <a:spLocks noGrp="1"/>
          </p:cNvSpPr>
          <p:nvPr/>
        </p:nvSpPr>
        <p:spPr>
          <a:xfrm>
            <a:off x="8953500" y="36004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most configurations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7F604D-3E76-4E81-85CC-2EE5A7575056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11068050" cy="6191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921F30-5575-4E64-92F5-5E47673A5BAC}"/>
              </a:ext>
            </a:extLst>
          </p:cNvPr>
          <p:cNvSpPr>
            <a:spLocks noGrp="1"/>
          </p:cNvSpPr>
          <p:nvPr/>
        </p:nvSpPr>
        <p:spPr>
          <a:xfrm>
            <a:off x="647700" y="4343400"/>
            <a:ext cx="2352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wavelet S₁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26F905-2BFC-4F45-A838-F30BDF210E8A}"/>
              </a:ext>
            </a:extLst>
          </p:cNvPr>
          <p:cNvSpPr>
            <a:spLocks noGrp="1"/>
          </p:cNvSpPr>
          <p:nvPr/>
        </p:nvSpPr>
        <p:spPr>
          <a:xfrm>
            <a:off x="3190875" y="4343400"/>
            <a:ext cx="2809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local filter → modulus → mean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652E3C-100A-47CB-B7E1-1EF1B7D426B5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scale + direction response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142FAA-EEBE-48FE-B8BF-01874D847A29}"/>
              </a:ext>
            </a:extLst>
          </p:cNvPr>
          <p:cNvSpPr>
            <a:spLocks noGrp="1"/>
          </p:cNvSpPr>
          <p:nvPr/>
        </p:nvSpPr>
        <p:spPr>
          <a:xfrm>
            <a:off x="8953500" y="43434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absolute location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4EADF8-1528-430C-9DE5-4950F02EAF16}"/>
              </a:ext>
            </a:extLst>
          </p:cNvPr>
          <p:cNvSpPr>
            <a:spLocks noGrp="1"/>
          </p:cNvSpPr>
          <p:nvPr/>
        </p:nvSpPr>
        <p:spPr>
          <a:xfrm>
            <a:off x="647700" y="5086350"/>
            <a:ext cx="2352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peaks / topology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6C8CD6-0313-4741-AF83-5009F6C27B0A}"/>
              </a:ext>
            </a:extLst>
          </p:cNvPr>
          <p:cNvSpPr>
            <a:spLocks noGrp="1"/>
          </p:cNvSpPr>
          <p:nvPr/>
        </p:nvSpPr>
        <p:spPr>
          <a:xfrm>
            <a:off x="3190875" y="5086350"/>
            <a:ext cx="2809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objects or excursion sets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07100F-7BDC-441C-A757-BCAB70CF36DC}"/>
              </a:ext>
            </a:extLst>
          </p:cNvPr>
          <p:cNvSpPr>
            <a:spLocks noGrp="1"/>
          </p:cNvSpPr>
          <p:nvPr/>
        </p:nvSpPr>
        <p:spPr>
          <a:xfrm>
            <a:off x="6191250" y="50863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morphology + connectivity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195D3F-B92B-4DF9-BF2B-6319D8EEAD84}"/>
              </a:ext>
            </a:extLst>
          </p:cNvPr>
          <p:cNvSpPr>
            <a:spLocks noGrp="1"/>
          </p:cNvSpPr>
          <p:nvPr/>
        </p:nvSpPr>
        <p:spPr>
          <a:xfrm>
            <a:off x="8953500" y="50863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some metric detail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29A2DB-B57B-431C-B826-3C43551E3342}"/>
              </a:ext>
            </a:extLst>
          </p:cNvPr>
          <p:cNvSpPr>
            <a:spLocks noGrp="1"/>
          </p:cNvSpPr>
          <p:nvPr/>
        </p:nvSpPr>
        <p:spPr>
          <a:xfrm>
            <a:off x="2428875" y="5953125"/>
            <a:ext cx="733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620" lnSpcReduction="20000"/>
          </a:bodyPr>
          <a:lstStyle/>
          <a:p>
            <a:pPr algn="ctr">
              <a:defRPr sz="20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No row is 'best'. The retained distinctions must match the inference target.</a:t>
            </a:r>
          </a:p>
        </p:txBody>
      </p:sp>
    </p:spTree>
    <p:extLst>
      <p:ext uri="{BB962C8B-B14F-4D97-AF65-F5344CB8AC3E}">
        <p14:creationId xmlns:p14="http://schemas.microsoft.com/office/powerpoint/2010/main" val="1365256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FBC92C6-2B7E-4EC1-B762-FAE54DD420E6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CALCULATING B(k₁,k₂,k₃)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504FB-619E-4941-8C2F-0FE670BA9CAF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The bispectrum measures closed-triangle phase coupling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BB596F-1243-4BCB-BFC5-E02D3A14FEB6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087B9-9271-46B3-B655-EC464AB5ADE8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8D7E6-0EC3-418B-AFF1-72851084828C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C338D-4BD7-4365-AE62-5A0EE0D888E6}"/>
              </a:ext>
            </a:extLst>
          </p:cNvPr>
          <p:cNvSpPr>
            <a:spLocks noGrp="1"/>
          </p:cNvSpPr>
          <p:nvPr/>
        </p:nvSpPr>
        <p:spPr>
          <a:xfrm>
            <a:off x="904875" y="1238250"/>
            <a:ext cx="1038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⟨δ̃(k₁) δ̃(k₂) δ̃(k₃)⟩ = (2π)ᵈ δD(k₁+k₂+k₃) B(k₁,k₂,k₃)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E6BE453-AC9B-4630-85A6-36F616F3930B}"/>
              </a:ext>
            </a:extLst>
          </p:cNvPr>
          <p:cNvSpPr>
            <a:spLocks noGrp="1"/>
          </p:cNvSpPr>
          <p:nvPr/>
        </p:nvSpPr>
        <p:spPr>
          <a:xfrm flipV="1">
            <a:off x="2143125" y="2476500"/>
            <a:ext cx="2095500" cy="2000250"/>
          </a:xfrm>
          <a:prstGeom prst="line">
            <a:avLst/>
          </a:prstGeom>
          <a:noFill/>
          <a:ln w="666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35CFFD2-09E1-4047-BDC4-15D45938F9D0}"/>
              </a:ext>
            </a:extLst>
          </p:cNvPr>
          <p:cNvSpPr>
            <a:spLocks noGrp="1"/>
          </p:cNvSpPr>
          <p:nvPr/>
        </p:nvSpPr>
        <p:spPr>
          <a:xfrm>
            <a:off x="4238625" y="2476500"/>
            <a:ext cx="904875" cy="2286000"/>
          </a:xfrm>
          <a:prstGeom prst="line">
            <a:avLst/>
          </a:prstGeom>
          <a:noFill/>
          <a:ln w="666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8E3B002-9238-4055-BC34-8391378D0AFB}"/>
              </a:ext>
            </a:extLst>
          </p:cNvPr>
          <p:cNvSpPr>
            <a:spLocks noGrp="1"/>
          </p:cNvSpPr>
          <p:nvPr/>
        </p:nvSpPr>
        <p:spPr>
          <a:xfrm>
            <a:off x="2143125" y="4476750"/>
            <a:ext cx="3000375" cy="285750"/>
          </a:xfrm>
          <a:prstGeom prst="line">
            <a:avLst/>
          </a:prstGeom>
          <a:noFill/>
          <a:ln w="66675">
            <a:solidFill>
              <a:srgbClr val="4E7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2CB0E0-2321-4271-B72D-A68E752AF2E7}"/>
              </a:ext>
            </a:extLst>
          </p:cNvPr>
          <p:cNvSpPr>
            <a:spLocks noGrp="1"/>
          </p:cNvSpPr>
          <p:nvPr/>
        </p:nvSpPr>
        <p:spPr>
          <a:xfrm>
            <a:off x="2057400" y="4391025"/>
            <a:ext cx="171450" cy="171450"/>
          </a:xfrm>
          <a:prstGeom prst="ellipse">
            <a:avLst/>
          </a:prstGeom>
          <a:solidFill>
            <a:srgbClr val="2022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9A1D6C-D360-4AA2-90A4-911F1F9B5408}"/>
              </a:ext>
            </a:extLst>
          </p:cNvPr>
          <p:cNvSpPr>
            <a:spLocks noGrp="1"/>
          </p:cNvSpPr>
          <p:nvPr/>
        </p:nvSpPr>
        <p:spPr>
          <a:xfrm>
            <a:off x="4152900" y="2390775"/>
            <a:ext cx="171450" cy="171450"/>
          </a:xfrm>
          <a:prstGeom prst="ellipse">
            <a:avLst/>
          </a:prstGeom>
          <a:solidFill>
            <a:srgbClr val="2022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0F48D9-22A6-4DEB-98EB-7F1ED002B63D}"/>
              </a:ext>
            </a:extLst>
          </p:cNvPr>
          <p:cNvSpPr>
            <a:spLocks noGrp="1"/>
          </p:cNvSpPr>
          <p:nvPr/>
        </p:nvSpPr>
        <p:spPr>
          <a:xfrm>
            <a:off x="5057775" y="4676775"/>
            <a:ext cx="171450" cy="171450"/>
          </a:xfrm>
          <a:prstGeom prst="ellipse">
            <a:avLst/>
          </a:prstGeom>
          <a:solidFill>
            <a:srgbClr val="2022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04C6C-57F4-4FAB-8E58-6248528BA412}"/>
              </a:ext>
            </a:extLst>
          </p:cNvPr>
          <p:cNvSpPr>
            <a:spLocks noGrp="1"/>
          </p:cNvSpPr>
          <p:nvPr/>
        </p:nvSpPr>
        <p:spPr>
          <a:xfrm>
            <a:off x="2809875" y="3143250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k₁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52CB3-34B7-4E6F-ADE4-49BC6FE7293E}"/>
              </a:ext>
            </a:extLst>
          </p:cNvPr>
          <p:cNvSpPr>
            <a:spLocks noGrp="1"/>
          </p:cNvSpPr>
          <p:nvPr/>
        </p:nvSpPr>
        <p:spPr>
          <a:xfrm>
            <a:off x="4476750" y="34766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k₂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86920A-A126-4881-994B-A82FEFF7B07D}"/>
              </a:ext>
            </a:extLst>
          </p:cNvPr>
          <p:cNvSpPr>
            <a:spLocks noGrp="1"/>
          </p:cNvSpPr>
          <p:nvPr/>
        </p:nvSpPr>
        <p:spPr>
          <a:xfrm>
            <a:off x="3333750" y="47148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rPr>
              <a:t>k₃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1381E5-BE16-4FB4-BB2F-A9690820A9DA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400050" cy="400050"/>
          </a:xfrm>
          <a:prstGeom prst="ellipse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A414FF-46F1-44F7-ACCF-800470FEC843}"/>
              </a:ext>
            </a:extLst>
          </p:cNvPr>
          <p:cNvSpPr>
            <a:spLocks noGrp="1"/>
          </p:cNvSpPr>
          <p:nvPr/>
        </p:nvSpPr>
        <p:spPr>
          <a:xfrm>
            <a:off x="6858000" y="24288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8A10A2-9CEA-4608-9136-F7B498636EB4}"/>
              </a:ext>
            </a:extLst>
          </p:cNvPr>
          <p:cNvSpPr>
            <a:spLocks noGrp="1"/>
          </p:cNvSpPr>
          <p:nvPr/>
        </p:nvSpPr>
        <p:spPr>
          <a:xfrm>
            <a:off x="7477125" y="23622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band-pass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5366F2-8732-4B0E-B7C8-A385A9B72490}"/>
              </a:ext>
            </a:extLst>
          </p:cNvPr>
          <p:cNvSpPr>
            <a:spLocks noGrp="1"/>
          </p:cNvSpPr>
          <p:nvPr/>
        </p:nvSpPr>
        <p:spPr>
          <a:xfrm>
            <a:off x="7477125" y="2743200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keep shells k₁,k₂,k₃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0A2F2CB-5315-44A7-AE44-18B6E8920D1D}"/>
              </a:ext>
            </a:extLst>
          </p:cNvPr>
          <p:cNvSpPr>
            <a:spLocks noGrp="1"/>
          </p:cNvSpPr>
          <p:nvPr/>
        </p:nvSpPr>
        <p:spPr>
          <a:xfrm>
            <a:off x="6858000" y="3505200"/>
            <a:ext cx="400050" cy="400050"/>
          </a:xfrm>
          <a:prstGeom prst="ellipse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175425-7EFC-47F4-86F5-B11524E258CB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2E110F-921C-4EEC-B514-E1200F17E971}"/>
              </a:ext>
            </a:extLst>
          </p:cNvPr>
          <p:cNvSpPr>
            <a:spLocks noGrp="1"/>
          </p:cNvSpPr>
          <p:nvPr/>
        </p:nvSpPr>
        <p:spPr>
          <a:xfrm>
            <a:off x="7477125" y="34861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multiply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71B24B-7E08-469E-B362-B8A30A665D3B}"/>
              </a:ext>
            </a:extLst>
          </p:cNvPr>
          <p:cNvSpPr>
            <a:spLocks noGrp="1"/>
          </p:cNvSpPr>
          <p:nvPr/>
        </p:nvSpPr>
        <p:spPr>
          <a:xfrm>
            <a:off x="7477125" y="3867150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δ₁(x) δ₂(x) δ₃(x)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585CF2-DE65-4117-AB03-DA53A71446DF}"/>
              </a:ext>
            </a:extLst>
          </p:cNvPr>
          <p:cNvSpPr>
            <a:spLocks noGrp="1"/>
          </p:cNvSpPr>
          <p:nvPr/>
        </p:nvSpPr>
        <p:spPr>
          <a:xfrm>
            <a:off x="6858000" y="4629150"/>
            <a:ext cx="400050" cy="400050"/>
          </a:xfrm>
          <a:prstGeom prst="ellips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C27918-6F11-4DFD-B378-6E4FE3B2B3EF}"/>
              </a:ext>
            </a:extLst>
          </p:cNvPr>
          <p:cNvSpPr>
            <a:spLocks noGrp="1"/>
          </p:cNvSpPr>
          <p:nvPr/>
        </p:nvSpPr>
        <p:spPr>
          <a:xfrm>
            <a:off x="6858000" y="46767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6E57F2-7ADC-48E3-9752-520D403F3140}"/>
              </a:ext>
            </a:extLst>
          </p:cNvPr>
          <p:cNvSpPr>
            <a:spLocks noGrp="1"/>
          </p:cNvSpPr>
          <p:nvPr/>
        </p:nvSpPr>
        <p:spPr>
          <a:xfrm>
            <a:off x="7477125" y="46101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average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27009C-BD7E-4FA7-B916-ECAB1FE5A37E}"/>
              </a:ext>
            </a:extLst>
          </p:cNvPr>
          <p:cNvSpPr>
            <a:spLocks noGrp="1"/>
          </p:cNvSpPr>
          <p:nvPr/>
        </p:nvSpPr>
        <p:spPr>
          <a:xfrm>
            <a:off x="7477125" y="4991100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sum over x and normalize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CEEF7D-5986-4C30-BA93-C6DA178F31F1}"/>
              </a:ext>
            </a:extLst>
          </p:cNvPr>
          <p:cNvSpPr>
            <a:spLocks noGrp="1"/>
          </p:cNvSpPr>
          <p:nvPr/>
        </p:nvSpPr>
        <p:spPr>
          <a:xfrm>
            <a:off x="6381750" y="5619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 lnSpcReduction="10000"/>
          </a:bodyPr>
          <a:lstStyle/>
          <a:p>
            <a:pPr algn="ctr">
              <a:def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FFT-based shell filtering makes selected triangle families tractable.</a:t>
            </a:r>
          </a:p>
        </p:txBody>
      </p:sp>
    </p:spTree>
    <p:extLst>
      <p:ext uri="{BB962C8B-B14F-4D97-AF65-F5344CB8AC3E}">
        <p14:creationId xmlns:p14="http://schemas.microsoft.com/office/powerpoint/2010/main" val="548945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B37D575-C7F6-402F-83F8-787CAE80A164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HIGHER-ORDER RESPONSE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CC743B-6B05-4803-9F92-A2DAE23C4750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Selected triangles distinguish the same-power pair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A3CB1E-1738-4648-A3B1-265368FD050B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9B8E6-4EF9-4974-9A80-26F74CFB1136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C45B0-2C73-4B54-953E-34D8CA803516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1000125" y="1428750"/>
          <a:ext cx="723900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84E686C-0B47-4773-A821-821CBA23274A}"/>
              </a:ext>
            </a:extLst>
          </p:cNvPr>
          <p:cNvSpPr>
            <a:spLocks noGrp="1"/>
          </p:cNvSpPr>
          <p:nvPr/>
        </p:nvSpPr>
        <p:spPr>
          <a:xfrm>
            <a:off x="1000125" y="11620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normalized response × 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0E106-93AA-4948-A6A0-D4E48F996F43}"/>
              </a:ext>
            </a:extLst>
          </p:cNvPr>
          <p:cNvSpPr>
            <a:spLocks noGrp="1"/>
          </p:cNvSpPr>
          <p:nvPr/>
        </p:nvSpPr>
        <p:spPr>
          <a:xfrm>
            <a:off x="8572500" y="1762125"/>
            <a:ext cx="2667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827" lnSpcReduction="10000"/>
          </a:bodyPr>
          <a:lstStyle/>
          <a:p>
            <a:pPr algn="ctr">
              <a:def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The sign and amplitude of a chosen response change when phase coupling changes.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629E1B-82D4-458F-B2E0-F4225819CF91}"/>
              </a:ext>
            </a:extLst>
          </p:cNvPr>
          <p:cNvSpPr>
            <a:spLocks noGrp="1"/>
          </p:cNvSpPr>
          <p:nvPr/>
        </p:nvSpPr>
        <p:spPr>
          <a:xfrm>
            <a:off x="8572500" y="3667125"/>
            <a:ext cx="2667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667"/>
          </a:bodyPr>
          <a:lstStyle/>
          <a:p>
            <a:pPr algn="ctr">
              <a:def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But five triangle families are still a deliberate compression of the full bispectrum configuration space.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7DDC1-10C8-4AE4-A200-FC7A34142A71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normalized selected-shell teaching response • not a survey measurement</a:t>
            </a:r>
          </a:p>
        </p:txBody>
      </p:sp>
    </p:spTree>
    <p:extLst>
      <p:ext uri="{BB962C8B-B14F-4D97-AF65-F5344CB8AC3E}">
        <p14:creationId xmlns:p14="http://schemas.microsoft.com/office/powerpoint/2010/main" val="1638359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>
            <a:extLst>
              <a:ext uri="{FF2B5EF4-FFF2-40B4-BE49-F238E27FC236}">
                <a16:creationId xmlns:a16="http://schemas.microsoft.com/office/drawing/2014/main" id="{B930815D-C0E9-4041-810A-CF827D0B138A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1/7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AAC901-FCD7-4E4A-A746-48C65BF7F013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wavelet is a localized Fourier band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37E6D0-BF21-4562-84F7-F1BC4AF5AE62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3ACFE-4994-4BFA-B209-CD69FC624FDF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1D244-470C-481C-B929-50DF870FF25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DA700E-8B6A-4457-896B-F39A06EBA7E5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5143500" cy="409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306E2-8069-405F-9B34-72F8EAA12948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real space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9586661B-1820-4A0D-BA12-675110E09DBC}"/>
              </a:ext>
            </a:extLst>
          </p:cNvPr>
          <p:cNvSpPr>
            <a:spLocks noGrp="1"/>
          </p:cNvSpPr>
          <p:nvPr/>
        </p:nvSpPr>
        <p:spPr>
          <a:xfrm>
            <a:off x="1047750" y="3524250"/>
            <a:ext cx="4381500" cy="9525"/>
          </a:xfrm>
          <a:prstGeom prst="line">
            <a:avLst/>
          </a:prstGeom>
          <a:noFill/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0B983DC-C328-431F-8E91-C96A5C457AD7}"/>
              </a:ext>
            </a:extLst>
          </p:cNvPr>
          <p:cNvSpPr>
            <a:spLocks noGrp="1"/>
          </p:cNvSpPr>
          <p:nvPr/>
        </p:nvSpPr>
        <p:spPr>
          <a:xfrm flipV="1">
            <a:off x="1047750" y="3524570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A3BD9BC-CF56-425E-86BB-9A624750936F}"/>
              </a:ext>
            </a:extLst>
          </p:cNvPr>
          <p:cNvSpPr>
            <a:spLocks noGrp="1"/>
          </p:cNvSpPr>
          <p:nvPr/>
        </p:nvSpPr>
        <p:spPr>
          <a:xfrm flipV="1">
            <a:off x="1102995" y="352416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1F57EEA-E0B4-4C67-A2B5-348BC874C04A}"/>
              </a:ext>
            </a:extLst>
          </p:cNvPr>
          <p:cNvSpPr>
            <a:spLocks noGrp="1"/>
          </p:cNvSpPr>
          <p:nvPr/>
        </p:nvSpPr>
        <p:spPr>
          <a:xfrm flipV="1">
            <a:off x="1158240" y="352337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C3E3545-40AB-436B-91A5-27B339B094E8}"/>
              </a:ext>
            </a:extLst>
          </p:cNvPr>
          <p:cNvSpPr>
            <a:spLocks noGrp="1"/>
          </p:cNvSpPr>
          <p:nvPr/>
        </p:nvSpPr>
        <p:spPr>
          <a:xfrm flipV="1">
            <a:off x="1213485" y="3522501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3D71755-3C3D-4639-909D-937B4B574DDC}"/>
              </a:ext>
            </a:extLst>
          </p:cNvPr>
          <p:cNvSpPr>
            <a:spLocks noGrp="1"/>
          </p:cNvSpPr>
          <p:nvPr/>
        </p:nvSpPr>
        <p:spPr>
          <a:xfrm flipV="1">
            <a:off x="1268730" y="352223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402A9A4-BE00-4081-9DF5-A2C419EA216C}"/>
              </a:ext>
            </a:extLst>
          </p:cNvPr>
          <p:cNvSpPr>
            <a:spLocks noGrp="1"/>
          </p:cNvSpPr>
          <p:nvPr/>
        </p:nvSpPr>
        <p:spPr>
          <a:xfrm>
            <a:off x="1323975" y="352223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B5BF931-181D-4212-8E0A-C1EA4B49A1B5}"/>
              </a:ext>
            </a:extLst>
          </p:cNvPr>
          <p:cNvSpPr>
            <a:spLocks noGrp="1"/>
          </p:cNvSpPr>
          <p:nvPr/>
        </p:nvSpPr>
        <p:spPr>
          <a:xfrm>
            <a:off x="1379220" y="3523417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A7E53A85-F3C3-4668-B37A-C6DA5E9221D3}"/>
              </a:ext>
            </a:extLst>
          </p:cNvPr>
          <p:cNvSpPr>
            <a:spLocks noGrp="1"/>
          </p:cNvSpPr>
          <p:nvPr/>
        </p:nvSpPr>
        <p:spPr>
          <a:xfrm>
            <a:off x="1434465" y="3526450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E413305-C2AA-42CE-BC47-EA8EFD0BC118}"/>
              </a:ext>
            </a:extLst>
          </p:cNvPr>
          <p:cNvSpPr>
            <a:spLocks noGrp="1"/>
          </p:cNvSpPr>
          <p:nvPr/>
        </p:nvSpPr>
        <p:spPr>
          <a:xfrm>
            <a:off x="1489710" y="3530518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6D971EF-1AFC-44AF-9277-44CF8DB34451}"/>
              </a:ext>
            </a:extLst>
          </p:cNvPr>
          <p:cNvSpPr>
            <a:spLocks noGrp="1"/>
          </p:cNvSpPr>
          <p:nvPr/>
        </p:nvSpPr>
        <p:spPr>
          <a:xfrm flipV="1">
            <a:off x="1544955" y="3531205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6C0E989-2087-46DC-A118-41A055F31683}"/>
              </a:ext>
            </a:extLst>
          </p:cNvPr>
          <p:cNvSpPr>
            <a:spLocks noGrp="1"/>
          </p:cNvSpPr>
          <p:nvPr/>
        </p:nvSpPr>
        <p:spPr>
          <a:xfrm flipV="1">
            <a:off x="1600200" y="3522202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CEDB118-4424-48FF-8E52-8D4E6C00EE8B}"/>
              </a:ext>
            </a:extLst>
          </p:cNvPr>
          <p:cNvSpPr>
            <a:spLocks noGrp="1"/>
          </p:cNvSpPr>
          <p:nvPr/>
        </p:nvSpPr>
        <p:spPr>
          <a:xfrm flipV="1">
            <a:off x="1655445" y="3507663"/>
            <a:ext cx="55245" cy="1453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DD1EA58-3A13-4FAA-98D0-6D2AEA8C95BF}"/>
              </a:ext>
            </a:extLst>
          </p:cNvPr>
          <p:cNvSpPr>
            <a:spLocks noGrp="1"/>
          </p:cNvSpPr>
          <p:nvPr/>
        </p:nvSpPr>
        <p:spPr>
          <a:xfrm flipV="1">
            <a:off x="1710690" y="3494431"/>
            <a:ext cx="55245" cy="13232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A175296-2163-4AFD-8187-5CA61A4C33DC}"/>
              </a:ext>
            </a:extLst>
          </p:cNvPr>
          <p:cNvSpPr>
            <a:spLocks noGrp="1"/>
          </p:cNvSpPr>
          <p:nvPr/>
        </p:nvSpPr>
        <p:spPr>
          <a:xfrm flipV="1">
            <a:off x="1765935" y="3493259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9175C3EF-7F94-4925-9451-45D2B053022B}"/>
              </a:ext>
            </a:extLst>
          </p:cNvPr>
          <p:cNvSpPr>
            <a:spLocks noGrp="1"/>
          </p:cNvSpPr>
          <p:nvPr/>
        </p:nvSpPr>
        <p:spPr>
          <a:xfrm>
            <a:off x="1821180" y="3493259"/>
            <a:ext cx="55245" cy="1997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F2F81C0-E7BE-4621-8194-2BD76F8FE6FA}"/>
              </a:ext>
            </a:extLst>
          </p:cNvPr>
          <p:cNvSpPr>
            <a:spLocks noGrp="1"/>
          </p:cNvSpPr>
          <p:nvPr/>
        </p:nvSpPr>
        <p:spPr>
          <a:xfrm>
            <a:off x="1876425" y="3513230"/>
            <a:ext cx="55245" cy="4057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08F573D-42B4-4E79-A562-4C7CA47571F7}"/>
              </a:ext>
            </a:extLst>
          </p:cNvPr>
          <p:cNvSpPr>
            <a:spLocks noGrp="1"/>
          </p:cNvSpPr>
          <p:nvPr/>
        </p:nvSpPr>
        <p:spPr>
          <a:xfrm>
            <a:off x="1931670" y="3553808"/>
            <a:ext cx="55245" cy="4544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2DF04681-33FB-47A0-BAE4-F643BDE349FC}"/>
              </a:ext>
            </a:extLst>
          </p:cNvPr>
          <p:cNvSpPr>
            <a:spLocks noGrp="1"/>
          </p:cNvSpPr>
          <p:nvPr/>
        </p:nvSpPr>
        <p:spPr>
          <a:xfrm>
            <a:off x="1986915" y="3599252"/>
            <a:ext cx="55245" cy="2185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F453A2C-0007-4BBB-9BE3-C7E49C9803ED}"/>
              </a:ext>
            </a:extLst>
          </p:cNvPr>
          <p:cNvSpPr>
            <a:spLocks noGrp="1"/>
          </p:cNvSpPr>
          <p:nvPr/>
        </p:nvSpPr>
        <p:spPr>
          <a:xfrm flipV="1">
            <a:off x="2042160" y="3591490"/>
            <a:ext cx="55245" cy="2961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665DE92A-C6E0-4901-AE33-5149DE382B2E}"/>
              </a:ext>
            </a:extLst>
          </p:cNvPr>
          <p:cNvSpPr>
            <a:spLocks noGrp="1"/>
          </p:cNvSpPr>
          <p:nvPr/>
        </p:nvSpPr>
        <p:spPr>
          <a:xfrm flipV="1">
            <a:off x="2097405" y="3503098"/>
            <a:ext cx="55245" cy="88392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48DAE31F-E063-4CA4-985D-AFB63BDC9C4D}"/>
              </a:ext>
            </a:extLst>
          </p:cNvPr>
          <p:cNvSpPr>
            <a:spLocks noGrp="1"/>
          </p:cNvSpPr>
          <p:nvPr/>
        </p:nvSpPr>
        <p:spPr>
          <a:xfrm flipV="1">
            <a:off x="2152650" y="3384617"/>
            <a:ext cx="55245" cy="11848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60082F5A-6D94-4375-AAA6-CCB197484765}"/>
              </a:ext>
            </a:extLst>
          </p:cNvPr>
          <p:cNvSpPr>
            <a:spLocks noGrp="1"/>
          </p:cNvSpPr>
          <p:nvPr/>
        </p:nvSpPr>
        <p:spPr>
          <a:xfrm flipV="1">
            <a:off x="2207895" y="3298180"/>
            <a:ext cx="55245" cy="8643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0C01B5E5-4B25-4594-8B7E-85D95BBF1D92}"/>
              </a:ext>
            </a:extLst>
          </p:cNvPr>
          <p:cNvSpPr>
            <a:spLocks noGrp="1"/>
          </p:cNvSpPr>
          <p:nvPr/>
        </p:nvSpPr>
        <p:spPr>
          <a:xfrm>
            <a:off x="2263140" y="3298180"/>
            <a:ext cx="55245" cy="1425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ED5A6B38-FFCE-4DFA-BC1E-F30E28A0775F}"/>
              </a:ext>
            </a:extLst>
          </p:cNvPr>
          <p:cNvSpPr>
            <a:spLocks noGrp="1"/>
          </p:cNvSpPr>
          <p:nvPr/>
        </p:nvSpPr>
        <p:spPr>
          <a:xfrm>
            <a:off x="2318385" y="3312437"/>
            <a:ext cx="55245" cy="14729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49C22F1F-FCC9-4C07-990E-2CE88C8912A3}"/>
              </a:ext>
            </a:extLst>
          </p:cNvPr>
          <p:cNvSpPr>
            <a:spLocks noGrp="1"/>
          </p:cNvSpPr>
          <p:nvPr/>
        </p:nvSpPr>
        <p:spPr>
          <a:xfrm>
            <a:off x="2373630" y="3459736"/>
            <a:ext cx="55245" cy="24097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4CFEE9DD-39AC-4FEC-AB72-202601D78F8E}"/>
              </a:ext>
            </a:extLst>
          </p:cNvPr>
          <p:cNvSpPr>
            <a:spLocks noGrp="1"/>
          </p:cNvSpPr>
          <p:nvPr/>
        </p:nvSpPr>
        <p:spPr>
          <a:xfrm>
            <a:off x="2428875" y="3700711"/>
            <a:ext cx="55245" cy="22267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09A7D73E-72EB-41CA-A404-AFF5B3933C9D}"/>
              </a:ext>
            </a:extLst>
          </p:cNvPr>
          <p:cNvSpPr>
            <a:spLocks noGrp="1"/>
          </p:cNvSpPr>
          <p:nvPr/>
        </p:nvSpPr>
        <p:spPr>
          <a:xfrm>
            <a:off x="2484120" y="3923385"/>
            <a:ext cx="55245" cy="6618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4FBDE115-9FBA-440E-B9FC-EDBA77ACF304}"/>
              </a:ext>
            </a:extLst>
          </p:cNvPr>
          <p:cNvSpPr>
            <a:spLocks noGrp="1"/>
          </p:cNvSpPr>
          <p:nvPr/>
        </p:nvSpPr>
        <p:spPr>
          <a:xfrm flipV="1">
            <a:off x="2539365" y="3813160"/>
            <a:ext cx="55245" cy="176406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146DD0DB-3E74-4A3B-B3E8-CAC5AE6AAD9A}"/>
              </a:ext>
            </a:extLst>
          </p:cNvPr>
          <p:cNvSpPr>
            <a:spLocks noGrp="1"/>
          </p:cNvSpPr>
          <p:nvPr/>
        </p:nvSpPr>
        <p:spPr>
          <a:xfrm flipV="1">
            <a:off x="2594610" y="3428520"/>
            <a:ext cx="55245" cy="38464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4A962244-8855-4FC1-B702-2775EE35A675}"/>
              </a:ext>
            </a:extLst>
          </p:cNvPr>
          <p:cNvSpPr>
            <a:spLocks noGrp="1"/>
          </p:cNvSpPr>
          <p:nvPr/>
        </p:nvSpPr>
        <p:spPr>
          <a:xfrm flipV="1">
            <a:off x="2649855" y="3001596"/>
            <a:ext cx="55245" cy="426923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77D0D027-E3D3-42B1-B5BB-1CA850E888A6}"/>
              </a:ext>
            </a:extLst>
          </p:cNvPr>
          <p:cNvSpPr>
            <a:spLocks noGrp="1"/>
          </p:cNvSpPr>
          <p:nvPr/>
        </p:nvSpPr>
        <p:spPr>
          <a:xfrm flipV="1">
            <a:off x="2705100" y="2762003"/>
            <a:ext cx="55245" cy="239593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BFC1DCD7-2470-4FB1-AE18-6E46C217F34E}"/>
              </a:ext>
            </a:extLst>
          </p:cNvPr>
          <p:cNvSpPr>
            <a:spLocks noGrp="1"/>
          </p:cNvSpPr>
          <p:nvPr/>
        </p:nvSpPr>
        <p:spPr>
          <a:xfrm>
            <a:off x="2760345" y="2762003"/>
            <a:ext cx="55245" cy="118536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1BE14C41-D029-4A72-85A4-A61208502CE5}"/>
              </a:ext>
            </a:extLst>
          </p:cNvPr>
          <p:cNvSpPr>
            <a:spLocks noGrp="1"/>
          </p:cNvSpPr>
          <p:nvPr/>
        </p:nvSpPr>
        <p:spPr>
          <a:xfrm>
            <a:off x="2815590" y="2880539"/>
            <a:ext cx="55245" cy="47685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20454E0A-5D8E-40F0-88D1-65782E6D16D2}"/>
              </a:ext>
            </a:extLst>
          </p:cNvPr>
          <p:cNvSpPr>
            <a:spLocks noGrp="1"/>
          </p:cNvSpPr>
          <p:nvPr/>
        </p:nvSpPr>
        <p:spPr>
          <a:xfrm>
            <a:off x="2870835" y="3357390"/>
            <a:ext cx="55245" cy="63491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5EAE120C-0AD5-41D7-A0B9-00BEBF963FB9}"/>
              </a:ext>
            </a:extLst>
          </p:cNvPr>
          <p:cNvSpPr>
            <a:spLocks noGrp="1"/>
          </p:cNvSpPr>
          <p:nvPr/>
        </p:nvSpPr>
        <p:spPr>
          <a:xfrm>
            <a:off x="2926080" y="3992309"/>
            <a:ext cx="55245" cy="47653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544BDCDF-A78A-4B8C-B17B-999F7F3ED296}"/>
              </a:ext>
            </a:extLst>
          </p:cNvPr>
          <p:cNvSpPr>
            <a:spLocks noGrp="1"/>
          </p:cNvSpPr>
          <p:nvPr/>
        </p:nvSpPr>
        <p:spPr>
          <a:xfrm>
            <a:off x="2981325" y="4468848"/>
            <a:ext cx="55245" cy="4956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53FF4BC2-C1F8-4866-9578-8BE8C5967EC8}"/>
              </a:ext>
            </a:extLst>
          </p:cNvPr>
          <p:cNvSpPr>
            <a:spLocks noGrp="1"/>
          </p:cNvSpPr>
          <p:nvPr/>
        </p:nvSpPr>
        <p:spPr>
          <a:xfrm flipV="1">
            <a:off x="3036570" y="4075898"/>
            <a:ext cx="55245" cy="442512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317E09F0-5C42-4885-8C91-7201AD2EBC47}"/>
              </a:ext>
            </a:extLst>
          </p:cNvPr>
          <p:cNvSpPr>
            <a:spLocks noGrp="1"/>
          </p:cNvSpPr>
          <p:nvPr/>
        </p:nvSpPr>
        <p:spPr>
          <a:xfrm flipV="1">
            <a:off x="3091815" y="3333824"/>
            <a:ext cx="55245" cy="74207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2B8E20BF-38AC-4398-A9F4-64ACC8D0C54A}"/>
              </a:ext>
            </a:extLst>
          </p:cNvPr>
          <p:cNvSpPr>
            <a:spLocks noGrp="1"/>
          </p:cNvSpPr>
          <p:nvPr/>
        </p:nvSpPr>
        <p:spPr>
          <a:xfrm flipV="1">
            <a:off x="3147060" y="2654396"/>
            <a:ext cx="55245" cy="67942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B3EE37E2-FFD3-423E-B629-9FE66AB9A51E}"/>
              </a:ext>
            </a:extLst>
          </p:cNvPr>
          <p:cNvSpPr>
            <a:spLocks noGrp="1"/>
          </p:cNvSpPr>
          <p:nvPr/>
        </p:nvSpPr>
        <p:spPr>
          <a:xfrm flipV="1">
            <a:off x="3202305" y="2381250"/>
            <a:ext cx="55245" cy="273146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CAE3E152-CCB6-4C80-BECF-56733D65E3D6}"/>
              </a:ext>
            </a:extLst>
          </p:cNvPr>
          <p:cNvSpPr>
            <a:spLocks noGrp="1"/>
          </p:cNvSpPr>
          <p:nvPr/>
        </p:nvSpPr>
        <p:spPr>
          <a:xfrm>
            <a:off x="3257550" y="2381250"/>
            <a:ext cx="55245" cy="273146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A7B4686E-0D1D-4044-BE61-98E737DB8734}"/>
              </a:ext>
            </a:extLst>
          </p:cNvPr>
          <p:cNvSpPr>
            <a:spLocks noGrp="1"/>
          </p:cNvSpPr>
          <p:nvPr/>
        </p:nvSpPr>
        <p:spPr>
          <a:xfrm>
            <a:off x="3312795" y="2654396"/>
            <a:ext cx="55245" cy="67942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C06043C0-8248-49D3-9926-C798205FF5A8}"/>
              </a:ext>
            </a:extLst>
          </p:cNvPr>
          <p:cNvSpPr>
            <a:spLocks noGrp="1"/>
          </p:cNvSpPr>
          <p:nvPr/>
        </p:nvSpPr>
        <p:spPr>
          <a:xfrm>
            <a:off x="3368040" y="3333824"/>
            <a:ext cx="55245" cy="74207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B672823E-C238-4F92-9452-16E0D5231CF2}"/>
              </a:ext>
            </a:extLst>
          </p:cNvPr>
          <p:cNvSpPr>
            <a:spLocks noGrp="1"/>
          </p:cNvSpPr>
          <p:nvPr/>
        </p:nvSpPr>
        <p:spPr>
          <a:xfrm>
            <a:off x="3423285" y="4075898"/>
            <a:ext cx="55245" cy="442512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8F0832D3-6362-4644-A2FA-F84245DA9099}"/>
              </a:ext>
            </a:extLst>
          </p:cNvPr>
          <p:cNvSpPr>
            <a:spLocks noGrp="1"/>
          </p:cNvSpPr>
          <p:nvPr/>
        </p:nvSpPr>
        <p:spPr>
          <a:xfrm flipV="1">
            <a:off x="3478530" y="4468848"/>
            <a:ext cx="55245" cy="4956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1C48842E-0196-4228-A924-8B594BC4F67D}"/>
              </a:ext>
            </a:extLst>
          </p:cNvPr>
          <p:cNvSpPr>
            <a:spLocks noGrp="1"/>
          </p:cNvSpPr>
          <p:nvPr/>
        </p:nvSpPr>
        <p:spPr>
          <a:xfrm flipV="1">
            <a:off x="3533775" y="3992309"/>
            <a:ext cx="55245" cy="47653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4DBEB01B-FA14-4271-808B-9DB824D6A600}"/>
              </a:ext>
            </a:extLst>
          </p:cNvPr>
          <p:cNvSpPr>
            <a:spLocks noGrp="1"/>
          </p:cNvSpPr>
          <p:nvPr/>
        </p:nvSpPr>
        <p:spPr>
          <a:xfrm flipV="1">
            <a:off x="3589020" y="3357390"/>
            <a:ext cx="55245" cy="63491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115A4D7E-3CCA-4F60-96B4-1798C9D592DB}"/>
              </a:ext>
            </a:extLst>
          </p:cNvPr>
          <p:cNvSpPr>
            <a:spLocks noGrp="1"/>
          </p:cNvSpPr>
          <p:nvPr/>
        </p:nvSpPr>
        <p:spPr>
          <a:xfrm flipV="1">
            <a:off x="3644265" y="2880539"/>
            <a:ext cx="55245" cy="47685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D78E9F39-7864-478A-812B-564359A365C9}"/>
              </a:ext>
            </a:extLst>
          </p:cNvPr>
          <p:cNvSpPr>
            <a:spLocks noGrp="1"/>
          </p:cNvSpPr>
          <p:nvPr/>
        </p:nvSpPr>
        <p:spPr>
          <a:xfrm flipV="1">
            <a:off x="3699510" y="2762003"/>
            <a:ext cx="55245" cy="118536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traight Connector 57">
            <a:extLst>
              <a:ext uri="{FF2B5EF4-FFF2-40B4-BE49-F238E27FC236}">
                <a16:creationId xmlns:a16="http://schemas.microsoft.com/office/drawing/2014/main" id="{2F1D9856-D5E6-4DF7-BC35-9796D9C4432C}"/>
              </a:ext>
            </a:extLst>
          </p:cNvPr>
          <p:cNvSpPr>
            <a:spLocks noGrp="1"/>
          </p:cNvSpPr>
          <p:nvPr/>
        </p:nvSpPr>
        <p:spPr>
          <a:xfrm>
            <a:off x="3754755" y="2762003"/>
            <a:ext cx="55245" cy="239593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024DB23C-60B8-4E91-998C-779873BF7DAB}"/>
              </a:ext>
            </a:extLst>
          </p:cNvPr>
          <p:cNvSpPr>
            <a:spLocks noGrp="1"/>
          </p:cNvSpPr>
          <p:nvPr/>
        </p:nvSpPr>
        <p:spPr>
          <a:xfrm>
            <a:off x="3810000" y="3001596"/>
            <a:ext cx="55245" cy="426923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451290D9-4065-42AF-9CE6-8F4BDA74382E}"/>
              </a:ext>
            </a:extLst>
          </p:cNvPr>
          <p:cNvSpPr>
            <a:spLocks noGrp="1"/>
          </p:cNvSpPr>
          <p:nvPr/>
        </p:nvSpPr>
        <p:spPr>
          <a:xfrm>
            <a:off x="3865245" y="3428520"/>
            <a:ext cx="55245" cy="38464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0B3B3D84-7F83-4EFA-AE61-C58D2D39D627}"/>
              </a:ext>
            </a:extLst>
          </p:cNvPr>
          <p:cNvSpPr>
            <a:spLocks noGrp="1"/>
          </p:cNvSpPr>
          <p:nvPr/>
        </p:nvSpPr>
        <p:spPr>
          <a:xfrm>
            <a:off x="3920490" y="3813160"/>
            <a:ext cx="55245" cy="176406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114B8AB7-58C6-4EEE-8AF2-893A79F320C3}"/>
              </a:ext>
            </a:extLst>
          </p:cNvPr>
          <p:cNvSpPr>
            <a:spLocks noGrp="1"/>
          </p:cNvSpPr>
          <p:nvPr/>
        </p:nvSpPr>
        <p:spPr>
          <a:xfrm flipV="1">
            <a:off x="3975735" y="3923385"/>
            <a:ext cx="55245" cy="6618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DBA56AA5-9852-444F-B48E-C886513F58E2}"/>
              </a:ext>
            </a:extLst>
          </p:cNvPr>
          <p:cNvSpPr>
            <a:spLocks noGrp="1"/>
          </p:cNvSpPr>
          <p:nvPr/>
        </p:nvSpPr>
        <p:spPr>
          <a:xfrm flipV="1">
            <a:off x="4030980" y="3700711"/>
            <a:ext cx="55245" cy="22267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traight Connector 63">
            <a:extLst>
              <a:ext uri="{FF2B5EF4-FFF2-40B4-BE49-F238E27FC236}">
                <a16:creationId xmlns:a16="http://schemas.microsoft.com/office/drawing/2014/main" id="{B0405B5D-2913-438D-9CD9-7D21AB8860B0}"/>
              </a:ext>
            </a:extLst>
          </p:cNvPr>
          <p:cNvSpPr>
            <a:spLocks noGrp="1"/>
          </p:cNvSpPr>
          <p:nvPr/>
        </p:nvSpPr>
        <p:spPr>
          <a:xfrm flipV="1">
            <a:off x="4086225" y="3459736"/>
            <a:ext cx="55245" cy="24097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traight Connector 64">
            <a:extLst>
              <a:ext uri="{FF2B5EF4-FFF2-40B4-BE49-F238E27FC236}">
                <a16:creationId xmlns:a16="http://schemas.microsoft.com/office/drawing/2014/main" id="{B14CBED4-5C4F-4107-A53A-9319D51E83CB}"/>
              </a:ext>
            </a:extLst>
          </p:cNvPr>
          <p:cNvSpPr>
            <a:spLocks noGrp="1"/>
          </p:cNvSpPr>
          <p:nvPr/>
        </p:nvSpPr>
        <p:spPr>
          <a:xfrm flipV="1">
            <a:off x="4141470" y="3312437"/>
            <a:ext cx="55245" cy="14729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traight Connector 65">
            <a:extLst>
              <a:ext uri="{FF2B5EF4-FFF2-40B4-BE49-F238E27FC236}">
                <a16:creationId xmlns:a16="http://schemas.microsoft.com/office/drawing/2014/main" id="{2602130B-A9C9-4D95-BDBA-D85C3A374A89}"/>
              </a:ext>
            </a:extLst>
          </p:cNvPr>
          <p:cNvSpPr>
            <a:spLocks noGrp="1"/>
          </p:cNvSpPr>
          <p:nvPr/>
        </p:nvSpPr>
        <p:spPr>
          <a:xfrm flipV="1">
            <a:off x="4196715" y="3298180"/>
            <a:ext cx="55245" cy="1425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89452904-0759-4B5E-9D1E-F2CB6A777543}"/>
              </a:ext>
            </a:extLst>
          </p:cNvPr>
          <p:cNvSpPr>
            <a:spLocks noGrp="1"/>
          </p:cNvSpPr>
          <p:nvPr/>
        </p:nvSpPr>
        <p:spPr>
          <a:xfrm>
            <a:off x="4251960" y="3298180"/>
            <a:ext cx="55245" cy="8643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traight Connector 67">
            <a:extLst>
              <a:ext uri="{FF2B5EF4-FFF2-40B4-BE49-F238E27FC236}">
                <a16:creationId xmlns:a16="http://schemas.microsoft.com/office/drawing/2014/main" id="{314FA177-6567-42A0-A253-09CDE469CDC1}"/>
              </a:ext>
            </a:extLst>
          </p:cNvPr>
          <p:cNvSpPr>
            <a:spLocks noGrp="1"/>
          </p:cNvSpPr>
          <p:nvPr/>
        </p:nvSpPr>
        <p:spPr>
          <a:xfrm>
            <a:off x="4307205" y="3384617"/>
            <a:ext cx="55245" cy="11848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traight Connector 68">
            <a:extLst>
              <a:ext uri="{FF2B5EF4-FFF2-40B4-BE49-F238E27FC236}">
                <a16:creationId xmlns:a16="http://schemas.microsoft.com/office/drawing/2014/main" id="{A5D4A1E9-042A-4018-A09E-880B726D2824}"/>
              </a:ext>
            </a:extLst>
          </p:cNvPr>
          <p:cNvSpPr>
            <a:spLocks noGrp="1"/>
          </p:cNvSpPr>
          <p:nvPr/>
        </p:nvSpPr>
        <p:spPr>
          <a:xfrm>
            <a:off x="4362450" y="3503098"/>
            <a:ext cx="55245" cy="88392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traight Connector 69">
            <a:extLst>
              <a:ext uri="{FF2B5EF4-FFF2-40B4-BE49-F238E27FC236}">
                <a16:creationId xmlns:a16="http://schemas.microsoft.com/office/drawing/2014/main" id="{B5A726AE-84E1-45EE-994B-7F36EA4754E4}"/>
              </a:ext>
            </a:extLst>
          </p:cNvPr>
          <p:cNvSpPr>
            <a:spLocks noGrp="1"/>
          </p:cNvSpPr>
          <p:nvPr/>
        </p:nvSpPr>
        <p:spPr>
          <a:xfrm>
            <a:off x="4417695" y="3591490"/>
            <a:ext cx="55245" cy="2961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traight Connector 70">
            <a:extLst>
              <a:ext uri="{FF2B5EF4-FFF2-40B4-BE49-F238E27FC236}">
                <a16:creationId xmlns:a16="http://schemas.microsoft.com/office/drawing/2014/main" id="{24F36330-6172-4CFB-ACE5-1514DBDE7AE0}"/>
              </a:ext>
            </a:extLst>
          </p:cNvPr>
          <p:cNvSpPr>
            <a:spLocks noGrp="1"/>
          </p:cNvSpPr>
          <p:nvPr/>
        </p:nvSpPr>
        <p:spPr>
          <a:xfrm flipV="1">
            <a:off x="4472940" y="3599252"/>
            <a:ext cx="55245" cy="2185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traight Connector 71">
            <a:extLst>
              <a:ext uri="{FF2B5EF4-FFF2-40B4-BE49-F238E27FC236}">
                <a16:creationId xmlns:a16="http://schemas.microsoft.com/office/drawing/2014/main" id="{53670B59-1723-4EB9-9CB3-D4E96D162ACE}"/>
              </a:ext>
            </a:extLst>
          </p:cNvPr>
          <p:cNvSpPr>
            <a:spLocks noGrp="1"/>
          </p:cNvSpPr>
          <p:nvPr/>
        </p:nvSpPr>
        <p:spPr>
          <a:xfrm flipV="1">
            <a:off x="4528185" y="3553808"/>
            <a:ext cx="55245" cy="45444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traight Connector 72">
            <a:extLst>
              <a:ext uri="{FF2B5EF4-FFF2-40B4-BE49-F238E27FC236}">
                <a16:creationId xmlns:a16="http://schemas.microsoft.com/office/drawing/2014/main" id="{D53C2EAC-5104-45CA-9930-4D094126610B}"/>
              </a:ext>
            </a:extLst>
          </p:cNvPr>
          <p:cNvSpPr>
            <a:spLocks noGrp="1"/>
          </p:cNvSpPr>
          <p:nvPr/>
        </p:nvSpPr>
        <p:spPr>
          <a:xfrm flipV="1">
            <a:off x="4583430" y="3513230"/>
            <a:ext cx="55245" cy="40578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traight Connector 73">
            <a:extLst>
              <a:ext uri="{FF2B5EF4-FFF2-40B4-BE49-F238E27FC236}">
                <a16:creationId xmlns:a16="http://schemas.microsoft.com/office/drawing/2014/main" id="{FD871866-4A50-4ACE-98D0-71D440699DA4}"/>
              </a:ext>
            </a:extLst>
          </p:cNvPr>
          <p:cNvSpPr>
            <a:spLocks noGrp="1"/>
          </p:cNvSpPr>
          <p:nvPr/>
        </p:nvSpPr>
        <p:spPr>
          <a:xfrm flipV="1">
            <a:off x="4638675" y="3493259"/>
            <a:ext cx="55245" cy="19971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traight Connector 74">
            <a:extLst>
              <a:ext uri="{FF2B5EF4-FFF2-40B4-BE49-F238E27FC236}">
                <a16:creationId xmlns:a16="http://schemas.microsoft.com/office/drawing/2014/main" id="{AFDFD537-D12D-4BD1-BF76-9C90F9C8E067}"/>
              </a:ext>
            </a:extLst>
          </p:cNvPr>
          <p:cNvSpPr>
            <a:spLocks noGrp="1"/>
          </p:cNvSpPr>
          <p:nvPr/>
        </p:nvSpPr>
        <p:spPr>
          <a:xfrm>
            <a:off x="4693920" y="3493259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traight Connector 75">
            <a:extLst>
              <a:ext uri="{FF2B5EF4-FFF2-40B4-BE49-F238E27FC236}">
                <a16:creationId xmlns:a16="http://schemas.microsoft.com/office/drawing/2014/main" id="{8AF99AA3-CE36-4C6D-8922-9953CE7B6552}"/>
              </a:ext>
            </a:extLst>
          </p:cNvPr>
          <p:cNvSpPr>
            <a:spLocks noGrp="1"/>
          </p:cNvSpPr>
          <p:nvPr/>
        </p:nvSpPr>
        <p:spPr>
          <a:xfrm>
            <a:off x="4749165" y="3494431"/>
            <a:ext cx="55245" cy="13232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traight Connector 76">
            <a:extLst>
              <a:ext uri="{FF2B5EF4-FFF2-40B4-BE49-F238E27FC236}">
                <a16:creationId xmlns:a16="http://schemas.microsoft.com/office/drawing/2014/main" id="{7C1468F7-FE57-4E8F-88FB-A5AABB174F7F}"/>
              </a:ext>
            </a:extLst>
          </p:cNvPr>
          <p:cNvSpPr>
            <a:spLocks noGrp="1"/>
          </p:cNvSpPr>
          <p:nvPr/>
        </p:nvSpPr>
        <p:spPr>
          <a:xfrm>
            <a:off x="4804410" y="3507663"/>
            <a:ext cx="55245" cy="14539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traight Connector 77">
            <a:extLst>
              <a:ext uri="{FF2B5EF4-FFF2-40B4-BE49-F238E27FC236}">
                <a16:creationId xmlns:a16="http://schemas.microsoft.com/office/drawing/2014/main" id="{AFAAE0A4-4B7A-4DB4-937B-3C6DBDB199BD}"/>
              </a:ext>
            </a:extLst>
          </p:cNvPr>
          <p:cNvSpPr>
            <a:spLocks noGrp="1"/>
          </p:cNvSpPr>
          <p:nvPr/>
        </p:nvSpPr>
        <p:spPr>
          <a:xfrm>
            <a:off x="4859655" y="3522202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traight Connector 78">
            <a:extLst>
              <a:ext uri="{FF2B5EF4-FFF2-40B4-BE49-F238E27FC236}">
                <a16:creationId xmlns:a16="http://schemas.microsoft.com/office/drawing/2014/main" id="{56E35B95-62D1-4766-870E-84F2AFE3BD23}"/>
              </a:ext>
            </a:extLst>
          </p:cNvPr>
          <p:cNvSpPr>
            <a:spLocks noGrp="1"/>
          </p:cNvSpPr>
          <p:nvPr/>
        </p:nvSpPr>
        <p:spPr>
          <a:xfrm>
            <a:off x="4914900" y="3531205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traight Connector 79">
            <a:extLst>
              <a:ext uri="{FF2B5EF4-FFF2-40B4-BE49-F238E27FC236}">
                <a16:creationId xmlns:a16="http://schemas.microsoft.com/office/drawing/2014/main" id="{500FF4A8-FC1A-40FF-A601-1244DE066058}"/>
              </a:ext>
            </a:extLst>
          </p:cNvPr>
          <p:cNvSpPr>
            <a:spLocks noGrp="1"/>
          </p:cNvSpPr>
          <p:nvPr/>
        </p:nvSpPr>
        <p:spPr>
          <a:xfrm flipV="1">
            <a:off x="4970145" y="3530518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traight Connector 80">
            <a:extLst>
              <a:ext uri="{FF2B5EF4-FFF2-40B4-BE49-F238E27FC236}">
                <a16:creationId xmlns:a16="http://schemas.microsoft.com/office/drawing/2014/main" id="{5D7AF2C3-CB51-4BCC-B14F-24ACDDC46199}"/>
              </a:ext>
            </a:extLst>
          </p:cNvPr>
          <p:cNvSpPr>
            <a:spLocks noGrp="1"/>
          </p:cNvSpPr>
          <p:nvPr/>
        </p:nvSpPr>
        <p:spPr>
          <a:xfrm flipV="1">
            <a:off x="5025390" y="3526450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traight Connector 81">
            <a:extLst>
              <a:ext uri="{FF2B5EF4-FFF2-40B4-BE49-F238E27FC236}">
                <a16:creationId xmlns:a16="http://schemas.microsoft.com/office/drawing/2014/main" id="{0CB3E48C-3084-4784-9043-F9C70E5A5206}"/>
              </a:ext>
            </a:extLst>
          </p:cNvPr>
          <p:cNvSpPr>
            <a:spLocks noGrp="1"/>
          </p:cNvSpPr>
          <p:nvPr/>
        </p:nvSpPr>
        <p:spPr>
          <a:xfrm flipV="1">
            <a:off x="5080635" y="3523417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693DE5E7-6520-4BBE-8147-96743BDDBC39}"/>
              </a:ext>
            </a:extLst>
          </p:cNvPr>
          <p:cNvSpPr>
            <a:spLocks noGrp="1"/>
          </p:cNvSpPr>
          <p:nvPr/>
        </p:nvSpPr>
        <p:spPr>
          <a:xfrm flipV="1">
            <a:off x="5135880" y="352223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traight Connector 83">
            <a:extLst>
              <a:ext uri="{FF2B5EF4-FFF2-40B4-BE49-F238E27FC236}">
                <a16:creationId xmlns:a16="http://schemas.microsoft.com/office/drawing/2014/main" id="{5A4D9F49-6FC0-4F7C-A498-390E5630302E}"/>
              </a:ext>
            </a:extLst>
          </p:cNvPr>
          <p:cNvSpPr>
            <a:spLocks noGrp="1"/>
          </p:cNvSpPr>
          <p:nvPr/>
        </p:nvSpPr>
        <p:spPr>
          <a:xfrm>
            <a:off x="5191125" y="352223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97D849E9-9936-41EC-9ECC-DD3377EF40CA}"/>
              </a:ext>
            </a:extLst>
          </p:cNvPr>
          <p:cNvSpPr>
            <a:spLocks noGrp="1"/>
          </p:cNvSpPr>
          <p:nvPr/>
        </p:nvSpPr>
        <p:spPr>
          <a:xfrm>
            <a:off x="5246370" y="3522501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traight Connector 85">
            <a:extLst>
              <a:ext uri="{FF2B5EF4-FFF2-40B4-BE49-F238E27FC236}">
                <a16:creationId xmlns:a16="http://schemas.microsoft.com/office/drawing/2014/main" id="{49D3348F-1C56-463C-A822-8D246F80B7E0}"/>
              </a:ext>
            </a:extLst>
          </p:cNvPr>
          <p:cNvSpPr>
            <a:spLocks noGrp="1"/>
          </p:cNvSpPr>
          <p:nvPr/>
        </p:nvSpPr>
        <p:spPr>
          <a:xfrm>
            <a:off x="5301615" y="352337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traight Connector 86">
            <a:extLst>
              <a:ext uri="{FF2B5EF4-FFF2-40B4-BE49-F238E27FC236}">
                <a16:creationId xmlns:a16="http://schemas.microsoft.com/office/drawing/2014/main" id="{E6BB2D0E-C6EB-4906-8F62-349B5F9B0E0A}"/>
              </a:ext>
            </a:extLst>
          </p:cNvPr>
          <p:cNvSpPr>
            <a:spLocks noGrp="1"/>
          </p:cNvSpPr>
          <p:nvPr/>
        </p:nvSpPr>
        <p:spPr>
          <a:xfrm>
            <a:off x="5356860" y="3524164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traight Connector 87">
            <a:extLst>
              <a:ext uri="{FF2B5EF4-FFF2-40B4-BE49-F238E27FC236}">
                <a16:creationId xmlns:a16="http://schemas.microsoft.com/office/drawing/2014/main" id="{53EE06E4-6371-440B-96D0-08DE8E4FF4C8}"/>
              </a:ext>
            </a:extLst>
          </p:cNvPr>
          <p:cNvSpPr>
            <a:spLocks noGrp="1"/>
          </p:cNvSpPr>
          <p:nvPr/>
        </p:nvSpPr>
        <p:spPr>
          <a:xfrm>
            <a:off x="5412105" y="3524570"/>
            <a:ext cx="55245" cy="9525"/>
          </a:xfrm>
          <a:prstGeom prst="line">
            <a:avLst/>
          </a:prstGeom>
          <a:noFill/>
          <a:ln w="2857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04FD912-B270-483C-808F-7AD905A4E4E2}"/>
              </a:ext>
            </a:extLst>
          </p:cNvPr>
          <p:cNvSpPr>
            <a:spLocks noGrp="1"/>
          </p:cNvSpPr>
          <p:nvPr/>
        </p:nvSpPr>
        <p:spPr>
          <a:xfrm>
            <a:off x="1857375" y="4905375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localized oscillation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82B3AA4-BEEA-4C39-BBE4-8283E3E20566}"/>
              </a:ext>
            </a:extLst>
          </p:cNvPr>
          <p:cNvSpPr>
            <a:spLocks noGrp="1"/>
          </p:cNvSpPr>
          <p:nvPr/>
        </p:nvSpPr>
        <p:spPr>
          <a:xfrm>
            <a:off x="6400800" y="1381125"/>
            <a:ext cx="5143500" cy="409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87B8560-DDDA-4996-BC8D-FE956E85EBF7}"/>
              </a:ext>
            </a:extLst>
          </p:cNvPr>
          <p:cNvSpPr>
            <a:spLocks noGrp="1"/>
          </p:cNvSpPr>
          <p:nvPr/>
        </p:nvSpPr>
        <p:spPr>
          <a:xfrm>
            <a:off x="6610350" y="15716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Fourier space</a:t>
            </a:r>
          </a:p>
        </p:txBody>
      </p:sp>
      <p:sp>
        <p:nvSpPr>
          <p:cNvPr id="92" name="Straight Connector 91">
            <a:extLst>
              <a:ext uri="{FF2B5EF4-FFF2-40B4-BE49-F238E27FC236}">
                <a16:creationId xmlns:a16="http://schemas.microsoft.com/office/drawing/2014/main" id="{D7A78E9E-A71E-41BD-874C-849B122EC2A9}"/>
              </a:ext>
            </a:extLst>
          </p:cNvPr>
          <p:cNvSpPr>
            <a:spLocks noGrp="1"/>
          </p:cNvSpPr>
          <p:nvPr/>
        </p:nvSpPr>
        <p:spPr>
          <a:xfrm>
            <a:off x="6858000" y="4429125"/>
            <a:ext cx="4191000" cy="9525"/>
          </a:xfrm>
          <a:prstGeom prst="line">
            <a:avLst/>
          </a:prstGeom>
          <a:noFill/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traight Connector 92">
            <a:extLst>
              <a:ext uri="{FF2B5EF4-FFF2-40B4-BE49-F238E27FC236}">
                <a16:creationId xmlns:a16="http://schemas.microsoft.com/office/drawing/2014/main" id="{016404E5-AED9-47D6-ABAF-E2442CBFAA8E}"/>
              </a:ext>
            </a:extLst>
          </p:cNvPr>
          <p:cNvSpPr>
            <a:spLocks noGrp="1"/>
          </p:cNvSpPr>
          <p:nvPr/>
        </p:nvSpPr>
        <p:spPr>
          <a:xfrm>
            <a:off x="6858000" y="2143125"/>
            <a:ext cx="9525" cy="2286000"/>
          </a:xfrm>
          <a:prstGeom prst="line">
            <a:avLst/>
          </a:prstGeom>
          <a:noFill/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traight Connector 93">
            <a:extLst>
              <a:ext uri="{FF2B5EF4-FFF2-40B4-BE49-F238E27FC236}">
                <a16:creationId xmlns:a16="http://schemas.microsoft.com/office/drawing/2014/main" id="{2A81A20B-949B-487E-83EF-2A31B247BE6E}"/>
              </a:ext>
            </a:extLst>
          </p:cNvPr>
          <p:cNvSpPr>
            <a:spLocks noGrp="1"/>
          </p:cNvSpPr>
          <p:nvPr/>
        </p:nvSpPr>
        <p:spPr>
          <a:xfrm flipV="1">
            <a:off x="7000875" y="442912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traight Connector 94">
            <a:extLst>
              <a:ext uri="{FF2B5EF4-FFF2-40B4-BE49-F238E27FC236}">
                <a16:creationId xmlns:a16="http://schemas.microsoft.com/office/drawing/2014/main" id="{0C63CF19-A99F-4AD5-93B5-64D6CB714CCC}"/>
              </a:ext>
            </a:extLst>
          </p:cNvPr>
          <p:cNvSpPr>
            <a:spLocks noGrp="1"/>
          </p:cNvSpPr>
          <p:nvPr/>
        </p:nvSpPr>
        <p:spPr>
          <a:xfrm flipV="1">
            <a:off x="7050405" y="442912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traight Connector 95">
            <a:extLst>
              <a:ext uri="{FF2B5EF4-FFF2-40B4-BE49-F238E27FC236}">
                <a16:creationId xmlns:a16="http://schemas.microsoft.com/office/drawing/2014/main" id="{1BFCCC71-FB7D-45DA-9E5A-2808F6501129}"/>
              </a:ext>
            </a:extLst>
          </p:cNvPr>
          <p:cNvSpPr>
            <a:spLocks noGrp="1"/>
          </p:cNvSpPr>
          <p:nvPr/>
        </p:nvSpPr>
        <p:spPr>
          <a:xfrm flipV="1">
            <a:off x="7099935" y="442912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traight Connector 96">
            <a:extLst>
              <a:ext uri="{FF2B5EF4-FFF2-40B4-BE49-F238E27FC236}">
                <a16:creationId xmlns:a16="http://schemas.microsoft.com/office/drawing/2014/main" id="{05BB7C0B-74FC-4C83-9044-0D0B0954124B}"/>
              </a:ext>
            </a:extLst>
          </p:cNvPr>
          <p:cNvSpPr>
            <a:spLocks noGrp="1"/>
          </p:cNvSpPr>
          <p:nvPr/>
        </p:nvSpPr>
        <p:spPr>
          <a:xfrm flipV="1">
            <a:off x="7149465" y="4429123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traight Connector 97">
            <a:extLst>
              <a:ext uri="{FF2B5EF4-FFF2-40B4-BE49-F238E27FC236}">
                <a16:creationId xmlns:a16="http://schemas.microsoft.com/office/drawing/2014/main" id="{E1684D19-A402-4CC0-BB12-1A5D087F7354}"/>
              </a:ext>
            </a:extLst>
          </p:cNvPr>
          <p:cNvSpPr>
            <a:spLocks noGrp="1"/>
          </p:cNvSpPr>
          <p:nvPr/>
        </p:nvSpPr>
        <p:spPr>
          <a:xfrm flipV="1">
            <a:off x="7198995" y="4429118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traight Connector 98">
            <a:extLst>
              <a:ext uri="{FF2B5EF4-FFF2-40B4-BE49-F238E27FC236}">
                <a16:creationId xmlns:a16="http://schemas.microsoft.com/office/drawing/2014/main" id="{D9DB0925-8D6E-4446-A4B6-48E5EB70AD09}"/>
              </a:ext>
            </a:extLst>
          </p:cNvPr>
          <p:cNvSpPr>
            <a:spLocks noGrp="1"/>
          </p:cNvSpPr>
          <p:nvPr/>
        </p:nvSpPr>
        <p:spPr>
          <a:xfrm flipV="1">
            <a:off x="7248525" y="4429101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traight Connector 99">
            <a:extLst>
              <a:ext uri="{FF2B5EF4-FFF2-40B4-BE49-F238E27FC236}">
                <a16:creationId xmlns:a16="http://schemas.microsoft.com/office/drawing/2014/main" id="{BE0F509C-5540-4548-82E4-663B32E07AB7}"/>
              </a:ext>
            </a:extLst>
          </p:cNvPr>
          <p:cNvSpPr>
            <a:spLocks noGrp="1"/>
          </p:cNvSpPr>
          <p:nvPr/>
        </p:nvSpPr>
        <p:spPr>
          <a:xfrm flipV="1">
            <a:off x="7298055" y="442904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traight Connector 100">
            <a:extLst>
              <a:ext uri="{FF2B5EF4-FFF2-40B4-BE49-F238E27FC236}">
                <a16:creationId xmlns:a16="http://schemas.microsoft.com/office/drawing/2014/main" id="{0866632F-61EA-4951-85D0-7B35A95AEDF3}"/>
              </a:ext>
            </a:extLst>
          </p:cNvPr>
          <p:cNvSpPr>
            <a:spLocks noGrp="1"/>
          </p:cNvSpPr>
          <p:nvPr/>
        </p:nvSpPr>
        <p:spPr>
          <a:xfrm flipV="1">
            <a:off x="7347585" y="442887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raight Connector 101">
            <a:extLst>
              <a:ext uri="{FF2B5EF4-FFF2-40B4-BE49-F238E27FC236}">
                <a16:creationId xmlns:a16="http://schemas.microsoft.com/office/drawing/2014/main" id="{7553A4E7-6D57-4701-8966-B4302908B211}"/>
              </a:ext>
            </a:extLst>
          </p:cNvPr>
          <p:cNvSpPr>
            <a:spLocks noGrp="1"/>
          </p:cNvSpPr>
          <p:nvPr/>
        </p:nvSpPr>
        <p:spPr>
          <a:xfrm flipV="1">
            <a:off x="7397115" y="442839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traight Connector 102">
            <a:extLst>
              <a:ext uri="{FF2B5EF4-FFF2-40B4-BE49-F238E27FC236}">
                <a16:creationId xmlns:a16="http://schemas.microsoft.com/office/drawing/2014/main" id="{9C7278D3-2DDD-4091-A86F-CB828B57171F}"/>
              </a:ext>
            </a:extLst>
          </p:cNvPr>
          <p:cNvSpPr>
            <a:spLocks noGrp="1"/>
          </p:cNvSpPr>
          <p:nvPr/>
        </p:nvSpPr>
        <p:spPr>
          <a:xfrm flipV="1">
            <a:off x="7446645" y="442713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traight Connector 103">
            <a:extLst>
              <a:ext uri="{FF2B5EF4-FFF2-40B4-BE49-F238E27FC236}">
                <a16:creationId xmlns:a16="http://schemas.microsoft.com/office/drawing/2014/main" id="{17637286-5068-4D83-872F-61D34F610446}"/>
              </a:ext>
            </a:extLst>
          </p:cNvPr>
          <p:cNvSpPr>
            <a:spLocks noGrp="1"/>
          </p:cNvSpPr>
          <p:nvPr/>
        </p:nvSpPr>
        <p:spPr>
          <a:xfrm flipV="1">
            <a:off x="7496175" y="4424059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traight Connector 104">
            <a:extLst>
              <a:ext uri="{FF2B5EF4-FFF2-40B4-BE49-F238E27FC236}">
                <a16:creationId xmlns:a16="http://schemas.microsoft.com/office/drawing/2014/main" id="{3F8A6536-DC0D-40BF-817D-10166B30C903}"/>
              </a:ext>
            </a:extLst>
          </p:cNvPr>
          <p:cNvSpPr>
            <a:spLocks noGrp="1"/>
          </p:cNvSpPr>
          <p:nvPr/>
        </p:nvSpPr>
        <p:spPr>
          <a:xfrm flipV="1">
            <a:off x="7545705" y="441708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raight Connector 105">
            <a:extLst>
              <a:ext uri="{FF2B5EF4-FFF2-40B4-BE49-F238E27FC236}">
                <a16:creationId xmlns:a16="http://schemas.microsoft.com/office/drawing/2014/main" id="{D5862B28-9A9A-438B-8618-AB4855238573}"/>
              </a:ext>
            </a:extLst>
          </p:cNvPr>
          <p:cNvSpPr>
            <a:spLocks noGrp="1"/>
          </p:cNvSpPr>
          <p:nvPr/>
        </p:nvSpPr>
        <p:spPr>
          <a:xfrm flipV="1">
            <a:off x="7595235" y="4402429"/>
            <a:ext cx="49530" cy="14658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traight Connector 106">
            <a:extLst>
              <a:ext uri="{FF2B5EF4-FFF2-40B4-BE49-F238E27FC236}">
                <a16:creationId xmlns:a16="http://schemas.microsoft.com/office/drawing/2014/main" id="{515E70EA-A008-4B39-849D-9AA314F81D4F}"/>
              </a:ext>
            </a:extLst>
          </p:cNvPr>
          <p:cNvSpPr>
            <a:spLocks noGrp="1"/>
          </p:cNvSpPr>
          <p:nvPr/>
        </p:nvSpPr>
        <p:spPr>
          <a:xfrm flipV="1">
            <a:off x="7644765" y="4373886"/>
            <a:ext cx="49530" cy="285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traight Connector 107">
            <a:extLst>
              <a:ext uri="{FF2B5EF4-FFF2-40B4-BE49-F238E27FC236}">
                <a16:creationId xmlns:a16="http://schemas.microsoft.com/office/drawing/2014/main" id="{6F49D355-253E-45D3-A010-3DF524A21BDE}"/>
              </a:ext>
            </a:extLst>
          </p:cNvPr>
          <p:cNvSpPr>
            <a:spLocks noGrp="1"/>
          </p:cNvSpPr>
          <p:nvPr/>
        </p:nvSpPr>
        <p:spPr>
          <a:xfrm flipV="1">
            <a:off x="7694295" y="4322473"/>
            <a:ext cx="49530" cy="5141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traight Connector 108">
            <a:extLst>
              <a:ext uri="{FF2B5EF4-FFF2-40B4-BE49-F238E27FC236}">
                <a16:creationId xmlns:a16="http://schemas.microsoft.com/office/drawing/2014/main" id="{E81B38FB-A70C-44C9-90A0-E0775CEDD046}"/>
              </a:ext>
            </a:extLst>
          </p:cNvPr>
          <p:cNvSpPr>
            <a:spLocks noGrp="1"/>
          </p:cNvSpPr>
          <p:nvPr/>
        </p:nvSpPr>
        <p:spPr>
          <a:xfrm flipV="1">
            <a:off x="7743825" y="4236988"/>
            <a:ext cx="49530" cy="8548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traight Connector 109">
            <a:extLst>
              <a:ext uri="{FF2B5EF4-FFF2-40B4-BE49-F238E27FC236}">
                <a16:creationId xmlns:a16="http://schemas.microsoft.com/office/drawing/2014/main" id="{997053B0-B460-422A-B4EF-535ACF9FD684}"/>
              </a:ext>
            </a:extLst>
          </p:cNvPr>
          <p:cNvSpPr>
            <a:spLocks noGrp="1"/>
          </p:cNvSpPr>
          <p:nvPr/>
        </p:nvSpPr>
        <p:spPr>
          <a:xfrm flipV="1">
            <a:off x="7793355" y="4106142"/>
            <a:ext cx="49530" cy="13084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traight Connector 110">
            <a:extLst>
              <a:ext uri="{FF2B5EF4-FFF2-40B4-BE49-F238E27FC236}">
                <a16:creationId xmlns:a16="http://schemas.microsoft.com/office/drawing/2014/main" id="{41E1BC5D-BFE0-4F04-A8AF-C28B58E8B51C}"/>
              </a:ext>
            </a:extLst>
          </p:cNvPr>
          <p:cNvSpPr>
            <a:spLocks noGrp="1"/>
          </p:cNvSpPr>
          <p:nvPr/>
        </p:nvSpPr>
        <p:spPr>
          <a:xfrm flipV="1">
            <a:off x="7842885" y="3922517"/>
            <a:ext cx="49530" cy="1836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raight Connector 111">
            <a:extLst>
              <a:ext uri="{FF2B5EF4-FFF2-40B4-BE49-F238E27FC236}">
                <a16:creationId xmlns:a16="http://schemas.microsoft.com/office/drawing/2014/main" id="{ACBAD6E6-0157-4F2B-8331-7934086B0BD9}"/>
              </a:ext>
            </a:extLst>
          </p:cNvPr>
          <p:cNvSpPr>
            <a:spLocks noGrp="1"/>
          </p:cNvSpPr>
          <p:nvPr/>
        </p:nvSpPr>
        <p:spPr>
          <a:xfrm flipV="1">
            <a:off x="7892415" y="3687662"/>
            <a:ext cx="49530" cy="234854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traight Connector 112">
            <a:extLst>
              <a:ext uri="{FF2B5EF4-FFF2-40B4-BE49-F238E27FC236}">
                <a16:creationId xmlns:a16="http://schemas.microsoft.com/office/drawing/2014/main" id="{145C3C59-0083-4BF6-86B6-CF84BE167B3D}"/>
              </a:ext>
            </a:extLst>
          </p:cNvPr>
          <p:cNvSpPr>
            <a:spLocks noGrp="1"/>
          </p:cNvSpPr>
          <p:nvPr/>
        </p:nvSpPr>
        <p:spPr>
          <a:xfrm flipV="1">
            <a:off x="7941945" y="3416543"/>
            <a:ext cx="49530" cy="271120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traight Connector 113">
            <a:extLst>
              <a:ext uri="{FF2B5EF4-FFF2-40B4-BE49-F238E27FC236}">
                <a16:creationId xmlns:a16="http://schemas.microsoft.com/office/drawing/2014/main" id="{4AA4545C-9E05-4FB6-B21C-76A707AC6565}"/>
              </a:ext>
            </a:extLst>
          </p:cNvPr>
          <p:cNvSpPr>
            <a:spLocks noGrp="1"/>
          </p:cNvSpPr>
          <p:nvPr/>
        </p:nvSpPr>
        <p:spPr>
          <a:xfrm flipV="1">
            <a:off x="7991475" y="3138810"/>
            <a:ext cx="49530" cy="27773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traight Connector 114">
            <a:extLst>
              <a:ext uri="{FF2B5EF4-FFF2-40B4-BE49-F238E27FC236}">
                <a16:creationId xmlns:a16="http://schemas.microsoft.com/office/drawing/2014/main" id="{58B01F57-9E86-4B81-98DE-3D4DE3E70DD8}"/>
              </a:ext>
            </a:extLst>
          </p:cNvPr>
          <p:cNvSpPr>
            <a:spLocks noGrp="1"/>
          </p:cNvSpPr>
          <p:nvPr/>
        </p:nvSpPr>
        <p:spPr>
          <a:xfrm flipV="1">
            <a:off x="8041005" y="2894914"/>
            <a:ext cx="49530" cy="24389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traight Connector 115">
            <a:extLst>
              <a:ext uri="{FF2B5EF4-FFF2-40B4-BE49-F238E27FC236}">
                <a16:creationId xmlns:a16="http://schemas.microsoft.com/office/drawing/2014/main" id="{BC5C6211-DC9B-4174-87F8-C8C966CC0D20}"/>
              </a:ext>
            </a:extLst>
          </p:cNvPr>
          <p:cNvSpPr>
            <a:spLocks noGrp="1"/>
          </p:cNvSpPr>
          <p:nvPr/>
        </p:nvSpPr>
        <p:spPr>
          <a:xfrm flipV="1">
            <a:off x="8090535" y="2726971"/>
            <a:ext cx="49530" cy="1679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traight Connector 116">
            <a:extLst>
              <a:ext uri="{FF2B5EF4-FFF2-40B4-BE49-F238E27FC236}">
                <a16:creationId xmlns:a16="http://schemas.microsoft.com/office/drawing/2014/main" id="{00E160B8-1723-4B39-87C9-CB4B86625D0C}"/>
              </a:ext>
            </a:extLst>
          </p:cNvPr>
          <p:cNvSpPr>
            <a:spLocks noGrp="1"/>
          </p:cNvSpPr>
          <p:nvPr/>
        </p:nvSpPr>
        <p:spPr>
          <a:xfrm flipV="1">
            <a:off x="8140065" y="2667000"/>
            <a:ext cx="49530" cy="59971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traight Connector 117">
            <a:extLst>
              <a:ext uri="{FF2B5EF4-FFF2-40B4-BE49-F238E27FC236}">
                <a16:creationId xmlns:a16="http://schemas.microsoft.com/office/drawing/2014/main" id="{5C82A32E-A5B3-41B3-A2CE-113DBDE559AB}"/>
              </a:ext>
            </a:extLst>
          </p:cNvPr>
          <p:cNvSpPr>
            <a:spLocks noGrp="1"/>
          </p:cNvSpPr>
          <p:nvPr/>
        </p:nvSpPr>
        <p:spPr>
          <a:xfrm>
            <a:off x="8189595" y="2667000"/>
            <a:ext cx="49530" cy="59971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traight Connector 118">
            <a:extLst>
              <a:ext uri="{FF2B5EF4-FFF2-40B4-BE49-F238E27FC236}">
                <a16:creationId xmlns:a16="http://schemas.microsoft.com/office/drawing/2014/main" id="{008D68D0-FCEF-4D76-AB43-CE9AC2EADD93}"/>
              </a:ext>
            </a:extLst>
          </p:cNvPr>
          <p:cNvSpPr>
            <a:spLocks noGrp="1"/>
          </p:cNvSpPr>
          <p:nvPr/>
        </p:nvSpPr>
        <p:spPr>
          <a:xfrm>
            <a:off x="8239125" y="2726971"/>
            <a:ext cx="49530" cy="1679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traight Connector 119">
            <a:extLst>
              <a:ext uri="{FF2B5EF4-FFF2-40B4-BE49-F238E27FC236}">
                <a16:creationId xmlns:a16="http://schemas.microsoft.com/office/drawing/2014/main" id="{4CADA611-C66F-4219-B213-A8DE31C79672}"/>
              </a:ext>
            </a:extLst>
          </p:cNvPr>
          <p:cNvSpPr>
            <a:spLocks noGrp="1"/>
          </p:cNvSpPr>
          <p:nvPr/>
        </p:nvSpPr>
        <p:spPr>
          <a:xfrm>
            <a:off x="8288655" y="2894914"/>
            <a:ext cx="49530" cy="24389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traight Connector 120">
            <a:extLst>
              <a:ext uri="{FF2B5EF4-FFF2-40B4-BE49-F238E27FC236}">
                <a16:creationId xmlns:a16="http://schemas.microsoft.com/office/drawing/2014/main" id="{88D030AA-CD5B-49AD-AFFC-13CE05E949AD}"/>
              </a:ext>
            </a:extLst>
          </p:cNvPr>
          <p:cNvSpPr>
            <a:spLocks noGrp="1"/>
          </p:cNvSpPr>
          <p:nvPr/>
        </p:nvSpPr>
        <p:spPr>
          <a:xfrm>
            <a:off x="8338185" y="3138810"/>
            <a:ext cx="49530" cy="27773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traight Connector 121">
            <a:extLst>
              <a:ext uri="{FF2B5EF4-FFF2-40B4-BE49-F238E27FC236}">
                <a16:creationId xmlns:a16="http://schemas.microsoft.com/office/drawing/2014/main" id="{33EA2A73-1369-4A0C-B61B-832FD47BE035}"/>
              </a:ext>
            </a:extLst>
          </p:cNvPr>
          <p:cNvSpPr>
            <a:spLocks noGrp="1"/>
          </p:cNvSpPr>
          <p:nvPr/>
        </p:nvSpPr>
        <p:spPr>
          <a:xfrm>
            <a:off x="8387715" y="3416543"/>
            <a:ext cx="49530" cy="271120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traight Connector 122">
            <a:extLst>
              <a:ext uri="{FF2B5EF4-FFF2-40B4-BE49-F238E27FC236}">
                <a16:creationId xmlns:a16="http://schemas.microsoft.com/office/drawing/2014/main" id="{2B426E1B-9203-4DD3-A2A2-3E4554A56D6F}"/>
              </a:ext>
            </a:extLst>
          </p:cNvPr>
          <p:cNvSpPr>
            <a:spLocks noGrp="1"/>
          </p:cNvSpPr>
          <p:nvPr/>
        </p:nvSpPr>
        <p:spPr>
          <a:xfrm>
            <a:off x="8437245" y="3687662"/>
            <a:ext cx="49530" cy="234854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traight Connector 123">
            <a:extLst>
              <a:ext uri="{FF2B5EF4-FFF2-40B4-BE49-F238E27FC236}">
                <a16:creationId xmlns:a16="http://schemas.microsoft.com/office/drawing/2014/main" id="{F2FC747E-C950-4DCC-9419-A44D27B0FD39}"/>
              </a:ext>
            </a:extLst>
          </p:cNvPr>
          <p:cNvSpPr>
            <a:spLocks noGrp="1"/>
          </p:cNvSpPr>
          <p:nvPr/>
        </p:nvSpPr>
        <p:spPr>
          <a:xfrm>
            <a:off x="8486775" y="3922517"/>
            <a:ext cx="49530" cy="1836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traight Connector 124">
            <a:extLst>
              <a:ext uri="{FF2B5EF4-FFF2-40B4-BE49-F238E27FC236}">
                <a16:creationId xmlns:a16="http://schemas.microsoft.com/office/drawing/2014/main" id="{94E97EC5-BA4C-4E9A-B2DD-894CEF74C644}"/>
              </a:ext>
            </a:extLst>
          </p:cNvPr>
          <p:cNvSpPr>
            <a:spLocks noGrp="1"/>
          </p:cNvSpPr>
          <p:nvPr/>
        </p:nvSpPr>
        <p:spPr>
          <a:xfrm>
            <a:off x="8536305" y="4106142"/>
            <a:ext cx="49530" cy="13084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traight Connector 125">
            <a:extLst>
              <a:ext uri="{FF2B5EF4-FFF2-40B4-BE49-F238E27FC236}">
                <a16:creationId xmlns:a16="http://schemas.microsoft.com/office/drawing/2014/main" id="{A08846D6-C72F-4B93-ADFC-C4473FA3FAD7}"/>
              </a:ext>
            </a:extLst>
          </p:cNvPr>
          <p:cNvSpPr>
            <a:spLocks noGrp="1"/>
          </p:cNvSpPr>
          <p:nvPr/>
        </p:nvSpPr>
        <p:spPr>
          <a:xfrm>
            <a:off x="8585835" y="4236988"/>
            <a:ext cx="49530" cy="8548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traight Connector 126">
            <a:extLst>
              <a:ext uri="{FF2B5EF4-FFF2-40B4-BE49-F238E27FC236}">
                <a16:creationId xmlns:a16="http://schemas.microsoft.com/office/drawing/2014/main" id="{DDB79E7A-108B-4EDA-9D13-526DEC7C2D9D}"/>
              </a:ext>
            </a:extLst>
          </p:cNvPr>
          <p:cNvSpPr>
            <a:spLocks noGrp="1"/>
          </p:cNvSpPr>
          <p:nvPr/>
        </p:nvSpPr>
        <p:spPr>
          <a:xfrm>
            <a:off x="8635365" y="4322473"/>
            <a:ext cx="49530" cy="5141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traight Connector 127">
            <a:extLst>
              <a:ext uri="{FF2B5EF4-FFF2-40B4-BE49-F238E27FC236}">
                <a16:creationId xmlns:a16="http://schemas.microsoft.com/office/drawing/2014/main" id="{E1105463-904C-4F67-8932-0AC9C242EC86}"/>
              </a:ext>
            </a:extLst>
          </p:cNvPr>
          <p:cNvSpPr>
            <a:spLocks noGrp="1"/>
          </p:cNvSpPr>
          <p:nvPr/>
        </p:nvSpPr>
        <p:spPr>
          <a:xfrm>
            <a:off x="8684895" y="4373886"/>
            <a:ext cx="49530" cy="285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traight Connector 128">
            <a:extLst>
              <a:ext uri="{FF2B5EF4-FFF2-40B4-BE49-F238E27FC236}">
                <a16:creationId xmlns:a16="http://schemas.microsoft.com/office/drawing/2014/main" id="{F85E8326-3F47-4712-A55C-A7B82637605B}"/>
              </a:ext>
            </a:extLst>
          </p:cNvPr>
          <p:cNvSpPr>
            <a:spLocks noGrp="1"/>
          </p:cNvSpPr>
          <p:nvPr/>
        </p:nvSpPr>
        <p:spPr>
          <a:xfrm>
            <a:off x="8734425" y="4402428"/>
            <a:ext cx="49530" cy="1465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traight Connector 129">
            <a:extLst>
              <a:ext uri="{FF2B5EF4-FFF2-40B4-BE49-F238E27FC236}">
                <a16:creationId xmlns:a16="http://schemas.microsoft.com/office/drawing/2014/main" id="{C02C06B3-F5D2-4428-93E2-A4A81667DD8F}"/>
              </a:ext>
            </a:extLst>
          </p:cNvPr>
          <p:cNvSpPr>
            <a:spLocks noGrp="1"/>
          </p:cNvSpPr>
          <p:nvPr/>
        </p:nvSpPr>
        <p:spPr>
          <a:xfrm>
            <a:off x="8783955" y="441708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traight Connector 130">
            <a:extLst>
              <a:ext uri="{FF2B5EF4-FFF2-40B4-BE49-F238E27FC236}">
                <a16:creationId xmlns:a16="http://schemas.microsoft.com/office/drawing/2014/main" id="{17EBB550-A612-43D9-8B19-821C8CB5957B}"/>
              </a:ext>
            </a:extLst>
          </p:cNvPr>
          <p:cNvSpPr>
            <a:spLocks noGrp="1"/>
          </p:cNvSpPr>
          <p:nvPr/>
        </p:nvSpPr>
        <p:spPr>
          <a:xfrm>
            <a:off x="8833485" y="4424053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traight Connector 131">
            <a:extLst>
              <a:ext uri="{FF2B5EF4-FFF2-40B4-BE49-F238E27FC236}">
                <a16:creationId xmlns:a16="http://schemas.microsoft.com/office/drawing/2014/main" id="{B0C04E41-0F0C-45B3-853C-C0106675FB3F}"/>
              </a:ext>
            </a:extLst>
          </p:cNvPr>
          <p:cNvSpPr>
            <a:spLocks noGrp="1"/>
          </p:cNvSpPr>
          <p:nvPr/>
        </p:nvSpPr>
        <p:spPr>
          <a:xfrm>
            <a:off x="8883015" y="4427112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traight Connector 132">
            <a:extLst>
              <a:ext uri="{FF2B5EF4-FFF2-40B4-BE49-F238E27FC236}">
                <a16:creationId xmlns:a16="http://schemas.microsoft.com/office/drawing/2014/main" id="{E64B0974-7B26-469B-BD5F-7783332D9AF8}"/>
              </a:ext>
            </a:extLst>
          </p:cNvPr>
          <p:cNvSpPr>
            <a:spLocks noGrp="1"/>
          </p:cNvSpPr>
          <p:nvPr/>
        </p:nvSpPr>
        <p:spPr>
          <a:xfrm>
            <a:off x="8932545" y="4428317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traight Connector 133">
            <a:extLst>
              <a:ext uri="{FF2B5EF4-FFF2-40B4-BE49-F238E27FC236}">
                <a16:creationId xmlns:a16="http://schemas.microsoft.com/office/drawing/2014/main" id="{2F446999-01E0-44A7-9450-F2FB66059CBA}"/>
              </a:ext>
            </a:extLst>
          </p:cNvPr>
          <p:cNvSpPr>
            <a:spLocks noGrp="1"/>
          </p:cNvSpPr>
          <p:nvPr/>
        </p:nvSpPr>
        <p:spPr>
          <a:xfrm flipV="1">
            <a:off x="8982075" y="4428317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traight Connector 134">
            <a:extLst>
              <a:ext uri="{FF2B5EF4-FFF2-40B4-BE49-F238E27FC236}">
                <a16:creationId xmlns:a16="http://schemas.microsoft.com/office/drawing/2014/main" id="{03E25578-A255-4A86-83F7-A927E71DE079}"/>
              </a:ext>
            </a:extLst>
          </p:cNvPr>
          <p:cNvSpPr>
            <a:spLocks noGrp="1"/>
          </p:cNvSpPr>
          <p:nvPr/>
        </p:nvSpPr>
        <p:spPr>
          <a:xfrm flipV="1">
            <a:off x="9031605" y="4427112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traight Connector 135">
            <a:extLst>
              <a:ext uri="{FF2B5EF4-FFF2-40B4-BE49-F238E27FC236}">
                <a16:creationId xmlns:a16="http://schemas.microsoft.com/office/drawing/2014/main" id="{0DF7F0EE-52F8-426C-B9EC-3F7E63375AC2}"/>
              </a:ext>
            </a:extLst>
          </p:cNvPr>
          <p:cNvSpPr>
            <a:spLocks noGrp="1"/>
          </p:cNvSpPr>
          <p:nvPr/>
        </p:nvSpPr>
        <p:spPr>
          <a:xfrm flipV="1">
            <a:off x="9081135" y="4424053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traight Connector 136">
            <a:extLst>
              <a:ext uri="{FF2B5EF4-FFF2-40B4-BE49-F238E27FC236}">
                <a16:creationId xmlns:a16="http://schemas.microsoft.com/office/drawing/2014/main" id="{5394C5DC-0161-4382-8323-14D98B4DBC32}"/>
              </a:ext>
            </a:extLst>
          </p:cNvPr>
          <p:cNvSpPr>
            <a:spLocks noGrp="1"/>
          </p:cNvSpPr>
          <p:nvPr/>
        </p:nvSpPr>
        <p:spPr>
          <a:xfrm flipV="1">
            <a:off x="9130665" y="441708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traight Connector 137">
            <a:extLst>
              <a:ext uri="{FF2B5EF4-FFF2-40B4-BE49-F238E27FC236}">
                <a16:creationId xmlns:a16="http://schemas.microsoft.com/office/drawing/2014/main" id="{98CE2655-A600-4A0C-9819-1749FC96A878}"/>
              </a:ext>
            </a:extLst>
          </p:cNvPr>
          <p:cNvSpPr>
            <a:spLocks noGrp="1"/>
          </p:cNvSpPr>
          <p:nvPr/>
        </p:nvSpPr>
        <p:spPr>
          <a:xfrm flipV="1">
            <a:off x="9180195" y="4402428"/>
            <a:ext cx="49530" cy="1465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traight Connector 138">
            <a:extLst>
              <a:ext uri="{FF2B5EF4-FFF2-40B4-BE49-F238E27FC236}">
                <a16:creationId xmlns:a16="http://schemas.microsoft.com/office/drawing/2014/main" id="{406A3FD3-7548-45EA-821B-08240940D39B}"/>
              </a:ext>
            </a:extLst>
          </p:cNvPr>
          <p:cNvSpPr>
            <a:spLocks noGrp="1"/>
          </p:cNvSpPr>
          <p:nvPr/>
        </p:nvSpPr>
        <p:spPr>
          <a:xfrm flipV="1">
            <a:off x="9229725" y="4373886"/>
            <a:ext cx="49530" cy="285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traight Connector 139">
            <a:extLst>
              <a:ext uri="{FF2B5EF4-FFF2-40B4-BE49-F238E27FC236}">
                <a16:creationId xmlns:a16="http://schemas.microsoft.com/office/drawing/2014/main" id="{BB11F055-B150-49C9-AE91-D8AC2719D3EB}"/>
              </a:ext>
            </a:extLst>
          </p:cNvPr>
          <p:cNvSpPr>
            <a:spLocks noGrp="1"/>
          </p:cNvSpPr>
          <p:nvPr/>
        </p:nvSpPr>
        <p:spPr>
          <a:xfrm flipV="1">
            <a:off x="9279255" y="4322473"/>
            <a:ext cx="49530" cy="5141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traight Connector 140">
            <a:extLst>
              <a:ext uri="{FF2B5EF4-FFF2-40B4-BE49-F238E27FC236}">
                <a16:creationId xmlns:a16="http://schemas.microsoft.com/office/drawing/2014/main" id="{52E552E8-7FFB-49E3-B132-771C383D24B9}"/>
              </a:ext>
            </a:extLst>
          </p:cNvPr>
          <p:cNvSpPr>
            <a:spLocks noGrp="1"/>
          </p:cNvSpPr>
          <p:nvPr/>
        </p:nvSpPr>
        <p:spPr>
          <a:xfrm flipV="1">
            <a:off x="9328785" y="4236988"/>
            <a:ext cx="49530" cy="8548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traight Connector 141">
            <a:extLst>
              <a:ext uri="{FF2B5EF4-FFF2-40B4-BE49-F238E27FC236}">
                <a16:creationId xmlns:a16="http://schemas.microsoft.com/office/drawing/2014/main" id="{BA731679-D80C-4E57-BCF3-7770AE46DFC3}"/>
              </a:ext>
            </a:extLst>
          </p:cNvPr>
          <p:cNvSpPr>
            <a:spLocks noGrp="1"/>
          </p:cNvSpPr>
          <p:nvPr/>
        </p:nvSpPr>
        <p:spPr>
          <a:xfrm flipV="1">
            <a:off x="9378315" y="4106142"/>
            <a:ext cx="49530" cy="13084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traight Connector 142">
            <a:extLst>
              <a:ext uri="{FF2B5EF4-FFF2-40B4-BE49-F238E27FC236}">
                <a16:creationId xmlns:a16="http://schemas.microsoft.com/office/drawing/2014/main" id="{255F6CBC-0B93-4D3F-9103-04718AB5CB5E}"/>
              </a:ext>
            </a:extLst>
          </p:cNvPr>
          <p:cNvSpPr>
            <a:spLocks noGrp="1"/>
          </p:cNvSpPr>
          <p:nvPr/>
        </p:nvSpPr>
        <p:spPr>
          <a:xfrm flipV="1">
            <a:off x="9427845" y="3922517"/>
            <a:ext cx="49530" cy="1836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traight Connector 143">
            <a:extLst>
              <a:ext uri="{FF2B5EF4-FFF2-40B4-BE49-F238E27FC236}">
                <a16:creationId xmlns:a16="http://schemas.microsoft.com/office/drawing/2014/main" id="{3F70FB20-5866-4750-B1C9-1BE3F012339B}"/>
              </a:ext>
            </a:extLst>
          </p:cNvPr>
          <p:cNvSpPr>
            <a:spLocks noGrp="1"/>
          </p:cNvSpPr>
          <p:nvPr/>
        </p:nvSpPr>
        <p:spPr>
          <a:xfrm flipV="1">
            <a:off x="9477375" y="3687662"/>
            <a:ext cx="49530" cy="234854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traight Connector 144">
            <a:extLst>
              <a:ext uri="{FF2B5EF4-FFF2-40B4-BE49-F238E27FC236}">
                <a16:creationId xmlns:a16="http://schemas.microsoft.com/office/drawing/2014/main" id="{D0B532FE-C95E-4B1C-9492-C3AE3480AD5C}"/>
              </a:ext>
            </a:extLst>
          </p:cNvPr>
          <p:cNvSpPr>
            <a:spLocks noGrp="1"/>
          </p:cNvSpPr>
          <p:nvPr/>
        </p:nvSpPr>
        <p:spPr>
          <a:xfrm flipV="1">
            <a:off x="9526905" y="3416543"/>
            <a:ext cx="49530" cy="271120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traight Connector 145">
            <a:extLst>
              <a:ext uri="{FF2B5EF4-FFF2-40B4-BE49-F238E27FC236}">
                <a16:creationId xmlns:a16="http://schemas.microsoft.com/office/drawing/2014/main" id="{CEF455E2-A4E3-40C5-8773-C62B38BE78DF}"/>
              </a:ext>
            </a:extLst>
          </p:cNvPr>
          <p:cNvSpPr>
            <a:spLocks noGrp="1"/>
          </p:cNvSpPr>
          <p:nvPr/>
        </p:nvSpPr>
        <p:spPr>
          <a:xfrm flipV="1">
            <a:off x="9576435" y="3138810"/>
            <a:ext cx="49530" cy="27773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traight Connector 146">
            <a:extLst>
              <a:ext uri="{FF2B5EF4-FFF2-40B4-BE49-F238E27FC236}">
                <a16:creationId xmlns:a16="http://schemas.microsoft.com/office/drawing/2014/main" id="{4AF620DC-9A0F-4D47-A15B-A21176E56597}"/>
              </a:ext>
            </a:extLst>
          </p:cNvPr>
          <p:cNvSpPr>
            <a:spLocks noGrp="1"/>
          </p:cNvSpPr>
          <p:nvPr/>
        </p:nvSpPr>
        <p:spPr>
          <a:xfrm flipV="1">
            <a:off x="9625965" y="2894914"/>
            <a:ext cx="49530" cy="24389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traight Connector 147">
            <a:extLst>
              <a:ext uri="{FF2B5EF4-FFF2-40B4-BE49-F238E27FC236}">
                <a16:creationId xmlns:a16="http://schemas.microsoft.com/office/drawing/2014/main" id="{74120E7D-01D8-498F-94EA-AFA44CAA05D5}"/>
              </a:ext>
            </a:extLst>
          </p:cNvPr>
          <p:cNvSpPr>
            <a:spLocks noGrp="1"/>
          </p:cNvSpPr>
          <p:nvPr/>
        </p:nvSpPr>
        <p:spPr>
          <a:xfrm flipV="1">
            <a:off x="9675495" y="2726971"/>
            <a:ext cx="49530" cy="1679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traight Connector 148">
            <a:extLst>
              <a:ext uri="{FF2B5EF4-FFF2-40B4-BE49-F238E27FC236}">
                <a16:creationId xmlns:a16="http://schemas.microsoft.com/office/drawing/2014/main" id="{6663B10E-2E87-4F2A-B6CA-C3EA806995AD}"/>
              </a:ext>
            </a:extLst>
          </p:cNvPr>
          <p:cNvSpPr>
            <a:spLocks noGrp="1"/>
          </p:cNvSpPr>
          <p:nvPr/>
        </p:nvSpPr>
        <p:spPr>
          <a:xfrm flipV="1">
            <a:off x="9725025" y="2667000"/>
            <a:ext cx="49530" cy="59971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traight Connector 149">
            <a:extLst>
              <a:ext uri="{FF2B5EF4-FFF2-40B4-BE49-F238E27FC236}">
                <a16:creationId xmlns:a16="http://schemas.microsoft.com/office/drawing/2014/main" id="{E0377EFB-7DD0-4067-8803-FCC9D0007308}"/>
              </a:ext>
            </a:extLst>
          </p:cNvPr>
          <p:cNvSpPr>
            <a:spLocks noGrp="1"/>
          </p:cNvSpPr>
          <p:nvPr/>
        </p:nvSpPr>
        <p:spPr>
          <a:xfrm>
            <a:off x="9774555" y="2667000"/>
            <a:ext cx="49530" cy="59971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traight Connector 150">
            <a:extLst>
              <a:ext uri="{FF2B5EF4-FFF2-40B4-BE49-F238E27FC236}">
                <a16:creationId xmlns:a16="http://schemas.microsoft.com/office/drawing/2014/main" id="{FEAF0FC9-0AC2-4AE1-95D5-2A8968E32717}"/>
              </a:ext>
            </a:extLst>
          </p:cNvPr>
          <p:cNvSpPr>
            <a:spLocks noGrp="1"/>
          </p:cNvSpPr>
          <p:nvPr/>
        </p:nvSpPr>
        <p:spPr>
          <a:xfrm>
            <a:off x="9824085" y="2726971"/>
            <a:ext cx="49530" cy="1679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traight Connector 151">
            <a:extLst>
              <a:ext uri="{FF2B5EF4-FFF2-40B4-BE49-F238E27FC236}">
                <a16:creationId xmlns:a16="http://schemas.microsoft.com/office/drawing/2014/main" id="{74918C9A-470E-4856-B807-6E5840762A79}"/>
              </a:ext>
            </a:extLst>
          </p:cNvPr>
          <p:cNvSpPr>
            <a:spLocks noGrp="1"/>
          </p:cNvSpPr>
          <p:nvPr/>
        </p:nvSpPr>
        <p:spPr>
          <a:xfrm>
            <a:off x="9873615" y="2894914"/>
            <a:ext cx="49530" cy="24389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traight Connector 152">
            <a:extLst>
              <a:ext uri="{FF2B5EF4-FFF2-40B4-BE49-F238E27FC236}">
                <a16:creationId xmlns:a16="http://schemas.microsoft.com/office/drawing/2014/main" id="{7D2C7972-6A4A-4B57-AAFC-A0A2E67D0B42}"/>
              </a:ext>
            </a:extLst>
          </p:cNvPr>
          <p:cNvSpPr>
            <a:spLocks noGrp="1"/>
          </p:cNvSpPr>
          <p:nvPr/>
        </p:nvSpPr>
        <p:spPr>
          <a:xfrm>
            <a:off x="9923145" y="3138810"/>
            <a:ext cx="49530" cy="27773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traight Connector 153">
            <a:extLst>
              <a:ext uri="{FF2B5EF4-FFF2-40B4-BE49-F238E27FC236}">
                <a16:creationId xmlns:a16="http://schemas.microsoft.com/office/drawing/2014/main" id="{D0EB3DE4-9077-4C41-B416-808C7469C137}"/>
              </a:ext>
            </a:extLst>
          </p:cNvPr>
          <p:cNvSpPr>
            <a:spLocks noGrp="1"/>
          </p:cNvSpPr>
          <p:nvPr/>
        </p:nvSpPr>
        <p:spPr>
          <a:xfrm>
            <a:off x="9972675" y="3416543"/>
            <a:ext cx="49530" cy="271120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traight Connector 154">
            <a:extLst>
              <a:ext uri="{FF2B5EF4-FFF2-40B4-BE49-F238E27FC236}">
                <a16:creationId xmlns:a16="http://schemas.microsoft.com/office/drawing/2014/main" id="{0467C27F-D3B6-41CD-A5AB-1AC97584ABBE}"/>
              </a:ext>
            </a:extLst>
          </p:cNvPr>
          <p:cNvSpPr>
            <a:spLocks noGrp="1"/>
          </p:cNvSpPr>
          <p:nvPr/>
        </p:nvSpPr>
        <p:spPr>
          <a:xfrm>
            <a:off x="10022205" y="3687662"/>
            <a:ext cx="49530" cy="234854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traight Connector 155">
            <a:extLst>
              <a:ext uri="{FF2B5EF4-FFF2-40B4-BE49-F238E27FC236}">
                <a16:creationId xmlns:a16="http://schemas.microsoft.com/office/drawing/2014/main" id="{124EFBEE-D90E-4B8A-8826-6FB4191E2141}"/>
              </a:ext>
            </a:extLst>
          </p:cNvPr>
          <p:cNvSpPr>
            <a:spLocks noGrp="1"/>
          </p:cNvSpPr>
          <p:nvPr/>
        </p:nvSpPr>
        <p:spPr>
          <a:xfrm>
            <a:off x="10071735" y="3922517"/>
            <a:ext cx="49530" cy="1836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traight Connector 156">
            <a:extLst>
              <a:ext uri="{FF2B5EF4-FFF2-40B4-BE49-F238E27FC236}">
                <a16:creationId xmlns:a16="http://schemas.microsoft.com/office/drawing/2014/main" id="{AE5EDFF3-BD83-43E6-87E2-0D140107545B}"/>
              </a:ext>
            </a:extLst>
          </p:cNvPr>
          <p:cNvSpPr>
            <a:spLocks noGrp="1"/>
          </p:cNvSpPr>
          <p:nvPr/>
        </p:nvSpPr>
        <p:spPr>
          <a:xfrm>
            <a:off x="10121265" y="4106142"/>
            <a:ext cx="49530" cy="13084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traight Connector 157">
            <a:extLst>
              <a:ext uri="{FF2B5EF4-FFF2-40B4-BE49-F238E27FC236}">
                <a16:creationId xmlns:a16="http://schemas.microsoft.com/office/drawing/2014/main" id="{FB73BC21-E38D-49E4-9C57-F4DAE089E54B}"/>
              </a:ext>
            </a:extLst>
          </p:cNvPr>
          <p:cNvSpPr>
            <a:spLocks noGrp="1"/>
          </p:cNvSpPr>
          <p:nvPr/>
        </p:nvSpPr>
        <p:spPr>
          <a:xfrm>
            <a:off x="10170795" y="4236988"/>
            <a:ext cx="49530" cy="85486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traight Connector 158">
            <a:extLst>
              <a:ext uri="{FF2B5EF4-FFF2-40B4-BE49-F238E27FC236}">
                <a16:creationId xmlns:a16="http://schemas.microsoft.com/office/drawing/2014/main" id="{938893C7-BB5C-4816-8548-1650734E55EC}"/>
              </a:ext>
            </a:extLst>
          </p:cNvPr>
          <p:cNvSpPr>
            <a:spLocks noGrp="1"/>
          </p:cNvSpPr>
          <p:nvPr/>
        </p:nvSpPr>
        <p:spPr>
          <a:xfrm>
            <a:off x="10220325" y="4322473"/>
            <a:ext cx="49530" cy="51412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traight Connector 159">
            <a:extLst>
              <a:ext uri="{FF2B5EF4-FFF2-40B4-BE49-F238E27FC236}">
                <a16:creationId xmlns:a16="http://schemas.microsoft.com/office/drawing/2014/main" id="{94962B9A-2D5E-468F-9B42-50C9554B7392}"/>
              </a:ext>
            </a:extLst>
          </p:cNvPr>
          <p:cNvSpPr>
            <a:spLocks noGrp="1"/>
          </p:cNvSpPr>
          <p:nvPr/>
        </p:nvSpPr>
        <p:spPr>
          <a:xfrm>
            <a:off x="10269855" y="4373886"/>
            <a:ext cx="49530" cy="28543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traight Connector 160">
            <a:extLst>
              <a:ext uri="{FF2B5EF4-FFF2-40B4-BE49-F238E27FC236}">
                <a16:creationId xmlns:a16="http://schemas.microsoft.com/office/drawing/2014/main" id="{2AFBEC2B-CA83-4EAE-9464-8E1D4ECA111E}"/>
              </a:ext>
            </a:extLst>
          </p:cNvPr>
          <p:cNvSpPr>
            <a:spLocks noGrp="1"/>
          </p:cNvSpPr>
          <p:nvPr/>
        </p:nvSpPr>
        <p:spPr>
          <a:xfrm>
            <a:off x="10319385" y="4402429"/>
            <a:ext cx="49530" cy="14658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traight Connector 161">
            <a:extLst>
              <a:ext uri="{FF2B5EF4-FFF2-40B4-BE49-F238E27FC236}">
                <a16:creationId xmlns:a16="http://schemas.microsoft.com/office/drawing/2014/main" id="{9C662F70-D12D-48D9-AF33-534EB6EC9D03}"/>
              </a:ext>
            </a:extLst>
          </p:cNvPr>
          <p:cNvSpPr>
            <a:spLocks noGrp="1"/>
          </p:cNvSpPr>
          <p:nvPr/>
        </p:nvSpPr>
        <p:spPr>
          <a:xfrm>
            <a:off x="10368915" y="441708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traight Connector 162">
            <a:extLst>
              <a:ext uri="{FF2B5EF4-FFF2-40B4-BE49-F238E27FC236}">
                <a16:creationId xmlns:a16="http://schemas.microsoft.com/office/drawing/2014/main" id="{4A5AB62F-BFE2-4C86-B8FF-BAFA451CA994}"/>
              </a:ext>
            </a:extLst>
          </p:cNvPr>
          <p:cNvSpPr>
            <a:spLocks noGrp="1"/>
          </p:cNvSpPr>
          <p:nvPr/>
        </p:nvSpPr>
        <p:spPr>
          <a:xfrm>
            <a:off x="10418445" y="4424059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traight Connector 163">
            <a:extLst>
              <a:ext uri="{FF2B5EF4-FFF2-40B4-BE49-F238E27FC236}">
                <a16:creationId xmlns:a16="http://schemas.microsoft.com/office/drawing/2014/main" id="{7776CA9A-39AA-42B6-8ACA-D18A2C909682}"/>
              </a:ext>
            </a:extLst>
          </p:cNvPr>
          <p:cNvSpPr>
            <a:spLocks noGrp="1"/>
          </p:cNvSpPr>
          <p:nvPr/>
        </p:nvSpPr>
        <p:spPr>
          <a:xfrm>
            <a:off x="10467975" y="442713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traight Connector 164">
            <a:extLst>
              <a:ext uri="{FF2B5EF4-FFF2-40B4-BE49-F238E27FC236}">
                <a16:creationId xmlns:a16="http://schemas.microsoft.com/office/drawing/2014/main" id="{0C15071B-E0CE-4D1B-8DB1-A460BE1C776E}"/>
              </a:ext>
            </a:extLst>
          </p:cNvPr>
          <p:cNvSpPr>
            <a:spLocks noGrp="1"/>
          </p:cNvSpPr>
          <p:nvPr/>
        </p:nvSpPr>
        <p:spPr>
          <a:xfrm>
            <a:off x="10517505" y="442839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traight Connector 165">
            <a:extLst>
              <a:ext uri="{FF2B5EF4-FFF2-40B4-BE49-F238E27FC236}">
                <a16:creationId xmlns:a16="http://schemas.microsoft.com/office/drawing/2014/main" id="{F24CB46B-7E56-4655-A0AB-5EC0DE6A2E93}"/>
              </a:ext>
            </a:extLst>
          </p:cNvPr>
          <p:cNvSpPr>
            <a:spLocks noGrp="1"/>
          </p:cNvSpPr>
          <p:nvPr/>
        </p:nvSpPr>
        <p:spPr>
          <a:xfrm>
            <a:off x="10567035" y="442887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traight Connector 166">
            <a:extLst>
              <a:ext uri="{FF2B5EF4-FFF2-40B4-BE49-F238E27FC236}">
                <a16:creationId xmlns:a16="http://schemas.microsoft.com/office/drawing/2014/main" id="{C1C889F0-984D-4E4A-90E2-46BC2CAEF822}"/>
              </a:ext>
            </a:extLst>
          </p:cNvPr>
          <p:cNvSpPr>
            <a:spLocks noGrp="1"/>
          </p:cNvSpPr>
          <p:nvPr/>
        </p:nvSpPr>
        <p:spPr>
          <a:xfrm>
            <a:off x="10616565" y="4429046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traight Connector 167">
            <a:extLst>
              <a:ext uri="{FF2B5EF4-FFF2-40B4-BE49-F238E27FC236}">
                <a16:creationId xmlns:a16="http://schemas.microsoft.com/office/drawing/2014/main" id="{F1D2CB58-3205-4BC6-85D2-56EE925F35F7}"/>
              </a:ext>
            </a:extLst>
          </p:cNvPr>
          <p:cNvSpPr>
            <a:spLocks noGrp="1"/>
          </p:cNvSpPr>
          <p:nvPr/>
        </p:nvSpPr>
        <p:spPr>
          <a:xfrm>
            <a:off x="10666095" y="4429101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traight Connector 168">
            <a:extLst>
              <a:ext uri="{FF2B5EF4-FFF2-40B4-BE49-F238E27FC236}">
                <a16:creationId xmlns:a16="http://schemas.microsoft.com/office/drawing/2014/main" id="{52189DF2-3E14-4315-9CF2-C627A47763F3}"/>
              </a:ext>
            </a:extLst>
          </p:cNvPr>
          <p:cNvSpPr>
            <a:spLocks noGrp="1"/>
          </p:cNvSpPr>
          <p:nvPr/>
        </p:nvSpPr>
        <p:spPr>
          <a:xfrm>
            <a:off x="10715625" y="4429118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traight Connector 169">
            <a:extLst>
              <a:ext uri="{FF2B5EF4-FFF2-40B4-BE49-F238E27FC236}">
                <a16:creationId xmlns:a16="http://schemas.microsoft.com/office/drawing/2014/main" id="{245CCC5E-8B34-4345-98C2-7B69747C0588}"/>
              </a:ext>
            </a:extLst>
          </p:cNvPr>
          <p:cNvSpPr>
            <a:spLocks noGrp="1"/>
          </p:cNvSpPr>
          <p:nvPr/>
        </p:nvSpPr>
        <p:spPr>
          <a:xfrm>
            <a:off x="10765155" y="4429123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traight Connector 170">
            <a:extLst>
              <a:ext uri="{FF2B5EF4-FFF2-40B4-BE49-F238E27FC236}">
                <a16:creationId xmlns:a16="http://schemas.microsoft.com/office/drawing/2014/main" id="{2C5E0E45-B3AC-4D16-9480-7ECF3D8C111F}"/>
              </a:ext>
            </a:extLst>
          </p:cNvPr>
          <p:cNvSpPr>
            <a:spLocks noGrp="1"/>
          </p:cNvSpPr>
          <p:nvPr/>
        </p:nvSpPr>
        <p:spPr>
          <a:xfrm>
            <a:off x="10814685" y="442912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traight Connector 171">
            <a:extLst>
              <a:ext uri="{FF2B5EF4-FFF2-40B4-BE49-F238E27FC236}">
                <a16:creationId xmlns:a16="http://schemas.microsoft.com/office/drawing/2014/main" id="{7B26DABC-F304-4F89-B572-D56F26D142D3}"/>
              </a:ext>
            </a:extLst>
          </p:cNvPr>
          <p:cNvSpPr>
            <a:spLocks noGrp="1"/>
          </p:cNvSpPr>
          <p:nvPr/>
        </p:nvSpPr>
        <p:spPr>
          <a:xfrm>
            <a:off x="10864215" y="442912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traight Connector 172">
            <a:extLst>
              <a:ext uri="{FF2B5EF4-FFF2-40B4-BE49-F238E27FC236}">
                <a16:creationId xmlns:a16="http://schemas.microsoft.com/office/drawing/2014/main" id="{99109A93-C710-4EF3-BEA6-C955037C2CAD}"/>
              </a:ext>
            </a:extLst>
          </p:cNvPr>
          <p:cNvSpPr>
            <a:spLocks noGrp="1"/>
          </p:cNvSpPr>
          <p:nvPr/>
        </p:nvSpPr>
        <p:spPr>
          <a:xfrm>
            <a:off x="10913745" y="4429125"/>
            <a:ext cx="49530" cy="9525"/>
          </a:xfrm>
          <a:prstGeom prst="line">
            <a:avLst/>
          </a:prstGeom>
          <a:noFill/>
          <a:ln w="2857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8C293E0-4B9C-494A-8254-B4B21F64CE87}"/>
              </a:ext>
            </a:extLst>
          </p:cNvPr>
          <p:cNvSpPr>
            <a:spLocks noGrp="1"/>
          </p:cNvSpPr>
          <p:nvPr/>
        </p:nvSpPr>
        <p:spPr>
          <a:xfrm>
            <a:off x="7524750" y="49053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7437" lnSpcReduction="20000"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bands around ±k₀ for this real wavelet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49C1AF7-7A12-4314-A324-2FF3724D5C98}"/>
              </a:ext>
            </a:extLst>
          </p:cNvPr>
          <p:cNvSpPr>
            <a:spLocks noGrp="1"/>
          </p:cNvSpPr>
          <p:nvPr/>
        </p:nvSpPr>
        <p:spPr>
          <a:xfrm>
            <a:off x="3857625" y="57150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Wλ(x) = (δ * ψλ)(x)</a:t>
            </a:r>
          </a:p>
        </p:txBody>
      </p:sp>
    </p:spTree>
    <p:extLst>
      <p:ext uri="{BB962C8B-B14F-4D97-AF65-F5344CB8AC3E}">
        <p14:creationId xmlns:p14="http://schemas.microsoft.com/office/powerpoint/2010/main" val="1296678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85DC650-4A09-416C-AD94-A6E6FFDBE8AE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2/7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5714D-A158-4BD5-BD6D-0B959B1E6D24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Scale and direction form a wavelet bank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B7898-90B8-4601-8888-411BCF05CEFD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EEBE6-2538-480B-9246-67255ABEA2B9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62FE4-D4D2-4941-B8A0-7A8F34B89129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DE802-8DA6-4288-B19C-3EAC7288C25E}"/>
              </a:ext>
            </a:extLst>
          </p:cNvPr>
          <p:cNvSpPr>
            <a:spLocks noGrp="1"/>
          </p:cNvSpPr>
          <p:nvPr/>
        </p:nvSpPr>
        <p:spPr>
          <a:xfrm>
            <a:off x="904875" y="1143000"/>
            <a:ext cx="4857750" cy="485775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1450398"/>
            <a:ext cx="4762500" cy="42429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E1FA87-66BB-4EF1-A41D-60F5AF26E17B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j chooses a radial band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F317CD-5831-4062-9F17-190DF1929E45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3286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|k| ≈ k₀ · 2⁻ʲ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C7C767-C14C-45A9-958C-721C1AA1099D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α chooses a direction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7C219-3B87-41F2-A19C-F1B30B364A0F}"/>
              </a:ext>
            </a:extLst>
          </p:cNvPr>
          <p:cNvSpPr>
            <a:spLocks noGrp="1"/>
          </p:cNvSpPr>
          <p:nvPr/>
        </p:nvSpPr>
        <p:spPr>
          <a:xfrm>
            <a:off x="6858000" y="3714750"/>
            <a:ext cx="366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6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k̂α = (cos α, sin α)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FBAF1-7A70-4CD4-B269-88F0738DA26E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Together λ=(j,α) gives a bank of local, oriented band-pass measurements.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AFBEA1-D0E1-4F1A-B06E-CF9583548866}"/>
              </a:ext>
            </a:extLst>
          </p:cNvPr>
          <p:cNvSpPr>
            <a:spLocks noGrp="1"/>
          </p:cNvSpPr>
          <p:nvPr/>
        </p:nvSpPr>
        <p:spPr>
          <a:xfrm>
            <a:off x="1000125" y="6000750"/>
            <a:ext cx="466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997"/>
          </a:bodyPr>
          <a:lstStyle/>
          <a:p>
            <a:pPr algn="ctr">
              <a:defRPr sz="12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Shown: spatial-domain real parts. Kymatio writes θ; here we use α.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56C268-3D6D-47CC-A674-3C594D788605}"/>
              </a:ext>
            </a:extLst>
          </p:cNvPr>
          <p:cNvSpPr>
            <a:spLocks noGrp="1"/>
          </p:cNvSpPr>
          <p:nvPr/>
        </p:nvSpPr>
        <p:spPr>
          <a:xfrm>
            <a:off x="6381750" y="6534150"/>
            <a:ext cx="525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Kymatio documentation • BSD-3-Clause</a:t>
            </a:r>
          </a:p>
        </p:txBody>
      </p:sp>
    </p:spTree>
    <p:extLst>
      <p:ext uri="{BB962C8B-B14F-4D97-AF65-F5344CB8AC3E}">
        <p14:creationId xmlns:p14="http://schemas.microsoft.com/office/powerpoint/2010/main" val="1761305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2650EBA-C418-412C-BAAA-A7939E57E0B0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3/7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58768D-98B3-44D5-BAD0-3CAD5738AD15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The direction label belongs to a wavevector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72DA0-ED9A-46DF-9465-D82904879E79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1E998-C0CE-4797-AEC9-176C41F63C38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FAEE-3ACB-470E-B3FC-AE80F5E0071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606D7-542D-47D3-939F-508753A1A6EB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4953000" cy="433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F6585FB-F118-456F-815E-33D127500232}"/>
              </a:ext>
            </a:extLst>
          </p:cNvPr>
          <p:cNvSpPr>
            <a:spLocks noGrp="1"/>
          </p:cNvSpPr>
          <p:nvPr/>
        </p:nvSpPr>
        <p:spPr>
          <a:xfrm flipV="1">
            <a:off x="1000125" y="1762125"/>
            <a:ext cx="2476500" cy="3000375"/>
          </a:xfrm>
          <a:prstGeom prst="line">
            <a:avLst/>
          </a:prstGeom>
          <a:noFill/>
          <a:ln w="2381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A0C49D9-7EEC-41B8-A515-CC193719585D}"/>
              </a:ext>
            </a:extLst>
          </p:cNvPr>
          <p:cNvSpPr>
            <a:spLocks noGrp="1"/>
          </p:cNvSpPr>
          <p:nvPr/>
        </p:nvSpPr>
        <p:spPr>
          <a:xfrm flipV="1">
            <a:off x="1238250" y="1666875"/>
            <a:ext cx="3000375" cy="3619500"/>
          </a:xfrm>
          <a:prstGeom prst="line">
            <a:avLst/>
          </a:prstGeom>
          <a:noFill/>
          <a:ln w="4762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3C2EF36-0E1F-4C3E-AAF7-E15FBA69C87F}"/>
              </a:ext>
            </a:extLst>
          </p:cNvPr>
          <p:cNvSpPr>
            <a:spLocks noGrp="1"/>
          </p:cNvSpPr>
          <p:nvPr/>
        </p:nvSpPr>
        <p:spPr>
          <a:xfrm flipV="1">
            <a:off x="1952625" y="1857375"/>
            <a:ext cx="2857500" cy="3429000"/>
          </a:xfrm>
          <a:prstGeom prst="line">
            <a:avLst/>
          </a:prstGeom>
          <a:noFill/>
          <a:ln w="2381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CCAF64D-6532-41B0-8C1D-E5885BA94839}"/>
              </a:ext>
            </a:extLst>
          </p:cNvPr>
          <p:cNvSpPr>
            <a:spLocks noGrp="1"/>
          </p:cNvSpPr>
          <p:nvPr/>
        </p:nvSpPr>
        <p:spPr>
          <a:xfrm flipV="1">
            <a:off x="2333625" y="1809750"/>
            <a:ext cx="2905125" cy="3476625"/>
          </a:xfrm>
          <a:prstGeom prst="line">
            <a:avLst/>
          </a:prstGeom>
          <a:noFill/>
          <a:ln w="4762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E1ED67E-DCED-46EC-97F8-B8AC2110379C}"/>
              </a:ext>
            </a:extLst>
          </p:cNvPr>
          <p:cNvSpPr>
            <a:spLocks noGrp="1"/>
          </p:cNvSpPr>
          <p:nvPr/>
        </p:nvSpPr>
        <p:spPr>
          <a:xfrm flipV="1">
            <a:off x="3095625" y="2476500"/>
            <a:ext cx="2333625" cy="2809875"/>
          </a:xfrm>
          <a:prstGeom prst="line">
            <a:avLst/>
          </a:prstGeom>
          <a:noFill/>
          <a:ln w="23813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E33C505-E8FD-49DC-A4D8-F6943F994145}"/>
              </a:ext>
            </a:extLst>
          </p:cNvPr>
          <p:cNvSpPr>
            <a:spLocks noGrp="1"/>
          </p:cNvSpPr>
          <p:nvPr/>
        </p:nvSpPr>
        <p:spPr>
          <a:xfrm flipV="1">
            <a:off x="952500" y="1762125"/>
            <a:ext cx="1714500" cy="2095500"/>
          </a:xfrm>
          <a:prstGeom prst="line">
            <a:avLst/>
          </a:prstGeom>
          <a:noFill/>
          <a:ln w="4762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C649CA8-F20A-4D54-B4D4-D8C3EE84D480}"/>
              </a:ext>
            </a:extLst>
          </p:cNvPr>
          <p:cNvSpPr>
            <a:spLocks noGrp="1"/>
          </p:cNvSpPr>
          <p:nvPr/>
        </p:nvSpPr>
        <p:spPr>
          <a:xfrm>
            <a:off x="2381250" y="4191000"/>
            <a:ext cx="1384484" cy="1250502"/>
          </a:xfrm>
          <a:prstGeom prst="line">
            <a:avLst/>
          </a:prstGeom>
          <a:noFill/>
          <a:ln w="5715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4B43C3B6-2C72-4CBE-98F6-1620FEA65BF0}"/>
              </a:ext>
            </a:extLst>
          </p:cNvPr>
          <p:cNvSpPr>
            <a:spLocks noGrp="1"/>
          </p:cNvSpPr>
          <p:nvPr/>
        </p:nvSpPr>
        <p:spPr>
          <a:xfrm rot="7925350">
            <a:off x="3762375" y="542925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9E056D-815E-4A64-9FF3-ACF195C8B1D3}"/>
              </a:ext>
            </a:extLst>
          </p:cNvPr>
          <p:cNvSpPr>
            <a:spLocks noGrp="1"/>
          </p:cNvSpPr>
          <p:nvPr/>
        </p:nvSpPr>
        <p:spPr>
          <a:xfrm>
            <a:off x="1095375" y="16192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ridge / filament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6D2B56-A07C-4D3D-B269-1E3E2B29146A}"/>
              </a:ext>
            </a:extLst>
          </p:cNvPr>
          <p:cNvSpPr>
            <a:spLocks noGrp="1"/>
          </p:cNvSpPr>
          <p:nvPr/>
        </p:nvSpPr>
        <p:spPr>
          <a:xfrm>
            <a:off x="3857625" y="5286375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kα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35FC6E-2731-4DC4-B006-FC3B43113E82}"/>
              </a:ext>
            </a:extLst>
          </p:cNvPr>
          <p:cNvSpPr>
            <a:spLocks noGrp="1"/>
          </p:cNvSpPr>
          <p:nvPr/>
        </p:nvSpPr>
        <p:spPr>
          <a:xfrm>
            <a:off x="6429375" y="1333500"/>
            <a:ext cx="5095875" cy="4333875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556AE9A-E70B-4219-BFB5-099A3A4405B4}"/>
              </a:ext>
            </a:extLst>
          </p:cNvPr>
          <p:cNvSpPr>
            <a:spLocks noGrp="1"/>
          </p:cNvSpPr>
          <p:nvPr/>
        </p:nvSpPr>
        <p:spPr>
          <a:xfrm>
            <a:off x="8565857" y="2929158"/>
            <a:ext cx="359765" cy="335487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360B687-F746-495B-B526-47FD99782F37}"/>
              </a:ext>
            </a:extLst>
          </p:cNvPr>
          <p:cNvSpPr>
            <a:spLocks noGrp="1"/>
          </p:cNvSpPr>
          <p:nvPr/>
        </p:nvSpPr>
        <p:spPr>
          <a:xfrm>
            <a:off x="8305271" y="2907561"/>
            <a:ext cx="660074" cy="615529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65B639E-06E4-45B5-9236-9E389D5E6C5F}"/>
              </a:ext>
            </a:extLst>
          </p:cNvPr>
          <p:cNvSpPr>
            <a:spLocks noGrp="1"/>
          </p:cNvSpPr>
          <p:nvPr/>
        </p:nvSpPr>
        <p:spPr>
          <a:xfrm>
            <a:off x="8120839" y="2956980"/>
            <a:ext cx="808073" cy="753540"/>
          </a:xfrm>
          <a:prstGeom prst="line">
            <a:avLst/>
          </a:prstGeom>
          <a:noFill/>
          <a:ln w="4762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01D85B4-42D8-4A34-B7CC-FB143E635B92}"/>
              </a:ext>
            </a:extLst>
          </p:cNvPr>
          <p:cNvSpPr>
            <a:spLocks noGrp="1"/>
          </p:cNvSpPr>
          <p:nvPr/>
        </p:nvSpPr>
        <p:spPr>
          <a:xfrm>
            <a:off x="8084405" y="3144410"/>
            <a:ext cx="660074" cy="615529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6ACD7E89-F41D-4551-892D-CE24693D625B}"/>
              </a:ext>
            </a:extLst>
          </p:cNvPr>
          <p:cNvSpPr>
            <a:spLocks noGrp="1"/>
          </p:cNvSpPr>
          <p:nvPr/>
        </p:nvSpPr>
        <p:spPr>
          <a:xfrm>
            <a:off x="8124127" y="3402856"/>
            <a:ext cx="359765" cy="335487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B847D3D-AE31-435A-9959-F90D23C03F16}"/>
              </a:ext>
            </a:extLst>
          </p:cNvPr>
          <p:cNvSpPr>
            <a:spLocks noGrp="1"/>
          </p:cNvSpPr>
          <p:nvPr/>
        </p:nvSpPr>
        <p:spPr>
          <a:xfrm>
            <a:off x="7410450" y="2219325"/>
            <a:ext cx="2228850" cy="2228850"/>
          </a:xfrm>
          <a:prstGeom prst="ellipse">
            <a:avLst/>
          </a:prstGeom>
          <a:noFill/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D32BDF7-022F-48EB-97B2-45B833DBA4EA}"/>
              </a:ext>
            </a:extLst>
          </p:cNvPr>
          <p:cNvSpPr>
            <a:spLocks noGrp="1"/>
          </p:cNvSpPr>
          <p:nvPr/>
        </p:nvSpPr>
        <p:spPr>
          <a:xfrm flipV="1">
            <a:off x="8524875" y="2035776"/>
            <a:ext cx="1432247" cy="1297974"/>
          </a:xfrm>
          <a:prstGeom prst="line">
            <a:avLst/>
          </a:prstGeom>
          <a:noFill/>
          <a:ln w="5715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671A22A8-4585-4EB4-88B2-4676DEDFD794}"/>
              </a:ext>
            </a:extLst>
          </p:cNvPr>
          <p:cNvSpPr>
            <a:spLocks noGrp="1"/>
          </p:cNvSpPr>
          <p:nvPr/>
        </p:nvSpPr>
        <p:spPr>
          <a:xfrm rot="2868933">
            <a:off x="9953625" y="1857375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0E67C9-BD8C-4F4E-8D37-BF88CE7841AA}"/>
              </a:ext>
            </a:extLst>
          </p:cNvPr>
          <p:cNvSpPr>
            <a:spLocks noGrp="1"/>
          </p:cNvSpPr>
          <p:nvPr/>
        </p:nvSpPr>
        <p:spPr>
          <a:xfrm>
            <a:off x="6858000" y="1666875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85"/>
          </a:bodyPr>
          <a:lstStyle/>
          <a:p>
            <a:pPr algn="ctr">
              <a:defRPr sz="17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central wavevector kα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C738EB-79DC-4943-9505-56D57ED1ADB7}"/>
              </a:ext>
            </a:extLst>
          </p:cNvPr>
          <p:cNvSpPr>
            <a:spLocks noGrp="1"/>
          </p:cNvSpPr>
          <p:nvPr/>
        </p:nvSpPr>
        <p:spPr>
          <a:xfrm>
            <a:off x="6953250" y="4905375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1425" lnSpcReduction="10000"/>
          </a:bodyPr>
          <a:lstStyle/>
          <a:p>
            <a:pPr algn="ctr">
              <a:defRPr sz="19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plane wave is constant along its ridges, so kα is perpendicular to the stripe direction.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DD38B4-988B-41EA-A066-94BDD89FD512}"/>
              </a:ext>
            </a:extLst>
          </p:cNvPr>
          <p:cNvSpPr>
            <a:spLocks noGrp="1"/>
          </p:cNvSpPr>
          <p:nvPr/>
        </p:nvSpPr>
        <p:spPr>
          <a:xfrm>
            <a:off x="2476500" y="61150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The 90° distinction prevents a common interpretation error.</a:t>
            </a:r>
          </a:p>
        </p:txBody>
      </p:sp>
    </p:spTree>
    <p:extLst>
      <p:ext uri="{BB962C8B-B14F-4D97-AF65-F5344CB8AC3E}">
        <p14:creationId xmlns:p14="http://schemas.microsoft.com/office/powerpoint/2010/main" val="766188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F47233E-BEE9-4615-8D44-70B66EB642EC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4/7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6E6A97-F21B-4F27-B70F-C4BC2C08E105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Opposite directions are conjugate partners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64B83A-0EA3-4FFF-8ADE-4448B4F04659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5295F-8A17-49C8-B1DC-95424202452F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187A57-8F29-4701-ABAE-32434994C641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79DF193-CB21-4E83-A996-B748F7339F0E}"/>
              </a:ext>
            </a:extLst>
          </p:cNvPr>
          <p:cNvSpPr>
            <a:spLocks noGrp="1"/>
          </p:cNvSpPr>
          <p:nvPr/>
        </p:nvSpPr>
        <p:spPr>
          <a:xfrm>
            <a:off x="2849666" y="2295525"/>
            <a:ext cx="49191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B50A359-2BAD-416F-9F73-07006CFBBE66}"/>
              </a:ext>
            </a:extLst>
          </p:cNvPr>
          <p:cNvSpPr>
            <a:spLocks noGrp="1"/>
          </p:cNvSpPr>
          <p:nvPr/>
        </p:nvSpPr>
        <p:spPr>
          <a:xfrm>
            <a:off x="2644356" y="2457450"/>
            <a:ext cx="90253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4B4F18F-EACE-48CD-BA81-74DF722F1493}"/>
              </a:ext>
            </a:extLst>
          </p:cNvPr>
          <p:cNvSpPr>
            <a:spLocks noGrp="1"/>
          </p:cNvSpPr>
          <p:nvPr/>
        </p:nvSpPr>
        <p:spPr>
          <a:xfrm>
            <a:off x="2543175" y="2619375"/>
            <a:ext cx="1104900" cy="9525"/>
          </a:xfrm>
          <a:prstGeom prst="line">
            <a:avLst/>
          </a:prstGeom>
          <a:noFill/>
          <a:ln w="47625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B08F79E-7063-4679-8D5E-A50BF89CC063}"/>
              </a:ext>
            </a:extLst>
          </p:cNvPr>
          <p:cNvSpPr>
            <a:spLocks noGrp="1"/>
          </p:cNvSpPr>
          <p:nvPr/>
        </p:nvSpPr>
        <p:spPr>
          <a:xfrm>
            <a:off x="2644356" y="2781300"/>
            <a:ext cx="90253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616C6E0-AE55-46EB-BAB2-9BC7912109F6}"/>
              </a:ext>
            </a:extLst>
          </p:cNvPr>
          <p:cNvSpPr>
            <a:spLocks noGrp="1"/>
          </p:cNvSpPr>
          <p:nvPr/>
        </p:nvSpPr>
        <p:spPr>
          <a:xfrm>
            <a:off x="2849666" y="2943225"/>
            <a:ext cx="49191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E2C17D-3989-4841-A020-2FE7417999B8}"/>
              </a:ext>
            </a:extLst>
          </p:cNvPr>
          <p:cNvSpPr>
            <a:spLocks noGrp="1"/>
          </p:cNvSpPr>
          <p:nvPr/>
        </p:nvSpPr>
        <p:spPr>
          <a:xfrm>
            <a:off x="1885950" y="1409700"/>
            <a:ext cx="2419350" cy="2419350"/>
          </a:xfrm>
          <a:prstGeom prst="ellipse">
            <a:avLst/>
          </a:prstGeom>
          <a:noFill/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035349E-FBF5-4388-833E-B801465560E6}"/>
              </a:ext>
            </a:extLst>
          </p:cNvPr>
          <p:cNvSpPr>
            <a:spLocks noGrp="1"/>
          </p:cNvSpPr>
          <p:nvPr/>
        </p:nvSpPr>
        <p:spPr>
          <a:xfrm>
            <a:off x="8850416" y="2295525"/>
            <a:ext cx="49191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1C935D5-C5B7-499F-9556-E2A801EE8982}"/>
              </a:ext>
            </a:extLst>
          </p:cNvPr>
          <p:cNvSpPr>
            <a:spLocks noGrp="1"/>
          </p:cNvSpPr>
          <p:nvPr/>
        </p:nvSpPr>
        <p:spPr>
          <a:xfrm>
            <a:off x="8645106" y="2457450"/>
            <a:ext cx="90253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F1F57E0-0E65-4CE1-B364-F57E0C208401}"/>
              </a:ext>
            </a:extLst>
          </p:cNvPr>
          <p:cNvSpPr>
            <a:spLocks noGrp="1"/>
          </p:cNvSpPr>
          <p:nvPr/>
        </p:nvSpPr>
        <p:spPr>
          <a:xfrm>
            <a:off x="8543925" y="2619375"/>
            <a:ext cx="1104900" cy="9525"/>
          </a:xfrm>
          <a:prstGeom prst="line">
            <a:avLst/>
          </a:prstGeom>
          <a:noFill/>
          <a:ln w="47625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C901AEE-F6FE-4429-9CAC-4F775CB99AAA}"/>
              </a:ext>
            </a:extLst>
          </p:cNvPr>
          <p:cNvSpPr>
            <a:spLocks noGrp="1"/>
          </p:cNvSpPr>
          <p:nvPr/>
        </p:nvSpPr>
        <p:spPr>
          <a:xfrm>
            <a:off x="8645106" y="2781300"/>
            <a:ext cx="90253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D57BAFF-9D12-41EE-B9BE-16CEC6D934F9}"/>
              </a:ext>
            </a:extLst>
          </p:cNvPr>
          <p:cNvSpPr>
            <a:spLocks noGrp="1"/>
          </p:cNvSpPr>
          <p:nvPr/>
        </p:nvSpPr>
        <p:spPr>
          <a:xfrm>
            <a:off x="8850416" y="2943225"/>
            <a:ext cx="491917" cy="9525"/>
          </a:xfrm>
          <a:prstGeom prst="line">
            <a:avLst/>
          </a:prstGeom>
          <a:noFill/>
          <a:ln w="23813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C7427B-957E-435D-B632-110EC34DBE1F}"/>
              </a:ext>
            </a:extLst>
          </p:cNvPr>
          <p:cNvSpPr>
            <a:spLocks noGrp="1"/>
          </p:cNvSpPr>
          <p:nvPr/>
        </p:nvSpPr>
        <p:spPr>
          <a:xfrm>
            <a:off x="7886700" y="1409700"/>
            <a:ext cx="2419350" cy="2419350"/>
          </a:xfrm>
          <a:prstGeom prst="ellipse">
            <a:avLst/>
          </a:prstGeom>
          <a:noFill/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F261DEE-0E6C-4BFD-AFF3-CE4AE804900B}"/>
              </a:ext>
            </a:extLst>
          </p:cNvPr>
          <p:cNvSpPr>
            <a:spLocks noGrp="1"/>
          </p:cNvSpPr>
          <p:nvPr/>
        </p:nvSpPr>
        <p:spPr>
          <a:xfrm>
            <a:off x="3095625" y="1695450"/>
            <a:ext cx="9525" cy="1209675"/>
          </a:xfrm>
          <a:prstGeom prst="line">
            <a:avLst/>
          </a:prstGeom>
          <a:noFill/>
          <a:ln w="5715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318938C-A6EE-423C-A56E-9449E4F7B6C5}"/>
              </a:ext>
            </a:extLst>
          </p:cNvPr>
          <p:cNvSpPr>
            <a:spLocks noGrp="1"/>
          </p:cNvSpPr>
          <p:nvPr/>
        </p:nvSpPr>
        <p:spPr>
          <a:xfrm>
            <a:off x="3000375" y="14763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22B591B-F2E0-4348-8656-821DF42CC400}"/>
              </a:ext>
            </a:extLst>
          </p:cNvPr>
          <p:cNvSpPr>
            <a:spLocks noGrp="1"/>
          </p:cNvSpPr>
          <p:nvPr/>
        </p:nvSpPr>
        <p:spPr>
          <a:xfrm>
            <a:off x="9096375" y="2333625"/>
            <a:ext cx="9525" cy="1209675"/>
          </a:xfrm>
          <a:prstGeom prst="line">
            <a:avLst/>
          </a:prstGeom>
          <a:noFill/>
          <a:ln w="5715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DABB5951-005B-4ED7-9C1D-5F1230440DC7}"/>
              </a:ext>
            </a:extLst>
          </p:cNvPr>
          <p:cNvSpPr>
            <a:spLocks noGrp="1"/>
          </p:cNvSpPr>
          <p:nvPr/>
        </p:nvSpPr>
        <p:spPr>
          <a:xfrm rot="10800000">
            <a:off x="9001125" y="3571875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F4FF52-E486-4A0A-B2C0-7DAE8CA834D8}"/>
              </a:ext>
            </a:extLst>
          </p:cNvPr>
          <p:cNvSpPr>
            <a:spLocks noGrp="1"/>
          </p:cNvSpPr>
          <p:nvPr/>
        </p:nvSpPr>
        <p:spPr>
          <a:xfrm>
            <a:off x="2571750" y="4000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D526F"/>
                </a:solidFill>
                <a:latin typeface="Helvetica Neue"/>
                <a:ea typeface="Helvetica Neue"/>
                <a:cs typeface="Helvetica Neue"/>
              </a:rPr>
              <a:t>kα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419A0-B899-4A66-9AE0-56C9C5D8BF99}"/>
              </a:ext>
            </a:extLst>
          </p:cNvPr>
          <p:cNvSpPr>
            <a:spLocks noGrp="1"/>
          </p:cNvSpPr>
          <p:nvPr/>
        </p:nvSpPr>
        <p:spPr>
          <a:xfrm>
            <a:off x="8239125" y="4000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kα+π = −kα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EB355B2-CC4D-4704-BBC2-E7CEC46CAEF6}"/>
              </a:ext>
            </a:extLst>
          </p:cNvPr>
          <p:cNvSpPr>
            <a:spLocks noGrp="1"/>
          </p:cNvSpPr>
          <p:nvPr/>
        </p:nvSpPr>
        <p:spPr>
          <a:xfrm>
            <a:off x="4667250" y="2333625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E7DF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4D3689-F564-4B5C-95A5-F13C2D0823AA}"/>
              </a:ext>
            </a:extLst>
          </p:cNvPr>
          <p:cNvSpPr>
            <a:spLocks noGrp="1"/>
          </p:cNvSpPr>
          <p:nvPr/>
        </p:nvSpPr>
        <p:spPr>
          <a:xfrm>
            <a:off x="4743450" y="2352675"/>
            <a:ext cx="2705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same axial orientation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5312D5-979C-4F3B-AA86-0758007AC9C4}"/>
              </a:ext>
            </a:extLst>
          </p:cNvPr>
          <p:cNvSpPr>
            <a:spLocks noGrp="1"/>
          </p:cNvSpPr>
          <p:nvPr/>
        </p:nvSpPr>
        <p:spPr>
          <a:xfrm>
            <a:off x="1428750" y="4524375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ψα+π(x) = ψα(x)*   ⇒   Wα+π(x) = Wα(x)*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10DD54-61D2-414C-9011-67556581613A}"/>
              </a:ext>
            </a:extLst>
          </p:cNvPr>
          <p:cNvSpPr>
            <a:spLocks noGrp="1"/>
          </p:cNvSpPr>
          <p:nvPr/>
        </p:nvSpPr>
        <p:spPr>
          <a:xfrm>
            <a:off x="3333750" y="5191125"/>
            <a:ext cx="552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70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|Wα+π(x)| = |Wα(x)|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1C1E23-4901-49D1-A4BB-C6E972A7785F}"/>
              </a:ext>
            </a:extLst>
          </p:cNvPr>
          <p:cNvSpPr>
            <a:spLocks noGrp="1"/>
          </p:cNvSpPr>
          <p:nvPr/>
        </p:nvSpPr>
        <p:spPr>
          <a:xfrm>
            <a:off x="1666875" y="59055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991" lnSpcReduction="20000"/>
          </a:bodyPr>
          <a:lstStyle/>
          <a:p>
            <a:pPr algn="ctr">
              <a:defRPr sz="20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For a real field and conjugate-paired filters, α and α+π become redundant after modulus.</a:t>
            </a:r>
          </a:p>
        </p:txBody>
      </p:sp>
    </p:spTree>
    <p:extLst>
      <p:ext uri="{BB962C8B-B14F-4D97-AF65-F5344CB8AC3E}">
        <p14:creationId xmlns:p14="http://schemas.microsoft.com/office/powerpoint/2010/main" val="969494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BA38E08-8AD8-4CD8-9B95-04D2456A23DF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5/7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EB45F-D11A-4EAA-8BAB-DF5A8B756CE6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Invariance is made by averaging—and paid for with information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04587-BC66-4239-BD08-F5522B0B4C6C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36C12-6575-4859-92F6-5D3084B5F7B9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2EC060-875A-4E3C-959A-0C90D49AED04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5CDC8-0A72-4A7F-9AE5-1420E07458D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238375" cy="1285875"/>
          </a:xfrm>
          <a:prstGeom prst="rect">
            <a:avLst/>
          </a:prstGeom>
          <a:solidFill>
            <a:srgbClr val="FFFFFF"/>
          </a:solidFill>
          <a:ln w="1905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41325-4261-4CC7-B613-3959B9A452A1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0097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coefficient map</a:t>
            </a:r>
          </a:p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Wj,α(x)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F83BBCE-125E-4848-A383-060932EB3DC0}"/>
              </a:ext>
            </a:extLst>
          </p:cNvPr>
          <p:cNvSpPr>
            <a:spLocks noGrp="1"/>
          </p:cNvSpPr>
          <p:nvPr/>
        </p:nvSpPr>
        <p:spPr>
          <a:xfrm>
            <a:off x="3048000" y="3028950"/>
            <a:ext cx="923925" cy="9525"/>
          </a:xfrm>
          <a:prstGeom prst="line">
            <a:avLst/>
          </a:prstGeom>
          <a:noFill/>
          <a:ln w="3810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97B5267-9545-442C-B866-D1E1B6B20467}"/>
              </a:ext>
            </a:extLst>
          </p:cNvPr>
          <p:cNvSpPr>
            <a:spLocks noGrp="1"/>
          </p:cNvSpPr>
          <p:nvPr/>
        </p:nvSpPr>
        <p:spPr>
          <a:xfrm rot="5400000">
            <a:off x="4000500" y="2933700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EDF3AD-96F6-4C77-8F62-BD854819CE9E}"/>
              </a:ext>
            </a:extLst>
          </p:cNvPr>
          <p:cNvSpPr>
            <a:spLocks noGrp="1"/>
          </p:cNvSpPr>
          <p:nvPr/>
        </p:nvSpPr>
        <p:spPr>
          <a:xfrm>
            <a:off x="4238625" y="2381250"/>
            <a:ext cx="2333625" cy="1285875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6ACD47-C90D-4D8A-B775-FBAD32A5C043}"/>
              </a:ext>
            </a:extLst>
          </p:cNvPr>
          <p:cNvSpPr>
            <a:spLocks noGrp="1"/>
          </p:cNvSpPr>
          <p:nvPr/>
        </p:nvSpPr>
        <p:spPr>
          <a:xfrm>
            <a:off x="4352925" y="2476500"/>
            <a:ext cx="21050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modulus map</a:t>
            </a:r>
          </a:p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|Wj,α(x)|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0BCC503-124C-4EB4-B8BE-4BB7B8954C0A}"/>
              </a:ext>
            </a:extLst>
          </p:cNvPr>
          <p:cNvSpPr>
            <a:spLocks noGrp="1"/>
          </p:cNvSpPr>
          <p:nvPr/>
        </p:nvSpPr>
        <p:spPr>
          <a:xfrm>
            <a:off x="6715125" y="3028950"/>
            <a:ext cx="923925" cy="9525"/>
          </a:xfrm>
          <a:prstGeom prst="line">
            <a:avLst/>
          </a:prstGeom>
          <a:noFill/>
          <a:ln w="3810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0676046D-5FFC-4C9B-9476-EBD71F5A8F2D}"/>
              </a:ext>
            </a:extLst>
          </p:cNvPr>
          <p:cNvSpPr>
            <a:spLocks noGrp="1"/>
          </p:cNvSpPr>
          <p:nvPr/>
        </p:nvSpPr>
        <p:spPr>
          <a:xfrm rot="5400000">
            <a:off x="7667625" y="293370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FA4161-1FB1-4D0C-A6D2-5DE82A0F596E}"/>
              </a:ext>
            </a:extLst>
          </p:cNvPr>
          <p:cNvSpPr>
            <a:spLocks noGrp="1"/>
          </p:cNvSpPr>
          <p:nvPr/>
        </p:nvSpPr>
        <p:spPr>
          <a:xfrm>
            <a:off x="7905750" y="2381250"/>
            <a:ext cx="2381250" cy="1285875"/>
          </a:xfrm>
          <a:prstGeom prst="rect">
            <a:avLst/>
          </a:prstGeom>
          <a:solidFill>
            <a:srgbClr val="EED8CE"/>
          </a:solidFill>
          <a:ln w="1428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0AF8E6-521B-4F2E-9CFC-F99A1A421076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21526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spatial mean</a:t>
            </a:r>
          </a:p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S₁(j,α)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9103B0-138C-4185-B589-0F62F95EC057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translation shifts 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53A5EA-B674-440C-94C9-542A8C6D6760}"/>
              </a:ext>
            </a:extLst>
          </p:cNvPr>
          <p:cNvSpPr>
            <a:spLocks noGrp="1"/>
          </p:cNvSpPr>
          <p:nvPr/>
        </p:nvSpPr>
        <p:spPr>
          <a:xfrm>
            <a:off x="4524375" y="4095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052" lnSpcReduction="20000"/>
          </a:bodyPr>
          <a:lstStyle/>
          <a:p>
            <a:pPr algn="ctr">
              <a:def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complex phase removed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CD7391-1DFB-4A0A-A9CC-042AE89A5C44}"/>
              </a:ext>
            </a:extLst>
          </p:cNvPr>
          <p:cNvSpPr>
            <a:spLocks noGrp="1"/>
          </p:cNvSpPr>
          <p:nvPr/>
        </p:nvSpPr>
        <p:spPr>
          <a:xfrm>
            <a:off x="8239125" y="4095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location removed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6C6568-A749-4DB2-A14C-F1F0B6B3F796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rotation: α → α + β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F8FC70E-2D3F-4820-B9FA-DFCA148D6BE0}"/>
              </a:ext>
            </a:extLst>
          </p:cNvPr>
          <p:cNvSpPr>
            <a:spLocks noGrp="1"/>
          </p:cNvSpPr>
          <p:nvPr/>
        </p:nvSpPr>
        <p:spPr>
          <a:xfrm>
            <a:off x="5572125" y="5191125"/>
            <a:ext cx="971550" cy="9525"/>
          </a:xfrm>
          <a:prstGeom prst="line">
            <a:avLst/>
          </a:prstGeom>
          <a:noFill/>
          <a:ln w="28575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29C93B96-DD88-49FC-B471-202E7A235B06}"/>
              </a:ext>
            </a:extLst>
          </p:cNvPr>
          <p:cNvSpPr>
            <a:spLocks noGrp="1"/>
          </p:cNvSpPr>
          <p:nvPr/>
        </p:nvSpPr>
        <p:spPr>
          <a:xfrm rot="5400000">
            <a:off x="6572250" y="5095875"/>
            <a:ext cx="190500" cy="190500"/>
          </a:xfrm>
          <a:prstGeom prst="triangle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2CA672-5A28-413C-B2E0-DF391B022C38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average over α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5A9E01-0664-4B49-BB8F-C59F6C983985}"/>
              </a:ext>
            </a:extLst>
          </p:cNvPr>
          <p:cNvSpPr>
            <a:spLocks noGrp="1"/>
          </p:cNvSpPr>
          <p:nvPr/>
        </p:nvSpPr>
        <p:spPr>
          <a:xfrm>
            <a:off x="6667500" y="552450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585" lnSpcReduction="10000"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rotation invariance—but anisotropy is gone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54254B-49E8-49BC-87D9-8712562CCDF2}"/>
              </a:ext>
            </a:extLst>
          </p:cNvPr>
          <p:cNvSpPr>
            <a:spLocks noGrp="1"/>
          </p:cNvSpPr>
          <p:nvPr/>
        </p:nvSpPr>
        <p:spPr>
          <a:xfrm>
            <a:off x="1714500" y="60960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7994" lnSpcReduction="20000"/>
          </a:bodyPr>
          <a:lstStyle/>
          <a:p>
            <a:pPr algn="ctr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Keep directional channels whenever redshift-space distortions, shear, filaments or survey geometry matter.</a:t>
            </a:r>
          </a:p>
        </p:txBody>
      </p:sp>
    </p:spTree>
    <p:extLst>
      <p:ext uri="{BB962C8B-B14F-4D97-AF65-F5344CB8AC3E}">
        <p14:creationId xmlns:p14="http://schemas.microsoft.com/office/powerpoint/2010/main" val="735627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7EA5BFA-CD5A-4503-935D-7B57CF7D0903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6/7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D9FD0-DEAD-453A-8141-698CDC70CCAE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The notebook computes first-order scattering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18B814-50F1-4314-9621-F08D7047A304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05BE4D-217F-4103-8FAD-1F307DDE13DD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D943D2-BCF3-4E03-BFA2-3FDC68D6879A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D3C5B6-A35B-4241-9C8A-DD8FD406ACF2}"/>
              </a:ext>
            </a:extLst>
          </p:cNvPr>
          <p:cNvSpPr>
            <a:spLocks noGrp="1"/>
          </p:cNvSpPr>
          <p:nvPr/>
        </p:nvSpPr>
        <p:spPr>
          <a:xfrm>
            <a:off x="2333625" y="1285875"/>
            <a:ext cx="752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2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S₁(j,α) = ⟨ | δ * ψj,α | ⟩x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8675FA-DB17-4235-89C9-A7D6DFE0BB80}"/>
              </a:ext>
            </a:extLst>
          </p:cNvPr>
          <p:cNvSpPr>
            <a:spLocks noGrp="1"/>
          </p:cNvSpPr>
          <p:nvPr/>
        </p:nvSpPr>
        <p:spPr>
          <a:xfrm>
            <a:off x="523875" y="2619375"/>
            <a:ext cx="2190750" cy="1238250"/>
          </a:xfrm>
          <a:prstGeom prst="rect">
            <a:avLst/>
          </a:prstGeom>
          <a:solidFill>
            <a:srgbClr val="DCE6ED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D11-20A7-47E4-BAA6-5404DC1FF0CD}"/>
              </a:ext>
            </a:extLst>
          </p:cNvPr>
          <p:cNvSpPr>
            <a:spLocks noGrp="1"/>
          </p:cNvSpPr>
          <p:nvPr/>
        </p:nvSpPr>
        <p:spPr>
          <a:xfrm>
            <a:off x="638175" y="2714625"/>
            <a:ext cx="1962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field</a:t>
            </a:r>
          </a:p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δ(x)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2416B6E-E1B0-4ED8-97EA-4F229E06C77D}"/>
              </a:ext>
            </a:extLst>
          </p:cNvPr>
          <p:cNvSpPr>
            <a:spLocks noGrp="1"/>
          </p:cNvSpPr>
          <p:nvPr/>
        </p:nvSpPr>
        <p:spPr>
          <a:xfrm>
            <a:off x="2809875" y="3238500"/>
            <a:ext cx="390525" cy="9525"/>
          </a:xfrm>
          <a:prstGeom prst="line">
            <a:avLst/>
          </a:prstGeom>
          <a:noFill/>
          <a:ln w="3333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7FA936EB-292B-430E-9CBD-699B7E48B992}"/>
              </a:ext>
            </a:extLst>
          </p:cNvPr>
          <p:cNvSpPr>
            <a:spLocks noGrp="1"/>
          </p:cNvSpPr>
          <p:nvPr/>
        </p:nvSpPr>
        <p:spPr>
          <a:xfrm rot="5400000">
            <a:off x="3228975" y="3143250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C509F-7265-44C9-B004-279ABD507CAE}"/>
              </a:ext>
            </a:extLst>
          </p:cNvPr>
          <p:cNvSpPr>
            <a:spLocks noGrp="1"/>
          </p:cNvSpPr>
          <p:nvPr/>
        </p:nvSpPr>
        <p:spPr>
          <a:xfrm>
            <a:off x="3419475" y="2619375"/>
            <a:ext cx="2190750" cy="1238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0A169-9C5C-448B-8036-73622A1A66A4}"/>
              </a:ext>
            </a:extLst>
          </p:cNvPr>
          <p:cNvSpPr>
            <a:spLocks noGrp="1"/>
          </p:cNvSpPr>
          <p:nvPr/>
        </p:nvSpPr>
        <p:spPr>
          <a:xfrm>
            <a:off x="3533775" y="2714625"/>
            <a:ext cx="1962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band-pass</a:t>
            </a:r>
          </a:p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δ * ψj,α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D7E5B0E-4566-4E12-A275-04DF12E592C6}"/>
              </a:ext>
            </a:extLst>
          </p:cNvPr>
          <p:cNvSpPr>
            <a:spLocks noGrp="1"/>
          </p:cNvSpPr>
          <p:nvPr/>
        </p:nvSpPr>
        <p:spPr>
          <a:xfrm>
            <a:off x="5705475" y="3238500"/>
            <a:ext cx="390525" cy="9525"/>
          </a:xfrm>
          <a:prstGeom prst="line">
            <a:avLst/>
          </a:prstGeom>
          <a:noFill/>
          <a:ln w="3333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0B1838C2-CD4D-4C35-A1C1-90DCA8F96916}"/>
              </a:ext>
            </a:extLst>
          </p:cNvPr>
          <p:cNvSpPr>
            <a:spLocks noGrp="1"/>
          </p:cNvSpPr>
          <p:nvPr/>
        </p:nvSpPr>
        <p:spPr>
          <a:xfrm rot="5400000">
            <a:off x="6124575" y="3143250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5AE8A-9A66-48A9-9286-AFB36D0BD635}"/>
              </a:ext>
            </a:extLst>
          </p:cNvPr>
          <p:cNvSpPr>
            <a:spLocks noGrp="1"/>
          </p:cNvSpPr>
          <p:nvPr/>
        </p:nvSpPr>
        <p:spPr>
          <a:xfrm>
            <a:off x="6315075" y="2619375"/>
            <a:ext cx="2190750" cy="1238250"/>
          </a:xfrm>
          <a:prstGeom prst="rect">
            <a:avLst/>
          </a:prstGeom>
          <a:solidFill>
            <a:srgbClr val="DCE6ED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C7DB66-09F2-4F92-BA88-52A9182EE73D}"/>
              </a:ext>
            </a:extLst>
          </p:cNvPr>
          <p:cNvSpPr>
            <a:spLocks noGrp="1"/>
          </p:cNvSpPr>
          <p:nvPr/>
        </p:nvSpPr>
        <p:spPr>
          <a:xfrm>
            <a:off x="6429375" y="2714625"/>
            <a:ext cx="1962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modulus</a:t>
            </a:r>
          </a:p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|δ * ψj,α|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309D6C1-66EB-4A92-B2AA-D3196B478EA5}"/>
              </a:ext>
            </a:extLst>
          </p:cNvPr>
          <p:cNvSpPr>
            <a:spLocks noGrp="1"/>
          </p:cNvSpPr>
          <p:nvPr/>
        </p:nvSpPr>
        <p:spPr>
          <a:xfrm>
            <a:off x="8601075" y="3238500"/>
            <a:ext cx="390525" cy="9525"/>
          </a:xfrm>
          <a:prstGeom prst="line">
            <a:avLst/>
          </a:prstGeom>
          <a:noFill/>
          <a:ln w="3333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0ED1BD3D-BC29-463F-8683-200AF46273E9}"/>
              </a:ext>
            </a:extLst>
          </p:cNvPr>
          <p:cNvSpPr>
            <a:spLocks noGrp="1"/>
          </p:cNvSpPr>
          <p:nvPr/>
        </p:nvSpPr>
        <p:spPr>
          <a:xfrm rot="5400000">
            <a:off x="9020175" y="314325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EF2123-75A8-41D6-9C87-3BE9B396A557}"/>
              </a:ext>
            </a:extLst>
          </p:cNvPr>
          <p:cNvSpPr>
            <a:spLocks noGrp="1"/>
          </p:cNvSpPr>
          <p:nvPr/>
        </p:nvSpPr>
        <p:spPr>
          <a:xfrm>
            <a:off x="9210675" y="2619375"/>
            <a:ext cx="2190750" cy="1238250"/>
          </a:xfrm>
          <a:prstGeom prst="rect">
            <a:avLst/>
          </a:prstGeom>
          <a:solidFill>
            <a:srgbClr val="EED8CE"/>
          </a:solidFill>
          <a:ln w="2190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91F825-73D6-4406-97C4-4A3006089A24}"/>
              </a:ext>
            </a:extLst>
          </p:cNvPr>
          <p:cNvSpPr>
            <a:spLocks noGrp="1"/>
          </p:cNvSpPr>
          <p:nvPr/>
        </p:nvSpPr>
        <p:spPr>
          <a:xfrm>
            <a:off x="9324975" y="2714625"/>
            <a:ext cx="1962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average</a:t>
            </a:r>
          </a:p>
          <a:p>
            <a:pPr algn="ctr">
              <a:def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S₁(j,α)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32B7E8-4D2D-48B7-9C0E-3E915B1B49EA}"/>
              </a:ext>
            </a:extLst>
          </p:cNvPr>
          <p:cNvSpPr>
            <a:spLocks noGrp="1"/>
          </p:cNvSpPr>
          <p:nvPr/>
        </p:nvSpPr>
        <p:spPr>
          <a:xfrm>
            <a:off x="2238375" y="4619625"/>
            <a:ext cx="771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512² pixels → J×L = 4×8 = 32 coefficients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465B2E-3294-49B0-9B7A-61C90133C134}"/>
              </a:ext>
            </a:extLst>
          </p:cNvPr>
          <p:cNvSpPr>
            <a:spLocks noGrp="1"/>
          </p:cNvSpPr>
          <p:nvPr/>
        </p:nvSpPr>
        <p:spPr>
          <a:xfrm>
            <a:off x="1762125" y="5381625"/>
            <a:ext cx="866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A dramatic compression: useful only if those 32 numbers retain the parameter distinctions we need.</a:t>
            </a:r>
          </a:p>
        </p:txBody>
      </p:sp>
    </p:spTree>
    <p:extLst>
      <p:ext uri="{BB962C8B-B14F-4D97-AF65-F5344CB8AC3E}">
        <p14:creationId xmlns:p14="http://schemas.microsoft.com/office/powerpoint/2010/main" val="476123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7805247-5A29-4D93-809B-8555F747C830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WAVELETS 7/7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BFAED-D710-4554-AF9B-32C0DCC0F5F3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Second order measures modulation across scales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92F685-01B2-40D5-9A49-1177648167CB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60329-739D-47BC-BEBB-6866918EF576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32916-4F1A-46CB-A3F1-5561BB0D7383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DD0C6-2263-4A86-8DFD-D2250A8A87A1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2667000" cy="1238250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FBB7D-8056-4773-A10F-AB1044213058}"/>
              </a:ext>
            </a:extLst>
          </p:cNvPr>
          <p:cNvSpPr>
            <a:spLocks noGrp="1"/>
          </p:cNvSpPr>
          <p:nvPr/>
        </p:nvSpPr>
        <p:spPr>
          <a:xfrm>
            <a:off x="733425" y="2190750"/>
            <a:ext cx="2438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fine-scale response</a:t>
            </a:r>
          </a:p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|δ * ψλ₁|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A36682D-1101-4FD4-932C-B8520FB3C487}"/>
              </a:ext>
            </a:extLst>
          </p:cNvPr>
          <p:cNvSpPr>
            <a:spLocks noGrp="1"/>
          </p:cNvSpPr>
          <p:nvPr/>
        </p:nvSpPr>
        <p:spPr>
          <a:xfrm>
            <a:off x="3429000" y="2714625"/>
            <a:ext cx="971550" cy="9525"/>
          </a:xfrm>
          <a:prstGeom prst="line">
            <a:avLst/>
          </a:prstGeom>
          <a:noFill/>
          <a:ln w="3810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4581478D-D004-4596-9997-86A200A548F4}"/>
              </a:ext>
            </a:extLst>
          </p:cNvPr>
          <p:cNvSpPr>
            <a:spLocks noGrp="1"/>
          </p:cNvSpPr>
          <p:nvPr/>
        </p:nvSpPr>
        <p:spPr>
          <a:xfrm rot="5400000">
            <a:off x="4429125" y="26193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2F9C6-DB03-463F-AF4E-8E4159A1DB9B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3000375" cy="123825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D958BE-8E06-4ED7-A74A-F59984FDED7C}"/>
              </a:ext>
            </a:extLst>
          </p:cNvPr>
          <p:cNvSpPr>
            <a:spLocks noGrp="1"/>
          </p:cNvSpPr>
          <p:nvPr/>
        </p:nvSpPr>
        <p:spPr>
          <a:xfrm>
            <a:off x="4781550" y="2190750"/>
            <a:ext cx="27717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filter the envelope</a:t>
            </a:r>
          </a:p>
          <a:p>
            <a:pPr algn="ctr">
              <a:def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|δ * ψλ₁| * ψλ₂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831347B-F943-48AE-A057-D0925A8E151D}"/>
              </a:ext>
            </a:extLst>
          </p:cNvPr>
          <p:cNvSpPr>
            <a:spLocks noGrp="1"/>
          </p:cNvSpPr>
          <p:nvPr/>
        </p:nvSpPr>
        <p:spPr>
          <a:xfrm>
            <a:off x="7810500" y="2714625"/>
            <a:ext cx="971550" cy="9525"/>
          </a:xfrm>
          <a:prstGeom prst="line">
            <a:avLst/>
          </a:prstGeom>
          <a:noFill/>
          <a:ln w="3810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A254B91-8019-44EE-8A1F-0DA3F5359513}"/>
              </a:ext>
            </a:extLst>
          </p:cNvPr>
          <p:cNvSpPr>
            <a:spLocks noGrp="1"/>
          </p:cNvSpPr>
          <p:nvPr/>
        </p:nvSpPr>
        <p:spPr>
          <a:xfrm rot="5400000">
            <a:off x="8810625" y="2619375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463F1-3A22-46B1-B415-7C8E39E5586E}"/>
              </a:ext>
            </a:extLst>
          </p:cNvPr>
          <p:cNvSpPr>
            <a:spLocks noGrp="1"/>
          </p:cNvSpPr>
          <p:nvPr/>
        </p:nvSpPr>
        <p:spPr>
          <a:xfrm>
            <a:off x="9048750" y="2095500"/>
            <a:ext cx="2524125" cy="1238250"/>
          </a:xfrm>
          <a:prstGeom prst="rect">
            <a:avLst/>
          </a:prstGeom>
          <a:solidFill>
            <a:srgbClr val="EED8CE"/>
          </a:solidFill>
          <a:ln w="1428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EE9217-69D0-4F4C-907B-4098DD22640F}"/>
              </a:ext>
            </a:extLst>
          </p:cNvPr>
          <p:cNvSpPr>
            <a:spLocks noGrp="1"/>
          </p:cNvSpPr>
          <p:nvPr/>
        </p:nvSpPr>
        <p:spPr>
          <a:xfrm>
            <a:off x="9163050" y="2190750"/>
            <a:ext cx="22955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modulus + mean</a:t>
            </a:r>
          </a:p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S₂(λ₁,λ₂)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D87AD3-1619-4D5F-B5A8-F60A24A2BF56}"/>
              </a:ext>
            </a:extLst>
          </p:cNvPr>
          <p:cNvSpPr>
            <a:spLocks noGrp="1"/>
          </p:cNvSpPr>
          <p:nvPr/>
        </p:nvSpPr>
        <p:spPr>
          <a:xfrm>
            <a:off x="1809750" y="3857625"/>
            <a:ext cx="857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6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S₂(λ₁,λ₂) = ⟨ ||δ*ψλ₁| * ψλ₂| ⟩x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5FDD07-6E88-48D6-9B00-245A35E5D28B}"/>
              </a:ext>
            </a:extLst>
          </p:cNvPr>
          <p:cNvSpPr>
            <a:spLocks noGrp="1"/>
          </p:cNvSpPr>
          <p:nvPr/>
        </p:nvSpPr>
        <p:spPr>
          <a:xfrm>
            <a:off x="2619375" y="4619625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57" lnSpcReduction="10000"/>
          </a:bodyPr>
          <a:lstStyle/>
          <a:p>
            <a:pPr algn="ctr">
              <a:def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It asks whether small-scale power is spatially modulated by a larger-scale pattern.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2EDEE-9FBF-4C42-91F1-6AA3438F857C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J=4, L=8, j₂&gt;j₁  ⇒  C(4,2)×8² = 384 channels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2E1F9F-BF4E-4C0B-9D5B-E12E678543DE}"/>
              </a:ext>
            </a:extLst>
          </p:cNvPr>
          <p:cNvSpPr>
            <a:spLocks noGrp="1"/>
          </p:cNvSpPr>
          <p:nvPr/>
        </p:nvSpPr>
        <p:spPr>
          <a:xfrm>
            <a:off x="4524375" y="59531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before symmetry reductions</a:t>
            </a:r>
          </a:p>
        </p:txBody>
      </p:sp>
    </p:spTree>
    <p:extLst>
      <p:ext uri="{BB962C8B-B14F-4D97-AF65-F5344CB8AC3E}">
        <p14:creationId xmlns:p14="http://schemas.microsoft.com/office/powerpoint/2010/main" val="1875865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87F4E40-E9DD-4D80-9750-E25A61451A10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MODEL-AWARE COMPRESSION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B3BC6B-C0E1-4F2F-B0E8-D29BDC529CC6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Optimal summaries use the model's parameter directions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EDC02-5CA0-4F5B-BE5A-F2B158815D11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990E8E-DDA6-4811-8F54-345D5A063228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CEC0EF-26D7-4981-B35D-0F700C8D01ED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6EADE-318F-49E2-98DA-6A114AD840EF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PCA / KL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93B6E3-3ED7-4300-9A3F-5AA2B08B84B6}"/>
              </a:ext>
            </a:extLst>
          </p:cNvPr>
          <p:cNvSpPr>
            <a:spLocks noGrp="1"/>
          </p:cNvSpPr>
          <p:nvPr/>
        </p:nvSpPr>
        <p:spPr>
          <a:xfrm>
            <a:off x="4000500" y="13811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rPr>
              <a:t>MOPED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88AC3-2ED8-4925-AFF8-9DAEA616D528}"/>
              </a:ext>
            </a:extLst>
          </p:cNvPr>
          <p:cNvSpPr>
            <a:spLocks noGrp="1"/>
          </p:cNvSpPr>
          <p:nvPr/>
        </p:nvSpPr>
        <p:spPr>
          <a:xfrm>
            <a:off x="7667625" y="138112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score compression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3B8E1-655B-453A-99D1-65CD5EF4CE43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667000" cy="28575"/>
          </a:xfrm>
          <a:prstGeom prst="rect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A6B376-1C23-4481-A412-7F3978495E62}"/>
              </a:ext>
            </a:extLst>
          </p:cNvPr>
          <p:cNvSpPr>
            <a:spLocks noGrp="1"/>
          </p:cNvSpPr>
          <p:nvPr/>
        </p:nvSpPr>
        <p:spPr>
          <a:xfrm>
            <a:off x="4000500" y="1952625"/>
            <a:ext cx="2857500" cy="28575"/>
          </a:xfrm>
          <a:prstGeom prst="rect">
            <a:avLst/>
          </a:prstGeom>
          <a:solidFill>
            <a:srgbClr val="4E70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36DFEB-8BFE-434C-B600-DC532EF90314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3429000" cy="28575"/>
          </a:xfrm>
          <a:prstGeom prst="rect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2FF0B-F80A-4551-BA0F-C40D9ECDCDAE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266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retains high-variance directions</a:t>
            </a:r>
          </a:p>
          <a:p>
            <a:endParaRPr sz="1725" b="0" i="0">
              <a:solidFill>
                <a:srgbClr val="66645F"/>
              </a:solidFill>
              <a:latin typeface="Helvetica Neue"/>
              <a:ea typeface="Helvetica Neue"/>
              <a:cs typeface="Helvetica Neue"/>
            </a:endParaRPr>
          </a:p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unsupervised unless covariance is signal/noise weighted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E8205F-16BE-4676-A752-98C59EFB9DA4}"/>
              </a:ext>
            </a:extLst>
          </p:cNvPr>
          <p:cNvSpPr>
            <a:spLocks noGrp="1"/>
          </p:cNvSpPr>
          <p:nvPr/>
        </p:nvSpPr>
        <p:spPr>
          <a:xfrm>
            <a:off x="4143375" y="2381250"/>
            <a:ext cx="257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0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rPr>
              <a:t>tα = bαᵀ 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A8771-EBF7-4D77-BBEC-7A7DFF9AD995}"/>
              </a:ext>
            </a:extLst>
          </p:cNvPr>
          <p:cNvSpPr>
            <a:spLocks noGrp="1"/>
          </p:cNvSpPr>
          <p:nvPr/>
        </p:nvSpPr>
        <p:spPr>
          <a:xfrm>
            <a:off x="4000500" y="3190875"/>
            <a:ext cx="2857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one covariance-weighted linear summary per parameter near a fiducial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610D20-14FB-44B3-9B61-10BEBE04865A}"/>
              </a:ext>
            </a:extLst>
          </p:cNvPr>
          <p:cNvSpPr>
            <a:spLocks noGrp="1"/>
          </p:cNvSpPr>
          <p:nvPr/>
        </p:nvSpPr>
        <p:spPr>
          <a:xfrm>
            <a:off x="7667625" y="23812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t(x)=∇θ log p(x|θ)|θ*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292250-A2A8-4AC5-9C13-C9D8CD343B8C}"/>
              </a:ext>
            </a:extLst>
          </p:cNvPr>
          <p:cNvSpPr>
            <a:spLocks noGrp="1"/>
          </p:cNvSpPr>
          <p:nvPr/>
        </p:nvSpPr>
        <p:spPr>
          <a:xfrm>
            <a:off x="7858125" y="3190875"/>
            <a:ext cx="3048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the local likelihood gradient; dimension ≈ number of parameters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80DB37-B202-4899-83B6-14822FDD4429}"/>
              </a:ext>
            </a:extLst>
          </p:cNvPr>
          <p:cNvSpPr>
            <a:spLocks noGrp="1"/>
          </p:cNvSpPr>
          <p:nvPr/>
        </p:nvSpPr>
        <p:spPr>
          <a:xfrm>
            <a:off x="1762125" y="4810125"/>
            <a:ext cx="8667750" cy="904875"/>
          </a:xfrm>
          <a:prstGeom prst="rect">
            <a:avLst/>
          </a:prstGeom>
          <a:solidFill>
            <a:srgbClr val="FFFFFF"/>
          </a:solidFill>
          <a:ln w="11430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A4E172-54BC-4B83-9F03-8C23463DE8DA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8001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345" lnSpcReduction="10000"/>
          </a:bodyPr>
          <a:lstStyle/>
          <a:p>
            <a:pPr algn="ctr">
              <a:def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'Optimal' is local: it depends on a fiducial model, derivatives, covariance and the nuisance treatment.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57B628-9F98-41EE-9760-47F009B752F8}"/>
              </a:ext>
            </a:extLst>
          </p:cNvPr>
          <p:cNvSpPr>
            <a:spLocks noGrp="1"/>
          </p:cNvSpPr>
          <p:nvPr/>
        </p:nvSpPr>
        <p:spPr>
          <a:xfrm>
            <a:off x="2952750" y="5953125"/>
            <a:ext cx="6286500" cy="323850"/>
          </a:xfrm>
          <a:prstGeom prst="roundRect">
            <a:avLst>
              <a:gd name="adj" fmla="val 23529"/>
            </a:avLst>
          </a:prstGeom>
          <a:solidFill>
            <a:srgbClr val="DDE7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D7939-B2E0-4069-BAEC-D8BD8B735034}"/>
              </a:ext>
            </a:extLst>
          </p:cNvPr>
          <p:cNvSpPr>
            <a:spLocks noGrp="1"/>
          </p:cNvSpPr>
          <p:nvPr/>
        </p:nvSpPr>
        <p:spPr>
          <a:xfrm>
            <a:off x="3028950" y="5972175"/>
            <a:ext cx="6134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537"/>
          </a:bodyPr>
          <a:lstStyle/>
          <a:p>
            <a:pPr algn="ctr">
              <a:defRPr sz="1500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rPr>
              <a:t>nuisance hardening projects away declared nuisance-score directions</a:t>
            </a:r>
          </a:p>
        </p:txBody>
      </p:sp>
    </p:spTree>
    <p:extLst>
      <p:ext uri="{BB962C8B-B14F-4D97-AF65-F5344CB8AC3E}">
        <p14:creationId xmlns:p14="http://schemas.microsoft.com/office/powerpoint/2010/main" val="179966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1828A39-0D30-4B3D-9954-4D19EB615789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LEARNED COMPRESSION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CDAFAE-FD3A-4CBA-847A-DE8416329D86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Learned summaries optimize a declared task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29D9D-2F4C-4D0B-83B3-EFFDC52AA1A2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D3DC8-ADE1-4F17-97D6-67CCE5645A9F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8AE92-1D5D-4AEB-BD5C-547F1BD05B11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18272-E803-486F-9307-A170F0CF47EF}"/>
              </a:ext>
            </a:extLst>
          </p:cNvPr>
          <p:cNvSpPr>
            <a:spLocks noGrp="1"/>
          </p:cNvSpPr>
          <p:nvPr/>
        </p:nvSpPr>
        <p:spPr>
          <a:xfrm>
            <a:off x="619125" y="2476500"/>
            <a:ext cx="2047875" cy="1095375"/>
          </a:xfrm>
          <a:prstGeom prst="rect">
            <a:avLst/>
          </a:prstGeom>
          <a:solidFill>
            <a:srgbClr val="FFFFFF"/>
          </a:solidFill>
          <a:ln w="1905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4D176-7ED2-442A-BFC4-BD66408D2331}"/>
              </a:ext>
            </a:extLst>
          </p:cNvPr>
          <p:cNvSpPr>
            <a:spLocks noGrp="1"/>
          </p:cNvSpPr>
          <p:nvPr/>
        </p:nvSpPr>
        <p:spPr>
          <a:xfrm>
            <a:off x="733425" y="2571750"/>
            <a:ext cx="18192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191"/>
          </a:bodyPr>
          <a:lstStyle/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simulated field</a:t>
            </a:r>
          </a:p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3A4255C-D938-459B-A1A0-9052BE622EAF}"/>
              </a:ext>
            </a:extLst>
          </p:cNvPr>
          <p:cNvSpPr>
            <a:spLocks noGrp="1"/>
          </p:cNvSpPr>
          <p:nvPr/>
        </p:nvSpPr>
        <p:spPr>
          <a:xfrm>
            <a:off x="2809875" y="3019425"/>
            <a:ext cx="971550" cy="9525"/>
          </a:xfrm>
          <a:prstGeom prst="line">
            <a:avLst/>
          </a:prstGeom>
          <a:noFill/>
          <a:ln w="3810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42A385C-75B0-4874-A96F-886C5FE66422}"/>
              </a:ext>
            </a:extLst>
          </p:cNvPr>
          <p:cNvSpPr>
            <a:spLocks noGrp="1"/>
          </p:cNvSpPr>
          <p:nvPr/>
        </p:nvSpPr>
        <p:spPr>
          <a:xfrm rot="5400000">
            <a:off x="3810000" y="2924175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8AF76-29B1-42C9-AB33-114890C239ED}"/>
              </a:ext>
            </a:extLst>
          </p:cNvPr>
          <p:cNvSpPr>
            <a:spLocks noGrp="1"/>
          </p:cNvSpPr>
          <p:nvPr/>
        </p:nvSpPr>
        <p:spPr>
          <a:xfrm>
            <a:off x="4048125" y="2476500"/>
            <a:ext cx="2095500" cy="1095375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52B813-A388-4A34-898A-8EE91F0B57C2}"/>
              </a:ext>
            </a:extLst>
          </p:cNvPr>
          <p:cNvSpPr>
            <a:spLocks noGrp="1"/>
          </p:cNvSpPr>
          <p:nvPr/>
        </p:nvSpPr>
        <p:spPr>
          <a:xfrm>
            <a:off x="4162425" y="2571750"/>
            <a:ext cx="18669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  <a:p>
            <a:pPr algn="ctr">
              <a:def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fφ(x)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B47064E-3280-4E03-930F-FAB23FDE9AF9}"/>
              </a:ext>
            </a:extLst>
          </p:cNvPr>
          <p:cNvSpPr>
            <a:spLocks noGrp="1"/>
          </p:cNvSpPr>
          <p:nvPr/>
        </p:nvSpPr>
        <p:spPr>
          <a:xfrm>
            <a:off x="6286500" y="3019425"/>
            <a:ext cx="971550" cy="9525"/>
          </a:xfrm>
          <a:prstGeom prst="line">
            <a:avLst/>
          </a:prstGeom>
          <a:noFill/>
          <a:ln w="3810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41E045B7-4B91-4963-9DFB-70326579C846}"/>
              </a:ext>
            </a:extLst>
          </p:cNvPr>
          <p:cNvSpPr>
            <a:spLocks noGrp="1"/>
          </p:cNvSpPr>
          <p:nvPr/>
        </p:nvSpPr>
        <p:spPr>
          <a:xfrm rot="5400000">
            <a:off x="7286625" y="2924175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B57A71-2FDC-4E89-A54C-CB6524C110B8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2238375" cy="1095375"/>
          </a:xfrm>
          <a:prstGeom prst="rect">
            <a:avLst/>
          </a:prstGeom>
          <a:solidFill>
            <a:srgbClr val="EED8CE"/>
          </a:solidFill>
          <a:ln w="1428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F5496E-888E-4DC5-AF78-7B632C6C229C}"/>
              </a:ext>
            </a:extLst>
          </p:cNvPr>
          <p:cNvSpPr>
            <a:spLocks noGrp="1"/>
          </p:cNvSpPr>
          <p:nvPr/>
        </p:nvSpPr>
        <p:spPr>
          <a:xfrm>
            <a:off x="7639050" y="2571750"/>
            <a:ext cx="20097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94"/>
          </a:bodyPr>
          <a:lstStyle/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low-dimensional</a:t>
            </a:r>
          </a:p>
          <a:p>
            <a:pPr algn="ctr">
              <a:def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summary t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814EEB9-D75A-4CDA-8DD9-68C0075A16D8}"/>
              </a:ext>
            </a:extLst>
          </p:cNvPr>
          <p:cNvSpPr>
            <a:spLocks noGrp="1"/>
          </p:cNvSpPr>
          <p:nvPr/>
        </p:nvSpPr>
        <p:spPr>
          <a:xfrm>
            <a:off x="9906000" y="3019425"/>
            <a:ext cx="257175" cy="9525"/>
          </a:xfrm>
          <a:prstGeom prst="line">
            <a:avLst/>
          </a:prstGeom>
          <a:noFill/>
          <a:ln w="3810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8FB5D493-D69F-4581-883D-71D0CE4ECAE5}"/>
              </a:ext>
            </a:extLst>
          </p:cNvPr>
          <p:cNvSpPr>
            <a:spLocks noGrp="1"/>
          </p:cNvSpPr>
          <p:nvPr/>
        </p:nvSpPr>
        <p:spPr>
          <a:xfrm rot="5400000">
            <a:off x="10191750" y="2924175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BEAECD-16D8-4048-BF31-1DF16BA251EB}"/>
              </a:ext>
            </a:extLst>
          </p:cNvPr>
          <p:cNvSpPr>
            <a:spLocks noGrp="1"/>
          </p:cNvSpPr>
          <p:nvPr/>
        </p:nvSpPr>
        <p:spPr>
          <a:xfrm>
            <a:off x="10401300" y="2476500"/>
            <a:ext cx="131445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5F82A6-12D1-4FBF-B438-3D9D853D38F7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10858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posterior /</a:t>
            </a:r>
          </a:p>
          <a:p>
            <a:pPr algn="ctr">
              <a:defRPr sz="15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likelihood ratio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5306D6-4EF4-47B2-B160-D0032015B757}"/>
              </a:ext>
            </a:extLst>
          </p:cNvPr>
          <p:cNvSpPr>
            <a:spLocks noGrp="1"/>
          </p:cNvSpPr>
          <p:nvPr/>
        </p:nvSpPr>
        <p:spPr>
          <a:xfrm>
            <a:off x="1238250" y="42386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Fisher objective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793C01-60DD-42B6-A96A-8FBC1C02F1D1}"/>
              </a:ext>
            </a:extLst>
          </p:cNvPr>
          <p:cNvSpPr>
            <a:spLocks noGrp="1"/>
          </p:cNvSpPr>
          <p:nvPr/>
        </p:nvSpPr>
        <p:spPr>
          <a:xfrm>
            <a:off x="4000500" y="42386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IMNN-style: make summaries respond to 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02FF39-2567-4F58-B939-B0A7D55E7ABA}"/>
              </a:ext>
            </a:extLst>
          </p:cNvPr>
          <p:cNvSpPr>
            <a:spLocks noGrp="1"/>
          </p:cNvSpPr>
          <p:nvPr/>
        </p:nvSpPr>
        <p:spPr>
          <a:xfrm>
            <a:off x="1238250" y="48291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ratio / posterior objective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2BC22-915A-4DB8-9CEB-4A746C3772E6}"/>
              </a:ext>
            </a:extLst>
          </p:cNvPr>
          <p:cNvSpPr>
            <a:spLocks noGrp="1"/>
          </p:cNvSpPr>
          <p:nvPr/>
        </p:nvSpPr>
        <p:spPr>
          <a:xfrm>
            <a:off x="4000500" y="48291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learn features useful for a neural estimator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3B9E21-1D1F-46D9-8EB1-C85534E1A529}"/>
              </a:ext>
            </a:extLst>
          </p:cNvPr>
          <p:cNvSpPr>
            <a:spLocks noGrp="1"/>
          </p:cNvSpPr>
          <p:nvPr/>
        </p:nvSpPr>
        <p:spPr>
          <a:xfrm>
            <a:off x="1238250" y="54197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reconstruction objective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31153F-8D36-410F-9650-1560A36E8A50}"/>
              </a:ext>
            </a:extLst>
          </p:cNvPr>
          <p:cNvSpPr>
            <a:spLocks noGrp="1"/>
          </p:cNvSpPr>
          <p:nvPr/>
        </p:nvSpPr>
        <p:spPr>
          <a:xfrm>
            <a:off x="4000500" y="541972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preserve field detail—but not necessarily θ information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1DEC96-2D6F-4B3C-B913-35D9BEFB900D}"/>
              </a:ext>
            </a:extLst>
          </p:cNvPr>
          <p:cNvSpPr>
            <a:spLocks noGrp="1"/>
          </p:cNvSpPr>
          <p:nvPr/>
        </p:nvSpPr>
        <p:spPr>
          <a:xfrm>
            <a:off x="2714625" y="6115050"/>
            <a:ext cx="676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950" lnSpcReduction="20000"/>
          </a:bodyPr>
          <a:lstStyle/>
          <a:p>
            <a:pPr algn="ctr">
              <a:def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The loss function defines what 'information' means 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5974853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688C83-A611-40BA-93B3-FB993962F67A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FULL-FIELD INFERENCE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24E9AD-2945-4445-84D2-58EA482C00A9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Field-level inference keeps phases—and moves the hard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01EB0-A5FF-45A3-A7AD-AB5B27E7DA3A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72B2C5-D646-444D-AD63-8C8784CBA8ED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9B26B-A0E2-4CBB-ADE2-98E93E438AD4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FDD1A-3071-46F8-84DA-D40B68CFD963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000250" cy="1143000"/>
          </a:xfrm>
          <a:prstGeom prst="rect">
            <a:avLst/>
          </a:prstGeom>
          <a:solidFill>
            <a:srgbClr val="DCE6ED"/>
          </a:solidFill>
          <a:ln w="14288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534AB-A0D8-4514-856F-DB4571293E1F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1771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initial field</a:t>
            </a:r>
          </a:p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δinit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E9338E6-4FAD-49C9-A71C-D66DA6E1432C}"/>
              </a:ext>
            </a:extLst>
          </p:cNvPr>
          <p:cNvSpPr>
            <a:spLocks noGrp="1"/>
          </p:cNvSpPr>
          <p:nvPr/>
        </p:nvSpPr>
        <p:spPr>
          <a:xfrm>
            <a:off x="2905125" y="2762250"/>
            <a:ext cx="876300" cy="9525"/>
          </a:xfrm>
          <a:prstGeom prst="line">
            <a:avLst/>
          </a:prstGeom>
          <a:noFill/>
          <a:ln w="38100">
            <a:solidFill>
              <a:srgbClr val="2D52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A13339D7-5231-4D47-9BE3-58C318FAA52D}"/>
              </a:ext>
            </a:extLst>
          </p:cNvPr>
          <p:cNvSpPr>
            <a:spLocks noGrp="1"/>
          </p:cNvSpPr>
          <p:nvPr/>
        </p:nvSpPr>
        <p:spPr>
          <a:xfrm rot="5400000">
            <a:off x="3810000" y="2667000"/>
            <a:ext cx="190500" cy="190500"/>
          </a:xfrm>
          <a:prstGeom prst="triangle">
            <a:avLst/>
          </a:prstGeom>
          <a:solidFill>
            <a:srgbClr val="2D52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B972E7-06B0-477C-8660-470806245A34}"/>
              </a:ext>
            </a:extLst>
          </p:cNvPr>
          <p:cNvSpPr>
            <a:spLocks noGrp="1"/>
          </p:cNvSpPr>
          <p:nvPr/>
        </p:nvSpPr>
        <p:spPr>
          <a:xfrm>
            <a:off x="4048125" y="2000250"/>
            <a:ext cx="2952750" cy="1524000"/>
          </a:xfrm>
          <a:prstGeom prst="rect">
            <a:avLst/>
          </a:prstGeom>
          <a:solidFill>
            <a:srgbClr val="FFFFFF"/>
          </a:solidFill>
          <a:ln w="14288">
            <a:solidFill>
              <a:srgbClr val="D4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646D7-EFE2-41B7-AF5D-EE0BF716446A}"/>
              </a:ext>
            </a:extLst>
          </p:cNvPr>
          <p:cNvSpPr>
            <a:spLocks noGrp="1"/>
          </p:cNvSpPr>
          <p:nvPr/>
        </p:nvSpPr>
        <p:spPr>
          <a:xfrm>
            <a:off x="4162425" y="2095500"/>
            <a:ext cx="2724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gravity + bias +</a:t>
            </a:r>
          </a:p>
          <a:p>
            <a:pPr algn="ctr">
              <a:def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observation model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C7F5681-911F-430F-9F3B-97506212CD3D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876300" cy="9525"/>
          </a:xfrm>
          <a:prstGeom prst="line">
            <a:avLst/>
          </a:prstGeom>
          <a:noFill/>
          <a:ln w="38100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39A8C28C-FFE4-407C-8FCC-C701631BD9C8}"/>
              </a:ext>
            </a:extLst>
          </p:cNvPr>
          <p:cNvSpPr>
            <a:spLocks noGrp="1"/>
          </p:cNvSpPr>
          <p:nvPr/>
        </p:nvSpPr>
        <p:spPr>
          <a:xfrm rot="5400000">
            <a:off x="8048625" y="2667000"/>
            <a:ext cx="190500" cy="190500"/>
          </a:xfrm>
          <a:prstGeom prst="triangle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8BCEF-299C-4FCF-9481-CE5C73A9FACA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2000250" cy="1143000"/>
          </a:xfrm>
          <a:prstGeom prst="rect">
            <a:avLst/>
          </a:prstGeom>
          <a:solidFill>
            <a:srgbClr val="EED8CE"/>
          </a:solidFill>
          <a:ln w="14288">
            <a:solidFill>
              <a:srgbClr val="B95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573F1F-0139-4985-993D-F02F159F7A40}"/>
              </a:ext>
            </a:extLst>
          </p:cNvPr>
          <p:cNvSpPr>
            <a:spLocks noGrp="1"/>
          </p:cNvSpPr>
          <p:nvPr/>
        </p:nvSpPr>
        <p:spPr>
          <a:xfrm>
            <a:off x="8401050" y="2286000"/>
            <a:ext cx="1771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 lnSpcReduction="10000"/>
          </a:bodyPr>
          <a:lstStyle/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observed field</a:t>
            </a:r>
          </a:p>
          <a:p>
            <a:pPr algn="ctr">
              <a:def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37FD8A-A6BC-4B1F-A437-6AB831D842D6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p(θ, δinit, nuisance | d) ∝ p(d | F(θ,δinit,nuisance)) p(δinit|θ) p(θ,nuisance)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9CD561-B5B5-449A-85D1-5097F894D303}"/>
              </a:ext>
            </a:extLst>
          </p:cNvPr>
          <p:cNvSpPr>
            <a:spLocks noGrp="1"/>
          </p:cNvSpPr>
          <p:nvPr/>
        </p:nvSpPr>
        <p:spPr>
          <a:xfrm>
            <a:off x="857250" y="519112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rPr>
              <a:t>retains phase</a:t>
            </a:r>
          </a:p>
          <a:p>
            <a:pPr algn="ctr">
              <a:defRPr sz="1650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4E705D"/>
                </a:solidFill>
                <a:latin typeface="Helvetica Neue"/>
                <a:ea typeface="Helvetica Neue"/>
                <a:cs typeface="Helvetica Neue"/>
              </a:rPr>
              <a:t>and locality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C2A804-AE99-4CA6-944D-B7126C450D0E}"/>
              </a:ext>
            </a:extLst>
          </p:cNvPr>
          <p:cNvSpPr>
            <a:spLocks noGrp="1"/>
          </p:cNvSpPr>
          <p:nvPr/>
        </p:nvSpPr>
        <p:spPr>
          <a:xfrm>
            <a:off x="3762375" y="519112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high-dimensional</a:t>
            </a:r>
          </a:p>
          <a:p>
            <a:pPr algn="ctr">
              <a:def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latent posterior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D134D9-99BE-4622-B140-0A56960F58C7}"/>
              </a:ext>
            </a:extLst>
          </p:cNvPr>
          <p:cNvSpPr>
            <a:spLocks noGrp="1"/>
          </p:cNvSpPr>
          <p:nvPr/>
        </p:nvSpPr>
        <p:spPr>
          <a:xfrm>
            <a:off x="6667500" y="519112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39" lnSpcReduction="10000"/>
          </a:bodyPr>
          <a:lstStyle/>
          <a:p>
            <a:pPr algn="ctr">
              <a:def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expensive</a:t>
            </a:r>
          </a:p>
          <a:p>
            <a:pPr algn="ctr">
              <a:def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gradients / sampling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82C17-9C79-4C48-A913-68662371E7AC}"/>
              </a:ext>
            </a:extLst>
          </p:cNvPr>
          <p:cNvSpPr>
            <a:spLocks noGrp="1"/>
          </p:cNvSpPr>
          <p:nvPr/>
        </p:nvSpPr>
        <p:spPr>
          <a:xfrm>
            <a:off x="9572625" y="5191125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strong model</a:t>
            </a:r>
          </a:p>
          <a:p>
            <a:pPr algn="ctr">
              <a:defRPr sz="16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checking required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2EE2F1-1F27-4BE3-A9DB-ADD37C5784C5}"/>
              </a:ext>
            </a:extLst>
          </p:cNvPr>
          <p:cNvSpPr>
            <a:spLocks noGrp="1"/>
          </p:cNvSpPr>
          <p:nvPr/>
        </p:nvSpPr>
        <p:spPr>
          <a:xfrm>
            <a:off x="1809750" y="6096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8402" lnSpcReduction="20000"/>
          </a:bodyPr>
          <a:lstStyle/>
          <a:p>
            <a:pPr algn="ctr">
              <a:def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Field-level is not 'compression-free': it replaces a fixed summary with a hierarchical generative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851285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82647C4-C2CF-469E-9EAB-6FED29A26BB6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DECISION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048E4F-7A8C-4101-9D9F-96A0C63B9C1C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Choose a compressor by held-out inference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90E36-4DA4-4088-A993-AAB36CE08FCE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F6D6C-BFB3-487B-AAD8-CD97637300A4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1612E-6D25-4628-B366-A1631ADF96CC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202E0-8129-4BB6-9E7E-CB9E83E2C429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11144250" cy="514350"/>
          </a:xfrm>
          <a:prstGeom prst="rect">
            <a:avLst/>
          </a:prstGeom>
          <a:solidFill>
            <a:srgbClr val="1832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A788D-A8C6-4873-A66B-DB416B4754FF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22002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296B1-1128-4DF8-8A56-4CBD21B847DA}"/>
              </a:ext>
            </a:extLst>
          </p:cNvPr>
          <p:cNvSpPr>
            <a:spLocks noGrp="1"/>
          </p:cNvSpPr>
          <p:nvPr/>
        </p:nvSpPr>
        <p:spPr>
          <a:xfrm>
            <a:off x="2924175" y="1285875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dimension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C6D7E-D8E0-492F-B936-5704F137BBC7}"/>
              </a:ext>
            </a:extLst>
          </p:cNvPr>
          <p:cNvSpPr>
            <a:spLocks noGrp="1"/>
          </p:cNvSpPr>
          <p:nvPr/>
        </p:nvSpPr>
        <p:spPr>
          <a:xfrm>
            <a:off x="5019675" y="1285875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simulator demand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A3AFB2-B499-41BC-B36B-5AD509DC796A}"/>
              </a:ext>
            </a:extLst>
          </p:cNvPr>
          <p:cNvSpPr>
            <a:spLocks noGrp="1"/>
          </p:cNvSpPr>
          <p:nvPr/>
        </p:nvSpPr>
        <p:spPr>
          <a:xfrm>
            <a:off x="7115175" y="1285875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interpretability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ECE91-0694-47A8-B89C-D6FCC4BB3A32}"/>
              </a:ext>
            </a:extLst>
          </p:cNvPr>
          <p:cNvSpPr>
            <a:spLocks noGrp="1"/>
          </p:cNvSpPr>
          <p:nvPr/>
        </p:nvSpPr>
        <p:spPr>
          <a:xfrm>
            <a:off x="9210675" y="1285875"/>
            <a:ext cx="23907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main failure mode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74D15A-E6CF-421C-A489-9E3BCE31D7DE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200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P(k) + low-order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3B37B5-97FD-4989-8254-B6CA28E366F3}"/>
              </a:ext>
            </a:extLst>
          </p:cNvPr>
          <p:cNvSpPr>
            <a:spLocks noGrp="1"/>
          </p:cNvSpPr>
          <p:nvPr/>
        </p:nvSpPr>
        <p:spPr>
          <a:xfrm>
            <a:off x="2924175" y="203835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small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81A9B1-9249-4495-8891-DF3D978889F9}"/>
              </a:ext>
            </a:extLst>
          </p:cNvPr>
          <p:cNvSpPr>
            <a:spLocks noGrp="1"/>
          </p:cNvSpPr>
          <p:nvPr/>
        </p:nvSpPr>
        <p:spPr>
          <a:xfrm>
            <a:off x="5019675" y="203835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low–moderate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4F10E-66C9-4EA5-B495-F84DF0109568}"/>
              </a:ext>
            </a:extLst>
          </p:cNvPr>
          <p:cNvSpPr>
            <a:spLocks noGrp="1"/>
          </p:cNvSpPr>
          <p:nvPr/>
        </p:nvSpPr>
        <p:spPr>
          <a:xfrm>
            <a:off x="7115175" y="203835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FC5E2-FC72-4D22-9B17-6BA870DA220F}"/>
              </a:ext>
            </a:extLst>
          </p:cNvPr>
          <p:cNvSpPr>
            <a:spLocks noGrp="1"/>
          </p:cNvSpPr>
          <p:nvPr/>
        </p:nvSpPr>
        <p:spPr>
          <a:xfrm>
            <a:off x="9210675" y="2038350"/>
            <a:ext cx="23907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missed non-Gaussian info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4255D5-540A-4231-A2E4-D9C86C10DF97}"/>
              </a:ext>
            </a:extLst>
          </p:cNvPr>
          <p:cNvSpPr>
            <a:spLocks noGrp="1"/>
          </p:cNvSpPr>
          <p:nvPr/>
        </p:nvSpPr>
        <p:spPr>
          <a:xfrm>
            <a:off x="523875" y="2743200"/>
            <a:ext cx="11144250" cy="609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EE9A12-715C-42A4-A341-193029A7B1C6}"/>
              </a:ext>
            </a:extLst>
          </p:cNvPr>
          <p:cNvSpPr>
            <a:spLocks noGrp="1"/>
          </p:cNvSpPr>
          <p:nvPr/>
        </p:nvSpPr>
        <p:spPr>
          <a:xfrm>
            <a:off x="590550" y="2790825"/>
            <a:ext cx="2200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wavelet / morphology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9D090C-F998-4B89-8841-43D4CAEEF7AB}"/>
              </a:ext>
            </a:extLst>
          </p:cNvPr>
          <p:cNvSpPr>
            <a:spLocks noGrp="1"/>
          </p:cNvSpPr>
          <p:nvPr/>
        </p:nvSpPr>
        <p:spPr>
          <a:xfrm>
            <a:off x="2924175" y="279082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498529-670A-43DC-A368-77962D12A5DB}"/>
              </a:ext>
            </a:extLst>
          </p:cNvPr>
          <p:cNvSpPr>
            <a:spLocks noGrp="1"/>
          </p:cNvSpPr>
          <p:nvPr/>
        </p:nvSpPr>
        <p:spPr>
          <a:xfrm>
            <a:off x="5019675" y="279082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moderate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2364C5-3FEC-4B11-BD15-8A9C35970878}"/>
              </a:ext>
            </a:extLst>
          </p:cNvPr>
          <p:cNvSpPr>
            <a:spLocks noGrp="1"/>
          </p:cNvSpPr>
          <p:nvPr/>
        </p:nvSpPr>
        <p:spPr>
          <a:xfrm>
            <a:off x="7115175" y="279082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medium–high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CE0BB6-5344-45D5-9D68-CC93E8F7C23B}"/>
              </a:ext>
            </a:extLst>
          </p:cNvPr>
          <p:cNvSpPr>
            <a:spLocks noGrp="1"/>
          </p:cNvSpPr>
          <p:nvPr/>
        </p:nvSpPr>
        <p:spPr>
          <a:xfrm>
            <a:off x="9210675" y="2790825"/>
            <a:ext cx="23907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chosen invariance is wrong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B8B927-DBA0-4D58-9DD5-E64233E77B0D}"/>
              </a:ext>
            </a:extLst>
          </p:cNvPr>
          <p:cNvSpPr>
            <a:spLocks noGrp="1"/>
          </p:cNvSpPr>
          <p:nvPr/>
        </p:nvSpPr>
        <p:spPr>
          <a:xfrm>
            <a:off x="590550" y="3543300"/>
            <a:ext cx="2200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score / MOPED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CE695D-C581-4D92-9F48-CE75276C0D2A}"/>
              </a:ext>
            </a:extLst>
          </p:cNvPr>
          <p:cNvSpPr>
            <a:spLocks noGrp="1"/>
          </p:cNvSpPr>
          <p:nvPr/>
        </p:nvSpPr>
        <p:spPr>
          <a:xfrm>
            <a:off x="2924175" y="354330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≈ Nθ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65F9B-81B6-47EF-9683-975DBCB7C348}"/>
              </a:ext>
            </a:extLst>
          </p:cNvPr>
          <p:cNvSpPr>
            <a:spLocks noGrp="1"/>
          </p:cNvSpPr>
          <p:nvPr/>
        </p:nvSpPr>
        <p:spPr>
          <a:xfrm>
            <a:off x="5019675" y="354330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derivatives + covariance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F8DFE0-F224-4A98-884B-105D2FF48BAB}"/>
              </a:ext>
            </a:extLst>
          </p:cNvPr>
          <p:cNvSpPr>
            <a:spLocks noGrp="1"/>
          </p:cNvSpPr>
          <p:nvPr/>
        </p:nvSpPr>
        <p:spPr>
          <a:xfrm>
            <a:off x="7115175" y="354330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D5BB31-F98A-4485-AABC-2928A1E495E1}"/>
              </a:ext>
            </a:extLst>
          </p:cNvPr>
          <p:cNvSpPr>
            <a:spLocks noGrp="1"/>
          </p:cNvSpPr>
          <p:nvPr/>
        </p:nvSpPr>
        <p:spPr>
          <a:xfrm>
            <a:off x="9210675" y="3543300"/>
            <a:ext cx="23907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local/model mismatch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657BB3-9A51-41F0-BCFF-2F22355A57AA}"/>
              </a:ext>
            </a:extLst>
          </p:cNvPr>
          <p:cNvSpPr>
            <a:spLocks noGrp="1"/>
          </p:cNvSpPr>
          <p:nvPr/>
        </p:nvSpPr>
        <p:spPr>
          <a:xfrm>
            <a:off x="523875" y="4248150"/>
            <a:ext cx="11144250" cy="609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BDFDB-9737-4D45-B003-9B96EB4D6B02}"/>
              </a:ext>
            </a:extLst>
          </p:cNvPr>
          <p:cNvSpPr>
            <a:spLocks noGrp="1"/>
          </p:cNvSpPr>
          <p:nvPr/>
        </p:nvSpPr>
        <p:spPr>
          <a:xfrm>
            <a:off x="590550" y="4295775"/>
            <a:ext cx="2200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learned summary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63B3B8-F095-4A03-B7F1-352AE33CDAA2}"/>
              </a:ext>
            </a:extLst>
          </p:cNvPr>
          <p:cNvSpPr>
            <a:spLocks noGrp="1"/>
          </p:cNvSpPr>
          <p:nvPr/>
        </p:nvSpPr>
        <p:spPr>
          <a:xfrm>
            <a:off x="2924175" y="429577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chosen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25464F-B556-4025-8887-E1628A55656F}"/>
              </a:ext>
            </a:extLst>
          </p:cNvPr>
          <p:cNvSpPr>
            <a:spLocks noGrp="1"/>
          </p:cNvSpPr>
          <p:nvPr/>
        </p:nvSpPr>
        <p:spPr>
          <a:xfrm>
            <a:off x="5019675" y="429577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0A0FDB-36C6-4B02-AD80-9CAED5E60EA5}"/>
              </a:ext>
            </a:extLst>
          </p:cNvPr>
          <p:cNvSpPr>
            <a:spLocks noGrp="1"/>
          </p:cNvSpPr>
          <p:nvPr/>
        </p:nvSpPr>
        <p:spPr>
          <a:xfrm>
            <a:off x="7115175" y="429577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variable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2579D5-FEE9-4D5E-A98C-5D65CB1E3D4A}"/>
              </a:ext>
            </a:extLst>
          </p:cNvPr>
          <p:cNvSpPr>
            <a:spLocks noGrp="1"/>
          </p:cNvSpPr>
          <p:nvPr/>
        </p:nvSpPr>
        <p:spPr>
          <a:xfrm>
            <a:off x="9210675" y="4295775"/>
            <a:ext cx="23907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simulation shortcut / shift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2739EE-0998-4006-81D2-192F54D06911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22002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field-level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CEDA69-C302-4D65-889A-FB7519300096}"/>
              </a:ext>
            </a:extLst>
          </p:cNvPr>
          <p:cNvSpPr>
            <a:spLocks noGrp="1"/>
          </p:cNvSpPr>
          <p:nvPr/>
        </p:nvSpPr>
        <p:spPr>
          <a:xfrm>
            <a:off x="2924175" y="504825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latent field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CE7CC8-9B9E-4665-BDEB-724EB1E48C82}"/>
              </a:ext>
            </a:extLst>
          </p:cNvPr>
          <p:cNvSpPr>
            <a:spLocks noGrp="1"/>
          </p:cNvSpPr>
          <p:nvPr/>
        </p:nvSpPr>
        <p:spPr>
          <a:xfrm>
            <a:off x="5019675" y="504825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very high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BB0AF1-4D18-48F7-B340-E41527BEC2A1}"/>
              </a:ext>
            </a:extLst>
          </p:cNvPr>
          <p:cNvSpPr>
            <a:spLocks noGrp="1"/>
          </p:cNvSpPr>
          <p:nvPr/>
        </p:nvSpPr>
        <p:spPr>
          <a:xfrm>
            <a:off x="7115175" y="5048250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model-explicit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B2658-5607-47A6-89F2-77D335FA358B}"/>
              </a:ext>
            </a:extLst>
          </p:cNvPr>
          <p:cNvSpPr>
            <a:spLocks noGrp="1"/>
          </p:cNvSpPr>
          <p:nvPr/>
        </p:nvSpPr>
        <p:spPr>
          <a:xfrm>
            <a:off x="9210675" y="5048250"/>
            <a:ext cx="23907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forward-model misspecification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F71CA4-36BB-4589-8BF9-16EAC779DA73}"/>
              </a:ext>
            </a:extLst>
          </p:cNvPr>
          <p:cNvSpPr>
            <a:spLocks noGrp="1"/>
          </p:cNvSpPr>
          <p:nvPr/>
        </p:nvSpPr>
        <p:spPr>
          <a:xfrm>
            <a:off x="1476375" y="5943600"/>
            <a:ext cx="923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8143" lnSpcReduction="10000"/>
          </a:bodyPr>
          <a:lstStyle/>
          <a:p>
            <a:pPr algn="ctr">
              <a:defRPr sz="20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Decide with coverage, bias, posterior width, simulation cost and robustness—not with vector length alone.</a:t>
            </a:r>
          </a:p>
        </p:txBody>
      </p:sp>
    </p:spTree>
    <p:extLst>
      <p:ext uri="{BB962C8B-B14F-4D97-AF65-F5344CB8AC3E}">
        <p14:creationId xmlns:p14="http://schemas.microsoft.com/office/powerpoint/2010/main" val="205290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99D173D-2FF1-41E0-9A87-897766F18C49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PRIMARY ANCHORS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BF30DA-E44F-4331-B2B1-86CE79284CB9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A short reading trail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4EE54-F805-422D-8142-DBB49B45A6E2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9050"/>
          </a:xfrm>
          <a:prstGeom prst="rect">
            <a:avLst/>
          </a:prstGeom>
          <a:solidFill>
            <a:srgbClr val="D4CE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A079A5-1AA9-4407-817E-1A8BDE081188}"/>
              </a:ext>
            </a:extLst>
          </p:cNvPr>
          <p:cNvSpPr>
            <a:spLocks noGrp="1"/>
          </p:cNvSpPr>
          <p:nvPr/>
        </p:nvSpPr>
        <p:spPr>
          <a:xfrm>
            <a:off x="11144250" y="27622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5B02D0-3E5E-4631-BD73-96F7895A429D}"/>
              </a:ext>
            </a:extLst>
          </p:cNvPr>
          <p:cNvSpPr>
            <a:spLocks noGrp="1"/>
          </p:cNvSpPr>
          <p:nvPr/>
        </p:nvSpPr>
        <p:spPr>
          <a:xfrm>
            <a:off x="533400" y="65436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ICTS 2026  •  forward models, fields &amp; inference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8F6115-710C-47EE-AEAC-A830C33D5C8A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Heavens, Jimenez &amp; Lahav (2000)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FFA992-4B6C-4686-9624-BA448E32F4DD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MOPED: parameter-aware linear compression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DE516F-1D03-4B9F-A443-1A83C939F254}"/>
              </a:ext>
            </a:extLst>
          </p:cNvPr>
          <p:cNvSpPr>
            <a:spLocks noGrp="1"/>
          </p:cNvSpPr>
          <p:nvPr/>
        </p:nvSpPr>
        <p:spPr>
          <a:xfrm>
            <a:off x="666750" y="22764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  <a:hlinkClick r:id="rId3"/>
              </a:rPr>
              <a:t>open paper ↗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EACE0-5CF0-4BA2-9D79-AF749A7846CF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Alsing &amp; Wandelt (2018)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EB78D-33BA-4DD0-B554-54E078A363A1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generalized score compression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8327-66D4-46C8-948B-7518E26B9666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  <a:hlinkClick r:id="rId4"/>
              </a:rPr>
              <a:t>open paper 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EF2CE5-DCEC-4FC5-A746-C035E15CFF4A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Charnock, Lavaux &amp; Wandelt (2018)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BF968-8C26-49A2-A28B-2FC8545AE902}"/>
              </a:ext>
            </a:extLst>
          </p:cNvPr>
          <p:cNvSpPr>
            <a:spLocks noGrp="1"/>
          </p:cNvSpPr>
          <p:nvPr/>
        </p:nvSpPr>
        <p:spPr>
          <a:xfrm>
            <a:off x="666750" y="492442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information-maximizing neural summaries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511672-30EF-402D-BFF2-B8E94DF0ED75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  <a:hlinkClick r:id="rId5"/>
              </a:rPr>
              <a:t>open paper ↗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C75212-5A85-4740-8F78-8872E18A729F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Mallat (2012)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5807E7-68F2-40AD-A17D-9DC249ED212C}"/>
              </a:ext>
            </a:extLst>
          </p:cNvPr>
          <p:cNvSpPr>
            <a:spLocks noGrp="1"/>
          </p:cNvSpPr>
          <p:nvPr/>
        </p:nvSpPr>
        <p:spPr>
          <a:xfrm>
            <a:off x="6381750" y="178117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invariant scattering representation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DE2BB-898E-460F-9693-E3A4C86D8DB6}"/>
              </a:ext>
            </a:extLst>
          </p:cNvPr>
          <p:cNvSpPr>
            <a:spLocks noGrp="1"/>
          </p:cNvSpPr>
          <p:nvPr/>
        </p:nvSpPr>
        <p:spPr>
          <a:xfrm>
            <a:off x="6381750" y="22764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  <a:hlinkClick r:id="rId6"/>
              </a:rPr>
              <a:t>open paper 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756488-3A9D-4F0C-A55B-278A1B7F0799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324A"/>
                </a:solidFill>
                <a:latin typeface="Helvetica Neue"/>
                <a:ea typeface="Helvetica Neue"/>
                <a:cs typeface="Helvetica Neue"/>
              </a:rPr>
              <a:t>Cheng et al. (2020)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6EE2C4-4833-42B5-A68B-FEF0806396FB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scattering statistics for cosmology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5AC178-8779-4A8A-AE5F-304204B64DA5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  <a:hlinkClick r:id="rId7"/>
              </a:rPr>
              <a:t>open paper ↗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999357-F3A3-414D-9919-952061F3186F}"/>
              </a:ext>
            </a:extLst>
          </p:cNvPr>
          <p:cNvSpPr>
            <a:spLocks noGrp="1"/>
          </p:cNvSpPr>
          <p:nvPr/>
        </p:nvSpPr>
        <p:spPr>
          <a:xfrm>
            <a:off x="6381750" y="4524375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rPr>
              <a:t>Jasche &amp; Wandelt (2013)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1EE8E3-3165-4908-B599-94BB55BD1873}"/>
              </a:ext>
            </a:extLst>
          </p:cNvPr>
          <p:cNvSpPr>
            <a:spLocks noGrp="1"/>
          </p:cNvSpPr>
          <p:nvPr/>
        </p:nvSpPr>
        <p:spPr>
          <a:xfrm>
            <a:off x="6381750" y="492442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02224"/>
                </a:solidFill>
                <a:latin typeface="Helvetica Neue"/>
                <a:ea typeface="Helvetica Neue"/>
                <a:cs typeface="Helvetica Neue"/>
              </a:rPr>
              <a:t>Bayesian field-level reconstruction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EFB293-FE67-47F1-AB9E-243156E8BD2E}"/>
              </a:ext>
            </a:extLst>
          </p:cNvPr>
          <p:cNvSpPr>
            <a:spLocks noGrp="1"/>
          </p:cNvSpPr>
          <p:nvPr/>
        </p:nvSpPr>
        <p:spPr>
          <a:xfrm>
            <a:off x="6381750" y="54197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95535"/>
                </a:solidFill>
                <a:latin typeface="Helvetica Neue"/>
                <a:ea typeface="Helvetica Neue"/>
                <a:cs typeface="Helvetica Neue"/>
                <a:hlinkClick r:id="rId8"/>
              </a:rPr>
              <a:t>open paper ↗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3FD61B-D68D-4663-9A65-1E73D03EFA39}"/>
              </a:ext>
            </a:extLst>
          </p:cNvPr>
          <p:cNvSpPr>
            <a:spLocks noGrp="1"/>
          </p:cNvSpPr>
          <p:nvPr/>
        </p:nvSpPr>
        <p:spPr>
          <a:xfrm>
            <a:off x="2143125" y="617220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89" lnSpcReduction="10000"/>
          </a:bodyPr>
          <a:lstStyle/>
          <a:p>
            <a:pPr algn="ctr">
              <a:def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6645F"/>
                </a:solidFill>
                <a:latin typeface="Helvetica Neue"/>
                <a:ea typeface="Helvetica Neue"/>
                <a:cs typeface="Helvetica Neue"/>
              </a:rPr>
              <a:t>Use these as starting points; the speaker notes contain the narrower caveats used today.</a:t>
            </a:r>
          </a:p>
        </p:txBody>
      </p:sp>
    </p:spTree>
    <p:extLst>
      <p:ext uri="{BB962C8B-B14F-4D97-AF65-F5344CB8AC3E}">
        <p14:creationId xmlns:p14="http://schemas.microsoft.com/office/powerpoint/2010/main" val="1923222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EE8F69-0288-4345-862C-BD38A9DD15E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rPr>
              <a:t>DAY 1  •  CLOSING CONTRACT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66D83-031F-49D7-AE7A-C185386F750D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0096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should survive</a:t>
            </a:r>
          </a:p>
          <a:p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compression?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A98BE-C2BD-4CFB-89D5-75277C680C4E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381125" cy="47625"/>
          </a:xfrm>
          <a:prstGeom prst="rect">
            <a:avLst/>
          </a:prstGeom>
          <a:solidFill>
            <a:srgbClr val="B955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2787A9-08E0-4A84-9693-A4EA0A67F2B2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9239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 i="0">
                <a:solidFill>
                  <a:srgbClr val="D4DE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i="0">
                <a:solidFill>
                  <a:srgbClr val="D4DEE6"/>
                </a:solidFill>
                <a:latin typeface="Helvetica Neue"/>
                <a:ea typeface="Helvetica Neue"/>
                <a:cs typeface="Helvetica Neue"/>
              </a:rPr>
              <a:t>The distinctions that move the posterior—plus enough diagnostics to know when the model is wrong.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2C68B-8DD0-4422-9294-B33FE40F95E9}"/>
              </a:ext>
            </a:extLst>
          </p:cNvPr>
          <p:cNvSpPr>
            <a:spLocks noGrp="1"/>
          </p:cNvSpPr>
          <p:nvPr/>
        </p:nvSpPr>
        <p:spPr>
          <a:xfrm>
            <a:off x="11096625" y="63341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 i="0">
                <a:solidFill>
                  <a:srgbClr val="D4DE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D4DEE6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434845-1919-40F7-8349-397BF4E9CB0D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rPr>
              <a:t>calculate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A6E822-6FFF-4F5A-BD15-E00EAB07AF1D}"/>
              </a:ext>
            </a:extLst>
          </p:cNvPr>
          <p:cNvSpPr>
            <a:spLocks noGrp="1"/>
          </p:cNvSpPr>
          <p:nvPr/>
        </p:nvSpPr>
        <p:spPr>
          <a:xfrm>
            <a:off x="619125" y="53054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normalization • support • weights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66172C-4D97-4164-9DD1-285C91BA9690}"/>
              </a:ext>
            </a:extLst>
          </p:cNvPr>
          <p:cNvSpPr>
            <a:spLocks noGrp="1"/>
          </p:cNvSpPr>
          <p:nvPr/>
        </p:nvSpPr>
        <p:spPr>
          <a:xfrm>
            <a:off x="4381500" y="490537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53365C-F589-4DF0-AAD3-7BD155F89508}"/>
              </a:ext>
            </a:extLst>
          </p:cNvPr>
          <p:cNvSpPr>
            <a:spLocks noGrp="1"/>
          </p:cNvSpPr>
          <p:nvPr/>
        </p:nvSpPr>
        <p:spPr>
          <a:xfrm>
            <a:off x="4381500" y="53054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retained structure • imposed symmetry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51FCA-05E6-439F-8286-2276B8804B2B}"/>
              </a:ext>
            </a:extLst>
          </p:cNvPr>
          <p:cNvSpPr>
            <a:spLocks noGrp="1"/>
          </p:cNvSpPr>
          <p:nvPr/>
        </p:nvSpPr>
        <p:spPr>
          <a:xfrm>
            <a:off x="8143875" y="490537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D57A56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1F12B4-A07C-423C-A303-F0DC68727194}"/>
              </a:ext>
            </a:extLst>
          </p:cNvPr>
          <p:cNvSpPr>
            <a:spLocks noGrp="1"/>
          </p:cNvSpPr>
          <p:nvPr/>
        </p:nvSpPr>
        <p:spPr>
          <a:xfrm>
            <a:off x="8143875" y="530542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oracles • held-out coverage • model shift</a:t>
            </a:r>
          </a:p>
        </p:txBody>
      </p:sp>
    </p:spTree>
    <p:extLst>
      <p:ext uri="{BB962C8B-B14F-4D97-AF65-F5344CB8AC3E}">
        <p14:creationId xmlns:p14="http://schemas.microsoft.com/office/powerpoint/2010/main" val="852336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6112</Words>
  <Application>Microsoft Macintosh PowerPoint</Application>
  <DocSecurity>0</DocSecurity>
  <PresentationFormat>Widescreen</PresentationFormat>
  <Paragraphs>716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Pandey, Shivam - (shivampcosmo)</cp:lastModifiedBy>
  <cp:revision>6</cp:revision>
  <dcterms:created xsi:type="dcterms:W3CDTF">2026-07-22T11:13:05Z</dcterms:created>
  <dcterms:modified xsi:type="dcterms:W3CDTF">2026-07-27T03:51:21Z</dcterms:modified>
</cp:coreProperties>
</file>